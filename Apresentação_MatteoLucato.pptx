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Open Sans SemiBold"/>
      <p:regular r:id="rId25"/>
      <p:bold r:id="rId26"/>
      <p:italic r:id="rId27"/>
      <p:boldItalic r:id="rId28"/>
    </p:embeddedFont>
    <p:embeddedFont>
      <p:font typeface="Montserrat ExtraBold"/>
      <p:bold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OpenSansSemiBold-bold.fntdata"/><Relationship Id="rId25" Type="http://schemas.openxmlformats.org/officeDocument/2006/relationships/font" Target="fonts/OpenSansSemiBold-regular.fntdata"/><Relationship Id="rId28" Type="http://schemas.openxmlformats.org/officeDocument/2006/relationships/font" Target="fonts/OpenSansSemiBold-boldItalic.fntdata"/><Relationship Id="rId27" Type="http://schemas.openxmlformats.org/officeDocument/2006/relationships/font" Target="fonts/OpenSansSemiBold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ontserratExtra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regular.fntdata"/><Relationship Id="rId30" Type="http://schemas.openxmlformats.org/officeDocument/2006/relationships/font" Target="fonts/MontserratExtraBold-boldItalic.fntdata"/><Relationship Id="rId11" Type="http://schemas.openxmlformats.org/officeDocument/2006/relationships/slide" Target="slides/slide4.xml"/><Relationship Id="rId33" Type="http://schemas.openxmlformats.org/officeDocument/2006/relationships/font" Target="fonts/OpenSans-italic.fntdata"/><Relationship Id="rId10" Type="http://schemas.openxmlformats.org/officeDocument/2006/relationships/slide" Target="slides/slide3.xml"/><Relationship Id="rId32" Type="http://schemas.openxmlformats.org/officeDocument/2006/relationships/font" Target="fonts/OpenSans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db8a18c6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1db8a18c61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db8a18c614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1db8a18c614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1db8a18c614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1a1860e0c_4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0" name="Google Shape;140;g3f1a1860e0c_4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1a1860e0c_2_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1a1860e0c_2_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1a1860e0c_2_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db8a18c614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1" name="Google Shape;171;g1db8a18c614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1a2210a1f_1_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f1a2210a1f_1_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f1a2210a1f_1_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db8a18c614_0_1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9" name="Google Shape;209;g1db8a18c614_0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1a2210a1f_3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f1a2210a1f_3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1a2210a1f_3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1a2210a1f_1_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f1a2210a1f_1_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1a2210a1f_1_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1a2210a1f_1_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f1a2210a1f_1_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1a2210a1f_1_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db8a18c614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5" name="Google Shape;315;g1db8a18c614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1a1860e0c_2_14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f1a1860e0c_2_14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1a1860e0c_2_14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1a1860e0c_4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f1a1860e0c_4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8" name="Google Shape;58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1272D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6482" y="4322909"/>
            <a:ext cx="3429465" cy="465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7"/>
          <p:cNvSpPr txBox="1"/>
          <p:nvPr/>
        </p:nvSpPr>
        <p:spPr>
          <a:xfrm>
            <a:off x="939247" y="1704705"/>
            <a:ext cx="72654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pt-BR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Sabatina eleitoral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7"/>
          <p:cNvSpPr txBox="1"/>
          <p:nvPr/>
        </p:nvSpPr>
        <p:spPr>
          <a:xfrm>
            <a:off x="939247" y="2351036"/>
            <a:ext cx="7265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Open Sans"/>
              <a:buNone/>
            </a:pPr>
            <a:r>
              <a:rPr lang="pt-BR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Diretoria de Gestão de Pessoas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adrão do plano de fundo&#10;&#10;Descrição gerada automaticamente" id="104" name="Google Shape;104;p27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1018083" y="139947"/>
            <a:ext cx="9131736" cy="43815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7"/>
          <p:cNvSpPr txBox="1"/>
          <p:nvPr/>
        </p:nvSpPr>
        <p:spPr>
          <a:xfrm>
            <a:off x="151897" y="4193536"/>
            <a:ext cx="726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Open Sans"/>
              <a:buNone/>
            </a:pPr>
            <a:r>
              <a:rPr lang="pt-BR" sz="125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Matteo Lucato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8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>
            <a:off x="1833069" y="0"/>
            <a:ext cx="73109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8"/>
          <p:cNvSpPr/>
          <p:nvPr/>
        </p:nvSpPr>
        <p:spPr>
          <a:xfrm>
            <a:off x="117062" y="0"/>
            <a:ext cx="3695100" cy="5143500"/>
          </a:xfrm>
          <a:prstGeom prst="homePlate">
            <a:avLst>
              <a:gd fmla="val 50000" name="adj"/>
            </a:avLst>
          </a:prstGeom>
          <a:solidFill>
            <a:srgbClr val="C127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8"/>
          <p:cNvSpPr/>
          <p:nvPr/>
        </p:nvSpPr>
        <p:spPr>
          <a:xfrm>
            <a:off x="0" y="0"/>
            <a:ext cx="3653100" cy="5143500"/>
          </a:xfrm>
          <a:prstGeom prst="homePlate">
            <a:avLst>
              <a:gd fmla="val 50000" name="adj"/>
            </a:avLst>
          </a:prstGeom>
          <a:solidFill>
            <a:srgbClr val="C127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8"/>
          <p:cNvSpPr txBox="1"/>
          <p:nvPr/>
        </p:nvSpPr>
        <p:spPr>
          <a:xfrm>
            <a:off x="218225" y="2112538"/>
            <a:ext cx="2457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 i="0" sz="4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6" name="Google Shape;116;p28"/>
          <p:cNvGrpSpPr/>
          <p:nvPr/>
        </p:nvGrpSpPr>
        <p:grpSpPr>
          <a:xfrm>
            <a:off x="4103240" y="746465"/>
            <a:ext cx="504900" cy="566737"/>
            <a:chOff x="9523225" y="1199350"/>
            <a:chExt cx="1009800" cy="1133475"/>
          </a:xfrm>
        </p:grpSpPr>
        <p:sp>
          <p:nvSpPr>
            <p:cNvPr id="117" name="Google Shape;117;p28"/>
            <p:cNvSpPr/>
            <p:nvPr/>
          </p:nvSpPr>
          <p:spPr>
            <a:xfrm>
              <a:off x="9523225" y="1199350"/>
              <a:ext cx="1009800" cy="990600"/>
            </a:xfrm>
            <a:prstGeom prst="diamond">
              <a:avLst/>
            </a:prstGeom>
            <a:solidFill>
              <a:srgbClr val="B312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8"/>
            <p:cNvSpPr/>
            <p:nvPr/>
          </p:nvSpPr>
          <p:spPr>
            <a:xfrm>
              <a:off x="9523225" y="1342225"/>
              <a:ext cx="1009800" cy="990600"/>
            </a:xfrm>
            <a:prstGeom prst="diamond">
              <a:avLst/>
            </a:prstGeom>
            <a:solidFill>
              <a:srgbClr val="C1272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i="0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9" name="Google Shape;119;p28"/>
          <p:cNvGrpSpPr/>
          <p:nvPr/>
        </p:nvGrpSpPr>
        <p:grpSpPr>
          <a:xfrm>
            <a:off x="4103240" y="1508465"/>
            <a:ext cx="504900" cy="571500"/>
            <a:chOff x="9523225" y="1199350"/>
            <a:chExt cx="1009800" cy="1143000"/>
          </a:xfrm>
        </p:grpSpPr>
        <p:sp>
          <p:nvSpPr>
            <p:cNvPr id="120" name="Google Shape;120;p28"/>
            <p:cNvSpPr/>
            <p:nvPr/>
          </p:nvSpPr>
          <p:spPr>
            <a:xfrm>
              <a:off x="9523225" y="1199350"/>
              <a:ext cx="1009800" cy="990600"/>
            </a:xfrm>
            <a:prstGeom prst="diamond">
              <a:avLst/>
            </a:prstGeom>
            <a:solidFill>
              <a:srgbClr val="B312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8"/>
            <p:cNvSpPr/>
            <p:nvPr/>
          </p:nvSpPr>
          <p:spPr>
            <a:xfrm>
              <a:off x="9523225" y="1351750"/>
              <a:ext cx="1009800" cy="990600"/>
            </a:xfrm>
            <a:prstGeom prst="diamond">
              <a:avLst/>
            </a:prstGeom>
            <a:solidFill>
              <a:srgbClr val="C1272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i="0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2" name="Google Shape;122;p28"/>
          <p:cNvGrpSpPr/>
          <p:nvPr/>
        </p:nvGrpSpPr>
        <p:grpSpPr>
          <a:xfrm>
            <a:off x="4103240" y="2275228"/>
            <a:ext cx="504900" cy="571500"/>
            <a:chOff x="9523225" y="1199350"/>
            <a:chExt cx="1009800" cy="1143000"/>
          </a:xfrm>
        </p:grpSpPr>
        <p:sp>
          <p:nvSpPr>
            <p:cNvPr id="123" name="Google Shape;123;p28"/>
            <p:cNvSpPr/>
            <p:nvPr/>
          </p:nvSpPr>
          <p:spPr>
            <a:xfrm>
              <a:off x="9523225" y="1199350"/>
              <a:ext cx="1009800" cy="990600"/>
            </a:xfrm>
            <a:prstGeom prst="diamond">
              <a:avLst/>
            </a:prstGeom>
            <a:solidFill>
              <a:srgbClr val="B312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8"/>
            <p:cNvSpPr/>
            <p:nvPr/>
          </p:nvSpPr>
          <p:spPr>
            <a:xfrm>
              <a:off x="9523225" y="1351750"/>
              <a:ext cx="1009800" cy="990600"/>
            </a:xfrm>
            <a:prstGeom prst="diamond">
              <a:avLst/>
            </a:prstGeom>
            <a:solidFill>
              <a:srgbClr val="C1272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i="0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25" name="Google Shape;125;p28"/>
          <p:cNvGrpSpPr/>
          <p:nvPr/>
        </p:nvGrpSpPr>
        <p:grpSpPr>
          <a:xfrm>
            <a:off x="4103240" y="3037228"/>
            <a:ext cx="504900" cy="571500"/>
            <a:chOff x="9523225" y="1199350"/>
            <a:chExt cx="1009800" cy="1143000"/>
          </a:xfrm>
        </p:grpSpPr>
        <p:sp>
          <p:nvSpPr>
            <p:cNvPr id="126" name="Google Shape;126;p28"/>
            <p:cNvSpPr/>
            <p:nvPr/>
          </p:nvSpPr>
          <p:spPr>
            <a:xfrm>
              <a:off x="9523225" y="1199350"/>
              <a:ext cx="1009800" cy="990600"/>
            </a:xfrm>
            <a:prstGeom prst="diamond">
              <a:avLst/>
            </a:prstGeom>
            <a:solidFill>
              <a:srgbClr val="B312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8"/>
            <p:cNvSpPr/>
            <p:nvPr/>
          </p:nvSpPr>
          <p:spPr>
            <a:xfrm>
              <a:off x="9523225" y="1351750"/>
              <a:ext cx="1009800" cy="990600"/>
            </a:xfrm>
            <a:prstGeom prst="diamond">
              <a:avLst/>
            </a:prstGeom>
            <a:solidFill>
              <a:srgbClr val="C1272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b="1" i="0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8" name="Google Shape;128;p28"/>
          <p:cNvSpPr txBox="1"/>
          <p:nvPr/>
        </p:nvSpPr>
        <p:spPr>
          <a:xfrm>
            <a:off x="4834874" y="874409"/>
            <a:ext cx="300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Análise da área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4834867" y="1636415"/>
            <a:ext cx="419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Antiga gestão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8"/>
          <p:cNvSpPr txBox="1"/>
          <p:nvPr/>
        </p:nvSpPr>
        <p:spPr>
          <a:xfrm>
            <a:off x="4834867" y="2398415"/>
            <a:ext cx="300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Planos de ação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4834867" y="3160415"/>
            <a:ext cx="342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Projetos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3" name="Google Shape;133;p28"/>
          <p:cNvGrpSpPr/>
          <p:nvPr/>
        </p:nvGrpSpPr>
        <p:grpSpPr>
          <a:xfrm>
            <a:off x="4103240" y="3789738"/>
            <a:ext cx="504900" cy="571500"/>
            <a:chOff x="9523225" y="1199350"/>
            <a:chExt cx="1009800" cy="1143000"/>
          </a:xfrm>
        </p:grpSpPr>
        <p:sp>
          <p:nvSpPr>
            <p:cNvPr id="134" name="Google Shape;134;p28"/>
            <p:cNvSpPr/>
            <p:nvPr/>
          </p:nvSpPr>
          <p:spPr>
            <a:xfrm>
              <a:off x="9523225" y="1199350"/>
              <a:ext cx="1009800" cy="990600"/>
            </a:xfrm>
            <a:prstGeom prst="diamond">
              <a:avLst/>
            </a:prstGeom>
            <a:solidFill>
              <a:srgbClr val="B312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8"/>
            <p:cNvSpPr/>
            <p:nvPr/>
          </p:nvSpPr>
          <p:spPr>
            <a:xfrm>
              <a:off x="9523225" y="1351750"/>
              <a:ext cx="1009800" cy="990600"/>
            </a:xfrm>
            <a:prstGeom prst="diamond">
              <a:avLst/>
            </a:prstGeom>
            <a:solidFill>
              <a:srgbClr val="C1272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pt-BR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b="1" i="0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6" name="Google Shape;136;p28"/>
          <p:cNvSpPr txBox="1"/>
          <p:nvPr/>
        </p:nvSpPr>
        <p:spPr>
          <a:xfrm>
            <a:off x="4834868" y="3927551"/>
            <a:ext cx="255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Montserrat"/>
                <a:ea typeface="Montserrat"/>
                <a:cs typeface="Montserrat"/>
                <a:sym typeface="Montserrat"/>
              </a:rPr>
              <a:t>Q&amp;A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adrão do plano de fundo&#10;&#10;Descrição gerada automaticamente" id="137" name="Google Shape;1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/>
        </p:nvSpPr>
        <p:spPr>
          <a:xfrm>
            <a:off x="229560" y="1476368"/>
            <a:ext cx="7265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Processo </a:t>
            </a:r>
            <a:b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Seletivo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9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>
            <a:off x="5218706" y="0"/>
            <a:ext cx="39252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9"/>
          <p:cNvSpPr/>
          <p:nvPr/>
        </p:nvSpPr>
        <p:spPr>
          <a:xfrm>
            <a:off x="0" y="0"/>
            <a:ext cx="5218800" cy="51435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9"/>
          <p:cNvSpPr/>
          <p:nvPr/>
        </p:nvSpPr>
        <p:spPr>
          <a:xfrm>
            <a:off x="813488" y="1783931"/>
            <a:ext cx="75000" cy="104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drão do plano de fundo&#10;&#10;Descrição gerada automaticamente" id="146" name="Google Shape;14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9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adrão do plano de fundo&#10;&#10;Descrição gerada automaticamente" id="148" name="Google Shape;148;p29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-306875" y="24713"/>
            <a:ext cx="9757750" cy="5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9"/>
          <p:cNvSpPr txBox="1"/>
          <p:nvPr/>
        </p:nvSpPr>
        <p:spPr>
          <a:xfrm>
            <a:off x="980409" y="1724881"/>
            <a:ext cx="30915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Análise da área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5" name="Google Shape;1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0"/>
          <p:cNvSpPr/>
          <p:nvPr/>
        </p:nvSpPr>
        <p:spPr>
          <a:xfrm>
            <a:off x="428625" y="285750"/>
            <a:ext cx="1623417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700"/>
              <a:buFont typeface="Open Sans"/>
              <a:buNone/>
            </a:pPr>
            <a:r>
              <a:rPr b="0" i="0" lang="pt-BR" sz="17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Análise da área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571500" y="984052"/>
            <a:ext cx="8001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 Diretoria de Gestão de Pessoas é o coração da gestão do capital humano do Clube de Consultoria Universitário. Seu escopo abrange o acompanhamento integral dos membros, o planejamento estratégico da área e a execução de projetos recorrentes como o Processo Seletivo, as reuniões 1on1 e o Programa Trainee.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571500" y="1812727"/>
            <a:ext cx="800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 diretoria é responsável por apoiar decisões estratégicas relacionadas aos membros, comunicar mudanças significativas (desligamentos, promoções) e conduzir conversas sobre desenvolvimento, rendimento e atitudes. Para isso, utiliza-se de métricas estruturadas (KPIs, OKRs) e feedback contínuo, criando um ambiente de crescimento e engajamento.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0"/>
          <p:cNvSpPr/>
          <p:nvPr/>
        </p:nvSpPr>
        <p:spPr>
          <a:xfrm>
            <a:off x="571500" y="3012877"/>
            <a:ext cx="8001000" cy="144839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/>
          <p:nvPr/>
        </p:nvSpPr>
        <p:spPr>
          <a:xfrm>
            <a:off x="857250" y="3227189"/>
            <a:ext cx="742950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Open Sans"/>
              <a:buNone/>
            </a:pPr>
            <a:r>
              <a:rPr b="1" i="0" lang="pt-BR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Desafios atuais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857250" y="3604022"/>
            <a:ext cx="7429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Falta de estruturação em métricas de acompanhamento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0"/>
          <p:cNvSpPr/>
          <p:nvPr/>
        </p:nvSpPr>
        <p:spPr>
          <a:xfrm>
            <a:off x="857250" y="3925491"/>
            <a:ext cx="7429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Necessidade de melhor integração entre projetos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0"/>
          <p:cNvSpPr/>
          <p:nvPr/>
        </p:nvSpPr>
        <p:spPr>
          <a:xfrm>
            <a:off x="857250" y="4246959"/>
            <a:ext cx="7429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Open Sans"/>
              <a:buNone/>
            </a:pPr>
            <a:r>
              <a:rPr b="0" i="0" lang="pt-BR" sz="10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Oportunidade de fortalecer a identidade do clube entre membros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0"/>
          <p:cNvSpPr/>
          <p:nvPr/>
        </p:nvSpPr>
        <p:spPr>
          <a:xfrm>
            <a:off x="857250" y="3589734"/>
            <a:ext cx="642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Open Sans"/>
              <a:buNone/>
            </a:pPr>
            <a:r>
              <a:rPr b="0" i="0" lang="pt-BR" sz="12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857250" y="3911203"/>
            <a:ext cx="642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Open Sans"/>
              <a:buNone/>
            </a:pPr>
            <a:r>
              <a:rPr b="0" i="0" lang="pt-BR" sz="12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0"/>
          <p:cNvSpPr/>
          <p:nvPr/>
        </p:nvSpPr>
        <p:spPr>
          <a:xfrm>
            <a:off x="857250" y="4232672"/>
            <a:ext cx="642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Open Sans"/>
              <a:buNone/>
            </a:pPr>
            <a:r>
              <a:rPr b="0" i="0" lang="pt-BR" sz="12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drão do plano de fundo&#10;&#10;Descrição gerada automaticamente" id="167" name="Google Shape;16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229560" y="1476368"/>
            <a:ext cx="7265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Processo </a:t>
            </a:r>
            <a:b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Seletivo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31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>
            <a:off x="5218706" y="0"/>
            <a:ext cx="39252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/>
          <p:nvPr/>
        </p:nvSpPr>
        <p:spPr>
          <a:xfrm>
            <a:off x="0" y="0"/>
            <a:ext cx="5218800" cy="51435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813488" y="1783931"/>
            <a:ext cx="75000" cy="104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drão do plano de fundo&#10;&#10;Descrição gerada automaticamente" id="177" name="Google Shape;17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drão do plano de fundo&#10;&#10;Descrição gerada automaticamente" id="178" name="Google Shape;178;p31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-230175" y="49425"/>
            <a:ext cx="9757750" cy="5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 txBox="1"/>
          <p:nvPr/>
        </p:nvSpPr>
        <p:spPr>
          <a:xfrm>
            <a:off x="980409" y="1724881"/>
            <a:ext cx="30915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pt-BR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Antiga gestão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7386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2"/>
          <p:cNvSpPr/>
          <p:nvPr/>
        </p:nvSpPr>
        <p:spPr>
          <a:xfrm>
            <a:off x="285750" y="285750"/>
            <a:ext cx="1200150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50"/>
              <a:buFont typeface="Montserrat"/>
              <a:buNone/>
            </a:pPr>
            <a:r>
              <a:rPr b="0" i="0" lang="pt-BR" sz="125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Antiga gestão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2"/>
          <p:cNvSpPr/>
          <p:nvPr/>
        </p:nvSpPr>
        <p:spPr>
          <a:xfrm>
            <a:off x="285750" y="928688"/>
            <a:ext cx="85725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 gestão anterior construiu bases sólidas para a Diretoria de Gestão de Pessoas. A atual presidência (Ana Bia) atuou como diretora, demonstrando continuidade e comprometimento. Destacam-se avanços importantes:</a:t>
            </a:r>
            <a:endParaRPr sz="105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Montserrat"/>
              <a:buNone/>
            </a:pPr>
            <a:r>
              <a:t/>
            </a:r>
            <a:endParaRPr sz="1050">
              <a:solidFill>
                <a:srgbClr val="4755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285750" y="1928813"/>
            <a:ext cx="4243388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Montserrat"/>
              <a:buNone/>
            </a:pPr>
            <a:r>
              <a:rPr b="1" i="0" lang="pt-BR" sz="12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O que a gestão entregou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285750" y="2352080"/>
            <a:ext cx="424338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Rede Alumni estruturada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— planilha consolidada de presidentes, vice-presidentes, diretores e membros, criando o primeiro mapa formal do histórico do clube.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2"/>
          <p:cNvSpPr/>
          <p:nvPr/>
        </p:nvSpPr>
        <p:spPr>
          <a:xfrm>
            <a:off x="285750" y="3037880"/>
            <a:ext cx="42433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Processo Seletivo refeito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— três etapas (vídeo, case e entrevista presencial), com calendário antecipado e integração à calourada.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285750" y="3552230"/>
            <a:ext cx="42433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Site e Drive em movimento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— abertura da pauta Wix, reorganização do drive e revisão das fotos pós-sabatina.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/>
          <p:nvPr/>
        </p:nvSpPr>
        <p:spPr>
          <a:xfrm>
            <a:off x="285750" y="4066580"/>
            <a:ext cx="424338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4075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Programa Trainee desenhado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— calendário definido, material em construção e treino de case em dupla já em piloto.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2"/>
          <p:cNvSpPr/>
          <p:nvPr/>
        </p:nvSpPr>
        <p:spPr>
          <a:xfrm>
            <a:off x="4814888" y="1928813"/>
            <a:ext cx="4043363" cy="3245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/>
          <p:nvPr/>
        </p:nvSpPr>
        <p:spPr>
          <a:xfrm>
            <a:off x="285750" y="2352080"/>
            <a:ext cx="9822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Montserrat"/>
              <a:buNone/>
            </a:pPr>
            <a:r>
              <a:rPr b="0" i="0" lang="pt-BR" sz="95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◆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2"/>
          <p:cNvSpPr/>
          <p:nvPr/>
        </p:nvSpPr>
        <p:spPr>
          <a:xfrm>
            <a:off x="285750" y="3037880"/>
            <a:ext cx="9822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Montserrat"/>
              <a:buNone/>
            </a:pPr>
            <a:r>
              <a:rPr b="0" i="0" lang="pt-BR" sz="95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◆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2"/>
          <p:cNvSpPr/>
          <p:nvPr/>
        </p:nvSpPr>
        <p:spPr>
          <a:xfrm>
            <a:off x="285750" y="3552230"/>
            <a:ext cx="9822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Montserrat"/>
              <a:buNone/>
            </a:pPr>
            <a:r>
              <a:rPr b="0" i="0" lang="pt-BR" sz="95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◆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2"/>
          <p:cNvSpPr/>
          <p:nvPr/>
        </p:nvSpPr>
        <p:spPr>
          <a:xfrm>
            <a:off x="285750" y="4066580"/>
            <a:ext cx="98227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Montserrat"/>
              <a:buNone/>
            </a:pPr>
            <a:r>
              <a:rPr b="0" i="0" lang="pt-BR" sz="95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◆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5100638" y="2214563"/>
            <a:ext cx="3471863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Montserrat"/>
              <a:buNone/>
            </a:pPr>
            <a:r>
              <a:rPr b="1" i="0" lang="pt-BR" sz="12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O que carrego como herança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5100638" y="2637830"/>
            <a:ext cx="347186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Trabalhei lado a lado com essa gestão nas pautas de PS e Rede Alumni. </a:t>
            </a: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Conheço o que está pronto e o que ainda é fragilidade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e é exatamente isso que orienta meu plano.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5100638" y="3523655"/>
            <a:ext cx="3471863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A continuar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5100638" y="3734395"/>
            <a:ext cx="34718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Montserrat"/>
              <a:buNone/>
            </a:pPr>
            <a:r>
              <a:rPr b="0" i="0" lang="pt-BR" sz="7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Rede Alumni, ciclo de 1on1s, integração com calouros e a base de avaliação do PS construída ao longo de 2026.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2"/>
          <p:cNvSpPr/>
          <p:nvPr/>
        </p:nvSpPr>
        <p:spPr>
          <a:xfrm>
            <a:off x="5100638" y="4205883"/>
            <a:ext cx="3471863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A evoluir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2"/>
          <p:cNvSpPr/>
          <p:nvPr/>
        </p:nvSpPr>
        <p:spPr>
          <a:xfrm>
            <a:off x="5100638" y="4416623"/>
            <a:ext cx="347186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Montserrat"/>
              <a:buNone/>
            </a:pPr>
            <a:r>
              <a:rPr b="0" i="0" lang="pt-BR" sz="7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Padronizar métricas, fechar o ciclo de cases com previsibilidade semanal e aproximar consultorias do dia a dia dos membros.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2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adrão do plano de fundo&#10;&#10;Descrição gerada automaticamente" id="206" name="Google Shape;20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/>
        </p:nvSpPr>
        <p:spPr>
          <a:xfrm>
            <a:off x="229560" y="1476368"/>
            <a:ext cx="7265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Processo </a:t>
            </a:r>
            <a:b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Seletivo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33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>
            <a:off x="5218706" y="0"/>
            <a:ext cx="39252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/>
          <p:nvPr/>
        </p:nvSpPr>
        <p:spPr>
          <a:xfrm>
            <a:off x="0" y="0"/>
            <a:ext cx="5218800" cy="51435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3"/>
          <p:cNvSpPr/>
          <p:nvPr/>
        </p:nvSpPr>
        <p:spPr>
          <a:xfrm>
            <a:off x="813488" y="1783931"/>
            <a:ext cx="75000" cy="104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drão do plano de fundo&#10;&#10;Descrição gerada automaticamente" id="215" name="Google Shape;21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drão do plano de fundo&#10;&#10;Descrição gerada automaticamente" id="216" name="Google Shape;216;p33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-230175" y="49425"/>
            <a:ext cx="9757750" cy="5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3"/>
          <p:cNvSpPr txBox="1"/>
          <p:nvPr/>
        </p:nvSpPr>
        <p:spPr>
          <a:xfrm>
            <a:off x="980409" y="1724881"/>
            <a:ext cx="30915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pt-BR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Planos de ação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3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4" name="Google Shape;22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37154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/>
          <p:nvPr/>
        </p:nvSpPr>
        <p:spPr>
          <a:xfrm>
            <a:off x="285750" y="285750"/>
            <a:ext cx="174307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Montserrat"/>
              <a:buNone/>
            </a:pPr>
            <a:r>
              <a:rPr b="0" i="0" lang="pt-BR" sz="105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Planos de ação · Tópico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285750" y="857250"/>
            <a:ext cx="8572500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Montserrat ExtraBold"/>
              <a:buNone/>
            </a:pPr>
            <a:r>
              <a:rPr b="1" i="0" lang="pt-BR" sz="2450" u="none" cap="none" strike="noStrike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Site, Drive e identidade visual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4"/>
          <p:cNvSpPr/>
          <p:nvPr/>
        </p:nvSpPr>
        <p:spPr>
          <a:xfrm>
            <a:off x="285750" y="1389459"/>
            <a:ext cx="857250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Montserrat"/>
              <a:buNone/>
            </a:pPr>
            <a:r>
              <a:rPr b="0" i="0" lang="pt-BR" sz="10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Engajar quem já é do clube e dar uma cara nova para quem chega.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4"/>
          <p:cNvSpPr/>
          <p:nvPr/>
        </p:nvSpPr>
        <p:spPr>
          <a:xfrm>
            <a:off x="285750" y="1848445"/>
            <a:ext cx="2762259" cy="3523097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4"/>
          <p:cNvSpPr/>
          <p:nvPr/>
        </p:nvSpPr>
        <p:spPr>
          <a:xfrm>
            <a:off x="285750" y="1848445"/>
            <a:ext cx="2762259" cy="2857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4"/>
          <p:cNvSpPr/>
          <p:nvPr/>
        </p:nvSpPr>
        <p:spPr>
          <a:xfrm>
            <a:off x="500063" y="2062758"/>
            <a:ext cx="233363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Montserrat ExtraBold"/>
              <a:buNone/>
            </a:pPr>
            <a:r>
              <a:rPr b="1" i="0" lang="pt-BR" sz="1600" u="none" cap="none" strike="noStrike">
                <a:solidFill>
                  <a:srgbClr val="B91C1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500063" y="2484239"/>
            <a:ext cx="2333634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pt-BR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Site com identidade nova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/>
          <p:nvPr/>
        </p:nvSpPr>
        <p:spPr>
          <a:xfrm>
            <a:off x="500063" y="2831409"/>
            <a:ext cx="2333634" cy="73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Atualizar a identidade visual do site para deixá-lo coerente com o CCU de hoje, mantendo os membros engajados em divulgar e visitar a página.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4"/>
          <p:cNvSpPr/>
          <p:nvPr/>
        </p:nvSpPr>
        <p:spPr>
          <a:xfrm>
            <a:off x="500063" y="3705737"/>
            <a:ext cx="2333634" cy="12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Como: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reunião dedicada de Wix com membros que já sabem operar a ferramenta, plano de redesign por sprints e revisão da estrutura (co-founders, presidência, ex-presidentes, diretores, membros) — pauta que vem desde a ata de 22/12/2025.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4"/>
          <p:cNvSpPr/>
          <p:nvPr/>
        </p:nvSpPr>
        <p:spPr>
          <a:xfrm>
            <a:off x="3190884" y="1848445"/>
            <a:ext cx="2762259" cy="349452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4"/>
          <p:cNvSpPr/>
          <p:nvPr/>
        </p:nvSpPr>
        <p:spPr>
          <a:xfrm>
            <a:off x="3190884" y="1848445"/>
            <a:ext cx="2762259" cy="2857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4"/>
          <p:cNvSpPr/>
          <p:nvPr/>
        </p:nvSpPr>
        <p:spPr>
          <a:xfrm>
            <a:off x="3405197" y="2062758"/>
            <a:ext cx="233363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Montserrat ExtraBold"/>
              <a:buNone/>
            </a:pPr>
            <a:r>
              <a:rPr b="1" i="0" lang="pt-BR" sz="1600" u="none" cap="none" strike="noStrike">
                <a:solidFill>
                  <a:srgbClr val="B91C1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"/>
          <p:cNvSpPr/>
          <p:nvPr/>
        </p:nvSpPr>
        <p:spPr>
          <a:xfrm>
            <a:off x="3405197" y="2484239"/>
            <a:ext cx="2333634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pt-BR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Drive organizado e enxuto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3405197" y="2831409"/>
            <a:ext cx="2333634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Manter as pastas do drive organizadas, excluindo o que não é mais usado e padronizando nomenclatura.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4"/>
          <p:cNvSpPr/>
          <p:nvPr/>
        </p:nvSpPr>
        <p:spPr>
          <a:xfrm>
            <a:off x="3405197" y="3522873"/>
            <a:ext cx="2333634" cy="1280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Como: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dar continuidade ao trabalho já iniciado pelo Luis em maio (backup e aumento de espaço), com uma rotina trimestral de limpeza, dono de pasta definido e índice navegável na raiz para qualquer membro achar o que precisa em menos de 1 minuto.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6096019" y="1848445"/>
            <a:ext cx="2762259" cy="349452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4"/>
          <p:cNvSpPr/>
          <p:nvPr/>
        </p:nvSpPr>
        <p:spPr>
          <a:xfrm>
            <a:off x="6096019" y="1848445"/>
            <a:ext cx="2762259" cy="2857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4"/>
          <p:cNvSpPr/>
          <p:nvPr/>
        </p:nvSpPr>
        <p:spPr>
          <a:xfrm>
            <a:off x="6310331" y="2062758"/>
            <a:ext cx="233363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Montserrat ExtraBold"/>
              <a:buNone/>
            </a:pPr>
            <a:r>
              <a:rPr b="1" i="0" lang="pt-BR" sz="1600" u="none" cap="none" strike="noStrike">
                <a:solidFill>
                  <a:srgbClr val="B91C1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4"/>
          <p:cNvSpPr/>
          <p:nvPr/>
        </p:nvSpPr>
        <p:spPr>
          <a:xfrm>
            <a:off x="6310331" y="2484239"/>
            <a:ext cx="2333634" cy="204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Montserrat"/>
              <a:buNone/>
            </a:pPr>
            <a:r>
              <a:rPr b="1" i="0" lang="pt-BR" sz="11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Fotos novas, clube visível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4"/>
          <p:cNvSpPr/>
          <p:nvPr/>
        </p:nvSpPr>
        <p:spPr>
          <a:xfrm>
            <a:off x="6310331" y="2831409"/>
            <a:ext cx="2333634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Marcar uma sessão com fotógrafo de role para todos os membros, integrando as fotos no site.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4"/>
          <p:cNvSpPr/>
          <p:nvPr/>
        </p:nvSpPr>
        <p:spPr>
          <a:xfrm>
            <a:off x="6310331" y="3522873"/>
            <a:ext cx="2333634" cy="10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Por quê: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hoje membros novos demoram para reconhecer quem é quem no clube. Foto no site, com nome, área e trajetória, encurta esse tempo e dá pertencimento — pauta que já estava no radar do Chammas.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adrão do plano de fundo&#10;&#10;Descrição gerada automaticamente" id="247" name="Google Shape;2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3" name="Google Shape;25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5"/>
          <p:cNvSpPr/>
          <p:nvPr/>
        </p:nvSpPr>
        <p:spPr>
          <a:xfrm>
            <a:off x="285750" y="178594"/>
            <a:ext cx="1594842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Montserrat"/>
              <a:buNone/>
            </a:pPr>
            <a:r>
              <a:rPr b="0" i="0" lang="pt-BR" sz="95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Planos de ação · Tópico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285750" y="642938"/>
            <a:ext cx="8858250" cy="382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50"/>
              <a:buFont typeface="Montserrat ExtraBold"/>
              <a:buNone/>
            </a:pPr>
            <a:r>
              <a:rPr b="1" i="0" lang="pt-BR" sz="2250" u="none" cap="none" strike="noStrike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Análise de dados &amp; novo ciclo de cases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285750" y="1132284"/>
            <a:ext cx="885825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Montserrat"/>
              <a:buNone/>
            </a:pPr>
            <a:r>
              <a:rPr b="0" i="0" lang="pt-BR" sz="10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Decidir com indicador, não com sensação</a:t>
            </a:r>
            <a:r>
              <a:rPr lang="pt-BR" sz="105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0" i="0" lang="pt-BR" sz="10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e desbloquear a entrega semanal de case.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285750" y="1591270"/>
            <a:ext cx="3000375" cy="328612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5"/>
          <p:cNvSpPr/>
          <p:nvPr/>
        </p:nvSpPr>
        <p:spPr>
          <a:xfrm>
            <a:off x="500063" y="1877020"/>
            <a:ext cx="257175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ontserrat"/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RITUAL DE DADOS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500063" y="2105620"/>
            <a:ext cx="2571750" cy="445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1on1 trimestral com todo membro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500063" y="2694254"/>
            <a:ext cx="2571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Avaliar desempenho em cases, satisfação geral, percepção da cultura e pontos de melhoria (todo trimestre, com roteiro padrão).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500063" y="3737242"/>
            <a:ext cx="257175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Montserrat"/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 MÉTRICAS DE EVENTOS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500063" y="3965842"/>
            <a:ext cx="2571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Coletar inscritos × presentes em toda palestra e iniciativa</a:t>
            </a:r>
            <a:r>
              <a:rPr lang="pt-BR" sz="8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0" i="0" lang="pt-BR" sz="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(hoje não medimos). Sem isso, não dá pra otimizar, nem transformar audiência em identidade com o clube.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5"/>
          <p:cNvSpPr/>
          <p:nvPr/>
        </p:nvSpPr>
        <p:spPr>
          <a:xfrm>
            <a:off x="3571875" y="1591270"/>
            <a:ext cx="5286375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Montserrat"/>
              <a:buNone/>
            </a:pPr>
            <a:r>
              <a:rPr b="1" i="0" lang="pt-BR" sz="12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Nova estrutura de cases — 5 ações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/>
          <p:nvPr/>
        </p:nvSpPr>
        <p:spPr>
          <a:xfrm rot="2700000">
            <a:off x="3600450" y="2057400"/>
            <a:ext cx="228600" cy="2286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5"/>
          <p:cNvSpPr/>
          <p:nvPr/>
        </p:nvSpPr>
        <p:spPr>
          <a:xfrm>
            <a:off x="3692426" y="2102048"/>
            <a:ext cx="4464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4000500" y="2014538"/>
            <a:ext cx="48577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Montserrat"/>
              <a:buNone/>
            </a:pPr>
            <a:r>
              <a:rPr b="1" i="0" lang="pt-BR" sz="9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Novo ciclo — segunda 9h até domingo 23h59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4000500" y="2207419"/>
            <a:ext cx="48577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Montserrat"/>
              <a:buNone/>
            </a:pPr>
            <a:r>
              <a:rPr b="0" i="0" lang="pt-BR" sz="7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Alinha o case ao planejamento da semana, evita a quebra de ritmo da quarta. Mais previsibilidade.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5"/>
          <p:cNvSpPr/>
          <p:nvPr/>
        </p:nvSpPr>
        <p:spPr>
          <a:xfrm rot="2700000">
            <a:off x="3600450" y="2728913"/>
            <a:ext cx="228600" cy="2286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5"/>
          <p:cNvSpPr/>
          <p:nvPr/>
        </p:nvSpPr>
        <p:spPr>
          <a:xfrm>
            <a:off x="3680817" y="2773561"/>
            <a:ext cx="67866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4000500" y="2686050"/>
            <a:ext cx="48577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Montserrat"/>
              <a:buNone/>
            </a:pPr>
            <a:r>
              <a:rPr b="1" i="0" lang="pt-BR" sz="9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Imersão setorial semanal + toolkit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4000500" y="2878931"/>
            <a:ext cx="48577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Montserrat"/>
              <a:buNone/>
            </a:pPr>
            <a:r>
              <a:rPr b="0" i="0" lang="pt-BR" sz="7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Um setor por semana (varejo, saúde, tech...) + 1 página de KPIs e tendências. Acaba o "não sei por onde começar".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5"/>
          <p:cNvSpPr/>
          <p:nvPr/>
        </p:nvSpPr>
        <p:spPr>
          <a:xfrm rot="2700000">
            <a:off x="3600450" y="3400425"/>
            <a:ext cx="228600" cy="2286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5"/>
          <p:cNvSpPr/>
          <p:nvPr/>
        </p:nvSpPr>
        <p:spPr>
          <a:xfrm>
            <a:off x="3680817" y="3445073"/>
            <a:ext cx="67866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4000500" y="3357563"/>
            <a:ext cx="48577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Montserrat"/>
              <a:buNone/>
            </a:pPr>
            <a:r>
              <a:rPr b="1" i="0" lang="pt-BR" sz="9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Gamificação — Dupla Destaque e sistema de pontos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4000500" y="3550444"/>
            <a:ext cx="48577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Montserrat"/>
              <a:buNone/>
            </a:pPr>
            <a:r>
              <a:rPr b="0" i="0" lang="pt-BR" sz="7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Reconhecimento público no início da semana + pontos por participação e qualidade, com premiação ao fim do ciclo.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5"/>
          <p:cNvSpPr/>
          <p:nvPr/>
        </p:nvSpPr>
        <p:spPr>
          <a:xfrm rot="2700000">
            <a:off x="3600450" y="4071938"/>
            <a:ext cx="228600" cy="2286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5"/>
          <p:cNvSpPr/>
          <p:nvPr/>
        </p:nvSpPr>
        <p:spPr>
          <a:xfrm>
            <a:off x="3675459" y="4116586"/>
            <a:ext cx="78581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4000500" y="4029075"/>
            <a:ext cx="48577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Montserrat"/>
              <a:buNone/>
            </a:pPr>
            <a:r>
              <a:rPr b="1" i="0" lang="pt-BR" sz="9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Entregas curtas + templates pré-estruturados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4000500" y="4221956"/>
            <a:ext cx="48577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Montserrat"/>
              <a:buNone/>
            </a:pPr>
            <a:r>
              <a:rPr b="0" i="0" lang="pt-BR" sz="7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Máx. 3-5 slides ou 2 páginas. Diagnóstico, Estratégia e Finanças prontos. Foco vai pra análise, não pra formatação.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5"/>
          <p:cNvSpPr/>
          <p:nvPr/>
        </p:nvSpPr>
        <p:spPr>
          <a:xfrm rot="2700000">
            <a:off x="3600450" y="4743450"/>
            <a:ext cx="228600" cy="2286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5"/>
          <p:cNvSpPr/>
          <p:nvPr/>
        </p:nvSpPr>
        <p:spPr>
          <a:xfrm>
            <a:off x="3680817" y="4788098"/>
            <a:ext cx="67866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ontserrat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4000500" y="4700588"/>
            <a:ext cx="485775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Montserrat"/>
              <a:buNone/>
            </a:pPr>
            <a:r>
              <a:rPr b="1" i="0" lang="pt-BR" sz="9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Check-in de quarta + gabarito pós-entrega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4000500" y="4893469"/>
            <a:ext cx="48577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Montserrat"/>
              <a:buNone/>
            </a:pPr>
            <a:r>
              <a:rPr b="0" i="0" lang="pt-BR" sz="7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Lembrete no grupo na quarta e resolução padrão liberada após a entrega (engajamento ativo e aprendizado garantido).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drão do plano de fundo&#10;&#10;Descrição gerada automaticamente" id="284" name="Google Shape;28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5"/>
          <p:cNvSpPr txBox="1"/>
          <p:nvPr/>
        </p:nvSpPr>
        <p:spPr>
          <a:xfrm>
            <a:off x="1089300" y="5001198"/>
            <a:ext cx="80547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1" name="Google Shape;29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/>
        </p:nvSpPr>
        <p:spPr>
          <a:xfrm>
            <a:off x="285750" y="285750"/>
            <a:ext cx="177165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Montserrat"/>
              <a:buNone/>
            </a:pPr>
            <a:r>
              <a:rPr b="0" i="0" lang="pt-BR" sz="105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Planos de ação · Tópico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285750" y="857250"/>
            <a:ext cx="8572500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450"/>
              <a:buFont typeface="Montserrat ExtraBold"/>
              <a:buNone/>
            </a:pPr>
            <a:r>
              <a:rPr b="1" i="0" lang="pt-BR" sz="2450" u="none" cap="none" strike="noStrike">
                <a:solidFill>
                  <a:srgbClr val="1E293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Contato mais direto com consultorias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6"/>
          <p:cNvSpPr/>
          <p:nvPr/>
        </p:nvSpPr>
        <p:spPr>
          <a:xfrm>
            <a:off x="285750" y="1389459"/>
            <a:ext cx="857250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Montserrat"/>
              <a:buNone/>
            </a:pPr>
            <a:r>
              <a:rPr b="0" i="0" lang="pt-BR" sz="10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Aproximar o membro do dia a dia de quem ele quer se tornar e treinar para os dois lados da banca.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285750" y="1734145"/>
            <a:ext cx="4243388" cy="1549412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6"/>
          <p:cNvSpPr/>
          <p:nvPr/>
        </p:nvSpPr>
        <p:spPr>
          <a:xfrm>
            <a:off x="400050" y="1918097"/>
            <a:ext cx="248245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Montserrat ExtraBold"/>
              <a:buNone/>
            </a:pPr>
            <a:r>
              <a:rPr b="1" i="0" lang="pt-BR" sz="1600" u="none" cap="none" strike="noStrike">
                <a:solidFill>
                  <a:srgbClr val="B91C1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6"/>
          <p:cNvSpPr/>
          <p:nvPr/>
        </p:nvSpPr>
        <p:spPr>
          <a:xfrm>
            <a:off x="791170" y="1848445"/>
            <a:ext cx="3623667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pt-BR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Apresentação final do Trainee com banca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6"/>
          <p:cNvSpPr/>
          <p:nvPr/>
        </p:nvSpPr>
        <p:spPr>
          <a:xfrm>
            <a:off x="400050" y="2409230"/>
            <a:ext cx="4014788" cy="73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Ao final do Programa Trainee, a dupla apresenta o case para um </a:t>
            </a: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comitê avaliador de uma consultoria relevante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. O fechamento do programa deixa de ser interno e passa a ser uma vitrine para o membro, para o clube e para a empresa parceira.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4614863" y="1734145"/>
            <a:ext cx="4243388" cy="1520837"/>
          </a:xfrm>
          <a:prstGeom prst="rect">
            <a:avLst/>
          </a:prstGeom>
          <a:solidFill>
            <a:srgbClr val="FFFFFF"/>
          </a:solidFill>
          <a:ln cap="flat" cmpd="sng" w="18275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6"/>
          <p:cNvSpPr/>
          <p:nvPr/>
        </p:nvSpPr>
        <p:spPr>
          <a:xfrm>
            <a:off x="4729163" y="1848445"/>
            <a:ext cx="29289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600"/>
              <a:buFont typeface="Montserrat ExtraBold"/>
              <a:buNone/>
            </a:pPr>
            <a:r>
              <a:rPr b="1" i="0" lang="pt-BR" sz="1600" u="none" cap="none" strike="noStrike">
                <a:solidFill>
                  <a:srgbClr val="B91C1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5164931" y="1883271"/>
            <a:ext cx="2736056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ontserrat"/>
              <a:buNone/>
            </a:pPr>
            <a:r>
              <a:rPr b="1" i="0" lang="pt-BR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Visitas guiadas às consultorias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6"/>
          <p:cNvSpPr/>
          <p:nvPr/>
        </p:nvSpPr>
        <p:spPr>
          <a:xfrm>
            <a:off x="4729163" y="2269927"/>
            <a:ext cx="4014788" cy="73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Organizar visitas presenciais a escritórios de consultoria, com calendário fixo no ano. O objetivo é o membro </a:t>
            </a:r>
            <a:r>
              <a:rPr b="1" i="0" lang="pt-BR" sz="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enxergar como é o dia a dia</a:t>
            </a:r>
            <a:r>
              <a:rPr b="0" i="0" lang="pt-BR" sz="8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antes de aplicar e voltar com ambição calibrada para os cases internos.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285750" y="3340708"/>
            <a:ext cx="4243388" cy="1520837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6"/>
          <p:cNvSpPr/>
          <p:nvPr/>
        </p:nvSpPr>
        <p:spPr>
          <a:xfrm>
            <a:off x="400050" y="3524659"/>
            <a:ext cx="292894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 ExtraBold"/>
              <a:buNone/>
            </a:pPr>
            <a:r>
              <a:rPr b="1" i="0" lang="pt-BR" sz="1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835819" y="3455008"/>
            <a:ext cx="3579019" cy="4179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Bootcamps bimestrais — simular challenges reais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6"/>
          <p:cNvSpPr/>
          <p:nvPr/>
        </p:nvSpPr>
        <p:spPr>
          <a:xfrm>
            <a:off x="400050" y="4015792"/>
            <a:ext cx="4014788" cy="73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cada dois meses, um bootcamp interno com problema real, grupos pré-formados e banca avaliadora que se reveza. Os membros </a:t>
            </a:r>
            <a:r>
              <a:rPr b="1"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treinam aplicando </a:t>
            </a:r>
            <a:r>
              <a:rPr b="1" lang="pt-BR" sz="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resolvendo cases</a:t>
            </a:r>
            <a:r>
              <a:rPr b="0" i="0" lang="pt-BR" sz="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preparados para os dois lados do funil das grandes consultorias.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4614863" y="3340708"/>
            <a:ext cx="4243388" cy="1520837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6"/>
          <p:cNvSpPr/>
          <p:nvPr/>
        </p:nvSpPr>
        <p:spPr>
          <a:xfrm>
            <a:off x="4729163" y="3455008"/>
            <a:ext cx="317897" cy="278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ontserrat ExtraBold"/>
              <a:buNone/>
            </a:pPr>
            <a:r>
              <a:rPr b="1" i="0" lang="pt-BR" sz="16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5189934" y="3489833"/>
            <a:ext cx="3148608" cy="20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Alumni dentro do Prep4Consulting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4729163" y="3876489"/>
            <a:ext cx="4014788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Montserrat"/>
              <a:buNone/>
            </a:pPr>
            <a:r>
              <a:rPr b="0" i="0" lang="pt-BR" sz="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Trazer os alumni do clube para perto via </a:t>
            </a:r>
            <a:r>
              <a:rPr b="1" i="0" lang="pt-BR" sz="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roda de conversa no Prep4Consulting</a:t>
            </a:r>
            <a:r>
              <a:rPr b="0" i="0" lang="pt-BR" sz="8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A Rede Alumni deixa de ser uma planilha e vira encontro, mentoria, networking e prova viva de para onde o CCU leva.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drão do plano de fundo&#10;&#10;Descrição gerada automaticamente" id="311" name="Google Shape;31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6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 txBox="1"/>
          <p:nvPr/>
        </p:nvSpPr>
        <p:spPr>
          <a:xfrm>
            <a:off x="229560" y="1476368"/>
            <a:ext cx="72654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Processo </a:t>
            </a:r>
            <a:b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Seletivo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37"/>
          <p:cNvPicPr preferRelativeResize="0"/>
          <p:nvPr/>
        </p:nvPicPr>
        <p:blipFill rotWithShape="1">
          <a:blip r:embed="rId3">
            <a:alphaModFix amt="7000"/>
          </a:blip>
          <a:srcRect b="0" l="0" r="0" t="0"/>
          <a:stretch/>
        </p:blipFill>
        <p:spPr>
          <a:xfrm>
            <a:off x="5218706" y="0"/>
            <a:ext cx="392529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7"/>
          <p:cNvSpPr/>
          <p:nvPr/>
        </p:nvSpPr>
        <p:spPr>
          <a:xfrm>
            <a:off x="0" y="0"/>
            <a:ext cx="5218800" cy="514350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7"/>
          <p:cNvSpPr/>
          <p:nvPr/>
        </p:nvSpPr>
        <p:spPr>
          <a:xfrm>
            <a:off x="813488" y="1783931"/>
            <a:ext cx="75000" cy="104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drão do plano de fundo&#10;&#10;Descrição gerada automaticamente" id="321" name="Google Shape;32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drão do plano de fundo&#10;&#10;Descrição gerada automaticamente" id="322" name="Google Shape;322;p37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-230175" y="49425"/>
            <a:ext cx="9757750" cy="5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7"/>
          <p:cNvSpPr txBox="1"/>
          <p:nvPr/>
        </p:nvSpPr>
        <p:spPr>
          <a:xfrm>
            <a:off x="980409" y="1921281"/>
            <a:ext cx="30915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lang="pt-BR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0" name="Google Shape;33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8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Open Sans SemiBold"/>
              <a:buNone/>
            </a:pPr>
            <a:r>
              <a:rPr b="0" i="0" lang="pt-BR" sz="1600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Projetos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428625" y="912614"/>
            <a:ext cx="8286750" cy="111263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"/>
          <p:cNvSpPr/>
          <p:nvPr/>
        </p:nvSpPr>
        <p:spPr>
          <a:xfrm>
            <a:off x="428625" y="912614"/>
            <a:ext cx="857250" cy="1112639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8"/>
          <p:cNvSpPr/>
          <p:nvPr/>
        </p:nvSpPr>
        <p:spPr>
          <a:xfrm>
            <a:off x="428625" y="912614"/>
            <a:ext cx="857250" cy="1112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Open Sans"/>
              <a:buNone/>
            </a:pPr>
            <a:r>
              <a:rPr b="1" i="0" lang="pt-BR" sz="24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428750" y="1026914"/>
            <a:ext cx="714375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272D"/>
              </a:buClr>
              <a:buSzPts val="1200"/>
              <a:buFont typeface="Open Sans"/>
              <a:buNone/>
            </a:pPr>
            <a:r>
              <a:rPr b="1" i="0" lang="pt-BR" sz="1200" u="none" cap="none" strike="noStrike">
                <a:solidFill>
                  <a:srgbClr val="C1272D"/>
                </a:solidFill>
                <a:latin typeface="Open Sans"/>
                <a:ea typeface="Open Sans"/>
                <a:cs typeface="Open Sans"/>
                <a:sym typeface="Open Sans"/>
              </a:rPr>
              <a:t>Site &amp; Drive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428750" y="1332309"/>
            <a:ext cx="714375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Modernizar a identidade visual do site, organizar o drive, realizar novo ensaio fotográfico com fotógrafo profissional e integrar as fotos ao site.</a:t>
            </a:r>
            <a:b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pt-BR" sz="9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Resultado esperado:</a:t>
            </a:r>
            <a: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Maior engajamento e reconhecimento entre membros.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428625" y="2168128"/>
            <a:ext cx="8286750" cy="111263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8"/>
          <p:cNvSpPr/>
          <p:nvPr/>
        </p:nvSpPr>
        <p:spPr>
          <a:xfrm>
            <a:off x="428625" y="2168128"/>
            <a:ext cx="857250" cy="1112639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8"/>
          <p:cNvSpPr/>
          <p:nvPr/>
        </p:nvSpPr>
        <p:spPr>
          <a:xfrm>
            <a:off x="428625" y="2168128"/>
            <a:ext cx="857250" cy="1112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Open Sans"/>
              <a:buNone/>
            </a:pPr>
            <a:r>
              <a:rPr b="1" i="0" lang="pt-BR" sz="24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8"/>
          <p:cNvSpPr/>
          <p:nvPr/>
        </p:nvSpPr>
        <p:spPr>
          <a:xfrm>
            <a:off x="1428750" y="2282428"/>
            <a:ext cx="714375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272D"/>
              </a:buClr>
              <a:buSzPts val="1200"/>
              <a:buFont typeface="Open Sans"/>
              <a:buNone/>
            </a:pPr>
            <a:r>
              <a:rPr b="1" i="0" lang="pt-BR" sz="1200" u="none" cap="none" strike="noStrike">
                <a:solidFill>
                  <a:srgbClr val="C1272D"/>
                </a:solidFill>
                <a:latin typeface="Open Sans"/>
                <a:ea typeface="Open Sans"/>
                <a:cs typeface="Open Sans"/>
                <a:sym typeface="Open Sans"/>
              </a:rPr>
              <a:t>Nova Estrutura de Cases e 1on1s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1428750" y="2587823"/>
            <a:ext cx="7143750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Implementar novo ciclo de cases (segunda a domingo), imersão setorial semanal, gamificação e sistema de pontos. Oferecer templates padronizados e feedback estruturado.</a:t>
            </a:r>
            <a:b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pt-BR" sz="9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Resultado esperado:</a:t>
            </a:r>
            <a: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Maior previsibilidade, organização e taxa de entrega.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8"/>
          <p:cNvSpPr/>
          <p:nvPr/>
        </p:nvSpPr>
        <p:spPr>
          <a:xfrm>
            <a:off x="428625" y="3423642"/>
            <a:ext cx="8286750" cy="1305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428625" y="3423642"/>
            <a:ext cx="857250" cy="1305520"/>
          </a:xfrm>
          <a:prstGeom prst="rect">
            <a:avLst/>
          </a:prstGeom>
          <a:solidFill>
            <a:srgbClr val="C127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28625" y="3423642"/>
            <a:ext cx="857250" cy="130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Open Sans"/>
              <a:buNone/>
            </a:pPr>
            <a:r>
              <a:rPr b="1" i="0" lang="pt-BR" sz="24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/>
          <p:nvPr/>
        </p:nvSpPr>
        <p:spPr>
          <a:xfrm>
            <a:off x="1428750" y="3537942"/>
            <a:ext cx="7143750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272D"/>
              </a:buClr>
              <a:buSzPts val="1200"/>
              <a:buFont typeface="Open Sans"/>
              <a:buNone/>
            </a:pPr>
            <a:r>
              <a:rPr b="1" i="0" lang="pt-BR" sz="1200" u="none" cap="none" strike="noStrike">
                <a:solidFill>
                  <a:srgbClr val="C1272D"/>
                </a:solidFill>
                <a:latin typeface="Open Sans"/>
                <a:ea typeface="Open Sans"/>
                <a:cs typeface="Open Sans"/>
                <a:sym typeface="Open Sans"/>
              </a:rPr>
              <a:t>Bootcamps e Integração com Consultorias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8"/>
          <p:cNvSpPr/>
          <p:nvPr/>
        </p:nvSpPr>
        <p:spPr>
          <a:xfrm>
            <a:off x="1428750" y="3843338"/>
            <a:ext cx="7143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50"/>
              <a:buFont typeface="Open Sans"/>
              <a:buNone/>
            </a:pPr>
            <a: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Organizar bootcamps bimestrais com banca avaliadora rotativa para simular desafios de grandes consultorias. Encerrar o Programa Trainee com apresentação de case para empresa/comitê relevante. Organizar visitas a consultorias e participar de challenges. Aproximar alumni por meio de roda de conversa no Prep4Consulting.</a:t>
            </a:r>
            <a:b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pt-BR" sz="9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Resultado esperado:</a:t>
            </a:r>
            <a:r>
              <a:rPr b="0" i="0" lang="pt-BR" sz="95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Melhor preparação dos membros e maior integração com o mercado.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8"/>
          <p:cNvSpPr/>
          <p:nvPr/>
        </p:nvSpPr>
        <p:spPr>
          <a:xfrm>
            <a:off x="285750" y="4955977"/>
            <a:ext cx="9644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pen Sans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8"/>
          <p:cNvSpPr/>
          <p:nvPr/>
        </p:nvSpPr>
        <p:spPr>
          <a:xfrm>
            <a:off x="6011466" y="4955977"/>
            <a:ext cx="2846784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Open Sans"/>
              <a:buNone/>
            </a:pPr>
            <a:r>
              <a:rPr b="0" i="0" lang="pt-BR" sz="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Copyright @2026 Clube de Consultoria Universitário. All rights reserved.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adrão do plano de fundo&#10;&#10;Descrição gerada automaticamente" id="349" name="Google Shape;34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5333" y="90089"/>
            <a:ext cx="629215" cy="30190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8"/>
          <p:cNvSpPr txBox="1"/>
          <p:nvPr/>
        </p:nvSpPr>
        <p:spPr>
          <a:xfrm>
            <a:off x="808120" y="4981718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rgbClr val="C1272D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rgbClr val="C127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1272D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6482" y="4322909"/>
            <a:ext cx="3429465" cy="465476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9"/>
          <p:cNvSpPr txBox="1"/>
          <p:nvPr/>
        </p:nvSpPr>
        <p:spPr>
          <a:xfrm>
            <a:off x="939247" y="1704705"/>
            <a:ext cx="79563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pt-BR" sz="3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Q&amp;A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adrão do plano de fundo&#10;&#10;Descrição gerada automaticamente" id="357" name="Google Shape;357;p39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1729408" y="-188003"/>
            <a:ext cx="9131736" cy="4381531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9"/>
          <p:cNvSpPr txBox="1"/>
          <p:nvPr/>
        </p:nvSpPr>
        <p:spPr>
          <a:xfrm>
            <a:off x="808195" y="4951193"/>
            <a:ext cx="833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Copyright </a:t>
            </a:r>
            <a:r>
              <a:rPr b="0" i="0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@202</a:t>
            </a:r>
            <a:r>
              <a:rPr lang="pt-BR" sz="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0" i="0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Clube de Consultoria Universitário. </a:t>
            </a:r>
            <a:r>
              <a:rPr b="0" i="1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All rights reserved</a:t>
            </a:r>
            <a:r>
              <a:rPr b="0" i="0" lang="pt-BR" sz="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 </a:t>
            </a:r>
            <a:endParaRPr b="0" i="0" sz="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