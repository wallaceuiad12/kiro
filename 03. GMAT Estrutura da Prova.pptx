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Lst>
  <p:sldSz cy="5143500" cx="9144000"/>
  <p:notesSz cx="6858000" cy="9144000"/>
  <p:embeddedFontLst>
    <p:embeddedFont>
      <p:font typeface="Kanit SemiBold"/>
      <p:regular r:id="rId62"/>
      <p:bold r:id="rId63"/>
      <p:italic r:id="rId64"/>
      <p:boldItalic r:id="rId65"/>
    </p:embeddedFont>
    <p:embeddedFont>
      <p:font typeface="Work Sans"/>
      <p:regular r:id="rId66"/>
      <p:bold r:id="rId67"/>
      <p:italic r:id="rId68"/>
      <p:boldItalic r:id="rId69"/>
    </p:embeddedFont>
    <p:embeddedFont>
      <p:font typeface="Kanit"/>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4" roundtripDataSignature="AMtx7mhQeRwRZRzqyYC1piHtFug0FRxK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Kanit-boldItalic.fntdata"/><Relationship Id="rId72" Type="http://schemas.openxmlformats.org/officeDocument/2006/relationships/font" Target="fonts/Kanit-italic.fntdata"/><Relationship Id="rId31" Type="http://schemas.openxmlformats.org/officeDocument/2006/relationships/slide" Target="slides/slide27.xml"/><Relationship Id="rId30" Type="http://schemas.openxmlformats.org/officeDocument/2006/relationships/slide" Target="slides/slide26.xml"/><Relationship Id="rId74" Type="http://customschemas.google.com/relationships/presentationmetadata" Target="metadata"/><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Kanit-bold.fntdata"/><Relationship Id="rId70" Type="http://schemas.openxmlformats.org/officeDocument/2006/relationships/font" Target="fonts/Kanit-regular.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KanitSemiBold-regular.fntdata"/><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font" Target="fonts/KanitSemiBold-italic.fntdata"/><Relationship Id="rId63" Type="http://schemas.openxmlformats.org/officeDocument/2006/relationships/font" Target="fonts/KanitSemiBold-bold.fntdata"/><Relationship Id="rId22" Type="http://schemas.openxmlformats.org/officeDocument/2006/relationships/slide" Target="slides/slide18.xml"/><Relationship Id="rId66" Type="http://schemas.openxmlformats.org/officeDocument/2006/relationships/font" Target="fonts/WorkSans-regular.fntdata"/><Relationship Id="rId21" Type="http://schemas.openxmlformats.org/officeDocument/2006/relationships/slide" Target="slides/slide17.xml"/><Relationship Id="rId65" Type="http://schemas.openxmlformats.org/officeDocument/2006/relationships/font" Target="fonts/KanitSemiBold-boldItalic.fntdata"/><Relationship Id="rId24" Type="http://schemas.openxmlformats.org/officeDocument/2006/relationships/slide" Target="slides/slide20.xml"/><Relationship Id="rId68" Type="http://schemas.openxmlformats.org/officeDocument/2006/relationships/font" Target="fonts/WorkSans-italic.fntdata"/><Relationship Id="rId23" Type="http://schemas.openxmlformats.org/officeDocument/2006/relationships/slide" Target="slides/slide19.xml"/><Relationship Id="rId67" Type="http://schemas.openxmlformats.org/officeDocument/2006/relationships/font" Target="fonts/WorkSans-bold.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WorkSans-boldItalic.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554ed02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f554ed02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8" name="Google Shape;59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7" name="Google Shape;61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4" name="Google Shape;64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5" name="Google Shape;70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0" name="Google Shape;75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1" name="Google Shape;78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0" name="Google Shape;830;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1" name="Google Shape;85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3" name="Google Shape;88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5" name="Google Shape;90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7" name="Google Shape;92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1" name="Google Shape;961;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0" name="Google Shape;98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2" name="Google Shape;1012;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0" name="Google Shape;1030;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3" name="Google Shape;106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4" name="Google Shape;1094;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8" name="Google Shape;1118;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2" name="Google Shape;1142;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7" name="Google Shape;1177;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2" name="Google Shape;120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58"/>
          <p:cNvSpPr txBox="1"/>
          <p:nvPr>
            <p:ph type="ctrTitle"/>
          </p:nvPr>
        </p:nvSpPr>
        <p:spPr>
          <a:xfrm>
            <a:off x="722375" y="1194750"/>
            <a:ext cx="4161900" cy="2272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58"/>
          <p:cNvSpPr txBox="1"/>
          <p:nvPr>
            <p:ph idx="1" type="subTitle"/>
          </p:nvPr>
        </p:nvSpPr>
        <p:spPr>
          <a:xfrm>
            <a:off x="722375" y="3504425"/>
            <a:ext cx="4161900" cy="444600"/>
          </a:xfrm>
          <a:prstGeom prst="rect">
            <a:avLst/>
          </a:prstGeom>
          <a:solidFill>
            <a:schemeClr val="dk1"/>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58"/>
          <p:cNvSpPr/>
          <p:nvPr>
            <p:ph idx="2" type="pic"/>
          </p:nvPr>
        </p:nvSpPr>
        <p:spPr>
          <a:xfrm>
            <a:off x="6183100" y="125"/>
            <a:ext cx="2344800" cy="5143500"/>
          </a:xfrm>
          <a:prstGeom prst="parallelogram">
            <a:avLst>
              <a:gd fmla="val 0" name="adj"/>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2" name="Shape 12"/>
        <p:cNvGrpSpPr/>
        <p:nvPr/>
      </p:nvGrpSpPr>
      <p:grpSpPr>
        <a:xfrm>
          <a:off x="0" y="0"/>
          <a:ext cx="0" cy="0"/>
          <a:chOff x="0" y="0"/>
          <a:chExt cx="0" cy="0"/>
        </a:xfrm>
      </p:grpSpPr>
      <p:sp>
        <p:nvSpPr>
          <p:cNvPr id="13" name="Google Shape;13;p59"/>
          <p:cNvSpPr txBox="1"/>
          <p:nvPr>
            <p:ph type="title"/>
          </p:nvPr>
        </p:nvSpPr>
        <p:spPr>
          <a:xfrm>
            <a:off x="610450" y="383528"/>
            <a:ext cx="512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None/>
              <a:defRPr sz="3000"/>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14" name="Google Shape;14;p59"/>
          <p:cNvSpPr txBox="1"/>
          <p:nvPr>
            <p:ph idx="2" type="title"/>
          </p:nvPr>
        </p:nvSpPr>
        <p:spPr>
          <a:xfrm>
            <a:off x="1353720" y="1300700"/>
            <a:ext cx="804600" cy="8016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0" sz="3000">
                <a:solidFill>
                  <a:schemeClr val="dk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5" name="Google Shape;15;p59"/>
          <p:cNvSpPr txBox="1"/>
          <p:nvPr>
            <p:ph idx="3" type="title"/>
          </p:nvPr>
        </p:nvSpPr>
        <p:spPr>
          <a:xfrm>
            <a:off x="4183600" y="1300700"/>
            <a:ext cx="804600" cy="8016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0" sz="3000">
                <a:solidFill>
                  <a:schemeClr val="dk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6" name="Google Shape;16;p59"/>
          <p:cNvSpPr txBox="1"/>
          <p:nvPr>
            <p:ph idx="4" type="title"/>
          </p:nvPr>
        </p:nvSpPr>
        <p:spPr>
          <a:xfrm>
            <a:off x="1353720" y="3047028"/>
            <a:ext cx="804600" cy="8016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0" sz="3000">
                <a:solidFill>
                  <a:schemeClr val="dk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 name="Google Shape;17;p59"/>
          <p:cNvSpPr txBox="1"/>
          <p:nvPr>
            <p:ph idx="5" type="title"/>
          </p:nvPr>
        </p:nvSpPr>
        <p:spPr>
          <a:xfrm>
            <a:off x="4183600" y="3047036"/>
            <a:ext cx="804600" cy="8016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0" sz="3000">
                <a:solidFill>
                  <a:schemeClr val="dk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8" name="Google Shape;18;p59"/>
          <p:cNvSpPr txBox="1"/>
          <p:nvPr>
            <p:ph idx="1" type="subTitle"/>
          </p:nvPr>
        </p:nvSpPr>
        <p:spPr>
          <a:xfrm>
            <a:off x="957420" y="2147375"/>
            <a:ext cx="1597200" cy="651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19" name="Google Shape;19;p59"/>
          <p:cNvSpPr txBox="1"/>
          <p:nvPr>
            <p:ph idx="6" type="subTitle"/>
          </p:nvPr>
        </p:nvSpPr>
        <p:spPr>
          <a:xfrm>
            <a:off x="3787300" y="2147375"/>
            <a:ext cx="1597200" cy="651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20" name="Google Shape;20;p59"/>
          <p:cNvSpPr txBox="1"/>
          <p:nvPr>
            <p:ph idx="7" type="subTitle"/>
          </p:nvPr>
        </p:nvSpPr>
        <p:spPr>
          <a:xfrm>
            <a:off x="957420" y="3893825"/>
            <a:ext cx="1597200" cy="651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21" name="Google Shape;21;p59"/>
          <p:cNvSpPr txBox="1"/>
          <p:nvPr>
            <p:ph idx="8" type="subTitle"/>
          </p:nvPr>
        </p:nvSpPr>
        <p:spPr>
          <a:xfrm>
            <a:off x="3787300" y="3893826"/>
            <a:ext cx="1597200" cy="651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22" name="Google Shape;22;p59"/>
          <p:cNvSpPr/>
          <p:nvPr>
            <p:ph idx="9" type="pic"/>
          </p:nvPr>
        </p:nvSpPr>
        <p:spPr>
          <a:xfrm>
            <a:off x="6330350" y="125"/>
            <a:ext cx="2344800" cy="5143500"/>
          </a:xfrm>
          <a:prstGeom prst="parallelogram">
            <a:avLst>
              <a:gd fmla="val 0" name="adj"/>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0"/>
          <p:cNvSpPr/>
          <p:nvPr>
            <p:ph idx="2" type="pic"/>
          </p:nvPr>
        </p:nvSpPr>
        <p:spPr>
          <a:xfrm>
            <a:off x="610450" y="0"/>
            <a:ext cx="2338200" cy="5143500"/>
          </a:xfrm>
          <a:prstGeom prst="rect">
            <a:avLst/>
          </a:prstGeom>
          <a:noFill/>
          <a:ln>
            <a:noFill/>
          </a:ln>
        </p:spPr>
      </p:sp>
      <p:sp>
        <p:nvSpPr>
          <p:cNvPr id="25" name="Google Shape;25;p60"/>
          <p:cNvSpPr txBox="1"/>
          <p:nvPr>
            <p:ph type="title"/>
          </p:nvPr>
        </p:nvSpPr>
        <p:spPr>
          <a:xfrm>
            <a:off x="4685400" y="2959400"/>
            <a:ext cx="3582900" cy="1644600"/>
          </a:xfrm>
          <a:prstGeom prst="rect">
            <a:avLst/>
          </a:prstGeom>
          <a:solidFill>
            <a:schemeClr val="dk2"/>
          </a:solid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 name="Google Shape;26;p60"/>
          <p:cNvSpPr txBox="1"/>
          <p:nvPr>
            <p:ph idx="3" type="title"/>
          </p:nvPr>
        </p:nvSpPr>
        <p:spPr>
          <a:xfrm>
            <a:off x="7008600" y="1601400"/>
            <a:ext cx="1259700" cy="1259700"/>
          </a:xfrm>
          <a:prstGeom prst="rect">
            <a:avLst/>
          </a:prstGeom>
          <a:solidFill>
            <a:schemeClr val="dk1"/>
          </a:solid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2000"/>
              <a:buNone/>
              <a:defRPr b="0" sz="6000">
                <a:solidFill>
                  <a:schemeClr val="dk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61"/>
          <p:cNvSpPr txBox="1"/>
          <p:nvPr>
            <p:ph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9" name="Google Shape;29;p61"/>
          <p:cNvSpPr txBox="1"/>
          <p:nvPr>
            <p:ph idx="1" type="body"/>
          </p:nvPr>
        </p:nvSpPr>
        <p:spPr>
          <a:xfrm>
            <a:off x="965025" y="1638050"/>
            <a:ext cx="3549900" cy="18183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0" name="Google Shape;30;p61"/>
          <p:cNvSpPr/>
          <p:nvPr>
            <p:ph idx="2" type="pic"/>
          </p:nvPr>
        </p:nvSpPr>
        <p:spPr>
          <a:xfrm>
            <a:off x="6183025" y="125"/>
            <a:ext cx="2344800" cy="5143500"/>
          </a:xfrm>
          <a:prstGeom prst="parallelogram">
            <a:avLst>
              <a:gd fmla="val 0" name="adj"/>
            </a:avLst>
          </a:prstGeom>
          <a:noFill/>
          <a:ln>
            <a:noFill/>
          </a:ln>
        </p:spPr>
      </p:sp>
      <p:sp>
        <p:nvSpPr>
          <p:cNvPr id="31" name="Google Shape;31;p61"/>
          <p:cNvSpPr/>
          <p:nvPr/>
        </p:nvSpPr>
        <p:spPr>
          <a:xfrm>
            <a:off x="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grpSp>
        <p:nvGrpSpPr>
          <p:cNvPr id="33" name="Google Shape;33;p62"/>
          <p:cNvGrpSpPr/>
          <p:nvPr/>
        </p:nvGrpSpPr>
        <p:grpSpPr>
          <a:xfrm>
            <a:off x="0" y="0"/>
            <a:ext cx="9144000" cy="5143500"/>
            <a:chOff x="0" y="0"/>
            <a:chExt cx="9144000" cy="5143500"/>
          </a:xfrm>
        </p:grpSpPr>
        <p:sp>
          <p:nvSpPr>
            <p:cNvPr id="34" name="Google Shape;34;p62"/>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62"/>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63"/>
          <p:cNvSpPr/>
          <p:nvPr>
            <p:ph idx="2" type="pic"/>
          </p:nvPr>
        </p:nvSpPr>
        <p:spPr>
          <a:xfrm>
            <a:off x="-25" y="0"/>
            <a:ext cx="9144000" cy="5143500"/>
          </a:xfrm>
          <a:prstGeom prst="rect">
            <a:avLst/>
          </a:prstGeom>
          <a:noFill/>
          <a:ln>
            <a:noFill/>
          </a:ln>
        </p:spPr>
      </p:sp>
      <p:sp>
        <p:nvSpPr>
          <p:cNvPr id="38" name="Google Shape;38;p63"/>
          <p:cNvSpPr txBox="1"/>
          <p:nvPr>
            <p:ph type="title"/>
          </p:nvPr>
        </p:nvSpPr>
        <p:spPr>
          <a:xfrm>
            <a:off x="629525" y="3346125"/>
            <a:ext cx="4180500" cy="1118400"/>
          </a:xfrm>
          <a:prstGeom prst="rect">
            <a:avLst/>
          </a:prstGeom>
          <a:solidFill>
            <a:schemeClr val="dk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None/>
              <a:defRPr>
                <a:solidFill>
                  <a:schemeClr val="dk1"/>
                </a:solidFill>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spTree>
      <p:nvGrpSpPr>
        <p:cNvPr id="39" name="Shape 39"/>
        <p:cNvGrpSpPr/>
        <p:nvPr/>
      </p:nvGrpSpPr>
      <p:grpSpPr>
        <a:xfrm>
          <a:off x="0" y="0"/>
          <a:ext cx="0" cy="0"/>
          <a:chOff x="0" y="0"/>
          <a:chExt cx="0" cy="0"/>
        </a:xfrm>
      </p:grpSpPr>
      <p:sp>
        <p:nvSpPr>
          <p:cNvPr id="40" name="Google Shape;40;p64"/>
          <p:cNvSpPr txBox="1"/>
          <p:nvPr>
            <p:ph type="title"/>
          </p:nvPr>
        </p:nvSpPr>
        <p:spPr>
          <a:xfrm>
            <a:off x="3305175" y="384050"/>
            <a:ext cx="5116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3000"/>
              <a:buNone/>
              <a:defRPr>
                <a:solidFill>
                  <a:schemeClr val="dk1"/>
                </a:solidFill>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41" name="Google Shape;41;p64"/>
          <p:cNvSpPr txBox="1"/>
          <p:nvPr>
            <p:ph idx="1" type="subTitle"/>
          </p:nvPr>
        </p:nvSpPr>
        <p:spPr>
          <a:xfrm>
            <a:off x="4348125" y="1546550"/>
            <a:ext cx="4073400" cy="68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2" name="Google Shape;42;p64"/>
          <p:cNvSpPr txBox="1"/>
          <p:nvPr>
            <p:ph idx="2" type="subTitle"/>
          </p:nvPr>
        </p:nvSpPr>
        <p:spPr>
          <a:xfrm>
            <a:off x="4348275" y="3922701"/>
            <a:ext cx="4073400" cy="68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3" name="Google Shape;43;p64"/>
          <p:cNvSpPr txBox="1"/>
          <p:nvPr>
            <p:ph idx="3" type="subTitle"/>
          </p:nvPr>
        </p:nvSpPr>
        <p:spPr>
          <a:xfrm>
            <a:off x="4348425" y="2734628"/>
            <a:ext cx="4073400" cy="68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 name="Google Shape;44;p64"/>
          <p:cNvSpPr txBox="1"/>
          <p:nvPr>
            <p:ph idx="4" type="subTitle"/>
          </p:nvPr>
        </p:nvSpPr>
        <p:spPr>
          <a:xfrm>
            <a:off x="4348124" y="1154750"/>
            <a:ext cx="4073400" cy="48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45" name="Google Shape;45;p64"/>
          <p:cNvSpPr txBox="1"/>
          <p:nvPr>
            <p:ph idx="5" type="subTitle"/>
          </p:nvPr>
        </p:nvSpPr>
        <p:spPr>
          <a:xfrm>
            <a:off x="4348124" y="3530902"/>
            <a:ext cx="4073400" cy="48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46" name="Google Shape;46;p64"/>
          <p:cNvSpPr txBox="1"/>
          <p:nvPr>
            <p:ph idx="6" type="subTitle"/>
          </p:nvPr>
        </p:nvSpPr>
        <p:spPr>
          <a:xfrm>
            <a:off x="4348205" y="2342832"/>
            <a:ext cx="4073400" cy="48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47" name="Google Shape;47;p64"/>
          <p:cNvSpPr/>
          <p:nvPr>
            <p:ph idx="7" type="pic"/>
          </p:nvPr>
        </p:nvSpPr>
        <p:spPr>
          <a:xfrm>
            <a:off x="610450" y="125"/>
            <a:ext cx="2344800" cy="5143500"/>
          </a:xfrm>
          <a:prstGeom prst="parallelogram">
            <a:avLst>
              <a:gd fmla="val 0" name="adj"/>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
    <p:spTree>
      <p:nvGrpSpPr>
        <p:cNvPr id="48" name="Shape 48"/>
        <p:cNvGrpSpPr/>
        <p:nvPr/>
      </p:nvGrpSpPr>
      <p:grpSpPr>
        <a:xfrm>
          <a:off x="0" y="0"/>
          <a:ext cx="0" cy="0"/>
          <a:chOff x="0" y="0"/>
          <a:chExt cx="0" cy="0"/>
        </a:xfrm>
      </p:grpSpPr>
      <p:sp>
        <p:nvSpPr>
          <p:cNvPr id="49" name="Google Shape;49;p65"/>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a:solidFill>
                  <a:schemeClr val="dk1"/>
                </a:solidFill>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50" name="Google Shape;50;p65"/>
          <p:cNvSpPr txBox="1"/>
          <p:nvPr>
            <p:ph idx="1" type="subTitle"/>
          </p:nvPr>
        </p:nvSpPr>
        <p:spPr>
          <a:xfrm>
            <a:off x="1569075" y="1800825"/>
            <a:ext cx="2782500" cy="87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1" name="Google Shape;51;p65"/>
          <p:cNvSpPr txBox="1"/>
          <p:nvPr>
            <p:ph idx="2" type="subTitle"/>
          </p:nvPr>
        </p:nvSpPr>
        <p:spPr>
          <a:xfrm>
            <a:off x="5484225" y="1800825"/>
            <a:ext cx="2782500" cy="87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2" name="Google Shape;52;p65"/>
          <p:cNvSpPr txBox="1"/>
          <p:nvPr>
            <p:ph idx="3" type="subTitle"/>
          </p:nvPr>
        </p:nvSpPr>
        <p:spPr>
          <a:xfrm>
            <a:off x="1569074" y="1409025"/>
            <a:ext cx="2782500" cy="48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53" name="Google Shape;53;p65"/>
          <p:cNvSpPr txBox="1"/>
          <p:nvPr>
            <p:ph idx="4" type="subTitle"/>
          </p:nvPr>
        </p:nvSpPr>
        <p:spPr>
          <a:xfrm>
            <a:off x="5484125" y="1409025"/>
            <a:ext cx="2782500" cy="48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54" name="Google Shape;54;p65"/>
          <p:cNvSpPr txBox="1"/>
          <p:nvPr>
            <p:ph idx="5" type="subTitle"/>
          </p:nvPr>
        </p:nvSpPr>
        <p:spPr>
          <a:xfrm>
            <a:off x="1569075" y="3548575"/>
            <a:ext cx="2782500" cy="87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5" name="Google Shape;55;p65"/>
          <p:cNvSpPr txBox="1"/>
          <p:nvPr>
            <p:ph idx="6" type="subTitle"/>
          </p:nvPr>
        </p:nvSpPr>
        <p:spPr>
          <a:xfrm>
            <a:off x="5484225" y="3548575"/>
            <a:ext cx="2782500" cy="87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6" name="Google Shape;56;p65"/>
          <p:cNvSpPr txBox="1"/>
          <p:nvPr>
            <p:ph idx="7" type="subTitle"/>
          </p:nvPr>
        </p:nvSpPr>
        <p:spPr>
          <a:xfrm>
            <a:off x="1569074" y="3156773"/>
            <a:ext cx="2782500" cy="48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57" name="Google Shape;57;p65"/>
          <p:cNvSpPr txBox="1"/>
          <p:nvPr>
            <p:ph idx="8" type="subTitle"/>
          </p:nvPr>
        </p:nvSpPr>
        <p:spPr>
          <a:xfrm>
            <a:off x="5484125" y="3156773"/>
            <a:ext cx="2782500" cy="48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grpSp>
        <p:nvGrpSpPr>
          <p:cNvPr id="58" name="Google Shape;58;p65"/>
          <p:cNvGrpSpPr/>
          <p:nvPr/>
        </p:nvGrpSpPr>
        <p:grpSpPr>
          <a:xfrm>
            <a:off x="0" y="0"/>
            <a:ext cx="9144000" cy="5143500"/>
            <a:chOff x="0" y="0"/>
            <a:chExt cx="9144000" cy="5143500"/>
          </a:xfrm>
        </p:grpSpPr>
        <p:sp>
          <p:nvSpPr>
            <p:cNvPr id="59" name="Google Shape;59;p65"/>
            <p:cNvSpPr/>
            <p:nvPr/>
          </p:nvSpPr>
          <p:spPr>
            <a:xfrm rot="10800000">
              <a:off x="874680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5"/>
            <p:cNvSpPr/>
            <p:nvPr/>
          </p:nvSpPr>
          <p:spPr>
            <a:xfrm>
              <a:off x="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66"/>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3" name="Google Shape;63;p66"/>
          <p:cNvSpPr txBox="1"/>
          <p:nvPr>
            <p:ph idx="1" type="subTitle"/>
          </p:nvPr>
        </p:nvSpPr>
        <p:spPr>
          <a:xfrm>
            <a:off x="1224723" y="2684175"/>
            <a:ext cx="3004200" cy="146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4" name="Google Shape;64;p66"/>
          <p:cNvSpPr txBox="1"/>
          <p:nvPr>
            <p:ph idx="2" type="subTitle"/>
          </p:nvPr>
        </p:nvSpPr>
        <p:spPr>
          <a:xfrm>
            <a:off x="4915077" y="2684175"/>
            <a:ext cx="3004200" cy="1462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5" name="Google Shape;65;p66"/>
          <p:cNvSpPr txBox="1"/>
          <p:nvPr>
            <p:ph idx="3" type="subTitle"/>
          </p:nvPr>
        </p:nvSpPr>
        <p:spPr>
          <a:xfrm>
            <a:off x="1224723" y="2293900"/>
            <a:ext cx="30042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sp>
        <p:nvSpPr>
          <p:cNvPr id="66" name="Google Shape;66;p66"/>
          <p:cNvSpPr txBox="1"/>
          <p:nvPr>
            <p:ph idx="4" type="subTitle"/>
          </p:nvPr>
        </p:nvSpPr>
        <p:spPr>
          <a:xfrm>
            <a:off x="4915034" y="2293900"/>
            <a:ext cx="30042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
              <a:buNone/>
              <a:defRPr sz="1800">
                <a:latin typeface="Kanit SemiBold"/>
                <a:ea typeface="Kanit SemiBold"/>
                <a:cs typeface="Kanit SemiBold"/>
                <a:sym typeface="Kanit SemiBold"/>
              </a:defRPr>
            </a:lvl1pPr>
            <a:lvl2pPr lvl="1" algn="ctr">
              <a:lnSpc>
                <a:spcPct val="100000"/>
              </a:lnSpc>
              <a:spcBef>
                <a:spcPts val="0"/>
              </a:spcBef>
              <a:spcAft>
                <a:spcPts val="0"/>
              </a:spcAft>
              <a:buSzPts val="1200"/>
              <a:buNone/>
              <a:defRPr b="1"/>
            </a:lvl2pPr>
            <a:lvl3pPr lvl="2" algn="ctr">
              <a:lnSpc>
                <a:spcPct val="100000"/>
              </a:lnSpc>
              <a:spcBef>
                <a:spcPts val="0"/>
              </a:spcBef>
              <a:spcAft>
                <a:spcPts val="0"/>
              </a:spcAft>
              <a:buSzPts val="1200"/>
              <a:buNone/>
              <a:defRPr b="1"/>
            </a:lvl3pPr>
            <a:lvl4pPr lvl="3" algn="ctr">
              <a:lnSpc>
                <a:spcPct val="100000"/>
              </a:lnSpc>
              <a:spcBef>
                <a:spcPts val="0"/>
              </a:spcBef>
              <a:spcAft>
                <a:spcPts val="0"/>
              </a:spcAft>
              <a:buSzPts val="1200"/>
              <a:buNone/>
              <a:defRPr b="1"/>
            </a:lvl4pPr>
            <a:lvl5pPr lvl="4" algn="ctr">
              <a:lnSpc>
                <a:spcPct val="100000"/>
              </a:lnSpc>
              <a:spcBef>
                <a:spcPts val="0"/>
              </a:spcBef>
              <a:spcAft>
                <a:spcPts val="0"/>
              </a:spcAft>
              <a:buSzPts val="1200"/>
              <a:buNone/>
              <a:defRPr b="1"/>
            </a:lvl5pPr>
            <a:lvl6pPr lvl="5" algn="ctr">
              <a:lnSpc>
                <a:spcPct val="100000"/>
              </a:lnSpc>
              <a:spcBef>
                <a:spcPts val="0"/>
              </a:spcBef>
              <a:spcAft>
                <a:spcPts val="0"/>
              </a:spcAft>
              <a:buSzPts val="1200"/>
              <a:buNone/>
              <a:defRPr b="1"/>
            </a:lvl6pPr>
            <a:lvl7pPr lvl="6" algn="ctr">
              <a:lnSpc>
                <a:spcPct val="100000"/>
              </a:lnSpc>
              <a:spcBef>
                <a:spcPts val="0"/>
              </a:spcBef>
              <a:spcAft>
                <a:spcPts val="0"/>
              </a:spcAft>
              <a:buSzPts val="1200"/>
              <a:buNone/>
              <a:defRPr b="1"/>
            </a:lvl7pPr>
            <a:lvl8pPr lvl="7" algn="ctr">
              <a:lnSpc>
                <a:spcPct val="100000"/>
              </a:lnSpc>
              <a:spcBef>
                <a:spcPts val="0"/>
              </a:spcBef>
              <a:spcAft>
                <a:spcPts val="0"/>
              </a:spcAft>
              <a:buSzPts val="1200"/>
              <a:buNone/>
              <a:defRPr b="1"/>
            </a:lvl8pPr>
            <a:lvl9pPr lvl="8" algn="ctr">
              <a:lnSpc>
                <a:spcPct val="100000"/>
              </a:lnSpc>
              <a:spcBef>
                <a:spcPts val="0"/>
              </a:spcBef>
              <a:spcAft>
                <a:spcPts val="0"/>
              </a:spcAft>
              <a:buSzPts val="1200"/>
              <a:buNone/>
              <a:defRPr b="1"/>
            </a:lvl9pPr>
          </a:lstStyle>
          <a:p/>
        </p:txBody>
      </p:sp>
      <p:grpSp>
        <p:nvGrpSpPr>
          <p:cNvPr id="67" name="Google Shape;67;p66"/>
          <p:cNvGrpSpPr/>
          <p:nvPr/>
        </p:nvGrpSpPr>
        <p:grpSpPr>
          <a:xfrm>
            <a:off x="0" y="0"/>
            <a:ext cx="9144000" cy="5143500"/>
            <a:chOff x="0" y="0"/>
            <a:chExt cx="9144000" cy="5143500"/>
          </a:xfrm>
        </p:grpSpPr>
        <p:sp>
          <p:nvSpPr>
            <p:cNvPr id="68" name="Google Shape;68;p66"/>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66"/>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2">
    <p:spTree>
      <p:nvGrpSpPr>
        <p:cNvPr id="70" name="Shape 70"/>
        <p:cNvGrpSpPr/>
        <p:nvPr/>
      </p:nvGrpSpPr>
      <p:grpSpPr>
        <a:xfrm>
          <a:off x="0" y="0"/>
          <a:ext cx="0" cy="0"/>
          <a:chOff x="0" y="0"/>
          <a:chExt cx="0" cy="0"/>
        </a:xfrm>
      </p:grpSpPr>
      <p:sp>
        <p:nvSpPr>
          <p:cNvPr id="71" name="Google Shape;71;p67"/>
          <p:cNvSpPr txBox="1"/>
          <p:nvPr>
            <p:ph type="ctrTitle"/>
          </p:nvPr>
        </p:nvSpPr>
        <p:spPr>
          <a:xfrm>
            <a:off x="4011025" y="677125"/>
            <a:ext cx="3655200" cy="941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5200"/>
              <a:buNone/>
              <a:defRPr sz="6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2" name="Google Shape;72;p67"/>
          <p:cNvSpPr txBox="1"/>
          <p:nvPr>
            <p:ph idx="1" type="subTitle"/>
          </p:nvPr>
        </p:nvSpPr>
        <p:spPr>
          <a:xfrm>
            <a:off x="4011025" y="1546325"/>
            <a:ext cx="3655200" cy="10392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3" name="Google Shape;73;p67"/>
          <p:cNvSpPr/>
          <p:nvPr>
            <p:ph idx="2" type="pic"/>
          </p:nvPr>
        </p:nvSpPr>
        <p:spPr>
          <a:xfrm>
            <a:off x="610450" y="125"/>
            <a:ext cx="2344800" cy="5143500"/>
          </a:xfrm>
          <a:prstGeom prst="rect">
            <a:avLst/>
          </a:prstGeom>
          <a:noFill/>
          <a:ln>
            <a:noFill/>
          </a:ln>
        </p:spPr>
      </p:sp>
      <p:sp>
        <p:nvSpPr>
          <p:cNvPr id="74" name="Google Shape;74;p67"/>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7"/>
          <p:cNvSpPr txBox="1"/>
          <p:nvPr/>
        </p:nvSpPr>
        <p:spPr>
          <a:xfrm>
            <a:off x="4247234" y="3442416"/>
            <a:ext cx="3418800" cy="615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300"/>
              </a:spcBef>
              <a:spcAft>
                <a:spcPts val="0"/>
              </a:spcAft>
              <a:buClr>
                <a:srgbClr val="000000"/>
              </a:buClr>
              <a:buSzPts val="1000"/>
              <a:buFont typeface="Arial"/>
              <a:buNone/>
            </a:pPr>
            <a:r>
              <a:rPr b="0" i="0" lang="pt-BR" sz="1000" u="none" cap="none" strike="noStrike">
                <a:solidFill>
                  <a:schemeClr val="lt1"/>
                </a:solidFill>
                <a:latin typeface="Work Sans"/>
                <a:ea typeface="Work Sans"/>
                <a:cs typeface="Work Sans"/>
                <a:sym typeface="Work Sans"/>
              </a:rPr>
              <a:t>CREDITS: This presentation template was created by </a:t>
            </a:r>
            <a:r>
              <a:rPr b="1" i="0" lang="pt-BR" sz="1000" u="none" cap="none" strike="noStrike">
                <a:solidFill>
                  <a:schemeClr val="lt1"/>
                </a:solidFill>
                <a:uFill>
                  <a:noFill/>
                </a:uFill>
                <a:latin typeface="Work Sans"/>
                <a:ea typeface="Work Sans"/>
                <a:cs typeface="Work Sans"/>
                <a:sym typeface="Work Sans"/>
                <a:hlinkClick r:id="rId2">
                  <a:extLst>
                    <a:ext uri="{A12FA001-AC4F-418D-AE19-62706E023703}">
                      <ahyp:hlinkClr val="tx"/>
                    </a:ext>
                  </a:extLst>
                </a:hlinkClick>
              </a:rPr>
              <a:t>Slidesgo</a:t>
            </a:r>
            <a:r>
              <a:rPr b="0" i="0" lang="pt-BR" sz="1000" u="none" cap="none" strike="noStrike">
                <a:solidFill>
                  <a:schemeClr val="lt1"/>
                </a:solidFill>
                <a:latin typeface="Work Sans"/>
                <a:ea typeface="Work Sans"/>
                <a:cs typeface="Work Sans"/>
                <a:sym typeface="Work Sans"/>
              </a:rPr>
              <a:t>, including icons by </a:t>
            </a:r>
            <a:r>
              <a:rPr b="1" i="0" lang="pt-BR" sz="1000" u="none" cap="none" strike="noStrike">
                <a:solidFill>
                  <a:schemeClr val="lt1"/>
                </a:solidFill>
                <a:uFill>
                  <a:noFill/>
                </a:uFill>
                <a:latin typeface="Work Sans"/>
                <a:ea typeface="Work Sans"/>
                <a:cs typeface="Work Sans"/>
                <a:sym typeface="Work Sans"/>
                <a:hlinkClick r:id="rId3">
                  <a:extLst>
                    <a:ext uri="{A12FA001-AC4F-418D-AE19-62706E023703}">
                      <ahyp:hlinkClr val="tx"/>
                    </a:ext>
                  </a:extLst>
                </a:hlinkClick>
              </a:rPr>
              <a:t>Flaticon</a:t>
            </a:r>
            <a:r>
              <a:rPr b="1" i="0" lang="pt-BR" sz="1000" u="none" cap="none" strike="noStrike">
                <a:solidFill>
                  <a:schemeClr val="lt1"/>
                </a:solidFill>
                <a:latin typeface="Work Sans"/>
                <a:ea typeface="Work Sans"/>
                <a:cs typeface="Work Sans"/>
                <a:sym typeface="Work Sans"/>
              </a:rPr>
              <a:t> </a:t>
            </a:r>
            <a:r>
              <a:rPr b="0" i="0" lang="pt-BR" sz="1000" u="none" cap="none" strike="noStrike">
                <a:solidFill>
                  <a:schemeClr val="lt1"/>
                </a:solidFill>
                <a:latin typeface="Work Sans"/>
                <a:ea typeface="Work Sans"/>
                <a:cs typeface="Work Sans"/>
                <a:sym typeface="Work Sans"/>
              </a:rPr>
              <a:t>and infographics &amp; images by </a:t>
            </a:r>
            <a:r>
              <a:rPr b="1" i="0" lang="pt-BR" sz="1000" u="none" cap="none" strike="noStrike">
                <a:solidFill>
                  <a:schemeClr val="lt1"/>
                </a:solidFill>
                <a:uFill>
                  <a:noFill/>
                </a:uFill>
                <a:latin typeface="Work Sans"/>
                <a:ea typeface="Work Sans"/>
                <a:cs typeface="Work Sans"/>
                <a:sym typeface="Work Sans"/>
                <a:hlinkClick r:id="rId4">
                  <a:extLst>
                    <a:ext uri="{A12FA001-AC4F-418D-AE19-62706E023703}">
                      <ahyp:hlinkClr val="tx"/>
                    </a:ext>
                  </a:extLst>
                </a:hlinkClick>
              </a:rPr>
              <a:t>Freepik</a:t>
            </a:r>
            <a:endParaRPr b="1" i="0" sz="1000" u="none" cap="none" strike="noStrike">
              <a:solidFill>
                <a:schemeClr val="lt1"/>
              </a:solidFill>
              <a:latin typeface="Work Sans"/>
              <a:ea typeface="Work Sans"/>
              <a:cs typeface="Work Sans"/>
              <a:sym typeface="Work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68"/>
          <p:cNvSpPr/>
          <p:nvPr>
            <p:ph idx="2" type="pic"/>
          </p:nvPr>
        </p:nvSpPr>
        <p:spPr>
          <a:xfrm>
            <a:off x="-25" y="0"/>
            <a:ext cx="9144000" cy="5143500"/>
          </a:xfrm>
          <a:prstGeom prst="rect">
            <a:avLst/>
          </a:prstGeom>
          <a:noFill/>
          <a:ln>
            <a:noFill/>
          </a:ln>
        </p:spPr>
      </p:sp>
      <p:sp>
        <p:nvSpPr>
          <p:cNvPr id="78" name="Google Shape;78;p68"/>
          <p:cNvSpPr txBox="1"/>
          <p:nvPr>
            <p:ph type="title"/>
          </p:nvPr>
        </p:nvSpPr>
        <p:spPr>
          <a:xfrm>
            <a:off x="1955850" y="932400"/>
            <a:ext cx="5232300" cy="32787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79" name="Google Shape;79;p68"/>
          <p:cNvGrpSpPr/>
          <p:nvPr/>
        </p:nvGrpSpPr>
        <p:grpSpPr>
          <a:xfrm>
            <a:off x="0" y="0"/>
            <a:ext cx="9144000" cy="5143500"/>
            <a:chOff x="0" y="0"/>
            <a:chExt cx="9144000" cy="5143500"/>
          </a:xfrm>
        </p:grpSpPr>
        <p:sp>
          <p:nvSpPr>
            <p:cNvPr id="80" name="Google Shape;80;p68"/>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68"/>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69"/>
          <p:cNvSpPr txBox="1"/>
          <p:nvPr>
            <p:ph type="title"/>
          </p:nvPr>
        </p:nvSpPr>
        <p:spPr>
          <a:xfrm>
            <a:off x="2549400" y="1584300"/>
            <a:ext cx="4045200" cy="73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4" name="Google Shape;84;p69"/>
          <p:cNvSpPr txBox="1"/>
          <p:nvPr>
            <p:ph idx="1" type="subTitle"/>
          </p:nvPr>
        </p:nvSpPr>
        <p:spPr>
          <a:xfrm>
            <a:off x="2549400" y="2324100"/>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5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p:txBody>
      </p:sp>
      <p:grpSp>
        <p:nvGrpSpPr>
          <p:cNvPr id="85" name="Google Shape;85;p69"/>
          <p:cNvGrpSpPr/>
          <p:nvPr/>
        </p:nvGrpSpPr>
        <p:grpSpPr>
          <a:xfrm flipH="1">
            <a:off x="0" y="0"/>
            <a:ext cx="9144000" cy="5143500"/>
            <a:chOff x="0" y="0"/>
            <a:chExt cx="9144000" cy="5143500"/>
          </a:xfrm>
        </p:grpSpPr>
        <p:sp>
          <p:nvSpPr>
            <p:cNvPr id="86" name="Google Shape;86;p69"/>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9"/>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88" name="Shape 88"/>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89" name="Shape 89"/>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_1">
    <p:spTree>
      <p:nvGrpSpPr>
        <p:cNvPr id="90" name="Shape 90"/>
        <p:cNvGrpSpPr/>
        <p:nvPr/>
      </p:nvGrpSpPr>
      <p:grpSpPr>
        <a:xfrm>
          <a:off x="0" y="0"/>
          <a:ext cx="0" cy="0"/>
          <a:chOff x="0" y="0"/>
          <a:chExt cx="0" cy="0"/>
        </a:xfrm>
      </p:grpSpPr>
      <p:sp>
        <p:nvSpPr>
          <p:cNvPr id="91" name="Google Shape;91;p72"/>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72"/>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7_1_1">
    <p:spTree>
      <p:nvGrpSpPr>
        <p:cNvPr id="93" name="Shape 93"/>
        <p:cNvGrpSpPr/>
        <p:nvPr/>
      </p:nvGrpSpPr>
      <p:grpSpPr>
        <a:xfrm>
          <a:off x="0" y="0"/>
          <a:ext cx="0" cy="0"/>
          <a:chOff x="0" y="0"/>
          <a:chExt cx="0" cy="0"/>
        </a:xfrm>
      </p:grpSpPr>
      <p:sp>
        <p:nvSpPr>
          <p:cNvPr id="94" name="Google Shape;94;p73"/>
          <p:cNvSpPr/>
          <p:nvPr/>
        </p:nvSpPr>
        <p:spPr>
          <a:xfrm>
            <a:off x="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73"/>
          <p:cNvSpPr/>
          <p:nvPr/>
        </p:nvSpPr>
        <p:spPr>
          <a:xfrm rot="10800000">
            <a:off x="874680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1pPr>
            <a:lvl2pPr lvl="1"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2pPr>
            <a:lvl3pPr lvl="2"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3pPr>
            <a:lvl4pPr lvl="3"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4pPr>
            <a:lvl5pPr lvl="4"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5pPr>
            <a:lvl6pPr lvl="5"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6pPr>
            <a:lvl7pPr lvl="6"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7pPr>
            <a:lvl8pPr lvl="7"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8pPr>
            <a:lvl9pPr lvl="8" marR="0" rtl="0" algn="l">
              <a:lnSpc>
                <a:spcPct val="100000"/>
              </a:lnSpc>
              <a:spcBef>
                <a:spcPts val="0"/>
              </a:spcBef>
              <a:spcAft>
                <a:spcPts val="0"/>
              </a:spcAft>
              <a:buClr>
                <a:schemeClr val="dk1"/>
              </a:buClr>
              <a:buSzPts val="3000"/>
              <a:buFont typeface="Kanit"/>
              <a:buNone/>
              <a:defRPr b="1" i="0" sz="3000" u="none" cap="none" strike="noStrike">
                <a:solidFill>
                  <a:schemeClr val="dk1"/>
                </a:solidFill>
                <a:latin typeface="Kanit"/>
                <a:ea typeface="Kanit"/>
                <a:cs typeface="Kanit"/>
                <a:sym typeface="Kanit"/>
              </a:defRPr>
            </a:lvl9pPr>
          </a:lstStyle>
          <a:p/>
        </p:txBody>
      </p:sp>
      <p:sp>
        <p:nvSpPr>
          <p:cNvPr id="7" name="Google Shape;7;p57"/>
          <p:cNvSpPr txBox="1"/>
          <p:nvPr>
            <p:ph idx="1" type="body"/>
          </p:nvPr>
        </p:nvSpPr>
        <p:spPr>
          <a:xfrm>
            <a:off x="722375" y="1187600"/>
            <a:ext cx="76992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1pPr>
            <a:lvl2pPr indent="-304800" lvl="1" marL="9144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2pPr>
            <a:lvl3pPr indent="-304800" lvl="2" marL="13716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3pPr>
            <a:lvl4pPr indent="-304800" lvl="3" marL="18288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4pPr>
            <a:lvl5pPr indent="-304800" lvl="4" marL="22860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5pPr>
            <a:lvl6pPr indent="-304800" lvl="5" marL="27432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6pPr>
            <a:lvl7pPr indent="-304800" lvl="6" marL="32004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7pPr>
            <a:lvl8pPr indent="-304800" lvl="7" marL="36576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8pPr>
            <a:lvl9pPr indent="-304800" lvl="8" marL="4114800" marR="0" rtl="0" algn="l">
              <a:lnSpc>
                <a:spcPct val="100000"/>
              </a:lnSpc>
              <a:spcBef>
                <a:spcPts val="0"/>
              </a:spcBef>
              <a:spcAft>
                <a:spcPts val="0"/>
              </a:spcAft>
              <a:buClr>
                <a:schemeClr val="lt1"/>
              </a:buClr>
              <a:buSzPts val="1200"/>
              <a:buFont typeface="Work Sans"/>
              <a:buChar char="■"/>
              <a:defRPr b="0" i="0" sz="1200" u="none" cap="none" strike="noStrike">
                <a:solidFill>
                  <a:schemeClr val="lt1"/>
                </a:solidFill>
                <a:latin typeface="Work Sans"/>
                <a:ea typeface="Work Sans"/>
                <a:cs typeface="Work Sans"/>
                <a:sym typeface="Work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36.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36.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61.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47.png"/><Relationship Id="rId4" Type="http://schemas.openxmlformats.org/officeDocument/2006/relationships/image" Target="../media/image25.png"/><Relationship Id="rId5"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44.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6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image" Target="../media/image29.png"/><Relationship Id="rId6" Type="http://schemas.openxmlformats.org/officeDocument/2006/relationships/image" Target="../media/image26.png"/><Relationship Id="rId7"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31.png"/><Relationship Id="rId9"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62.png"/><Relationship Id="rId7" Type="http://schemas.openxmlformats.org/officeDocument/2006/relationships/image" Target="../media/image37.png"/><Relationship Id="rId8"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31.png"/><Relationship Id="rId4" Type="http://schemas.openxmlformats.org/officeDocument/2006/relationships/image" Target="../media/image40.png"/><Relationship Id="rId5" Type="http://schemas.openxmlformats.org/officeDocument/2006/relationships/image" Target="../media/image65.png"/><Relationship Id="rId6"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40.png"/><Relationship Id="rId4" Type="http://schemas.openxmlformats.org/officeDocument/2006/relationships/image" Target="../media/image56.png"/><Relationship Id="rId5" Type="http://schemas.openxmlformats.org/officeDocument/2006/relationships/image" Target="../media/image52.png"/><Relationship Id="rId6" Type="http://schemas.openxmlformats.org/officeDocument/2006/relationships/image" Target="../media/image41.png"/><Relationship Id="rId7" Type="http://schemas.openxmlformats.org/officeDocument/2006/relationships/image" Target="../media/image75.png"/></Relationships>
</file>

<file path=ppt/slides/_rels/slide36.xml.rels><?xml version="1.0" encoding="UTF-8" standalone="yes"?><Relationships xmlns="http://schemas.openxmlformats.org/package/2006/relationships"><Relationship Id="rId10" Type="http://schemas.openxmlformats.org/officeDocument/2006/relationships/image" Target="../media/image50.png"/><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40.png"/><Relationship Id="rId4" Type="http://schemas.openxmlformats.org/officeDocument/2006/relationships/image" Target="../media/image48.png"/><Relationship Id="rId9" Type="http://schemas.openxmlformats.org/officeDocument/2006/relationships/image" Target="../media/image70.png"/><Relationship Id="rId5" Type="http://schemas.openxmlformats.org/officeDocument/2006/relationships/image" Target="../media/image45.png"/><Relationship Id="rId6" Type="http://schemas.openxmlformats.org/officeDocument/2006/relationships/image" Target="../media/image55.png"/><Relationship Id="rId7" Type="http://schemas.openxmlformats.org/officeDocument/2006/relationships/image" Target="../media/image46.png"/><Relationship Id="rId8" Type="http://schemas.openxmlformats.org/officeDocument/2006/relationships/image" Target="../media/image49.png"/></Relationships>
</file>

<file path=ppt/slides/_rels/slide37.xml.rels><?xml version="1.0" encoding="UTF-8" standalone="yes"?><Relationships xmlns="http://schemas.openxmlformats.org/package/2006/relationships"><Relationship Id="rId10" Type="http://schemas.openxmlformats.org/officeDocument/2006/relationships/image" Target="../media/image57.png"/><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40.png"/><Relationship Id="rId4" Type="http://schemas.openxmlformats.org/officeDocument/2006/relationships/image" Target="../media/image91.png"/><Relationship Id="rId9" Type="http://schemas.openxmlformats.org/officeDocument/2006/relationships/image" Target="../media/image63.png"/><Relationship Id="rId5" Type="http://schemas.openxmlformats.org/officeDocument/2006/relationships/image" Target="../media/image94.png"/><Relationship Id="rId6" Type="http://schemas.openxmlformats.org/officeDocument/2006/relationships/image" Target="../media/image53.png"/><Relationship Id="rId7" Type="http://schemas.openxmlformats.org/officeDocument/2006/relationships/image" Target="../media/image75.png"/><Relationship Id="rId8" Type="http://schemas.openxmlformats.org/officeDocument/2006/relationships/image" Target="../media/image5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40.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40.png"/><Relationship Id="rId4" Type="http://schemas.openxmlformats.org/officeDocument/2006/relationships/image" Target="../media/image86.png"/><Relationship Id="rId5" Type="http://schemas.openxmlformats.org/officeDocument/2006/relationships/image" Target="../media/image6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40.png"/><Relationship Id="rId4" Type="http://schemas.openxmlformats.org/officeDocument/2006/relationships/image" Target="../media/image68.png"/><Relationship Id="rId5" Type="http://schemas.openxmlformats.org/officeDocument/2006/relationships/image" Target="../media/image64.png"/><Relationship Id="rId6" Type="http://schemas.openxmlformats.org/officeDocument/2006/relationships/image" Target="../media/image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40.png"/><Relationship Id="rId4" Type="http://schemas.openxmlformats.org/officeDocument/2006/relationships/image" Target="../media/image67.png"/><Relationship Id="rId5" Type="http://schemas.openxmlformats.org/officeDocument/2006/relationships/image" Target="../media/image7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40.png"/><Relationship Id="rId4" Type="http://schemas.openxmlformats.org/officeDocument/2006/relationships/image" Target="../media/image95.png"/><Relationship Id="rId5" Type="http://schemas.openxmlformats.org/officeDocument/2006/relationships/image" Target="../media/image85.png"/><Relationship Id="rId6" Type="http://schemas.openxmlformats.org/officeDocument/2006/relationships/image" Target="../media/image97.png"/><Relationship Id="rId7" Type="http://schemas.openxmlformats.org/officeDocument/2006/relationships/image" Target="../media/image1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40.png"/><Relationship Id="rId4" Type="http://schemas.openxmlformats.org/officeDocument/2006/relationships/image" Target="../media/image90.png"/><Relationship Id="rId5" Type="http://schemas.openxmlformats.org/officeDocument/2006/relationships/image" Target="../media/image7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40.png"/><Relationship Id="rId4" Type="http://schemas.openxmlformats.org/officeDocument/2006/relationships/image" Target="../media/image73.png"/><Relationship Id="rId5" Type="http://schemas.openxmlformats.org/officeDocument/2006/relationships/image" Target="../media/image104.png"/><Relationship Id="rId6" Type="http://schemas.openxmlformats.org/officeDocument/2006/relationships/image" Target="../media/image78.png"/></Relationships>
</file>

<file path=ppt/slides/_rels/slide47.xml.rels><?xml version="1.0" encoding="UTF-8" standalone="yes"?><Relationships xmlns="http://schemas.openxmlformats.org/package/2006/relationships"><Relationship Id="rId11" Type="http://schemas.openxmlformats.org/officeDocument/2006/relationships/image" Target="../media/image80.png"/><Relationship Id="rId10" Type="http://schemas.openxmlformats.org/officeDocument/2006/relationships/image" Target="../media/image123.png"/><Relationship Id="rId13" Type="http://schemas.openxmlformats.org/officeDocument/2006/relationships/image" Target="../media/image79.png"/><Relationship Id="rId12" Type="http://schemas.openxmlformats.org/officeDocument/2006/relationships/image" Target="../media/image92.png"/><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30.png"/><Relationship Id="rId4" Type="http://schemas.openxmlformats.org/officeDocument/2006/relationships/image" Target="../media/image31.png"/><Relationship Id="rId9" Type="http://schemas.openxmlformats.org/officeDocument/2006/relationships/image" Target="../media/image83.png"/><Relationship Id="rId5" Type="http://schemas.openxmlformats.org/officeDocument/2006/relationships/image" Target="../media/image26.png"/><Relationship Id="rId6" Type="http://schemas.openxmlformats.org/officeDocument/2006/relationships/image" Target="../media/image74.png"/><Relationship Id="rId7" Type="http://schemas.openxmlformats.org/officeDocument/2006/relationships/image" Target="../media/image82.png"/><Relationship Id="rId8" Type="http://schemas.openxmlformats.org/officeDocument/2006/relationships/image" Target="../media/image77.png"/></Relationships>
</file>

<file path=ppt/slides/_rels/slide48.xml.rels><?xml version="1.0" encoding="UTF-8" standalone="yes"?><Relationships xmlns="http://schemas.openxmlformats.org/package/2006/relationships"><Relationship Id="rId11" Type="http://schemas.openxmlformats.org/officeDocument/2006/relationships/image" Target="../media/image101.png"/><Relationship Id="rId10" Type="http://schemas.openxmlformats.org/officeDocument/2006/relationships/image" Target="../media/image107.png"/><Relationship Id="rId12" Type="http://schemas.openxmlformats.org/officeDocument/2006/relationships/image" Target="../media/image88.png"/><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40.png"/><Relationship Id="rId4" Type="http://schemas.openxmlformats.org/officeDocument/2006/relationships/image" Target="../media/image89.png"/><Relationship Id="rId9" Type="http://schemas.openxmlformats.org/officeDocument/2006/relationships/image" Target="../media/image141.png"/><Relationship Id="rId5" Type="http://schemas.openxmlformats.org/officeDocument/2006/relationships/image" Target="../media/image81.png"/><Relationship Id="rId6" Type="http://schemas.openxmlformats.org/officeDocument/2006/relationships/image" Target="../media/image100.png"/><Relationship Id="rId7" Type="http://schemas.openxmlformats.org/officeDocument/2006/relationships/image" Target="../media/image84.png"/><Relationship Id="rId8" Type="http://schemas.openxmlformats.org/officeDocument/2006/relationships/image" Target="../media/image8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40.png"/><Relationship Id="rId4" Type="http://schemas.openxmlformats.org/officeDocument/2006/relationships/image" Target="../media/image7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40.png"/></Relationships>
</file>

<file path=ppt/slides/_rels/slide51.xml.rels><?xml version="1.0" encoding="UTF-8" standalone="yes"?><Relationships xmlns="http://schemas.openxmlformats.org/package/2006/relationships"><Relationship Id="rId11" Type="http://schemas.openxmlformats.org/officeDocument/2006/relationships/image" Target="../media/image118.png"/><Relationship Id="rId10" Type="http://schemas.openxmlformats.org/officeDocument/2006/relationships/image" Target="../media/image125.png"/><Relationship Id="rId13" Type="http://schemas.openxmlformats.org/officeDocument/2006/relationships/image" Target="../media/image140.png"/><Relationship Id="rId12" Type="http://schemas.openxmlformats.org/officeDocument/2006/relationships/image" Target="../media/image75.png"/><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40.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99.png"/><Relationship Id="rId5" Type="http://schemas.openxmlformats.org/officeDocument/2006/relationships/image" Target="../media/image103.png"/><Relationship Id="rId6" Type="http://schemas.openxmlformats.org/officeDocument/2006/relationships/image" Target="../media/image96.png"/><Relationship Id="rId7" Type="http://schemas.openxmlformats.org/officeDocument/2006/relationships/image" Target="../media/image143.png"/><Relationship Id="rId8" Type="http://schemas.openxmlformats.org/officeDocument/2006/relationships/image" Target="../media/image111.png"/></Relationships>
</file>

<file path=ppt/slides/_rels/slide52.xml.rels><?xml version="1.0" encoding="UTF-8" standalone="yes"?><Relationships xmlns="http://schemas.openxmlformats.org/package/2006/relationships"><Relationship Id="rId11" Type="http://schemas.openxmlformats.org/officeDocument/2006/relationships/image" Target="../media/image106.png"/><Relationship Id="rId10" Type="http://schemas.openxmlformats.org/officeDocument/2006/relationships/image" Target="../media/image145.png"/><Relationship Id="rId12" Type="http://schemas.openxmlformats.org/officeDocument/2006/relationships/image" Target="../media/image121.png"/><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30.png"/><Relationship Id="rId4" Type="http://schemas.openxmlformats.org/officeDocument/2006/relationships/image" Target="../media/image31.png"/><Relationship Id="rId9" Type="http://schemas.openxmlformats.org/officeDocument/2006/relationships/image" Target="../media/image117.png"/><Relationship Id="rId5" Type="http://schemas.openxmlformats.org/officeDocument/2006/relationships/image" Target="../media/image74.png"/><Relationship Id="rId6" Type="http://schemas.openxmlformats.org/officeDocument/2006/relationships/image" Target="../media/image82.png"/><Relationship Id="rId7" Type="http://schemas.openxmlformats.org/officeDocument/2006/relationships/image" Target="../media/image29.png"/><Relationship Id="rId8" Type="http://schemas.openxmlformats.org/officeDocument/2006/relationships/image" Target="../media/image1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40.png"/><Relationship Id="rId4" Type="http://schemas.openxmlformats.org/officeDocument/2006/relationships/image" Target="../media/image108.jpg"/><Relationship Id="rId5" Type="http://schemas.openxmlformats.org/officeDocument/2006/relationships/image" Target="../media/image115.jpg"/><Relationship Id="rId6" Type="http://schemas.openxmlformats.org/officeDocument/2006/relationships/image" Target="../media/image112.png"/><Relationship Id="rId7" Type="http://schemas.openxmlformats.org/officeDocument/2006/relationships/image" Target="../media/image109.png"/><Relationship Id="rId8" Type="http://schemas.openxmlformats.org/officeDocument/2006/relationships/image" Target="../media/image11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116.png"/><Relationship Id="rId4" Type="http://schemas.openxmlformats.org/officeDocument/2006/relationships/image" Target="../media/image144.png"/><Relationship Id="rId5" Type="http://schemas.openxmlformats.org/officeDocument/2006/relationships/image" Target="../media/image128.png"/><Relationship Id="rId6" Type="http://schemas.openxmlformats.org/officeDocument/2006/relationships/image" Target="../media/image135.png"/><Relationship Id="rId7" Type="http://schemas.openxmlformats.org/officeDocument/2006/relationships/image" Target="../media/image120.png"/></Relationships>
</file>

<file path=ppt/slides/_rels/slide55.xml.rels><?xml version="1.0" encoding="UTF-8" standalone="yes"?><Relationships xmlns="http://schemas.openxmlformats.org/package/2006/relationships"><Relationship Id="rId11" Type="http://schemas.openxmlformats.org/officeDocument/2006/relationships/image" Target="../media/image136.png"/><Relationship Id="rId10" Type="http://schemas.openxmlformats.org/officeDocument/2006/relationships/image" Target="../media/image124.png"/><Relationship Id="rId13" Type="http://schemas.openxmlformats.org/officeDocument/2006/relationships/image" Target="../media/image75.png"/><Relationship Id="rId12" Type="http://schemas.openxmlformats.org/officeDocument/2006/relationships/image" Target="../media/image127.png"/><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119.png"/><Relationship Id="rId4" Type="http://schemas.openxmlformats.org/officeDocument/2006/relationships/image" Target="../media/image122.png"/><Relationship Id="rId9" Type="http://schemas.openxmlformats.org/officeDocument/2006/relationships/image" Target="../media/image146.png"/><Relationship Id="rId5" Type="http://schemas.openxmlformats.org/officeDocument/2006/relationships/image" Target="../media/image134.png"/><Relationship Id="rId6" Type="http://schemas.openxmlformats.org/officeDocument/2006/relationships/image" Target="../media/image133.png"/><Relationship Id="rId7" Type="http://schemas.openxmlformats.org/officeDocument/2006/relationships/image" Target="../media/image126.png"/><Relationship Id="rId8" Type="http://schemas.openxmlformats.org/officeDocument/2006/relationships/image" Target="../media/image1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7.xml"/><Relationship Id="rId3" Type="http://schemas.openxmlformats.org/officeDocument/2006/relationships/image" Target="../media/image129.png"/><Relationship Id="rId4" Type="http://schemas.openxmlformats.org/officeDocument/2006/relationships/image" Target="../media/image137.png"/><Relationship Id="rId9" Type="http://schemas.openxmlformats.org/officeDocument/2006/relationships/image" Target="../media/image21.png"/><Relationship Id="rId5" Type="http://schemas.openxmlformats.org/officeDocument/2006/relationships/image" Target="../media/image142.png"/><Relationship Id="rId6" Type="http://schemas.openxmlformats.org/officeDocument/2006/relationships/image" Target="../media/image130.png"/><Relationship Id="rId7" Type="http://schemas.openxmlformats.org/officeDocument/2006/relationships/hyperlink" Target="mailto:equipeccu@gmail.com" TargetMode="External"/><Relationship Id="rId8"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p:nvPr/>
        </p:nvSpPr>
        <p:spPr>
          <a:xfrm>
            <a:off x="-64294" y="-57150"/>
            <a:ext cx="9279732" cy="5250656"/>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01" name="Google Shape;101;p1"/>
          <p:cNvSpPr txBox="1"/>
          <p:nvPr>
            <p:ph type="ctrTitle"/>
          </p:nvPr>
        </p:nvSpPr>
        <p:spPr>
          <a:xfrm>
            <a:off x="307140" y="2262214"/>
            <a:ext cx="8074859" cy="1392052"/>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pt-BR" sz="4000">
                <a:solidFill>
                  <a:srgbClr val="C1272D"/>
                </a:solidFill>
              </a:rPr>
              <a:t>GMAT: ESTRUTURA DA PROVA</a:t>
            </a:r>
            <a:br>
              <a:rPr lang="pt-BR" sz="4000"/>
            </a:br>
            <a:r>
              <a:rPr b="0" lang="pt-BR" sz="2000">
                <a:solidFill>
                  <a:schemeClr val="lt2"/>
                </a:solidFill>
              </a:rPr>
              <a:t>Módulo 03</a:t>
            </a:r>
            <a:endParaRPr b="0" sz="2000">
              <a:solidFill>
                <a:schemeClr val="lt2"/>
              </a:solidFill>
            </a:endParaRPr>
          </a:p>
        </p:txBody>
      </p:sp>
      <p:pic>
        <p:nvPicPr>
          <p:cNvPr id="102" name="Google Shape;102;p1"/>
          <p:cNvPicPr preferRelativeResize="0"/>
          <p:nvPr/>
        </p:nvPicPr>
        <p:blipFill rotWithShape="1">
          <a:blip r:embed="rId3">
            <a:alphaModFix/>
          </a:blip>
          <a:srcRect b="0" l="0" r="0" t="0"/>
          <a:stretch/>
        </p:blipFill>
        <p:spPr>
          <a:xfrm>
            <a:off x="405981" y="393873"/>
            <a:ext cx="3511815" cy="1671378"/>
          </a:xfrm>
          <a:prstGeom prst="rect">
            <a:avLst/>
          </a:prstGeom>
          <a:noFill/>
          <a:ln>
            <a:noFill/>
          </a:ln>
        </p:spPr>
      </p:pic>
      <p:pic>
        <p:nvPicPr>
          <p:cNvPr id="103" name="Google Shape;103;p1"/>
          <p:cNvPicPr preferRelativeResize="0"/>
          <p:nvPr/>
        </p:nvPicPr>
        <p:blipFill rotWithShape="1">
          <a:blip r:embed="rId4">
            <a:alphaModFix/>
          </a:blip>
          <a:srcRect b="0" l="0" r="0" t="0"/>
          <a:stretch/>
        </p:blipFill>
        <p:spPr>
          <a:xfrm>
            <a:off x="405981" y="4550167"/>
            <a:ext cx="2387225" cy="298920"/>
          </a:xfrm>
          <a:prstGeom prst="rect">
            <a:avLst/>
          </a:prstGeom>
          <a:noFill/>
          <a:ln>
            <a:noFill/>
          </a:ln>
        </p:spPr>
      </p:pic>
      <p:sp>
        <p:nvSpPr>
          <p:cNvPr id="104" name="Google Shape;104;p1"/>
          <p:cNvSpPr txBox="1"/>
          <p:nvPr/>
        </p:nvSpPr>
        <p:spPr>
          <a:xfrm>
            <a:off x="294680" y="3697310"/>
            <a:ext cx="465415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chemeClr val="lt2"/>
                </a:solidFill>
                <a:latin typeface="Arial"/>
                <a:ea typeface="Arial"/>
                <a:cs typeface="Arial"/>
                <a:sym typeface="Arial"/>
              </a:rPr>
              <a:t>Matteo Lucato – Diretor de Gestão de Pessoas</a:t>
            </a:r>
            <a:endParaRPr b="0" i="0" sz="1400" u="none" cap="none" strike="noStrike">
              <a:solidFill>
                <a:schemeClr val="lt2"/>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chemeClr val="lt2"/>
                </a:solidFill>
                <a:latin typeface="Arial"/>
                <a:ea typeface="Arial"/>
                <a:cs typeface="Arial"/>
                <a:sym typeface="Arial"/>
              </a:rPr>
              <a:t>Chammas – Membra de Gestão de Pessoas</a:t>
            </a:r>
            <a:endParaRPr/>
          </a:p>
        </p:txBody>
      </p:sp>
      <p:sp>
        <p:nvSpPr>
          <p:cNvPr id="105" name="Google Shape;105;p1"/>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FFFFFF"/>
                </a:solidFill>
                <a:latin typeface="Arial"/>
                <a:ea typeface="Arial"/>
                <a:cs typeface="Arial"/>
                <a:sym typeface="Arial"/>
              </a:rPr>
              <a:t>Copyright © 2026 Clube de Consultoria Universitário. All rights reserved.</a:t>
            </a:r>
            <a:endParaRPr b="0" i="0" sz="9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09" name="Shape 109"/>
        <p:cNvGrpSpPr/>
        <p:nvPr/>
      </p:nvGrpSpPr>
      <p:grpSpPr>
        <a:xfrm>
          <a:off x="0" y="0"/>
          <a:ext cx="0" cy="0"/>
          <a:chOff x="0" y="0"/>
          <a:chExt cx="0" cy="0"/>
        </a:xfrm>
      </p:grpSpPr>
      <p:sp>
        <p:nvSpPr>
          <p:cNvPr id="110" name="Google Shape;110;p2"/>
          <p:cNvSpPr txBox="1"/>
          <p:nvPr>
            <p:ph type="title"/>
          </p:nvPr>
        </p:nvSpPr>
        <p:spPr>
          <a:xfrm>
            <a:off x="610450" y="383528"/>
            <a:ext cx="5121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solidFill>
                  <a:srgbClr val="C1272D"/>
                </a:solidFill>
              </a:rPr>
              <a:t>VISÃO GERAL DO MÓDULO</a:t>
            </a:r>
            <a:endParaRPr>
              <a:solidFill>
                <a:srgbClr val="C1272D"/>
              </a:solidFill>
            </a:endParaRPr>
          </a:p>
        </p:txBody>
      </p:sp>
      <p:sp>
        <p:nvSpPr>
          <p:cNvPr id="111" name="Google Shape;111;p2"/>
          <p:cNvSpPr txBox="1"/>
          <p:nvPr>
            <p:ph idx="2" type="title"/>
          </p:nvPr>
        </p:nvSpPr>
        <p:spPr>
          <a:xfrm>
            <a:off x="900072" y="1300699"/>
            <a:ext cx="482224" cy="416375"/>
          </a:xfrm>
          <a:prstGeom prst="rect">
            <a:avLst/>
          </a:prstGeom>
          <a:solidFill>
            <a:srgbClr val="C1272D"/>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pt-BR" sz="1400"/>
              <a:t>01</a:t>
            </a:r>
            <a:r>
              <a:rPr lang="pt-BR" sz="2400"/>
              <a:t>.</a:t>
            </a:r>
            <a:endParaRPr sz="2400"/>
          </a:p>
        </p:txBody>
      </p:sp>
      <p:sp>
        <p:nvSpPr>
          <p:cNvPr id="112" name="Google Shape;112;p2"/>
          <p:cNvSpPr txBox="1"/>
          <p:nvPr>
            <p:ph idx="1" type="subTitle"/>
          </p:nvPr>
        </p:nvSpPr>
        <p:spPr>
          <a:xfrm>
            <a:off x="1382296" y="1313606"/>
            <a:ext cx="2548805" cy="65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pt-BR"/>
              <a:t>O QUE É GMAT?</a:t>
            </a:r>
            <a:endParaRPr/>
          </a:p>
        </p:txBody>
      </p:sp>
      <p:sp>
        <p:nvSpPr>
          <p:cNvPr id="113" name="Google Shape;113;p2"/>
          <p:cNvSpPr txBox="1"/>
          <p:nvPr/>
        </p:nvSpPr>
        <p:spPr>
          <a:xfrm>
            <a:off x="909598" y="1960309"/>
            <a:ext cx="472698" cy="416375"/>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400"/>
              <a:buFont typeface="Kanit"/>
              <a:buNone/>
            </a:pPr>
            <a:r>
              <a:rPr b="0" i="0" lang="pt-BR" sz="1400" u="none" cap="none" strike="noStrike">
                <a:solidFill>
                  <a:schemeClr val="dk2"/>
                </a:solidFill>
                <a:latin typeface="Kanit"/>
                <a:ea typeface="Kanit"/>
                <a:cs typeface="Kanit"/>
                <a:sym typeface="Kanit"/>
              </a:rPr>
              <a:t>02</a:t>
            </a:r>
            <a:r>
              <a:rPr b="0" i="0" lang="pt-BR" sz="2400" u="none" cap="none" strike="noStrike">
                <a:solidFill>
                  <a:schemeClr val="dk2"/>
                </a:solidFill>
                <a:latin typeface="Kanit"/>
                <a:ea typeface="Kanit"/>
                <a:cs typeface="Kanit"/>
                <a:sym typeface="Kanit"/>
              </a:rPr>
              <a:t>.</a:t>
            </a:r>
            <a:endParaRPr b="0" i="0" sz="3000" u="none" cap="none" strike="noStrike">
              <a:solidFill>
                <a:schemeClr val="dk2"/>
              </a:solidFill>
              <a:latin typeface="Kanit"/>
              <a:ea typeface="Kanit"/>
              <a:cs typeface="Kanit"/>
              <a:sym typeface="Kanit"/>
            </a:endParaRPr>
          </a:p>
        </p:txBody>
      </p:sp>
      <p:sp>
        <p:nvSpPr>
          <p:cNvPr id="114" name="Google Shape;114;p2"/>
          <p:cNvSpPr txBox="1"/>
          <p:nvPr/>
        </p:nvSpPr>
        <p:spPr>
          <a:xfrm>
            <a:off x="1391822" y="2009638"/>
            <a:ext cx="4064098" cy="6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Work Sans"/>
              <a:buNone/>
            </a:pPr>
            <a:r>
              <a:rPr b="0" i="0" lang="pt-BR" sz="1800" u="none" cap="none" strike="noStrike">
                <a:solidFill>
                  <a:schemeClr val="lt1"/>
                </a:solidFill>
                <a:latin typeface="Kanit SemiBold"/>
                <a:ea typeface="Kanit SemiBold"/>
                <a:cs typeface="Kanit SemiBold"/>
                <a:sym typeface="Kanit SemiBold"/>
              </a:rPr>
              <a:t>ASPECTOS IMPORTANTES DA PROVA</a:t>
            </a:r>
            <a:endParaRPr/>
          </a:p>
        </p:txBody>
      </p:sp>
      <p:sp>
        <p:nvSpPr>
          <p:cNvPr id="115" name="Google Shape;115;p2"/>
          <p:cNvSpPr txBox="1"/>
          <p:nvPr/>
        </p:nvSpPr>
        <p:spPr>
          <a:xfrm>
            <a:off x="900072" y="2611909"/>
            <a:ext cx="482224" cy="416375"/>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400"/>
              <a:buFont typeface="Kanit"/>
              <a:buNone/>
            </a:pPr>
            <a:r>
              <a:rPr b="0" i="0" lang="pt-BR" sz="1400" u="none" cap="none" strike="noStrike">
                <a:solidFill>
                  <a:schemeClr val="dk2"/>
                </a:solidFill>
                <a:latin typeface="Kanit"/>
                <a:ea typeface="Kanit"/>
                <a:cs typeface="Kanit"/>
                <a:sym typeface="Kanit"/>
              </a:rPr>
              <a:t>03</a:t>
            </a:r>
            <a:r>
              <a:rPr b="0" i="0" lang="pt-BR" sz="2400" u="none" cap="none" strike="noStrike">
                <a:solidFill>
                  <a:schemeClr val="dk2"/>
                </a:solidFill>
                <a:latin typeface="Kanit"/>
                <a:ea typeface="Kanit"/>
                <a:cs typeface="Kanit"/>
                <a:sym typeface="Kanit"/>
              </a:rPr>
              <a:t>.</a:t>
            </a:r>
            <a:endParaRPr b="0" i="0" sz="1400" u="none" cap="none" strike="noStrike">
              <a:solidFill>
                <a:schemeClr val="dk2"/>
              </a:solidFill>
              <a:latin typeface="Kanit"/>
              <a:ea typeface="Kanit"/>
              <a:cs typeface="Kanit"/>
              <a:sym typeface="Kanit"/>
            </a:endParaRPr>
          </a:p>
        </p:txBody>
      </p:sp>
      <p:sp>
        <p:nvSpPr>
          <p:cNvPr id="116" name="Google Shape;116;p2"/>
          <p:cNvSpPr txBox="1"/>
          <p:nvPr/>
        </p:nvSpPr>
        <p:spPr>
          <a:xfrm>
            <a:off x="1401819" y="2668768"/>
            <a:ext cx="3071121" cy="6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Work Sans"/>
              <a:buNone/>
            </a:pPr>
            <a:r>
              <a:rPr b="0" i="0" lang="pt-BR" sz="1800" u="none" cap="none" strike="noStrike">
                <a:solidFill>
                  <a:schemeClr val="lt1"/>
                </a:solidFill>
                <a:latin typeface="Kanit SemiBold"/>
                <a:ea typeface="Kanit SemiBold"/>
                <a:cs typeface="Kanit SemiBold"/>
                <a:sym typeface="Kanit SemiBold"/>
              </a:rPr>
              <a:t>REVISÃO DE MATEMÁTICA</a:t>
            </a:r>
            <a:endParaRPr/>
          </a:p>
        </p:txBody>
      </p:sp>
      <p:sp>
        <p:nvSpPr>
          <p:cNvPr id="117" name="Google Shape;117;p2"/>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 </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118" name="Google Shape;118;p2"/>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3"/>
          <p:cNvSpPr txBox="1"/>
          <p:nvPr>
            <p:ph type="title"/>
          </p:nvPr>
        </p:nvSpPr>
        <p:spPr>
          <a:xfrm>
            <a:off x="4685400" y="2959400"/>
            <a:ext cx="3582900" cy="1644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600"/>
              <a:buNone/>
            </a:pPr>
            <a:r>
              <a:rPr lang="pt-BR">
                <a:solidFill>
                  <a:srgbClr val="C1272D"/>
                </a:solidFill>
              </a:rPr>
              <a:t>O QUE É</a:t>
            </a:r>
            <a:r>
              <a:rPr lang="pt-BR">
                <a:solidFill>
                  <a:schemeClr val="lt1"/>
                </a:solidFill>
              </a:rPr>
              <a:t> GMAT? </a:t>
            </a:r>
            <a:endParaRPr>
              <a:solidFill>
                <a:schemeClr val="lt1"/>
              </a:solidFill>
            </a:endParaRPr>
          </a:p>
        </p:txBody>
      </p:sp>
      <p:sp>
        <p:nvSpPr>
          <p:cNvPr id="124" name="Google Shape;124;p3"/>
          <p:cNvSpPr txBox="1"/>
          <p:nvPr>
            <p:ph idx="3" type="title"/>
          </p:nvPr>
        </p:nvSpPr>
        <p:spPr>
          <a:xfrm>
            <a:off x="7008600" y="1601400"/>
            <a:ext cx="1259700" cy="1259700"/>
          </a:xfrm>
          <a:prstGeom prst="rect">
            <a:avLst/>
          </a:prstGeom>
          <a:solidFill>
            <a:srgbClr val="C1272D"/>
          </a:solid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pt-BR"/>
              <a:t>01.</a:t>
            </a:r>
            <a:endParaRPr/>
          </a:p>
        </p:txBody>
      </p:sp>
      <p:sp>
        <p:nvSpPr>
          <p:cNvPr id="125" name="Google Shape;125;p3"/>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126" name="Google Shape;126;p3"/>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4"/>
          <p:cNvSpPr txBox="1"/>
          <p:nvPr>
            <p:ph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O QUE É GMAT?</a:t>
            </a:r>
            <a:endParaRPr/>
          </a:p>
        </p:txBody>
      </p:sp>
      <p:pic>
        <p:nvPicPr>
          <p:cNvPr id="132" name="Google Shape;132;p4"/>
          <p:cNvPicPr preferRelativeResize="0"/>
          <p:nvPr/>
        </p:nvPicPr>
        <p:blipFill rotWithShape="1">
          <a:blip r:embed="rId3">
            <a:alphaModFix/>
          </a:blip>
          <a:srcRect b="0" l="0" r="0" t="0"/>
          <a:stretch/>
        </p:blipFill>
        <p:spPr>
          <a:xfrm>
            <a:off x="2001520" y="960050"/>
            <a:ext cx="4665980" cy="3891626"/>
          </a:xfrm>
          <a:prstGeom prst="rect">
            <a:avLst/>
          </a:prstGeom>
          <a:noFill/>
          <a:ln>
            <a:noFill/>
          </a:ln>
        </p:spPr>
      </p:pic>
      <p:sp>
        <p:nvSpPr>
          <p:cNvPr id="133" name="Google Shape;133;p4"/>
          <p:cNvSpPr txBox="1"/>
          <p:nvPr/>
        </p:nvSpPr>
        <p:spPr>
          <a:xfrm>
            <a:off x="5843855" y="1122226"/>
            <a:ext cx="3004200" cy="76901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Work Sans"/>
              <a:buNone/>
            </a:pPr>
            <a:r>
              <a:rPr b="0" i="0" lang="pt-BR" sz="1200" u="none" cap="none" strike="noStrike">
                <a:solidFill>
                  <a:srgbClr val="000000"/>
                </a:solidFill>
                <a:latin typeface="Work Sans"/>
                <a:ea typeface="Work Sans"/>
                <a:cs typeface="Work Sans"/>
                <a:sym typeface="Work Sans"/>
              </a:rPr>
              <a:t>Computer Adaptive Test (CAT) </a:t>
            </a:r>
            <a:endParaRPr/>
          </a:p>
          <a:p>
            <a:pPr indent="0" lvl="0" marL="0" marR="0" rtl="0" algn="l">
              <a:lnSpc>
                <a:spcPct val="100000"/>
              </a:lnSpc>
              <a:spcBef>
                <a:spcPts val="0"/>
              </a:spcBef>
              <a:spcAft>
                <a:spcPts val="0"/>
              </a:spcAft>
              <a:buClr>
                <a:schemeClr val="dk1"/>
              </a:buClr>
              <a:buSzPts val="1200"/>
              <a:buFont typeface="Work Sans"/>
              <a:buNone/>
            </a:pPr>
            <a:r>
              <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200"/>
              <a:buFont typeface="Work Sans"/>
              <a:buNone/>
            </a:pPr>
            <a:r>
              <a:rPr b="0" i="0" lang="pt-BR" sz="1200" u="none" cap="none" strike="noStrike">
                <a:solidFill>
                  <a:srgbClr val="000000"/>
                </a:solidFill>
                <a:latin typeface="Work Sans"/>
                <a:ea typeface="Work Sans"/>
                <a:cs typeface="Work Sans"/>
                <a:sym typeface="Work Sans"/>
              </a:rPr>
              <a:t>Prova padronizada</a:t>
            </a:r>
            <a:endParaRPr/>
          </a:p>
          <a:p>
            <a:pPr indent="0" lvl="0" marL="0" marR="0" rtl="0" algn="l">
              <a:lnSpc>
                <a:spcPct val="100000"/>
              </a:lnSpc>
              <a:spcBef>
                <a:spcPts val="0"/>
              </a:spcBef>
              <a:spcAft>
                <a:spcPts val="0"/>
              </a:spcAft>
              <a:buClr>
                <a:schemeClr val="dk1"/>
              </a:buClr>
              <a:buSzPts val="1200"/>
              <a:buFont typeface="Work Sans"/>
              <a:buNone/>
            </a:pPr>
            <a:r>
              <a:t/>
            </a:r>
            <a:endParaRPr b="0" i="0" sz="1200" u="none" cap="none" strike="noStrike">
              <a:solidFill>
                <a:schemeClr val="lt1"/>
              </a:solidFill>
              <a:latin typeface="Work Sans"/>
              <a:ea typeface="Work Sans"/>
              <a:cs typeface="Work Sans"/>
              <a:sym typeface="Work Sans"/>
            </a:endParaRPr>
          </a:p>
        </p:txBody>
      </p:sp>
      <p:sp>
        <p:nvSpPr>
          <p:cNvPr id="134" name="Google Shape;134;p4"/>
          <p:cNvSpPr txBox="1"/>
          <p:nvPr/>
        </p:nvSpPr>
        <p:spPr>
          <a:xfrm>
            <a:off x="6221388" y="3798945"/>
            <a:ext cx="3004200" cy="76901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Work Sans"/>
              <a:buNone/>
            </a:pPr>
            <a:r>
              <a:rPr b="0" i="0" lang="pt-BR" sz="1200" u="none" cap="none" strike="noStrike">
                <a:solidFill>
                  <a:schemeClr val="lt1"/>
                </a:solidFill>
                <a:latin typeface="Work Sans"/>
                <a:ea typeface="Work Sans"/>
                <a:cs typeface="Work Sans"/>
                <a:sym typeface="Work Sans"/>
              </a:rPr>
              <a:t>Questões avaliam a capacidade de raciocínio do candidato</a:t>
            </a:r>
            <a:endParaRPr/>
          </a:p>
          <a:p>
            <a:pPr indent="0" lvl="0" marL="0" marR="0" rtl="0" algn="l">
              <a:lnSpc>
                <a:spcPct val="100000"/>
              </a:lnSpc>
              <a:spcBef>
                <a:spcPts val="0"/>
              </a:spcBef>
              <a:spcAft>
                <a:spcPts val="0"/>
              </a:spcAft>
              <a:buClr>
                <a:schemeClr val="dk1"/>
              </a:buClr>
              <a:buSzPts val="1200"/>
              <a:buFont typeface="Work Sans"/>
              <a:buNone/>
            </a:pPr>
            <a:r>
              <a:t/>
            </a:r>
            <a:endParaRPr b="0" i="0" sz="1200" u="none" cap="none" strike="noStrike">
              <a:solidFill>
                <a:schemeClr val="lt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200"/>
              <a:buFont typeface="Work Sans"/>
              <a:buNone/>
            </a:pPr>
            <a:r>
              <a:rPr b="0" i="0" lang="pt-BR" sz="1200" u="none" cap="none" strike="noStrike">
                <a:solidFill>
                  <a:schemeClr val="lt1"/>
                </a:solidFill>
                <a:latin typeface="Work Sans"/>
                <a:ea typeface="Work Sans"/>
                <a:cs typeface="Work Sans"/>
                <a:sym typeface="Work Sans"/>
              </a:rPr>
              <a:t>Valoriza a velocidade do raciocínio</a:t>
            </a:r>
            <a:endParaRPr b="0" i="0" sz="1200" u="none" cap="none" strike="noStrike">
              <a:solidFill>
                <a:schemeClr val="lt1"/>
              </a:solidFill>
              <a:latin typeface="Work Sans"/>
              <a:ea typeface="Work Sans"/>
              <a:cs typeface="Work Sans"/>
              <a:sym typeface="Work Sans"/>
            </a:endParaRPr>
          </a:p>
        </p:txBody>
      </p:sp>
      <p:sp>
        <p:nvSpPr>
          <p:cNvPr id="135" name="Google Shape;135;p4"/>
          <p:cNvSpPr txBox="1"/>
          <p:nvPr/>
        </p:nvSpPr>
        <p:spPr>
          <a:xfrm>
            <a:off x="180229" y="1901928"/>
            <a:ext cx="2363438" cy="200787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200"/>
              <a:buFont typeface="Work Sans"/>
              <a:buNone/>
            </a:pPr>
            <a:r>
              <a:rPr b="0" i="0" lang="pt-BR" sz="1200" u="none" cap="none" strike="noStrike">
                <a:solidFill>
                  <a:schemeClr val="lt1"/>
                </a:solidFill>
                <a:latin typeface="Work Sans"/>
                <a:ea typeface="Work Sans"/>
                <a:cs typeface="Work Sans"/>
                <a:sym typeface="Work Sans"/>
              </a:rPr>
              <a:t>Criada para auxiliar na seleção de candidatos de escolas de negócios</a:t>
            </a:r>
            <a:endParaRPr/>
          </a:p>
          <a:p>
            <a:pPr indent="0" lvl="0" marL="0" marR="0" rtl="0" algn="r">
              <a:lnSpc>
                <a:spcPct val="100000"/>
              </a:lnSpc>
              <a:spcBef>
                <a:spcPts val="0"/>
              </a:spcBef>
              <a:spcAft>
                <a:spcPts val="0"/>
              </a:spcAft>
              <a:buClr>
                <a:schemeClr val="dk1"/>
              </a:buClr>
              <a:buSzPts val="1200"/>
              <a:buFont typeface="Work Sans"/>
              <a:buNone/>
            </a:pPr>
            <a:r>
              <a:t/>
            </a:r>
            <a:endParaRPr b="0" i="0" sz="1200" u="none" cap="none" strike="noStrike">
              <a:solidFill>
                <a:schemeClr val="lt1"/>
              </a:solidFill>
              <a:latin typeface="Work Sans"/>
              <a:ea typeface="Work Sans"/>
              <a:cs typeface="Work Sans"/>
              <a:sym typeface="Work Sans"/>
            </a:endParaRPr>
          </a:p>
          <a:p>
            <a:pPr indent="0" lvl="0" marL="0" marR="0" rtl="0" algn="r">
              <a:lnSpc>
                <a:spcPct val="100000"/>
              </a:lnSpc>
              <a:spcBef>
                <a:spcPts val="0"/>
              </a:spcBef>
              <a:spcAft>
                <a:spcPts val="0"/>
              </a:spcAft>
              <a:buClr>
                <a:schemeClr val="dk1"/>
              </a:buClr>
              <a:buSzPts val="1200"/>
              <a:buFont typeface="Work Sans"/>
              <a:buNone/>
            </a:pPr>
            <a:r>
              <a:rPr b="0" i="0" lang="pt-BR" sz="1200" u="none" cap="none" strike="noStrike">
                <a:solidFill>
                  <a:schemeClr val="lt1"/>
                </a:solidFill>
                <a:latin typeface="Work Sans"/>
                <a:ea typeface="Work Sans"/>
                <a:cs typeface="Work Sans"/>
                <a:sym typeface="Work Sans"/>
              </a:rPr>
              <a:t>Procura prever desempenho do aluno no MBA</a:t>
            </a:r>
            <a:endParaRPr/>
          </a:p>
          <a:p>
            <a:pPr indent="0" lvl="0" marL="0" marR="0" rtl="0" algn="r">
              <a:lnSpc>
                <a:spcPct val="100000"/>
              </a:lnSpc>
              <a:spcBef>
                <a:spcPts val="0"/>
              </a:spcBef>
              <a:spcAft>
                <a:spcPts val="0"/>
              </a:spcAft>
              <a:buClr>
                <a:schemeClr val="dk1"/>
              </a:buClr>
              <a:buSzPts val="1200"/>
              <a:buFont typeface="Work Sans"/>
              <a:buNone/>
            </a:pPr>
            <a:r>
              <a:t/>
            </a:r>
            <a:endParaRPr b="0" i="0" sz="1200" u="none" cap="none" strike="noStrike">
              <a:solidFill>
                <a:schemeClr val="lt1"/>
              </a:solidFill>
              <a:latin typeface="Work Sans"/>
              <a:ea typeface="Work Sans"/>
              <a:cs typeface="Work Sans"/>
              <a:sym typeface="Work Sans"/>
            </a:endParaRPr>
          </a:p>
          <a:p>
            <a:pPr indent="0" lvl="0" marL="0" marR="0" rtl="0" algn="r">
              <a:lnSpc>
                <a:spcPct val="100000"/>
              </a:lnSpc>
              <a:spcBef>
                <a:spcPts val="0"/>
              </a:spcBef>
              <a:spcAft>
                <a:spcPts val="0"/>
              </a:spcAft>
              <a:buClr>
                <a:schemeClr val="dk1"/>
              </a:buClr>
              <a:buSzPts val="1200"/>
              <a:buFont typeface="Work Sans"/>
              <a:buNone/>
            </a:pPr>
            <a:r>
              <a:rPr b="0" i="0" lang="pt-BR" sz="1200" u="none" cap="none" strike="noStrike">
                <a:solidFill>
                  <a:schemeClr val="lt1"/>
                </a:solidFill>
                <a:latin typeface="Work Sans"/>
                <a:ea typeface="Work Sans"/>
                <a:cs typeface="Work Sans"/>
                <a:sym typeface="Work Sans"/>
              </a:rPr>
              <a:t>Mede aptidão do aluno para realizar o MBA</a:t>
            </a:r>
            <a:endParaRPr/>
          </a:p>
          <a:p>
            <a:pPr indent="0" lvl="0" marL="0" marR="0" rtl="0" algn="r">
              <a:lnSpc>
                <a:spcPct val="100000"/>
              </a:lnSpc>
              <a:spcBef>
                <a:spcPts val="0"/>
              </a:spcBef>
              <a:spcAft>
                <a:spcPts val="0"/>
              </a:spcAft>
              <a:buClr>
                <a:schemeClr val="dk1"/>
              </a:buClr>
              <a:buSzPts val="1200"/>
              <a:buFont typeface="Work Sans"/>
              <a:buNone/>
            </a:pPr>
            <a:r>
              <a:t/>
            </a:r>
            <a:endParaRPr b="0" i="0" sz="1200" u="none" cap="none" strike="noStrike">
              <a:solidFill>
                <a:schemeClr val="lt1"/>
              </a:solidFill>
              <a:latin typeface="Work Sans"/>
              <a:ea typeface="Work Sans"/>
              <a:cs typeface="Work Sans"/>
              <a:sym typeface="Work Sans"/>
            </a:endParaRPr>
          </a:p>
          <a:p>
            <a:pPr indent="0" lvl="0" marL="0" marR="0" rtl="0" algn="r">
              <a:lnSpc>
                <a:spcPct val="100000"/>
              </a:lnSpc>
              <a:spcBef>
                <a:spcPts val="0"/>
              </a:spcBef>
              <a:spcAft>
                <a:spcPts val="0"/>
              </a:spcAft>
              <a:buClr>
                <a:schemeClr val="dk1"/>
              </a:buClr>
              <a:buSzPts val="1200"/>
              <a:buFont typeface="Work Sans"/>
              <a:buNone/>
            </a:pPr>
            <a:r>
              <a:t/>
            </a:r>
            <a:endParaRPr b="0" i="0" sz="1200" u="none" cap="none" strike="noStrike">
              <a:solidFill>
                <a:schemeClr val="lt1"/>
              </a:solidFill>
              <a:latin typeface="Work Sans"/>
              <a:ea typeface="Work Sans"/>
              <a:cs typeface="Work Sans"/>
              <a:sym typeface="Work Sans"/>
            </a:endParaRPr>
          </a:p>
        </p:txBody>
      </p:sp>
      <p:sp>
        <p:nvSpPr>
          <p:cNvPr id="136" name="Google Shape;136;p4"/>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137" name="Google Shape;137;p4"/>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nvSpPr>
        <p:spPr>
          <a:xfrm>
            <a:off x="790102" y="3444491"/>
            <a:ext cx="1764000" cy="621727"/>
          </a:xfrm>
          <a:prstGeom prst="rect">
            <a:avLst/>
          </a:prstGeom>
          <a:noFill/>
          <a:ln>
            <a:noFill/>
          </a:ln>
        </p:spPr>
        <p:txBody>
          <a:bodyPr anchorCtr="0" anchor="t" bIns="91425" lIns="91425" spcFirstLastPara="1" rIns="91425" wrap="square" tIns="91425">
            <a:no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Problem Solving</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Data Sufficiency</a:t>
            </a:r>
            <a:endParaRPr b="0" i="0" sz="105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Work Sans"/>
              <a:ea typeface="Work Sans"/>
              <a:cs typeface="Work Sans"/>
              <a:sym typeface="Work Sans"/>
            </a:endParaRPr>
          </a:p>
        </p:txBody>
      </p:sp>
      <p:sp>
        <p:nvSpPr>
          <p:cNvPr id="143" name="Google Shape;143;p5"/>
          <p:cNvSpPr txBox="1"/>
          <p:nvPr/>
        </p:nvSpPr>
        <p:spPr>
          <a:xfrm>
            <a:off x="790102" y="2961613"/>
            <a:ext cx="1764000"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QUANTITATIVE REASONING</a:t>
            </a:r>
            <a:endParaRPr b="0" i="0" sz="1600" u="none" cap="none" strike="noStrike">
              <a:solidFill>
                <a:schemeClr val="lt1"/>
              </a:solidFill>
              <a:latin typeface="Kanit SemiBold"/>
              <a:ea typeface="Kanit SemiBold"/>
              <a:cs typeface="Kanit SemiBold"/>
              <a:sym typeface="Kanit SemiBold"/>
            </a:endParaRPr>
          </a:p>
        </p:txBody>
      </p:sp>
      <p:sp>
        <p:nvSpPr>
          <p:cNvPr id="144" name="Google Shape;144;p5"/>
          <p:cNvSpPr txBox="1"/>
          <p:nvPr/>
        </p:nvSpPr>
        <p:spPr>
          <a:xfrm>
            <a:off x="1259359"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45" name="Google Shape;145;p5"/>
          <p:cNvSpPr txBox="1"/>
          <p:nvPr/>
        </p:nvSpPr>
        <p:spPr>
          <a:xfrm>
            <a:off x="3199584"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46" name="Google Shape;146;p5"/>
          <p:cNvSpPr txBox="1"/>
          <p:nvPr/>
        </p:nvSpPr>
        <p:spPr>
          <a:xfrm>
            <a:off x="5139809"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47" name="Google Shape;147;p5"/>
          <p:cNvSpPr txBox="1"/>
          <p:nvPr/>
        </p:nvSpPr>
        <p:spPr>
          <a:xfrm>
            <a:off x="7080034"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cxnSp>
        <p:nvCxnSpPr>
          <p:cNvPr id="148" name="Google Shape;148;p5"/>
          <p:cNvCxnSpPr>
            <a:stCxn id="144" idx="3"/>
            <a:endCxn id="145" idx="1"/>
          </p:cNvCxnSpPr>
          <p:nvPr/>
        </p:nvCxnSpPr>
        <p:spPr>
          <a:xfrm>
            <a:off x="2063959" y="2312734"/>
            <a:ext cx="1135500" cy="0"/>
          </a:xfrm>
          <a:prstGeom prst="straightConnector1">
            <a:avLst/>
          </a:prstGeom>
          <a:noFill/>
          <a:ln cap="flat" cmpd="sng" w="9525">
            <a:solidFill>
              <a:schemeClr val="dk1"/>
            </a:solidFill>
            <a:prstDash val="solid"/>
            <a:round/>
            <a:headEnd len="sm" w="sm" type="none"/>
            <a:tailEnd len="sm" w="sm" type="none"/>
          </a:ln>
        </p:spPr>
      </p:cxnSp>
      <p:cxnSp>
        <p:nvCxnSpPr>
          <p:cNvPr id="149" name="Google Shape;149;p5"/>
          <p:cNvCxnSpPr>
            <a:stCxn id="145" idx="3"/>
            <a:endCxn id="146" idx="1"/>
          </p:cNvCxnSpPr>
          <p:nvPr/>
        </p:nvCxnSpPr>
        <p:spPr>
          <a:xfrm>
            <a:off x="4004184" y="2312734"/>
            <a:ext cx="1135500" cy="0"/>
          </a:xfrm>
          <a:prstGeom prst="straightConnector1">
            <a:avLst/>
          </a:prstGeom>
          <a:noFill/>
          <a:ln cap="flat" cmpd="sng" w="9525">
            <a:solidFill>
              <a:schemeClr val="dk1"/>
            </a:solidFill>
            <a:prstDash val="solid"/>
            <a:round/>
            <a:headEnd len="sm" w="sm" type="none"/>
            <a:tailEnd len="sm" w="sm" type="none"/>
          </a:ln>
        </p:spPr>
      </p:cxnSp>
      <p:cxnSp>
        <p:nvCxnSpPr>
          <p:cNvPr id="150" name="Google Shape;150;p5"/>
          <p:cNvCxnSpPr>
            <a:stCxn id="146" idx="3"/>
            <a:endCxn id="147" idx="1"/>
          </p:cNvCxnSpPr>
          <p:nvPr/>
        </p:nvCxnSpPr>
        <p:spPr>
          <a:xfrm>
            <a:off x="5944409" y="2312734"/>
            <a:ext cx="1135500" cy="0"/>
          </a:xfrm>
          <a:prstGeom prst="straightConnector1">
            <a:avLst/>
          </a:prstGeom>
          <a:noFill/>
          <a:ln cap="flat" cmpd="sng" w="9525">
            <a:solidFill>
              <a:schemeClr val="dk1"/>
            </a:solidFill>
            <a:prstDash val="solid"/>
            <a:round/>
            <a:headEnd len="sm" w="sm" type="none"/>
            <a:tailEnd len="sm" w="sm" type="none"/>
          </a:ln>
        </p:spPr>
      </p:cxnSp>
      <p:sp>
        <p:nvSpPr>
          <p:cNvPr id="151" name="Google Shape;151;p5"/>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O QUE É GMAT?</a:t>
            </a:r>
            <a:endParaRPr/>
          </a:p>
        </p:txBody>
      </p:sp>
      <p:pic>
        <p:nvPicPr>
          <p:cNvPr id="152" name="Google Shape;152;p5"/>
          <p:cNvPicPr preferRelativeResize="0"/>
          <p:nvPr/>
        </p:nvPicPr>
        <p:blipFill rotWithShape="1">
          <a:blip r:embed="rId3">
            <a:alphaModFix/>
          </a:blip>
          <a:srcRect b="0" l="0" r="0" t="0"/>
          <a:stretch/>
        </p:blipFill>
        <p:spPr>
          <a:xfrm>
            <a:off x="1400410" y="2033997"/>
            <a:ext cx="543384" cy="569036"/>
          </a:xfrm>
          <a:prstGeom prst="rect">
            <a:avLst/>
          </a:prstGeom>
          <a:noFill/>
          <a:ln>
            <a:noFill/>
          </a:ln>
        </p:spPr>
      </p:pic>
      <p:pic>
        <p:nvPicPr>
          <p:cNvPr id="153" name="Google Shape;153;p5"/>
          <p:cNvPicPr preferRelativeResize="0"/>
          <p:nvPr/>
        </p:nvPicPr>
        <p:blipFill rotWithShape="1">
          <a:blip r:embed="rId4">
            <a:alphaModFix/>
          </a:blip>
          <a:srcRect b="0" l="0" r="0" t="0"/>
          <a:stretch/>
        </p:blipFill>
        <p:spPr>
          <a:xfrm>
            <a:off x="3289744" y="2022803"/>
            <a:ext cx="602386" cy="601683"/>
          </a:xfrm>
          <a:prstGeom prst="rect">
            <a:avLst/>
          </a:prstGeom>
          <a:noFill/>
          <a:ln>
            <a:noFill/>
          </a:ln>
        </p:spPr>
      </p:pic>
      <p:pic>
        <p:nvPicPr>
          <p:cNvPr descr="Uma imagem contendo Forma&#10;&#10;Descrição gerada automaticamente" id="154" name="Google Shape;154;p5"/>
          <p:cNvPicPr preferRelativeResize="0"/>
          <p:nvPr/>
        </p:nvPicPr>
        <p:blipFill rotWithShape="1">
          <a:blip r:embed="rId5">
            <a:alphaModFix/>
          </a:blip>
          <a:srcRect b="0" l="0" r="0" t="0"/>
          <a:stretch/>
        </p:blipFill>
        <p:spPr>
          <a:xfrm>
            <a:off x="5302709" y="2055450"/>
            <a:ext cx="485276" cy="516300"/>
          </a:xfrm>
          <a:prstGeom prst="rect">
            <a:avLst/>
          </a:prstGeom>
          <a:noFill/>
          <a:ln>
            <a:noFill/>
          </a:ln>
        </p:spPr>
      </p:pic>
      <p:pic>
        <p:nvPicPr>
          <p:cNvPr id="155" name="Google Shape;155;p5"/>
          <p:cNvPicPr preferRelativeResize="0"/>
          <p:nvPr/>
        </p:nvPicPr>
        <p:blipFill rotWithShape="1">
          <a:blip r:embed="rId6">
            <a:alphaModFix/>
          </a:blip>
          <a:srcRect b="0" l="0" r="0" t="0"/>
          <a:stretch/>
        </p:blipFill>
        <p:spPr>
          <a:xfrm>
            <a:off x="7212661" y="2048868"/>
            <a:ext cx="559434" cy="575618"/>
          </a:xfrm>
          <a:prstGeom prst="rect">
            <a:avLst/>
          </a:prstGeom>
          <a:noFill/>
          <a:ln>
            <a:noFill/>
          </a:ln>
        </p:spPr>
      </p:pic>
      <p:sp>
        <p:nvSpPr>
          <p:cNvPr id="156" name="Google Shape;156;p5"/>
          <p:cNvSpPr txBox="1"/>
          <p:nvPr/>
        </p:nvSpPr>
        <p:spPr>
          <a:xfrm>
            <a:off x="2708937" y="2941047"/>
            <a:ext cx="1764000"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VERBAL REASONING</a:t>
            </a:r>
            <a:endParaRPr b="0" i="0" sz="1600" u="none" cap="none" strike="noStrike">
              <a:solidFill>
                <a:schemeClr val="lt1"/>
              </a:solidFill>
              <a:latin typeface="Kanit SemiBold"/>
              <a:ea typeface="Kanit SemiBold"/>
              <a:cs typeface="Kanit SemiBold"/>
              <a:sym typeface="Kanit SemiBold"/>
            </a:endParaRPr>
          </a:p>
        </p:txBody>
      </p:sp>
      <p:sp>
        <p:nvSpPr>
          <p:cNvPr id="157" name="Google Shape;157;p5"/>
          <p:cNvSpPr txBox="1"/>
          <p:nvPr/>
        </p:nvSpPr>
        <p:spPr>
          <a:xfrm>
            <a:off x="4660109" y="2961613"/>
            <a:ext cx="1764000"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INTEGRATED REASONING</a:t>
            </a:r>
            <a:endParaRPr b="0" i="0" sz="1600" u="none" cap="none" strike="noStrike">
              <a:solidFill>
                <a:schemeClr val="lt1"/>
              </a:solidFill>
              <a:latin typeface="Kanit SemiBold"/>
              <a:ea typeface="Kanit SemiBold"/>
              <a:cs typeface="Kanit SemiBold"/>
              <a:sym typeface="Kanit SemiBold"/>
            </a:endParaRPr>
          </a:p>
        </p:txBody>
      </p:sp>
      <p:sp>
        <p:nvSpPr>
          <p:cNvPr id="158" name="Google Shape;158;p5"/>
          <p:cNvSpPr txBox="1"/>
          <p:nvPr/>
        </p:nvSpPr>
        <p:spPr>
          <a:xfrm>
            <a:off x="6400245" y="2941047"/>
            <a:ext cx="2184265"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ANALYTICAL WRITING REASONING</a:t>
            </a:r>
            <a:endParaRPr b="0" i="0" sz="1600" u="none" cap="none" strike="noStrike">
              <a:solidFill>
                <a:schemeClr val="lt1"/>
              </a:solidFill>
              <a:latin typeface="Kanit SemiBold"/>
              <a:ea typeface="Kanit SemiBold"/>
              <a:cs typeface="Kanit SemiBold"/>
              <a:sym typeface="Kanit SemiBold"/>
            </a:endParaRPr>
          </a:p>
        </p:txBody>
      </p:sp>
      <p:sp>
        <p:nvSpPr>
          <p:cNvPr id="159" name="Google Shape;159;p5"/>
          <p:cNvSpPr txBox="1"/>
          <p:nvPr/>
        </p:nvSpPr>
        <p:spPr>
          <a:xfrm>
            <a:off x="2631709" y="3475051"/>
            <a:ext cx="1970785" cy="738623"/>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Critical Reasoning</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Reading Comprehension</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Sentence Correction</a:t>
            </a:r>
            <a:endParaRPr b="0" i="0" sz="1050" u="none" cap="none" strike="noStrike">
              <a:solidFill>
                <a:schemeClr val="lt1"/>
              </a:solidFill>
              <a:latin typeface="Work Sans"/>
              <a:ea typeface="Work Sans"/>
              <a:cs typeface="Work Sans"/>
              <a:sym typeface="Work Sans"/>
            </a:endParaRPr>
          </a:p>
        </p:txBody>
      </p:sp>
      <p:sp>
        <p:nvSpPr>
          <p:cNvPr id="160" name="Google Shape;160;p5"/>
          <p:cNvSpPr txBox="1"/>
          <p:nvPr/>
        </p:nvSpPr>
        <p:spPr>
          <a:xfrm>
            <a:off x="4838697" y="3477913"/>
            <a:ext cx="1585412" cy="900206"/>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Table Analysis</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Graphics</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Multi Source</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Two Part Analysis</a:t>
            </a:r>
            <a:endParaRPr b="0" i="0" sz="1050" u="none" cap="none" strike="noStrike">
              <a:solidFill>
                <a:schemeClr val="lt1"/>
              </a:solidFill>
              <a:latin typeface="Work Sans"/>
              <a:ea typeface="Work Sans"/>
              <a:cs typeface="Work Sans"/>
              <a:sym typeface="Work Sans"/>
            </a:endParaRPr>
          </a:p>
        </p:txBody>
      </p:sp>
      <p:sp>
        <p:nvSpPr>
          <p:cNvPr id="161" name="Google Shape;161;p5"/>
          <p:cNvSpPr txBox="1"/>
          <p:nvPr/>
        </p:nvSpPr>
        <p:spPr>
          <a:xfrm>
            <a:off x="6948056" y="3498479"/>
            <a:ext cx="1873156" cy="253875"/>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Writing</a:t>
            </a:r>
            <a:endParaRPr b="0" i="0" sz="1050" u="none" cap="none" strike="noStrike">
              <a:solidFill>
                <a:schemeClr val="lt1"/>
              </a:solidFill>
              <a:latin typeface="Work Sans"/>
              <a:ea typeface="Work Sans"/>
              <a:cs typeface="Work Sans"/>
              <a:sym typeface="Work Sans"/>
            </a:endParaRPr>
          </a:p>
        </p:txBody>
      </p:sp>
      <p:sp>
        <p:nvSpPr>
          <p:cNvPr id="162" name="Google Shape;162;p5"/>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163" name="Google Shape;163;p5"/>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6"/>
          <p:cNvPicPr preferRelativeResize="0"/>
          <p:nvPr/>
        </p:nvPicPr>
        <p:blipFill rotWithShape="1">
          <a:blip r:embed="rId3">
            <a:alphaModFix/>
          </a:blip>
          <a:srcRect b="20312" l="0" r="0" t="0"/>
          <a:stretch/>
        </p:blipFill>
        <p:spPr>
          <a:xfrm>
            <a:off x="-1" y="-1"/>
            <a:ext cx="9144001" cy="5143501"/>
          </a:xfrm>
          <a:prstGeom prst="rect">
            <a:avLst/>
          </a:prstGeom>
          <a:noFill/>
          <a:ln>
            <a:noFill/>
          </a:ln>
        </p:spPr>
      </p:pic>
      <p:sp>
        <p:nvSpPr>
          <p:cNvPr id="169" name="Google Shape;169;p6"/>
          <p:cNvSpPr txBox="1"/>
          <p:nvPr>
            <p:ph type="title"/>
          </p:nvPr>
        </p:nvSpPr>
        <p:spPr>
          <a:xfrm>
            <a:off x="629525" y="3346125"/>
            <a:ext cx="4180500" cy="951555"/>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sz="2400"/>
              <a:t>COMO O GMAT </a:t>
            </a:r>
            <a:r>
              <a:rPr lang="pt-BR" sz="2400">
                <a:solidFill>
                  <a:schemeClr val="lt1"/>
                </a:solidFill>
              </a:rPr>
              <a:t>APARECE EM PS DE CONSULTORIA?</a:t>
            </a:r>
            <a:endParaRPr sz="2400">
              <a:solidFill>
                <a:schemeClr val="lt1"/>
              </a:solidFill>
            </a:endParaRPr>
          </a:p>
        </p:txBody>
      </p:sp>
      <p:grpSp>
        <p:nvGrpSpPr>
          <p:cNvPr id="170" name="Google Shape;170;p6"/>
          <p:cNvGrpSpPr/>
          <p:nvPr/>
        </p:nvGrpSpPr>
        <p:grpSpPr>
          <a:xfrm>
            <a:off x="0" y="0"/>
            <a:ext cx="9144000" cy="5143500"/>
            <a:chOff x="0" y="0"/>
            <a:chExt cx="9144000" cy="5143500"/>
          </a:xfrm>
        </p:grpSpPr>
        <p:sp>
          <p:nvSpPr>
            <p:cNvPr id="171" name="Google Shape;171;p6"/>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6"/>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3" name="Google Shape;173;p6"/>
          <p:cNvSpPr/>
          <p:nvPr/>
        </p:nvSpPr>
        <p:spPr>
          <a:xfrm>
            <a:off x="4419600" y="2419350"/>
            <a:ext cx="3162300" cy="3162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7"/>
          <p:cNvSpPr txBox="1"/>
          <p:nvPr/>
        </p:nvSpPr>
        <p:spPr>
          <a:xfrm>
            <a:off x="790102" y="3444491"/>
            <a:ext cx="1764000" cy="621727"/>
          </a:xfrm>
          <a:prstGeom prst="rect">
            <a:avLst/>
          </a:prstGeom>
          <a:noFill/>
          <a:ln>
            <a:noFill/>
          </a:ln>
        </p:spPr>
        <p:txBody>
          <a:bodyPr anchorCtr="0" anchor="t" bIns="91425" lIns="91425" spcFirstLastPara="1" rIns="91425" wrap="square" tIns="91425">
            <a:noAutofit/>
          </a:bodyPr>
          <a:lstStyle/>
          <a:p>
            <a:pPr indent="-180000" lvl="0" marL="285750" marR="0" rtl="0" algn="l">
              <a:lnSpc>
                <a:spcPct val="100000"/>
              </a:lnSpc>
              <a:spcBef>
                <a:spcPts val="0"/>
              </a:spcBef>
              <a:spcAft>
                <a:spcPts val="0"/>
              </a:spcAft>
              <a:buClr>
                <a:schemeClr val="dk1"/>
              </a:buClr>
              <a:buSzPts val="1400"/>
              <a:buFont typeface="Arial"/>
              <a:buChar char="•"/>
            </a:pPr>
            <a:r>
              <a:rPr b="1" i="0" lang="pt-BR" sz="1050" u="none" cap="none" strike="noStrike">
                <a:solidFill>
                  <a:srgbClr val="C1272D"/>
                </a:solidFill>
                <a:latin typeface="Work Sans"/>
                <a:ea typeface="Work Sans"/>
                <a:cs typeface="Work Sans"/>
                <a:sym typeface="Work Sans"/>
              </a:rPr>
              <a:t>Problem Solving</a:t>
            </a:r>
            <a:endParaRPr b="1" i="0" sz="1050" u="none" cap="none" strike="noStrike">
              <a:solidFill>
                <a:srgbClr val="C1272D"/>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1" i="0" lang="pt-BR" sz="1050" u="none" cap="none" strike="noStrike">
                <a:solidFill>
                  <a:srgbClr val="C1272D"/>
                </a:solidFill>
                <a:latin typeface="Work Sans"/>
                <a:ea typeface="Work Sans"/>
                <a:cs typeface="Work Sans"/>
                <a:sym typeface="Work Sans"/>
              </a:rPr>
              <a:t>Data Sufficiency</a:t>
            </a:r>
            <a:endParaRPr b="1" i="0" sz="1050" u="none" cap="none" strike="noStrike">
              <a:solidFill>
                <a:srgbClr val="C1272D"/>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Work Sans"/>
              <a:ea typeface="Work Sans"/>
              <a:cs typeface="Work Sans"/>
              <a:sym typeface="Work Sans"/>
            </a:endParaRPr>
          </a:p>
        </p:txBody>
      </p:sp>
      <p:sp>
        <p:nvSpPr>
          <p:cNvPr id="179" name="Google Shape;179;p7"/>
          <p:cNvSpPr txBox="1"/>
          <p:nvPr/>
        </p:nvSpPr>
        <p:spPr>
          <a:xfrm>
            <a:off x="790102" y="2961613"/>
            <a:ext cx="1764000"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QUANTITATIVE REASONING</a:t>
            </a:r>
            <a:endParaRPr b="0" i="0" sz="1600" u="none" cap="none" strike="noStrike">
              <a:solidFill>
                <a:schemeClr val="lt1"/>
              </a:solidFill>
              <a:latin typeface="Kanit SemiBold"/>
              <a:ea typeface="Kanit SemiBold"/>
              <a:cs typeface="Kanit SemiBold"/>
              <a:sym typeface="Kanit SemiBold"/>
            </a:endParaRPr>
          </a:p>
        </p:txBody>
      </p:sp>
      <p:sp>
        <p:nvSpPr>
          <p:cNvPr id="180" name="Google Shape;180;p7"/>
          <p:cNvSpPr txBox="1"/>
          <p:nvPr/>
        </p:nvSpPr>
        <p:spPr>
          <a:xfrm>
            <a:off x="1259359"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81" name="Google Shape;181;p7"/>
          <p:cNvSpPr txBox="1"/>
          <p:nvPr/>
        </p:nvSpPr>
        <p:spPr>
          <a:xfrm>
            <a:off x="3199584"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82" name="Google Shape;182;p7"/>
          <p:cNvSpPr txBox="1"/>
          <p:nvPr/>
        </p:nvSpPr>
        <p:spPr>
          <a:xfrm>
            <a:off x="5139809"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83" name="Google Shape;183;p7"/>
          <p:cNvSpPr txBox="1"/>
          <p:nvPr/>
        </p:nvSpPr>
        <p:spPr>
          <a:xfrm>
            <a:off x="7080034"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cxnSp>
        <p:nvCxnSpPr>
          <p:cNvPr id="184" name="Google Shape;184;p7"/>
          <p:cNvCxnSpPr>
            <a:stCxn id="180" idx="3"/>
            <a:endCxn id="181" idx="1"/>
          </p:cNvCxnSpPr>
          <p:nvPr/>
        </p:nvCxnSpPr>
        <p:spPr>
          <a:xfrm>
            <a:off x="2063959" y="2312734"/>
            <a:ext cx="1135500" cy="0"/>
          </a:xfrm>
          <a:prstGeom prst="straightConnector1">
            <a:avLst/>
          </a:prstGeom>
          <a:noFill/>
          <a:ln cap="flat" cmpd="sng" w="9525">
            <a:solidFill>
              <a:schemeClr val="dk1"/>
            </a:solidFill>
            <a:prstDash val="solid"/>
            <a:round/>
            <a:headEnd len="sm" w="sm" type="none"/>
            <a:tailEnd len="sm" w="sm" type="none"/>
          </a:ln>
        </p:spPr>
      </p:cxnSp>
      <p:cxnSp>
        <p:nvCxnSpPr>
          <p:cNvPr id="185" name="Google Shape;185;p7"/>
          <p:cNvCxnSpPr>
            <a:stCxn id="181" idx="3"/>
            <a:endCxn id="182" idx="1"/>
          </p:cNvCxnSpPr>
          <p:nvPr/>
        </p:nvCxnSpPr>
        <p:spPr>
          <a:xfrm>
            <a:off x="4004184" y="2312734"/>
            <a:ext cx="1135500" cy="0"/>
          </a:xfrm>
          <a:prstGeom prst="straightConnector1">
            <a:avLst/>
          </a:prstGeom>
          <a:noFill/>
          <a:ln cap="flat" cmpd="sng" w="9525">
            <a:solidFill>
              <a:schemeClr val="dk1"/>
            </a:solidFill>
            <a:prstDash val="solid"/>
            <a:round/>
            <a:headEnd len="sm" w="sm" type="none"/>
            <a:tailEnd len="sm" w="sm" type="none"/>
          </a:ln>
        </p:spPr>
      </p:cxnSp>
      <p:cxnSp>
        <p:nvCxnSpPr>
          <p:cNvPr id="186" name="Google Shape;186;p7"/>
          <p:cNvCxnSpPr>
            <a:stCxn id="182" idx="3"/>
            <a:endCxn id="183" idx="1"/>
          </p:cNvCxnSpPr>
          <p:nvPr/>
        </p:nvCxnSpPr>
        <p:spPr>
          <a:xfrm>
            <a:off x="5944409" y="2312734"/>
            <a:ext cx="1135500" cy="0"/>
          </a:xfrm>
          <a:prstGeom prst="straightConnector1">
            <a:avLst/>
          </a:prstGeom>
          <a:noFill/>
          <a:ln cap="flat" cmpd="sng" w="9525">
            <a:solidFill>
              <a:schemeClr val="dk1"/>
            </a:solidFill>
            <a:prstDash val="solid"/>
            <a:round/>
            <a:headEnd len="sm" w="sm" type="none"/>
            <a:tailEnd len="sm" w="sm" type="none"/>
          </a:ln>
        </p:spPr>
      </p:cxnSp>
      <p:sp>
        <p:nvSpPr>
          <p:cNvPr id="187" name="Google Shape;187;p7"/>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O QUE É GMAT?</a:t>
            </a:r>
            <a:endParaRPr/>
          </a:p>
        </p:txBody>
      </p:sp>
      <p:pic>
        <p:nvPicPr>
          <p:cNvPr id="188" name="Google Shape;188;p7"/>
          <p:cNvPicPr preferRelativeResize="0"/>
          <p:nvPr/>
        </p:nvPicPr>
        <p:blipFill rotWithShape="1">
          <a:blip r:embed="rId3">
            <a:alphaModFix/>
          </a:blip>
          <a:srcRect b="0" l="0" r="0" t="0"/>
          <a:stretch/>
        </p:blipFill>
        <p:spPr>
          <a:xfrm>
            <a:off x="1400410" y="2033997"/>
            <a:ext cx="543384" cy="569036"/>
          </a:xfrm>
          <a:prstGeom prst="rect">
            <a:avLst/>
          </a:prstGeom>
          <a:noFill/>
          <a:ln>
            <a:noFill/>
          </a:ln>
        </p:spPr>
      </p:pic>
      <p:pic>
        <p:nvPicPr>
          <p:cNvPr id="189" name="Google Shape;189;p7"/>
          <p:cNvPicPr preferRelativeResize="0"/>
          <p:nvPr/>
        </p:nvPicPr>
        <p:blipFill rotWithShape="1">
          <a:blip r:embed="rId4">
            <a:alphaModFix/>
          </a:blip>
          <a:srcRect b="0" l="0" r="0" t="0"/>
          <a:stretch/>
        </p:blipFill>
        <p:spPr>
          <a:xfrm>
            <a:off x="3289744" y="2022803"/>
            <a:ext cx="602386" cy="601683"/>
          </a:xfrm>
          <a:prstGeom prst="rect">
            <a:avLst/>
          </a:prstGeom>
          <a:noFill/>
          <a:ln>
            <a:noFill/>
          </a:ln>
        </p:spPr>
      </p:pic>
      <p:pic>
        <p:nvPicPr>
          <p:cNvPr descr="Uma imagem contendo Forma&#10;&#10;Descrição gerada automaticamente" id="190" name="Google Shape;190;p7"/>
          <p:cNvPicPr preferRelativeResize="0"/>
          <p:nvPr/>
        </p:nvPicPr>
        <p:blipFill rotWithShape="1">
          <a:blip r:embed="rId5">
            <a:alphaModFix/>
          </a:blip>
          <a:srcRect b="0" l="0" r="0" t="0"/>
          <a:stretch/>
        </p:blipFill>
        <p:spPr>
          <a:xfrm>
            <a:off x="5302709" y="2055450"/>
            <a:ext cx="485276" cy="516300"/>
          </a:xfrm>
          <a:prstGeom prst="rect">
            <a:avLst/>
          </a:prstGeom>
          <a:noFill/>
          <a:ln>
            <a:noFill/>
          </a:ln>
        </p:spPr>
      </p:pic>
      <p:pic>
        <p:nvPicPr>
          <p:cNvPr id="191" name="Google Shape;191;p7"/>
          <p:cNvPicPr preferRelativeResize="0"/>
          <p:nvPr/>
        </p:nvPicPr>
        <p:blipFill rotWithShape="1">
          <a:blip r:embed="rId6">
            <a:alphaModFix/>
          </a:blip>
          <a:srcRect b="0" l="0" r="0" t="0"/>
          <a:stretch/>
        </p:blipFill>
        <p:spPr>
          <a:xfrm>
            <a:off x="7212661" y="2048868"/>
            <a:ext cx="559434" cy="575618"/>
          </a:xfrm>
          <a:prstGeom prst="rect">
            <a:avLst/>
          </a:prstGeom>
          <a:noFill/>
          <a:ln>
            <a:noFill/>
          </a:ln>
        </p:spPr>
      </p:pic>
      <p:sp>
        <p:nvSpPr>
          <p:cNvPr id="192" name="Google Shape;192;p7"/>
          <p:cNvSpPr txBox="1"/>
          <p:nvPr/>
        </p:nvSpPr>
        <p:spPr>
          <a:xfrm>
            <a:off x="2708937" y="2941047"/>
            <a:ext cx="1764000"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VERBAL REASONING</a:t>
            </a:r>
            <a:endParaRPr b="0" i="0" sz="1600" u="none" cap="none" strike="noStrike">
              <a:solidFill>
                <a:schemeClr val="lt1"/>
              </a:solidFill>
              <a:latin typeface="Kanit SemiBold"/>
              <a:ea typeface="Kanit SemiBold"/>
              <a:cs typeface="Kanit SemiBold"/>
              <a:sym typeface="Kanit SemiBold"/>
            </a:endParaRPr>
          </a:p>
        </p:txBody>
      </p:sp>
      <p:sp>
        <p:nvSpPr>
          <p:cNvPr id="193" name="Google Shape;193;p7"/>
          <p:cNvSpPr txBox="1"/>
          <p:nvPr/>
        </p:nvSpPr>
        <p:spPr>
          <a:xfrm>
            <a:off x="4660109" y="2961613"/>
            <a:ext cx="1764000"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INTEGRATED REASONING</a:t>
            </a:r>
            <a:endParaRPr b="0" i="0" sz="1600" u="none" cap="none" strike="noStrike">
              <a:solidFill>
                <a:schemeClr val="lt1"/>
              </a:solidFill>
              <a:latin typeface="Kanit SemiBold"/>
              <a:ea typeface="Kanit SemiBold"/>
              <a:cs typeface="Kanit SemiBold"/>
              <a:sym typeface="Kanit SemiBold"/>
            </a:endParaRPr>
          </a:p>
        </p:txBody>
      </p:sp>
      <p:sp>
        <p:nvSpPr>
          <p:cNvPr id="194" name="Google Shape;194;p7"/>
          <p:cNvSpPr txBox="1"/>
          <p:nvPr/>
        </p:nvSpPr>
        <p:spPr>
          <a:xfrm>
            <a:off x="6400245" y="2941047"/>
            <a:ext cx="2184265"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ANALYTICAL WRITING REASONING</a:t>
            </a:r>
            <a:endParaRPr b="0" i="0" sz="1600" u="none" cap="none" strike="noStrike">
              <a:solidFill>
                <a:schemeClr val="lt1"/>
              </a:solidFill>
              <a:latin typeface="Kanit SemiBold"/>
              <a:ea typeface="Kanit SemiBold"/>
              <a:cs typeface="Kanit SemiBold"/>
              <a:sym typeface="Kanit SemiBold"/>
            </a:endParaRPr>
          </a:p>
        </p:txBody>
      </p:sp>
      <p:sp>
        <p:nvSpPr>
          <p:cNvPr id="195" name="Google Shape;195;p7"/>
          <p:cNvSpPr txBox="1"/>
          <p:nvPr/>
        </p:nvSpPr>
        <p:spPr>
          <a:xfrm>
            <a:off x="2631709" y="3475051"/>
            <a:ext cx="1970785" cy="738623"/>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1" i="0" lang="pt-BR" sz="1050" u="none" cap="none" strike="noStrike">
                <a:solidFill>
                  <a:srgbClr val="C1272D"/>
                </a:solidFill>
                <a:latin typeface="Work Sans"/>
                <a:ea typeface="Work Sans"/>
                <a:cs typeface="Work Sans"/>
                <a:sym typeface="Work Sans"/>
              </a:rPr>
              <a:t>Critical Reasoning</a:t>
            </a:r>
            <a:endParaRPr b="1" i="0" sz="1050" u="none" cap="none" strike="noStrike">
              <a:solidFill>
                <a:srgbClr val="C1272D"/>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1" i="0" lang="pt-BR" sz="1050" u="none" cap="none" strike="noStrike">
                <a:solidFill>
                  <a:srgbClr val="C1272D"/>
                </a:solidFill>
                <a:latin typeface="Work Sans"/>
                <a:ea typeface="Work Sans"/>
                <a:cs typeface="Work Sans"/>
                <a:sym typeface="Work Sans"/>
              </a:rPr>
              <a:t>Reading Comprehension</a:t>
            </a:r>
            <a:endParaRPr b="1" i="0" sz="1050" u="none" cap="none" strike="noStrike">
              <a:solidFill>
                <a:srgbClr val="C1272D"/>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Sentence Correction</a:t>
            </a:r>
            <a:endParaRPr b="0" i="0" sz="1050" u="none" cap="none" strike="noStrike">
              <a:solidFill>
                <a:schemeClr val="lt1"/>
              </a:solidFill>
              <a:latin typeface="Work Sans"/>
              <a:ea typeface="Work Sans"/>
              <a:cs typeface="Work Sans"/>
              <a:sym typeface="Work Sans"/>
            </a:endParaRPr>
          </a:p>
        </p:txBody>
      </p:sp>
      <p:sp>
        <p:nvSpPr>
          <p:cNvPr id="196" name="Google Shape;196;p7"/>
          <p:cNvSpPr txBox="1"/>
          <p:nvPr/>
        </p:nvSpPr>
        <p:spPr>
          <a:xfrm>
            <a:off x="4838697" y="3477913"/>
            <a:ext cx="1585412" cy="900206"/>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Table Analysis</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Graphics</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Multi Source</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Two Part Analysis</a:t>
            </a:r>
            <a:endParaRPr b="0" i="0" sz="1050" u="none" cap="none" strike="noStrike">
              <a:solidFill>
                <a:schemeClr val="lt1"/>
              </a:solidFill>
              <a:latin typeface="Work Sans"/>
              <a:ea typeface="Work Sans"/>
              <a:cs typeface="Work Sans"/>
              <a:sym typeface="Work Sans"/>
            </a:endParaRPr>
          </a:p>
        </p:txBody>
      </p:sp>
      <p:sp>
        <p:nvSpPr>
          <p:cNvPr id="197" name="Google Shape;197;p7"/>
          <p:cNvSpPr txBox="1"/>
          <p:nvPr/>
        </p:nvSpPr>
        <p:spPr>
          <a:xfrm>
            <a:off x="6948056" y="3498479"/>
            <a:ext cx="1873156" cy="253875"/>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Writing</a:t>
            </a:r>
            <a:endParaRPr b="0" i="0" sz="1050" u="none" cap="none" strike="noStrike">
              <a:solidFill>
                <a:schemeClr val="lt1"/>
              </a:solidFill>
              <a:latin typeface="Work Sans"/>
              <a:ea typeface="Work Sans"/>
              <a:cs typeface="Work Sans"/>
              <a:sym typeface="Work Sans"/>
            </a:endParaRPr>
          </a:p>
        </p:txBody>
      </p:sp>
      <p:sp>
        <p:nvSpPr>
          <p:cNvPr id="198" name="Google Shape;198;p7"/>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199" name="Google Shape;199;p7"/>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8"/>
          <p:cNvSpPr txBox="1"/>
          <p:nvPr>
            <p:ph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O QUE É GMAT?</a:t>
            </a:r>
            <a:endParaRPr/>
          </a:p>
        </p:txBody>
      </p:sp>
      <p:sp>
        <p:nvSpPr>
          <p:cNvPr id="205" name="Google Shape;205;p8"/>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206" name="Google Shape;206;p8"/>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pic>
        <p:nvPicPr>
          <p:cNvPr descr="Relatório Anual 2019" id="207" name="Google Shape;207;p8"/>
          <p:cNvPicPr preferRelativeResize="0"/>
          <p:nvPr/>
        </p:nvPicPr>
        <p:blipFill rotWithShape="1">
          <a:blip r:embed="rId3">
            <a:alphaModFix/>
          </a:blip>
          <a:srcRect b="19314" l="12144" r="10748" t="25066"/>
          <a:stretch/>
        </p:blipFill>
        <p:spPr>
          <a:xfrm>
            <a:off x="202813" y="2070341"/>
            <a:ext cx="2878118" cy="1397628"/>
          </a:xfrm>
          <a:prstGeom prst="rect">
            <a:avLst/>
          </a:prstGeom>
          <a:noFill/>
          <a:ln>
            <a:noFill/>
          </a:ln>
        </p:spPr>
      </p:pic>
      <p:sp>
        <p:nvSpPr>
          <p:cNvPr id="208" name="Google Shape;208;p8"/>
          <p:cNvSpPr/>
          <p:nvPr/>
        </p:nvSpPr>
        <p:spPr>
          <a:xfrm>
            <a:off x="3080931" y="1281096"/>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09" name="Google Shape;209;p8"/>
          <p:cNvSpPr txBox="1"/>
          <p:nvPr/>
        </p:nvSpPr>
        <p:spPr>
          <a:xfrm>
            <a:off x="3512280" y="1152359"/>
            <a:ext cx="4754828"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Total de 10 questões estilo GMAT + 10 questões estilo Case Study</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+ 42 questões de inglês</a:t>
            </a:r>
            <a:endParaRPr/>
          </a:p>
        </p:txBody>
      </p:sp>
      <p:sp>
        <p:nvSpPr>
          <p:cNvPr id="210" name="Google Shape;210;p8"/>
          <p:cNvSpPr/>
          <p:nvPr/>
        </p:nvSpPr>
        <p:spPr>
          <a:xfrm>
            <a:off x="3080931" y="1835801"/>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1" name="Google Shape;211;p8"/>
          <p:cNvSpPr/>
          <p:nvPr/>
        </p:nvSpPr>
        <p:spPr>
          <a:xfrm>
            <a:off x="3080931" y="2390506"/>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2" name="Google Shape;212;p8"/>
          <p:cNvSpPr/>
          <p:nvPr/>
        </p:nvSpPr>
        <p:spPr>
          <a:xfrm>
            <a:off x="3080931" y="2957152"/>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3" name="Google Shape;213;p8"/>
          <p:cNvSpPr/>
          <p:nvPr/>
        </p:nvSpPr>
        <p:spPr>
          <a:xfrm>
            <a:off x="3080931" y="3499916"/>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4" name="Google Shape;214;p8"/>
          <p:cNvSpPr/>
          <p:nvPr/>
        </p:nvSpPr>
        <p:spPr>
          <a:xfrm>
            <a:off x="3064212" y="4054623"/>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5" name="Google Shape;215;p8"/>
          <p:cNvSpPr txBox="1"/>
          <p:nvPr/>
        </p:nvSpPr>
        <p:spPr>
          <a:xfrm>
            <a:off x="3512280" y="1774231"/>
            <a:ext cx="4370107" cy="2616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75 minutos é o tempo limite para resolução de toda a prova</a:t>
            </a:r>
            <a:endParaRPr/>
          </a:p>
        </p:txBody>
      </p:sp>
      <p:sp>
        <p:nvSpPr>
          <p:cNvPr id="216" name="Google Shape;216;p8"/>
          <p:cNvSpPr txBox="1"/>
          <p:nvPr/>
        </p:nvSpPr>
        <p:spPr>
          <a:xfrm>
            <a:off x="3512280" y="2267136"/>
            <a:ext cx="5299849"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Não é permitido voltar questões, ou seja, terá que responder as questões</a:t>
            </a:r>
            <a:endParaRPr/>
          </a:p>
          <a:p>
            <a:pPr indent="0" lvl="0" marL="0" marR="0" rtl="0" algn="just">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em sequência</a:t>
            </a:r>
            <a:endParaRPr/>
          </a:p>
        </p:txBody>
      </p:sp>
      <p:sp>
        <p:nvSpPr>
          <p:cNvPr id="217" name="Google Shape;217;p8"/>
          <p:cNvSpPr txBox="1"/>
          <p:nvPr/>
        </p:nvSpPr>
        <p:spPr>
          <a:xfrm>
            <a:off x="3512280" y="2921992"/>
            <a:ext cx="5280613"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Sua prova será cancelada automaticamente se você sair da tela de prova</a:t>
            </a:r>
            <a:endParaRPr/>
          </a:p>
        </p:txBody>
      </p:sp>
      <p:sp>
        <p:nvSpPr>
          <p:cNvPr id="218" name="Google Shape;218;p8"/>
          <p:cNvSpPr txBox="1"/>
          <p:nvPr/>
        </p:nvSpPr>
        <p:spPr>
          <a:xfrm>
            <a:off x="3512280" y="3448212"/>
            <a:ext cx="4115229"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A prova é individual e não é permitida ajuda de terceiros</a:t>
            </a:r>
            <a:endParaRPr/>
          </a:p>
        </p:txBody>
      </p:sp>
      <p:sp>
        <p:nvSpPr>
          <p:cNvPr id="219" name="Google Shape;219;p8"/>
          <p:cNvSpPr txBox="1"/>
          <p:nvPr/>
        </p:nvSpPr>
        <p:spPr>
          <a:xfrm>
            <a:off x="3479247" y="3931253"/>
            <a:ext cx="525817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Não é permitido uso de Excel, calculadora ou qualquer material de apoio</a:t>
            </a:r>
            <a:endParaRPr/>
          </a:p>
          <a:p>
            <a:pPr indent="0" lvl="0" marL="0" marR="0" rtl="0" algn="l">
              <a:lnSpc>
                <a:spcPct val="100000"/>
              </a:lnSpc>
              <a:spcBef>
                <a:spcPts val="0"/>
              </a:spcBef>
              <a:spcAft>
                <a:spcPts val="0"/>
              </a:spcAft>
              <a:buNone/>
            </a:pPr>
            <a:r>
              <a:rPr b="0" i="0" lang="pt-BR" sz="1100" u="none" cap="none" strike="noStrike">
                <a:solidFill>
                  <a:srgbClr val="000000"/>
                </a:solidFill>
                <a:latin typeface="Work Sans"/>
                <a:ea typeface="Work Sans"/>
                <a:cs typeface="Work Sans"/>
                <a:sym typeface="Work Sans"/>
              </a:rPr>
              <a:t>além de papel, lápis e caneta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9"/>
          <p:cNvSpPr txBox="1"/>
          <p:nvPr>
            <p:ph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O QUE É GMAT?</a:t>
            </a:r>
            <a:endParaRPr/>
          </a:p>
        </p:txBody>
      </p:sp>
      <p:sp>
        <p:nvSpPr>
          <p:cNvPr id="225" name="Google Shape;225;p9"/>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226" name="Google Shape;226;p9"/>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227" name="Google Shape;227;p9"/>
          <p:cNvSpPr/>
          <p:nvPr/>
        </p:nvSpPr>
        <p:spPr>
          <a:xfrm>
            <a:off x="3671481" y="1742505"/>
            <a:ext cx="316242" cy="184148"/>
          </a:xfrm>
          <a:prstGeom prst="chevron">
            <a:avLst>
              <a:gd fmla="val 50000" name="adj"/>
            </a:avLst>
          </a:prstGeom>
          <a:solidFill>
            <a:srgbClr val="00A7D1"/>
          </a:solidFill>
          <a:ln cap="flat" cmpd="sng" w="25400">
            <a:solidFill>
              <a:srgbClr val="00A7D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28" name="Google Shape;228;p9"/>
          <p:cNvSpPr txBox="1"/>
          <p:nvPr/>
        </p:nvSpPr>
        <p:spPr>
          <a:xfrm>
            <a:off x="4061861" y="1624756"/>
            <a:ext cx="4794327" cy="6001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1100" u="none" cap="none" strike="noStrike">
                <a:solidFill>
                  <a:schemeClr val="lt1"/>
                </a:solidFill>
                <a:latin typeface="Work Sans"/>
                <a:ea typeface="Work Sans"/>
                <a:cs typeface="Work Sans"/>
                <a:sym typeface="Work Sans"/>
              </a:rPr>
              <a:t>Uma </a:t>
            </a:r>
            <a:r>
              <a:rPr b="1" i="0" lang="pt-BR" sz="1100" u="none" cap="none" strike="noStrike">
                <a:solidFill>
                  <a:schemeClr val="lt1"/>
                </a:solidFill>
                <a:latin typeface="Work Sans"/>
                <a:ea typeface="Work Sans"/>
                <a:cs typeface="Work Sans"/>
                <a:sym typeface="Work Sans"/>
              </a:rPr>
              <a:t>exceção</a:t>
            </a:r>
            <a:r>
              <a:rPr b="0" i="0" lang="pt-BR" sz="1100" u="none" cap="none" strike="noStrike">
                <a:solidFill>
                  <a:schemeClr val="lt1"/>
                </a:solidFill>
                <a:latin typeface="Work Sans"/>
                <a:ea typeface="Work Sans"/>
                <a:cs typeface="Work Sans"/>
                <a:sym typeface="Work Sans"/>
              </a:rPr>
              <a:t> de prova que cobra questões de Integrated Reasoning é a da Oliver Wyman</a:t>
            </a:r>
            <a:endParaRPr/>
          </a:p>
          <a:p>
            <a:pPr indent="0" lvl="0" marL="0" marR="0" rtl="0" algn="just">
              <a:lnSpc>
                <a:spcPct val="100000"/>
              </a:lnSpc>
              <a:spcBef>
                <a:spcPts val="0"/>
              </a:spcBef>
              <a:spcAft>
                <a:spcPts val="0"/>
              </a:spcAft>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p9"/>
          <p:cNvSpPr/>
          <p:nvPr/>
        </p:nvSpPr>
        <p:spPr>
          <a:xfrm>
            <a:off x="3671481" y="2595984"/>
            <a:ext cx="316242" cy="184148"/>
          </a:xfrm>
          <a:prstGeom prst="chevron">
            <a:avLst>
              <a:gd fmla="val 50000" name="adj"/>
            </a:avLst>
          </a:prstGeom>
          <a:solidFill>
            <a:srgbClr val="00A7D1"/>
          </a:solidFill>
          <a:ln cap="flat" cmpd="sng" w="25400">
            <a:solidFill>
              <a:srgbClr val="00A7D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descr="Resultado de imagem para oliver wyman png" id="230" name="Google Shape;230;p9"/>
          <p:cNvPicPr preferRelativeResize="0"/>
          <p:nvPr/>
        </p:nvPicPr>
        <p:blipFill rotWithShape="1">
          <a:blip r:embed="rId3">
            <a:alphaModFix/>
          </a:blip>
          <a:srcRect b="36044" l="9956" r="11272" t="37100"/>
          <a:stretch/>
        </p:blipFill>
        <p:spPr>
          <a:xfrm>
            <a:off x="281103" y="2525390"/>
            <a:ext cx="3158222" cy="367787"/>
          </a:xfrm>
          <a:prstGeom prst="rect">
            <a:avLst/>
          </a:prstGeom>
          <a:noFill/>
          <a:ln>
            <a:noFill/>
          </a:ln>
        </p:spPr>
      </p:pic>
      <p:sp>
        <p:nvSpPr>
          <p:cNvPr id="231" name="Google Shape;231;p9"/>
          <p:cNvSpPr txBox="1"/>
          <p:nvPr/>
        </p:nvSpPr>
        <p:spPr>
          <a:xfrm>
            <a:off x="4061861" y="2458779"/>
            <a:ext cx="4956706" cy="4308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pt-BR" sz="1100" u="none" cap="none" strike="noStrike">
                <a:solidFill>
                  <a:schemeClr val="lt1"/>
                </a:solidFill>
                <a:latin typeface="Work Sans"/>
                <a:ea typeface="Work Sans"/>
                <a:cs typeface="Work Sans"/>
                <a:sym typeface="Work Sans"/>
              </a:rPr>
              <a:t>A OW cobra IR em uma prova separada das demais questões em modelo GMAT</a:t>
            </a:r>
            <a:endParaRPr b="0" i="0" sz="1100" u="none" cap="none" strike="noStrike">
              <a:solidFill>
                <a:schemeClr val="lt1"/>
              </a:solidFill>
              <a:latin typeface="Work Sans"/>
              <a:ea typeface="Work Sans"/>
              <a:cs typeface="Work Sans"/>
              <a:sym typeface="Work Sans"/>
            </a:endParaRPr>
          </a:p>
        </p:txBody>
      </p:sp>
      <p:sp>
        <p:nvSpPr>
          <p:cNvPr id="232" name="Google Shape;232;p9"/>
          <p:cNvSpPr txBox="1"/>
          <p:nvPr/>
        </p:nvSpPr>
        <p:spPr>
          <a:xfrm>
            <a:off x="4084036" y="3141703"/>
            <a:ext cx="4575291" cy="76944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100"/>
              <a:buFont typeface="Arial"/>
              <a:buChar char="•"/>
            </a:pPr>
            <a:r>
              <a:rPr b="1" i="0" lang="pt-BR" sz="1100" u="none" cap="none" strike="noStrike">
                <a:solidFill>
                  <a:schemeClr val="lt1"/>
                </a:solidFill>
                <a:latin typeface="Work Sans"/>
                <a:ea typeface="Work Sans"/>
                <a:cs typeface="Work Sans"/>
                <a:sym typeface="Work Sans"/>
              </a:rPr>
              <a:t>1° sessão</a:t>
            </a:r>
            <a:r>
              <a:rPr b="0" i="0" lang="pt-BR" sz="1100" u="none" cap="none" strike="noStrike">
                <a:solidFill>
                  <a:schemeClr val="lt1"/>
                </a:solidFill>
                <a:latin typeface="Work Sans"/>
                <a:ea typeface="Work Sans"/>
                <a:cs typeface="Work Sans"/>
                <a:sym typeface="Work Sans"/>
              </a:rPr>
              <a:t>: 30 minutos, 20 questões de Problem Solving,</a:t>
            </a:r>
            <a:endParaRPr/>
          </a:p>
          <a:p>
            <a:pPr indent="0" lvl="0" marL="0" marR="0" rtl="0" algn="l">
              <a:lnSpc>
                <a:spcPct val="100000"/>
              </a:lnSpc>
              <a:spcBef>
                <a:spcPts val="0"/>
              </a:spcBef>
              <a:spcAft>
                <a:spcPts val="0"/>
              </a:spcAft>
              <a:buNone/>
            </a:pPr>
            <a:r>
              <a:rPr b="0" i="0" lang="pt-BR" sz="1100" u="none" cap="none" strike="noStrike">
                <a:solidFill>
                  <a:schemeClr val="lt1"/>
                </a:solidFill>
                <a:latin typeface="Work Sans"/>
                <a:ea typeface="Work Sans"/>
                <a:cs typeface="Work Sans"/>
                <a:sym typeface="Work Sans"/>
              </a:rPr>
              <a:t>Critical Reasoning e Data Sufficiency</a:t>
            </a:r>
            <a:endParaRPr b="0" i="0" sz="1100" u="none" cap="none" strike="noStrike">
              <a:solidFill>
                <a:schemeClr val="lt1"/>
              </a:solidFill>
              <a:latin typeface="Work Sans"/>
              <a:ea typeface="Work Sans"/>
              <a:cs typeface="Work Sans"/>
              <a:sym typeface="Work Sans"/>
            </a:endParaRPr>
          </a:p>
          <a:p>
            <a:pPr indent="0" lvl="0" marL="0" marR="0" rtl="0" algn="l">
              <a:lnSpc>
                <a:spcPct val="100000"/>
              </a:lnSpc>
              <a:spcBef>
                <a:spcPts val="0"/>
              </a:spcBef>
              <a:spcAft>
                <a:spcPts val="0"/>
              </a:spcAft>
              <a:buNone/>
            </a:pPr>
            <a:r>
              <a:t/>
            </a:r>
            <a:endParaRPr b="0" i="0" sz="1100" u="none" cap="none" strike="noStrike">
              <a:solidFill>
                <a:schemeClr val="lt1"/>
              </a:solidFill>
              <a:latin typeface="Work Sans"/>
              <a:ea typeface="Work Sans"/>
              <a:cs typeface="Work Sans"/>
              <a:sym typeface="Work Sans"/>
            </a:endParaRPr>
          </a:p>
          <a:p>
            <a:pPr indent="-285750" lvl="0" marL="285750" marR="0" rtl="0" algn="l">
              <a:lnSpc>
                <a:spcPct val="100000"/>
              </a:lnSpc>
              <a:spcBef>
                <a:spcPts val="0"/>
              </a:spcBef>
              <a:spcAft>
                <a:spcPts val="0"/>
              </a:spcAft>
              <a:buClr>
                <a:srgbClr val="000000"/>
              </a:buClr>
              <a:buSzPts val="1100"/>
              <a:buFont typeface="Arial"/>
              <a:buChar char="•"/>
            </a:pPr>
            <a:r>
              <a:rPr b="1" i="0" lang="pt-BR" sz="1100" u="none" cap="none" strike="noStrike">
                <a:solidFill>
                  <a:schemeClr val="lt1"/>
                </a:solidFill>
                <a:latin typeface="Work Sans"/>
                <a:ea typeface="Work Sans"/>
                <a:cs typeface="Work Sans"/>
                <a:sym typeface="Work Sans"/>
              </a:rPr>
              <a:t>2° sessão:</a:t>
            </a:r>
            <a:r>
              <a:rPr b="0" i="0" lang="pt-BR" sz="1100" u="none" cap="none" strike="noStrike">
                <a:solidFill>
                  <a:schemeClr val="lt1"/>
                </a:solidFill>
                <a:latin typeface="Work Sans"/>
                <a:ea typeface="Work Sans"/>
                <a:cs typeface="Work Sans"/>
                <a:sym typeface="Work Sans"/>
              </a:rPr>
              <a:t> 20 minutos, 6 questões de Integrated Reasoning</a:t>
            </a:r>
            <a:endParaRPr b="0" i="0" sz="1100" u="none" cap="none" strike="noStrike">
              <a:solidFill>
                <a:schemeClr val="lt1"/>
              </a:solidFill>
              <a:latin typeface="Work Sans"/>
              <a:ea typeface="Work Sans"/>
              <a:cs typeface="Work Sans"/>
              <a:sym typeface="Work Sans"/>
            </a:endParaRPr>
          </a:p>
        </p:txBody>
      </p:sp>
      <p:sp>
        <p:nvSpPr>
          <p:cNvPr id="233" name="Google Shape;233;p9"/>
          <p:cNvSpPr/>
          <p:nvPr/>
        </p:nvSpPr>
        <p:spPr>
          <a:xfrm>
            <a:off x="3671481" y="3449464"/>
            <a:ext cx="316242" cy="184148"/>
          </a:xfrm>
          <a:prstGeom prst="chevron">
            <a:avLst>
              <a:gd fmla="val 50000" name="adj"/>
            </a:avLst>
          </a:prstGeom>
          <a:solidFill>
            <a:srgbClr val="00A7D1"/>
          </a:solidFill>
          <a:ln cap="flat" cmpd="sng" w="25400">
            <a:solidFill>
              <a:srgbClr val="00A7D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0"/>
          <p:cNvSpPr txBox="1"/>
          <p:nvPr/>
        </p:nvSpPr>
        <p:spPr>
          <a:xfrm>
            <a:off x="779659" y="3017792"/>
            <a:ext cx="1764000" cy="276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INSCRIÇÕES</a:t>
            </a:r>
            <a:endParaRPr b="0" i="0" sz="1600" u="none" cap="none" strike="noStrike">
              <a:solidFill>
                <a:schemeClr val="lt1"/>
              </a:solidFill>
              <a:latin typeface="Kanit SemiBold"/>
              <a:ea typeface="Kanit SemiBold"/>
              <a:cs typeface="Kanit SemiBold"/>
              <a:sym typeface="Kanit SemiBold"/>
            </a:endParaRPr>
          </a:p>
        </p:txBody>
      </p:sp>
      <p:sp>
        <p:nvSpPr>
          <p:cNvPr id="239" name="Google Shape;239;p10"/>
          <p:cNvSpPr txBox="1"/>
          <p:nvPr/>
        </p:nvSpPr>
        <p:spPr>
          <a:xfrm>
            <a:off x="1259359"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01.</a:t>
            </a:r>
            <a:endParaRPr b="0" i="0" sz="3000" u="none" cap="none" strike="noStrike">
              <a:solidFill>
                <a:srgbClr val="F3F3F3"/>
              </a:solidFill>
              <a:latin typeface="Kanit"/>
              <a:ea typeface="Kanit"/>
              <a:cs typeface="Kanit"/>
              <a:sym typeface="Kanit"/>
            </a:endParaRPr>
          </a:p>
        </p:txBody>
      </p:sp>
      <p:sp>
        <p:nvSpPr>
          <p:cNvPr id="240" name="Google Shape;240;p10"/>
          <p:cNvSpPr txBox="1"/>
          <p:nvPr/>
        </p:nvSpPr>
        <p:spPr>
          <a:xfrm>
            <a:off x="3199584"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02.</a:t>
            </a:r>
            <a:endParaRPr b="0" i="0" sz="3000" u="none" cap="none" strike="noStrike">
              <a:solidFill>
                <a:srgbClr val="F3F3F3"/>
              </a:solidFill>
              <a:latin typeface="Kanit"/>
              <a:ea typeface="Kanit"/>
              <a:cs typeface="Kanit"/>
              <a:sym typeface="Kanit"/>
            </a:endParaRPr>
          </a:p>
        </p:txBody>
      </p:sp>
      <p:sp>
        <p:nvSpPr>
          <p:cNvPr id="241" name="Google Shape;241;p10"/>
          <p:cNvSpPr txBox="1"/>
          <p:nvPr/>
        </p:nvSpPr>
        <p:spPr>
          <a:xfrm>
            <a:off x="5139809"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03.</a:t>
            </a:r>
            <a:endParaRPr b="0" i="0" sz="3000" u="none" cap="none" strike="noStrike">
              <a:solidFill>
                <a:srgbClr val="F3F3F3"/>
              </a:solidFill>
              <a:latin typeface="Kanit"/>
              <a:ea typeface="Kanit"/>
              <a:cs typeface="Kanit"/>
              <a:sym typeface="Kanit"/>
            </a:endParaRPr>
          </a:p>
        </p:txBody>
      </p:sp>
      <p:sp>
        <p:nvSpPr>
          <p:cNvPr id="242" name="Google Shape;242;p10"/>
          <p:cNvSpPr txBox="1"/>
          <p:nvPr/>
        </p:nvSpPr>
        <p:spPr>
          <a:xfrm>
            <a:off x="7080034"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04.</a:t>
            </a:r>
            <a:endParaRPr b="0" i="0" sz="3000" u="none" cap="none" strike="noStrike">
              <a:solidFill>
                <a:srgbClr val="F3F3F3"/>
              </a:solidFill>
              <a:latin typeface="Kanit"/>
              <a:ea typeface="Kanit"/>
              <a:cs typeface="Kanit"/>
              <a:sym typeface="Kanit"/>
            </a:endParaRPr>
          </a:p>
        </p:txBody>
      </p:sp>
      <p:cxnSp>
        <p:nvCxnSpPr>
          <p:cNvPr id="243" name="Google Shape;243;p10"/>
          <p:cNvCxnSpPr>
            <a:stCxn id="239" idx="3"/>
            <a:endCxn id="240" idx="1"/>
          </p:cNvCxnSpPr>
          <p:nvPr/>
        </p:nvCxnSpPr>
        <p:spPr>
          <a:xfrm>
            <a:off x="2063959" y="2312734"/>
            <a:ext cx="1135500" cy="0"/>
          </a:xfrm>
          <a:prstGeom prst="straightConnector1">
            <a:avLst/>
          </a:prstGeom>
          <a:noFill/>
          <a:ln cap="flat" cmpd="sng" w="9525">
            <a:solidFill>
              <a:schemeClr val="dk1"/>
            </a:solidFill>
            <a:prstDash val="solid"/>
            <a:round/>
            <a:headEnd len="sm" w="sm" type="none"/>
            <a:tailEnd len="sm" w="sm" type="none"/>
          </a:ln>
        </p:spPr>
      </p:cxnSp>
      <p:cxnSp>
        <p:nvCxnSpPr>
          <p:cNvPr id="244" name="Google Shape;244;p10"/>
          <p:cNvCxnSpPr>
            <a:stCxn id="240" idx="3"/>
            <a:endCxn id="241" idx="1"/>
          </p:cNvCxnSpPr>
          <p:nvPr/>
        </p:nvCxnSpPr>
        <p:spPr>
          <a:xfrm>
            <a:off x="4004184" y="2312734"/>
            <a:ext cx="1135500" cy="0"/>
          </a:xfrm>
          <a:prstGeom prst="straightConnector1">
            <a:avLst/>
          </a:prstGeom>
          <a:noFill/>
          <a:ln cap="flat" cmpd="sng" w="9525">
            <a:solidFill>
              <a:schemeClr val="dk1"/>
            </a:solidFill>
            <a:prstDash val="solid"/>
            <a:round/>
            <a:headEnd len="sm" w="sm" type="none"/>
            <a:tailEnd len="sm" w="sm" type="none"/>
          </a:ln>
        </p:spPr>
      </p:cxnSp>
      <p:cxnSp>
        <p:nvCxnSpPr>
          <p:cNvPr id="245" name="Google Shape;245;p10"/>
          <p:cNvCxnSpPr>
            <a:stCxn id="241" idx="3"/>
            <a:endCxn id="242" idx="1"/>
          </p:cNvCxnSpPr>
          <p:nvPr/>
        </p:nvCxnSpPr>
        <p:spPr>
          <a:xfrm>
            <a:off x="5944409" y="2312734"/>
            <a:ext cx="1135500" cy="0"/>
          </a:xfrm>
          <a:prstGeom prst="straightConnector1">
            <a:avLst/>
          </a:prstGeom>
          <a:noFill/>
          <a:ln cap="flat" cmpd="sng" w="9525">
            <a:solidFill>
              <a:schemeClr val="dk1"/>
            </a:solidFill>
            <a:prstDash val="solid"/>
            <a:round/>
            <a:headEnd len="sm" w="sm" type="none"/>
            <a:tailEnd len="sm" w="sm" type="none"/>
          </a:ln>
        </p:spPr>
      </p:cxnSp>
      <p:sp>
        <p:nvSpPr>
          <p:cNvPr id="246" name="Google Shape;246;p10"/>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O QUE É GMAT?</a:t>
            </a:r>
            <a:endParaRPr/>
          </a:p>
        </p:txBody>
      </p:sp>
      <p:sp>
        <p:nvSpPr>
          <p:cNvPr id="247" name="Google Shape;247;p10"/>
          <p:cNvSpPr txBox="1"/>
          <p:nvPr/>
        </p:nvSpPr>
        <p:spPr>
          <a:xfrm>
            <a:off x="2715109" y="2993248"/>
            <a:ext cx="1764000"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JOGOS E PROVAS</a:t>
            </a:r>
            <a:endParaRPr b="0" i="0" sz="1600" u="none" cap="none" strike="noStrike">
              <a:solidFill>
                <a:schemeClr val="lt1"/>
              </a:solidFill>
              <a:latin typeface="Kanit SemiBold"/>
              <a:ea typeface="Kanit SemiBold"/>
              <a:cs typeface="Kanit SemiBold"/>
              <a:sym typeface="Kanit SemiBold"/>
            </a:endParaRPr>
          </a:p>
        </p:txBody>
      </p:sp>
      <p:sp>
        <p:nvSpPr>
          <p:cNvPr id="248" name="Google Shape;248;p10"/>
          <p:cNvSpPr txBox="1"/>
          <p:nvPr/>
        </p:nvSpPr>
        <p:spPr>
          <a:xfrm>
            <a:off x="4640116" y="2999214"/>
            <a:ext cx="1909799" cy="516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ETAPAS INTERMEDIÁRIAS</a:t>
            </a:r>
            <a:endParaRPr b="0" i="0" sz="1600" u="none" cap="none" strike="noStrike">
              <a:solidFill>
                <a:schemeClr val="lt1"/>
              </a:solidFill>
              <a:latin typeface="Kanit SemiBold"/>
              <a:ea typeface="Kanit SemiBold"/>
              <a:cs typeface="Kanit SemiBold"/>
              <a:sym typeface="Kanit SemiBold"/>
            </a:endParaRPr>
          </a:p>
        </p:txBody>
      </p:sp>
      <p:sp>
        <p:nvSpPr>
          <p:cNvPr id="249" name="Google Shape;249;p10"/>
          <p:cNvSpPr txBox="1"/>
          <p:nvPr/>
        </p:nvSpPr>
        <p:spPr>
          <a:xfrm>
            <a:off x="6390201" y="3004252"/>
            <a:ext cx="2184265" cy="253874"/>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chemeClr val="lt1"/>
                </a:solidFill>
                <a:latin typeface="Kanit SemiBold"/>
                <a:ea typeface="Kanit SemiBold"/>
                <a:cs typeface="Kanit SemiBold"/>
                <a:sym typeface="Kanit SemiBold"/>
              </a:rPr>
              <a:t>ENTREVISTAS</a:t>
            </a:r>
            <a:endParaRPr b="0" i="0" sz="1600" u="none" cap="none" strike="noStrike">
              <a:solidFill>
                <a:schemeClr val="lt1"/>
              </a:solidFill>
              <a:latin typeface="Kanit SemiBold"/>
              <a:ea typeface="Kanit SemiBold"/>
              <a:cs typeface="Kanit SemiBold"/>
              <a:sym typeface="Kanit SemiBold"/>
            </a:endParaRPr>
          </a:p>
        </p:txBody>
      </p:sp>
      <p:sp>
        <p:nvSpPr>
          <p:cNvPr id="250" name="Google Shape;250;p10"/>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251" name="Google Shape;251;p10"/>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252" name="Google Shape;252;p10"/>
          <p:cNvSpPr txBox="1"/>
          <p:nvPr/>
        </p:nvSpPr>
        <p:spPr>
          <a:xfrm>
            <a:off x="931672" y="3557512"/>
            <a:ext cx="1873156" cy="738623"/>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Currículo</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Histórico escolar</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Cover Letter</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Vídeo</a:t>
            </a:r>
            <a:endParaRPr b="0" i="0" sz="1050" u="none" cap="none" strike="noStrike">
              <a:solidFill>
                <a:schemeClr val="lt1"/>
              </a:solidFill>
              <a:latin typeface="Work Sans"/>
              <a:ea typeface="Work Sans"/>
              <a:cs typeface="Work Sans"/>
              <a:sym typeface="Work Sans"/>
            </a:endParaRPr>
          </a:p>
        </p:txBody>
      </p:sp>
      <p:sp>
        <p:nvSpPr>
          <p:cNvPr id="253" name="Google Shape;253;p10"/>
          <p:cNvSpPr txBox="1"/>
          <p:nvPr/>
        </p:nvSpPr>
        <p:spPr>
          <a:xfrm>
            <a:off x="2765649" y="3557511"/>
            <a:ext cx="1662920" cy="900206"/>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1" i="0" lang="pt-BR" sz="1050" u="none" cap="none" strike="noStrike">
                <a:solidFill>
                  <a:schemeClr val="dk1"/>
                </a:solidFill>
                <a:latin typeface="Work Sans"/>
                <a:ea typeface="Work Sans"/>
                <a:cs typeface="Work Sans"/>
                <a:sym typeface="Work Sans"/>
              </a:rPr>
              <a:t>Raciocínio lógico</a:t>
            </a:r>
            <a:endParaRPr b="1" i="0" sz="1050" u="none" cap="none" strike="noStrike">
              <a:solidFill>
                <a:schemeClr val="dk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Conhecimento em negócios</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Comportamental</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Situacional</a:t>
            </a:r>
            <a:endParaRPr b="0" i="0" sz="1050" u="none" cap="none" strike="noStrike">
              <a:solidFill>
                <a:schemeClr val="lt1"/>
              </a:solidFill>
              <a:latin typeface="Work Sans"/>
              <a:ea typeface="Work Sans"/>
              <a:cs typeface="Work Sans"/>
              <a:sym typeface="Work Sans"/>
            </a:endParaRPr>
          </a:p>
        </p:txBody>
      </p:sp>
      <p:sp>
        <p:nvSpPr>
          <p:cNvPr id="254" name="Google Shape;254;p10"/>
          <p:cNvSpPr txBox="1"/>
          <p:nvPr/>
        </p:nvSpPr>
        <p:spPr>
          <a:xfrm>
            <a:off x="4609835" y="3585770"/>
            <a:ext cx="2330879" cy="430847"/>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Dinâmica em grupo</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Apresentação de case</a:t>
            </a:r>
            <a:endParaRPr b="0" i="0" sz="1050" u="none" cap="none" strike="noStrike">
              <a:solidFill>
                <a:schemeClr val="lt1"/>
              </a:solidFill>
              <a:latin typeface="Work Sans"/>
              <a:ea typeface="Work Sans"/>
              <a:cs typeface="Work Sans"/>
              <a:sym typeface="Work Sans"/>
            </a:endParaRPr>
          </a:p>
        </p:txBody>
      </p:sp>
      <p:sp>
        <p:nvSpPr>
          <p:cNvPr id="255" name="Google Shape;255;p10"/>
          <p:cNvSpPr txBox="1"/>
          <p:nvPr/>
        </p:nvSpPr>
        <p:spPr>
          <a:xfrm>
            <a:off x="6802956" y="3585770"/>
            <a:ext cx="1873156" cy="430847"/>
          </a:xfrm>
          <a:prstGeom prst="rect">
            <a:avLst/>
          </a:prstGeom>
          <a:noFill/>
          <a:ln>
            <a:noFill/>
          </a:ln>
        </p:spPr>
        <p:txBody>
          <a:bodyPr anchorCtr="0" anchor="t" bIns="45700" lIns="91425" spcFirstLastPara="1" rIns="91425" wrap="square" tIns="45700">
            <a:spAutoFit/>
          </a:bodyPr>
          <a:lstStyle/>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Fit Interview</a:t>
            </a:r>
            <a:endParaRPr b="0" i="0" sz="1050" u="none" cap="none" strike="noStrike">
              <a:solidFill>
                <a:schemeClr val="lt1"/>
              </a:solidFill>
              <a:latin typeface="Work Sans"/>
              <a:ea typeface="Work Sans"/>
              <a:cs typeface="Work Sans"/>
              <a:sym typeface="Work Sans"/>
            </a:endParaRPr>
          </a:p>
          <a:p>
            <a:pPr indent="-180000" lvl="0" marL="285750" marR="0" rtl="0" algn="l">
              <a:lnSpc>
                <a:spcPct val="100000"/>
              </a:lnSpc>
              <a:spcBef>
                <a:spcPts val="0"/>
              </a:spcBef>
              <a:spcAft>
                <a:spcPts val="0"/>
              </a:spcAft>
              <a:buClr>
                <a:schemeClr val="dk1"/>
              </a:buClr>
              <a:buSzPts val="1400"/>
              <a:buFont typeface="Arial"/>
              <a:buChar char="•"/>
            </a:pPr>
            <a:r>
              <a:rPr b="0" i="0" lang="pt-BR" sz="1050" u="none" cap="none" strike="noStrike">
                <a:solidFill>
                  <a:schemeClr val="lt1"/>
                </a:solidFill>
                <a:latin typeface="Work Sans"/>
                <a:ea typeface="Work Sans"/>
                <a:cs typeface="Work Sans"/>
                <a:sym typeface="Work Sans"/>
              </a:rPr>
              <a:t>Case Interview</a:t>
            </a:r>
            <a:endParaRPr b="0" i="0" sz="1050" u="none" cap="none" strike="noStrike">
              <a:solidFill>
                <a:schemeClr val="lt1"/>
              </a:solidFill>
              <a:latin typeface="Work Sans"/>
              <a:ea typeface="Work Sans"/>
              <a:cs typeface="Work Sans"/>
              <a:sym typeface="Work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1"/>
          <p:cNvPicPr preferRelativeResize="0"/>
          <p:nvPr/>
        </p:nvPicPr>
        <p:blipFill rotWithShape="1">
          <a:blip r:embed="rId3">
            <a:alphaModFix/>
          </a:blip>
          <a:srcRect b="7628" l="0" r="0" t="8066"/>
          <a:stretch/>
        </p:blipFill>
        <p:spPr>
          <a:xfrm>
            <a:off x="-1" y="0"/>
            <a:ext cx="9144001" cy="5143500"/>
          </a:xfrm>
          <a:prstGeom prst="rect">
            <a:avLst/>
          </a:prstGeom>
          <a:noFill/>
          <a:ln>
            <a:noFill/>
          </a:ln>
        </p:spPr>
      </p:pic>
      <p:sp>
        <p:nvSpPr>
          <p:cNvPr id="261" name="Google Shape;261;p11"/>
          <p:cNvSpPr txBox="1"/>
          <p:nvPr>
            <p:ph type="title"/>
          </p:nvPr>
        </p:nvSpPr>
        <p:spPr>
          <a:xfrm>
            <a:off x="629525" y="3346125"/>
            <a:ext cx="4180500" cy="951555"/>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sz="2400">
                <a:solidFill>
                  <a:schemeClr val="lt1"/>
                </a:solidFill>
              </a:rPr>
              <a:t>POR QUE AS CONSULTORIAS UTILIZAM O </a:t>
            </a:r>
            <a:r>
              <a:rPr lang="pt-BR" sz="2400">
                <a:solidFill>
                  <a:schemeClr val="dk1"/>
                </a:solidFill>
              </a:rPr>
              <a:t>MODELO GMAT?</a:t>
            </a:r>
            <a:endParaRPr sz="2400">
              <a:solidFill>
                <a:schemeClr val="dk1"/>
              </a:solidFill>
            </a:endParaRPr>
          </a:p>
        </p:txBody>
      </p:sp>
      <p:grpSp>
        <p:nvGrpSpPr>
          <p:cNvPr id="262" name="Google Shape;262;p11"/>
          <p:cNvGrpSpPr/>
          <p:nvPr/>
        </p:nvGrpSpPr>
        <p:grpSpPr>
          <a:xfrm>
            <a:off x="0" y="0"/>
            <a:ext cx="9144000" cy="5143500"/>
            <a:chOff x="0" y="0"/>
            <a:chExt cx="9144000" cy="5143500"/>
          </a:xfrm>
        </p:grpSpPr>
        <p:sp>
          <p:nvSpPr>
            <p:cNvPr id="263" name="Google Shape;263;p11"/>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1"/>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5" name="Google Shape;265;p11"/>
          <p:cNvSpPr/>
          <p:nvPr/>
        </p:nvSpPr>
        <p:spPr>
          <a:xfrm>
            <a:off x="4419600" y="2419350"/>
            <a:ext cx="3162300" cy="3162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2"/>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O QUE É GMAT?</a:t>
            </a:r>
            <a:endParaRPr/>
          </a:p>
        </p:txBody>
      </p:sp>
      <p:sp>
        <p:nvSpPr>
          <p:cNvPr id="271" name="Google Shape;271;p12"/>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272" name="Google Shape;272;p12"/>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273" name="Google Shape;273;p12"/>
          <p:cNvSpPr txBox="1"/>
          <p:nvPr/>
        </p:nvSpPr>
        <p:spPr>
          <a:xfrm>
            <a:off x="616607" y="1016966"/>
            <a:ext cx="5961003" cy="253875"/>
          </a:xfrm>
          <a:prstGeom prst="rect">
            <a:avLst/>
          </a:prstGeom>
          <a:noFill/>
          <a:ln>
            <a:noFill/>
          </a:ln>
        </p:spPr>
        <p:txBody>
          <a:bodyPr anchorCtr="0" anchor="t" bIns="45700" lIns="91425" spcFirstLastPara="1" rIns="91425" wrap="square" tIns="45700">
            <a:spAutoFit/>
          </a:bodyPr>
          <a:lstStyle/>
          <a:p>
            <a:pPr indent="0" lvl="0" marL="105750" marR="0" rtl="0" algn="l">
              <a:lnSpc>
                <a:spcPct val="100000"/>
              </a:lnSpc>
              <a:spcBef>
                <a:spcPts val="0"/>
              </a:spcBef>
              <a:spcAft>
                <a:spcPts val="0"/>
              </a:spcAft>
              <a:buNone/>
            </a:pPr>
            <a:r>
              <a:rPr b="0" i="0" lang="pt-BR" sz="1050" u="none" cap="none" strike="noStrike">
                <a:solidFill>
                  <a:schemeClr val="lt1"/>
                </a:solidFill>
                <a:latin typeface="Work Sans"/>
                <a:ea typeface="Work Sans"/>
                <a:cs typeface="Work Sans"/>
                <a:sym typeface="Work Sans"/>
              </a:rPr>
              <a:t>Exemplo de estrutura de carreira (BCG) mostrada na aula de Consulting 101</a:t>
            </a:r>
            <a:endParaRPr b="0" i="0" sz="1050" u="none" cap="none" strike="noStrike">
              <a:solidFill>
                <a:schemeClr val="lt1"/>
              </a:solidFill>
              <a:latin typeface="Work Sans"/>
              <a:ea typeface="Work Sans"/>
              <a:cs typeface="Work Sans"/>
              <a:sym typeface="Work Sans"/>
            </a:endParaRPr>
          </a:p>
        </p:txBody>
      </p:sp>
      <p:pic>
        <p:nvPicPr>
          <p:cNvPr id="274" name="Google Shape;274;p12"/>
          <p:cNvPicPr preferRelativeResize="0"/>
          <p:nvPr/>
        </p:nvPicPr>
        <p:blipFill rotWithShape="1">
          <a:blip r:embed="rId3">
            <a:alphaModFix/>
          </a:blip>
          <a:srcRect b="0" l="0" r="0" t="0"/>
          <a:stretch/>
        </p:blipFill>
        <p:spPr>
          <a:xfrm>
            <a:off x="696925" y="1701804"/>
            <a:ext cx="4593623" cy="2424730"/>
          </a:xfrm>
          <a:prstGeom prst="rect">
            <a:avLst/>
          </a:prstGeom>
          <a:noFill/>
          <a:ln>
            <a:noFill/>
          </a:ln>
        </p:spPr>
      </p:pic>
      <p:sp>
        <p:nvSpPr>
          <p:cNvPr id="275" name="Google Shape;275;p12"/>
          <p:cNvSpPr txBox="1"/>
          <p:nvPr/>
        </p:nvSpPr>
        <p:spPr>
          <a:xfrm>
            <a:off x="5581650" y="1871319"/>
            <a:ext cx="3109500" cy="2085699"/>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1800"/>
              <a:buFont typeface="Arial"/>
              <a:buNone/>
            </a:pPr>
            <a:r>
              <a:rPr b="0" i="0" lang="pt-BR" sz="1400" u="none" cap="none" strike="noStrike">
                <a:solidFill>
                  <a:schemeClr val="lt1"/>
                </a:solidFill>
                <a:latin typeface="Work Sans"/>
                <a:ea typeface="Work Sans"/>
                <a:cs typeface="Work Sans"/>
                <a:sym typeface="Work Sans"/>
              </a:rPr>
              <a:t>“Como, na carreira, os consultores aplicarem para um </a:t>
            </a:r>
            <a:r>
              <a:rPr b="1" i="0" lang="pt-BR" sz="1400" u="none" cap="none" strike="noStrike">
                <a:solidFill>
                  <a:schemeClr val="lt1"/>
                </a:solidFill>
                <a:latin typeface="Work Sans"/>
                <a:ea typeface="Work Sans"/>
                <a:cs typeface="Work Sans"/>
                <a:sym typeface="Work Sans"/>
              </a:rPr>
              <a:t>MBA é algo comum</a:t>
            </a:r>
            <a:r>
              <a:rPr b="0" i="0" lang="pt-BR" sz="1400" u="none" cap="none" strike="noStrike">
                <a:solidFill>
                  <a:schemeClr val="lt1"/>
                </a:solidFill>
                <a:latin typeface="Work Sans"/>
                <a:ea typeface="Work Sans"/>
                <a:cs typeface="Work Sans"/>
                <a:sym typeface="Work Sans"/>
              </a:rPr>
              <a:t>, isso explica um pouco do motivo pelo qual as consultorias podem se predispor a cobrar provas em modelo GMAT desde o processo seletivo</a:t>
            </a:r>
            <a:r>
              <a:rPr b="0" i="0" lang="pt-BR" sz="1600" u="none" cap="none" strike="noStrike">
                <a:solidFill>
                  <a:schemeClr val="lt1"/>
                </a:solidFill>
                <a:latin typeface="Arial"/>
                <a:ea typeface="Arial"/>
                <a:cs typeface="Arial"/>
                <a:sym typeface="Arial"/>
              </a:rPr>
              <a:t>”</a:t>
            </a:r>
            <a:endParaRPr/>
          </a:p>
        </p:txBody>
      </p:sp>
      <p:sp>
        <p:nvSpPr>
          <p:cNvPr id="276" name="Google Shape;276;p12"/>
          <p:cNvSpPr/>
          <p:nvPr/>
        </p:nvSpPr>
        <p:spPr>
          <a:xfrm>
            <a:off x="1812705" y="3680119"/>
            <a:ext cx="644745" cy="672132"/>
          </a:xfrm>
          <a:prstGeom prst="ellipse">
            <a:avLst/>
          </a:prstGeom>
          <a:noFill/>
          <a:ln cap="flat" cmpd="sng" w="57150">
            <a:solidFill>
              <a:srgbClr val="C127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3"/>
          <p:cNvSpPr/>
          <p:nvPr/>
        </p:nvSpPr>
        <p:spPr>
          <a:xfrm rot="10800000">
            <a:off x="75825" y="0"/>
            <a:ext cx="2264758" cy="5143500"/>
          </a:xfrm>
          <a:prstGeom prst="parallelogram">
            <a:avLst>
              <a:gd fmla="val 20300" name="adj"/>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3"/>
          <p:cNvSpPr txBox="1"/>
          <p:nvPr>
            <p:ph type="title"/>
          </p:nvPr>
        </p:nvSpPr>
        <p:spPr>
          <a:xfrm>
            <a:off x="2438400" y="166959"/>
            <a:ext cx="5116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pt-BR"/>
              <a:t>O QUE É GMAT?</a:t>
            </a:r>
            <a:endParaRPr/>
          </a:p>
        </p:txBody>
      </p:sp>
      <p:sp>
        <p:nvSpPr>
          <p:cNvPr id="283" name="Google Shape;283;p13"/>
          <p:cNvSpPr txBox="1"/>
          <p:nvPr>
            <p:ph idx="2" type="subTitle"/>
          </p:nvPr>
        </p:nvSpPr>
        <p:spPr>
          <a:xfrm>
            <a:off x="2999100" y="687772"/>
            <a:ext cx="4073400" cy="681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pt-BR"/>
              <a:t>Onde mais as consultorias usam esse modelo?</a:t>
            </a:r>
            <a:endParaRPr/>
          </a:p>
        </p:txBody>
      </p:sp>
      <p:sp>
        <p:nvSpPr>
          <p:cNvPr id="284" name="Google Shape;284;p13"/>
          <p:cNvSpPr txBox="1"/>
          <p:nvPr>
            <p:ph idx="4" type="subTitle"/>
          </p:nvPr>
        </p:nvSpPr>
        <p:spPr>
          <a:xfrm>
            <a:off x="3711075" y="1462141"/>
            <a:ext cx="40734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PROCESSOS SELETIVOS</a:t>
            </a:r>
            <a:endParaRPr/>
          </a:p>
        </p:txBody>
      </p:sp>
      <p:sp>
        <p:nvSpPr>
          <p:cNvPr id="285" name="Google Shape;285;p13"/>
          <p:cNvSpPr txBox="1"/>
          <p:nvPr>
            <p:ph idx="5" type="subTitle"/>
          </p:nvPr>
        </p:nvSpPr>
        <p:spPr>
          <a:xfrm>
            <a:off x="3757425" y="3850885"/>
            <a:ext cx="40734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DESAFIOS UNIVERSITÁRIOS</a:t>
            </a:r>
            <a:endParaRPr/>
          </a:p>
        </p:txBody>
      </p:sp>
      <p:sp>
        <p:nvSpPr>
          <p:cNvPr id="286" name="Google Shape;286;p13"/>
          <p:cNvSpPr txBox="1"/>
          <p:nvPr>
            <p:ph idx="6" type="subTitle"/>
          </p:nvPr>
        </p:nvSpPr>
        <p:spPr>
          <a:xfrm>
            <a:off x="3742700" y="2656513"/>
            <a:ext cx="40734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PROGRAMAS DE MENTORIA</a:t>
            </a:r>
            <a:endParaRPr/>
          </a:p>
        </p:txBody>
      </p:sp>
      <p:sp>
        <p:nvSpPr>
          <p:cNvPr id="287" name="Google Shape;287;p13"/>
          <p:cNvSpPr/>
          <p:nvPr/>
        </p:nvSpPr>
        <p:spPr>
          <a:xfrm>
            <a:off x="3065775" y="1400388"/>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3"/>
          <p:cNvSpPr/>
          <p:nvPr/>
        </p:nvSpPr>
        <p:spPr>
          <a:xfrm>
            <a:off x="3065775" y="2593513"/>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3"/>
          <p:cNvSpPr/>
          <p:nvPr/>
        </p:nvSpPr>
        <p:spPr>
          <a:xfrm>
            <a:off x="3065775" y="3787388"/>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3"/>
          <p:cNvSpPr/>
          <p:nvPr/>
        </p:nvSpPr>
        <p:spPr>
          <a:xfrm>
            <a:off x="3223437" y="1538106"/>
            <a:ext cx="300263" cy="340186"/>
          </a:xfrm>
          <a:custGeom>
            <a:rect b="b" l="l" r="r" t="t"/>
            <a:pathLst>
              <a:path extrusionOk="0" h="19326" w="17058">
                <a:moveTo>
                  <a:pt x="15013" y="2021"/>
                </a:moveTo>
                <a:lnTo>
                  <a:pt x="11577" y="5741"/>
                </a:lnTo>
                <a:cubicBezTo>
                  <a:pt x="11378" y="5958"/>
                  <a:pt x="11378" y="6290"/>
                  <a:pt x="11577" y="6507"/>
                </a:cubicBezTo>
                <a:lnTo>
                  <a:pt x="15013" y="10230"/>
                </a:lnTo>
                <a:lnTo>
                  <a:pt x="3195" y="10230"/>
                </a:lnTo>
                <a:lnTo>
                  <a:pt x="3195" y="2021"/>
                </a:lnTo>
                <a:close/>
                <a:moveTo>
                  <a:pt x="1716" y="1133"/>
                </a:moveTo>
                <a:cubicBezTo>
                  <a:pt x="1906" y="1136"/>
                  <a:pt x="2060" y="1290"/>
                  <a:pt x="2063" y="1480"/>
                </a:cubicBezTo>
                <a:lnTo>
                  <a:pt x="2063" y="17846"/>
                </a:lnTo>
                <a:cubicBezTo>
                  <a:pt x="2060" y="18036"/>
                  <a:pt x="1906" y="18190"/>
                  <a:pt x="1716" y="18193"/>
                </a:cubicBezTo>
                <a:lnTo>
                  <a:pt x="1483" y="18193"/>
                </a:lnTo>
                <a:cubicBezTo>
                  <a:pt x="1290" y="18190"/>
                  <a:pt x="1136" y="18036"/>
                  <a:pt x="1133" y="17846"/>
                </a:cubicBezTo>
                <a:lnTo>
                  <a:pt x="1133" y="1480"/>
                </a:lnTo>
                <a:cubicBezTo>
                  <a:pt x="1136" y="1290"/>
                  <a:pt x="1290" y="1136"/>
                  <a:pt x="1483" y="1133"/>
                </a:cubicBezTo>
                <a:close/>
                <a:moveTo>
                  <a:pt x="1483" y="1"/>
                </a:moveTo>
                <a:cubicBezTo>
                  <a:pt x="665" y="1"/>
                  <a:pt x="4" y="665"/>
                  <a:pt x="1" y="1480"/>
                </a:cubicBezTo>
                <a:lnTo>
                  <a:pt x="1" y="17846"/>
                </a:lnTo>
                <a:cubicBezTo>
                  <a:pt x="4" y="18661"/>
                  <a:pt x="665" y="19325"/>
                  <a:pt x="1483" y="19325"/>
                </a:cubicBezTo>
                <a:lnTo>
                  <a:pt x="1716" y="19325"/>
                </a:lnTo>
                <a:cubicBezTo>
                  <a:pt x="2531" y="19325"/>
                  <a:pt x="3195" y="18661"/>
                  <a:pt x="3195" y="17846"/>
                </a:cubicBezTo>
                <a:lnTo>
                  <a:pt x="3195" y="11363"/>
                </a:lnTo>
                <a:lnTo>
                  <a:pt x="16306" y="11363"/>
                </a:lnTo>
                <a:cubicBezTo>
                  <a:pt x="16801" y="11360"/>
                  <a:pt x="17058" y="10774"/>
                  <a:pt x="16722" y="10412"/>
                </a:cubicBezTo>
                <a:lnTo>
                  <a:pt x="12764" y="6124"/>
                </a:lnTo>
                <a:lnTo>
                  <a:pt x="16722" y="1836"/>
                </a:lnTo>
                <a:cubicBezTo>
                  <a:pt x="16873" y="1673"/>
                  <a:pt x="16916" y="1432"/>
                  <a:pt x="16825" y="1226"/>
                </a:cubicBezTo>
                <a:cubicBezTo>
                  <a:pt x="16734" y="1021"/>
                  <a:pt x="16532" y="885"/>
                  <a:pt x="16306" y="885"/>
                </a:cubicBezTo>
                <a:lnTo>
                  <a:pt x="3071" y="885"/>
                </a:lnTo>
                <a:cubicBezTo>
                  <a:pt x="2833" y="348"/>
                  <a:pt x="2302"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nvGrpSpPr>
          <p:cNvPr id="291" name="Google Shape;291;p13"/>
          <p:cNvGrpSpPr/>
          <p:nvPr/>
        </p:nvGrpSpPr>
        <p:grpSpPr>
          <a:xfrm>
            <a:off x="3197446" y="2727425"/>
            <a:ext cx="352230" cy="348542"/>
            <a:chOff x="1049375" y="2318350"/>
            <a:chExt cx="298525" cy="295400"/>
          </a:xfrm>
        </p:grpSpPr>
        <p:sp>
          <p:nvSpPr>
            <p:cNvPr id="292" name="Google Shape;292;p13"/>
            <p:cNvSpPr/>
            <p:nvPr/>
          </p:nvSpPr>
          <p:spPr>
            <a:xfrm>
              <a:off x="1101350" y="2492325"/>
              <a:ext cx="70125" cy="50525"/>
            </a:xfrm>
            <a:custGeom>
              <a:rect b="b" l="l" r="r" t="t"/>
              <a:pathLst>
                <a:path extrusionOk="0" h="2021" w="2805">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3"/>
            <p:cNvSpPr/>
            <p:nvPr/>
          </p:nvSpPr>
          <p:spPr>
            <a:xfrm>
              <a:off x="1101350" y="2440525"/>
              <a:ext cx="70125" cy="51150"/>
            </a:xfrm>
            <a:custGeom>
              <a:rect b="b" l="l" r="r" t="t"/>
              <a:pathLst>
                <a:path extrusionOk="0" h="2046" w="2805">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3"/>
            <p:cNvSpPr/>
            <p:nvPr/>
          </p:nvSpPr>
          <p:spPr>
            <a:xfrm>
              <a:off x="1101350" y="2388550"/>
              <a:ext cx="70125" cy="51125"/>
            </a:xfrm>
            <a:custGeom>
              <a:rect b="b" l="l" r="r" t="t"/>
              <a:pathLst>
                <a:path extrusionOk="0" h="2045" w="2805">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3"/>
            <p:cNvSpPr/>
            <p:nvPr/>
          </p:nvSpPr>
          <p:spPr>
            <a:xfrm>
              <a:off x="1049375" y="2318350"/>
              <a:ext cx="298525" cy="295400"/>
            </a:xfrm>
            <a:custGeom>
              <a:rect b="b" l="l" r="r" t="t"/>
              <a:pathLst>
                <a:path extrusionOk="0" h="11816" w="11941">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 name="Google Shape;296;p13"/>
          <p:cNvGrpSpPr/>
          <p:nvPr/>
        </p:nvGrpSpPr>
        <p:grpSpPr>
          <a:xfrm>
            <a:off x="3162595" y="3884247"/>
            <a:ext cx="421951" cy="421914"/>
            <a:chOff x="-5276050" y="2037975"/>
            <a:chExt cx="292250" cy="292225"/>
          </a:xfrm>
        </p:grpSpPr>
        <p:sp>
          <p:nvSpPr>
            <p:cNvPr id="297" name="Google Shape;297;p13"/>
            <p:cNvSpPr/>
            <p:nvPr/>
          </p:nvSpPr>
          <p:spPr>
            <a:xfrm>
              <a:off x="-5102775" y="2211250"/>
              <a:ext cx="51225" cy="49650"/>
            </a:xfrm>
            <a:custGeom>
              <a:rect b="b" l="l" r="r" t="t"/>
              <a:pathLst>
                <a:path extrusionOk="0" h="1986" w="2049">
                  <a:moveTo>
                    <a:pt x="343" y="0"/>
                  </a:moveTo>
                  <a:cubicBezTo>
                    <a:pt x="253" y="0"/>
                    <a:pt x="158" y="32"/>
                    <a:pt x="95" y="95"/>
                  </a:cubicBezTo>
                  <a:cubicBezTo>
                    <a:pt x="1" y="189"/>
                    <a:pt x="1" y="441"/>
                    <a:pt x="95" y="536"/>
                  </a:cubicBezTo>
                  <a:lnTo>
                    <a:pt x="536" y="977"/>
                  </a:lnTo>
                  <a:lnTo>
                    <a:pt x="95" y="1418"/>
                  </a:lnTo>
                  <a:cubicBezTo>
                    <a:pt x="1" y="1544"/>
                    <a:pt x="1" y="1765"/>
                    <a:pt x="95" y="1891"/>
                  </a:cubicBezTo>
                  <a:cubicBezTo>
                    <a:pt x="158" y="1954"/>
                    <a:pt x="253" y="1985"/>
                    <a:pt x="343" y="1985"/>
                  </a:cubicBezTo>
                  <a:cubicBezTo>
                    <a:pt x="434" y="1985"/>
                    <a:pt x="521" y="1954"/>
                    <a:pt x="568" y="1891"/>
                  </a:cubicBezTo>
                  <a:lnTo>
                    <a:pt x="1009" y="1450"/>
                  </a:lnTo>
                  <a:lnTo>
                    <a:pt x="1450" y="1891"/>
                  </a:lnTo>
                  <a:cubicBezTo>
                    <a:pt x="1513" y="1954"/>
                    <a:pt x="1600" y="1985"/>
                    <a:pt x="1686" y="1985"/>
                  </a:cubicBezTo>
                  <a:cubicBezTo>
                    <a:pt x="1773" y="1985"/>
                    <a:pt x="1860" y="1954"/>
                    <a:pt x="1923" y="1891"/>
                  </a:cubicBezTo>
                  <a:cubicBezTo>
                    <a:pt x="2049" y="1765"/>
                    <a:pt x="2049" y="1544"/>
                    <a:pt x="1923" y="1418"/>
                  </a:cubicBezTo>
                  <a:lnTo>
                    <a:pt x="1482" y="977"/>
                  </a:lnTo>
                  <a:lnTo>
                    <a:pt x="1923" y="536"/>
                  </a:lnTo>
                  <a:cubicBezTo>
                    <a:pt x="2049" y="441"/>
                    <a:pt x="2049" y="189"/>
                    <a:pt x="1923" y="95"/>
                  </a:cubicBezTo>
                  <a:cubicBezTo>
                    <a:pt x="1860" y="32"/>
                    <a:pt x="1773" y="0"/>
                    <a:pt x="1686" y="0"/>
                  </a:cubicBezTo>
                  <a:cubicBezTo>
                    <a:pt x="1600" y="0"/>
                    <a:pt x="1513" y="32"/>
                    <a:pt x="1450" y="95"/>
                  </a:cubicBezTo>
                  <a:lnTo>
                    <a:pt x="1009" y="504"/>
                  </a:lnTo>
                  <a:lnTo>
                    <a:pt x="568" y="95"/>
                  </a:lnTo>
                  <a:cubicBezTo>
                    <a:pt x="521" y="32"/>
                    <a:pt x="434" y="0"/>
                    <a:pt x="34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3"/>
            <p:cNvSpPr/>
            <p:nvPr/>
          </p:nvSpPr>
          <p:spPr>
            <a:xfrm>
              <a:off x="-5224050" y="2107875"/>
              <a:ext cx="51200" cy="49825"/>
            </a:xfrm>
            <a:custGeom>
              <a:rect b="b" l="l" r="r" t="t"/>
              <a:pathLst>
                <a:path extrusionOk="0" h="1993" w="2048">
                  <a:moveTo>
                    <a:pt x="351" y="0"/>
                  </a:moveTo>
                  <a:cubicBezTo>
                    <a:pt x="260" y="0"/>
                    <a:pt x="173" y="24"/>
                    <a:pt x="126" y="71"/>
                  </a:cubicBezTo>
                  <a:cubicBezTo>
                    <a:pt x="0" y="197"/>
                    <a:pt x="0" y="449"/>
                    <a:pt x="126" y="544"/>
                  </a:cubicBezTo>
                  <a:lnTo>
                    <a:pt x="536" y="985"/>
                  </a:lnTo>
                  <a:lnTo>
                    <a:pt x="126" y="1426"/>
                  </a:lnTo>
                  <a:cubicBezTo>
                    <a:pt x="0" y="1552"/>
                    <a:pt x="0" y="1772"/>
                    <a:pt x="126" y="1898"/>
                  </a:cubicBezTo>
                  <a:cubicBezTo>
                    <a:pt x="173" y="1961"/>
                    <a:pt x="260" y="1993"/>
                    <a:pt x="351" y="1993"/>
                  </a:cubicBezTo>
                  <a:cubicBezTo>
                    <a:pt x="441" y="1993"/>
                    <a:pt x="536" y="1961"/>
                    <a:pt x="599" y="1898"/>
                  </a:cubicBezTo>
                  <a:lnTo>
                    <a:pt x="1008" y="1457"/>
                  </a:lnTo>
                  <a:lnTo>
                    <a:pt x="1449" y="1898"/>
                  </a:lnTo>
                  <a:cubicBezTo>
                    <a:pt x="1512" y="1961"/>
                    <a:pt x="1599" y="1993"/>
                    <a:pt x="1686" y="1993"/>
                  </a:cubicBezTo>
                  <a:cubicBezTo>
                    <a:pt x="1772" y="1993"/>
                    <a:pt x="1859" y="1961"/>
                    <a:pt x="1922" y="1898"/>
                  </a:cubicBezTo>
                  <a:cubicBezTo>
                    <a:pt x="2048" y="1772"/>
                    <a:pt x="2048" y="1520"/>
                    <a:pt x="1922" y="1426"/>
                  </a:cubicBezTo>
                  <a:lnTo>
                    <a:pt x="1481" y="985"/>
                  </a:lnTo>
                  <a:lnTo>
                    <a:pt x="1922" y="544"/>
                  </a:lnTo>
                  <a:cubicBezTo>
                    <a:pt x="2048" y="449"/>
                    <a:pt x="2048" y="197"/>
                    <a:pt x="1922" y="71"/>
                  </a:cubicBezTo>
                  <a:cubicBezTo>
                    <a:pt x="1875" y="24"/>
                    <a:pt x="1788" y="0"/>
                    <a:pt x="1697" y="0"/>
                  </a:cubicBezTo>
                  <a:cubicBezTo>
                    <a:pt x="1607" y="0"/>
                    <a:pt x="1512" y="24"/>
                    <a:pt x="1449" y="71"/>
                  </a:cubicBezTo>
                  <a:lnTo>
                    <a:pt x="1008" y="512"/>
                  </a:lnTo>
                  <a:lnTo>
                    <a:pt x="599" y="71"/>
                  </a:lnTo>
                  <a:cubicBezTo>
                    <a:pt x="536" y="24"/>
                    <a:pt x="441"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3"/>
            <p:cNvSpPr/>
            <p:nvPr/>
          </p:nvSpPr>
          <p:spPr>
            <a:xfrm>
              <a:off x="-5276050" y="2037975"/>
              <a:ext cx="292250" cy="292225"/>
            </a:xfrm>
            <a:custGeom>
              <a:rect b="b" l="l" r="r" t="t"/>
              <a:pathLst>
                <a:path extrusionOk="0" h="11689" w="11690">
                  <a:moveTo>
                    <a:pt x="10334" y="3119"/>
                  </a:moveTo>
                  <a:cubicBezTo>
                    <a:pt x="10712" y="3119"/>
                    <a:pt x="11028" y="3403"/>
                    <a:pt x="11028" y="3781"/>
                  </a:cubicBezTo>
                  <a:cubicBezTo>
                    <a:pt x="11028" y="4190"/>
                    <a:pt x="10712" y="4442"/>
                    <a:pt x="10334" y="4442"/>
                  </a:cubicBezTo>
                  <a:cubicBezTo>
                    <a:pt x="9956" y="4442"/>
                    <a:pt x="9673" y="4127"/>
                    <a:pt x="9673" y="3781"/>
                  </a:cubicBezTo>
                  <a:cubicBezTo>
                    <a:pt x="9673" y="3403"/>
                    <a:pt x="9988" y="3119"/>
                    <a:pt x="10334" y="3119"/>
                  </a:cubicBezTo>
                  <a:close/>
                  <a:moveTo>
                    <a:pt x="4443" y="7593"/>
                  </a:moveTo>
                  <a:cubicBezTo>
                    <a:pt x="4853" y="7593"/>
                    <a:pt x="5105" y="7908"/>
                    <a:pt x="5105" y="8255"/>
                  </a:cubicBezTo>
                  <a:cubicBezTo>
                    <a:pt x="5105" y="8664"/>
                    <a:pt x="4790" y="8948"/>
                    <a:pt x="4443" y="8948"/>
                  </a:cubicBezTo>
                  <a:cubicBezTo>
                    <a:pt x="4065" y="8948"/>
                    <a:pt x="3781" y="8633"/>
                    <a:pt x="3781" y="8255"/>
                  </a:cubicBezTo>
                  <a:cubicBezTo>
                    <a:pt x="3781" y="7876"/>
                    <a:pt x="4096" y="7593"/>
                    <a:pt x="4443" y="7593"/>
                  </a:cubicBezTo>
                  <a:close/>
                  <a:moveTo>
                    <a:pt x="5829" y="725"/>
                  </a:moveTo>
                  <a:cubicBezTo>
                    <a:pt x="7341" y="725"/>
                    <a:pt x="8822" y="1386"/>
                    <a:pt x="9799" y="2521"/>
                  </a:cubicBezTo>
                  <a:cubicBezTo>
                    <a:pt x="9326" y="2710"/>
                    <a:pt x="8980" y="3245"/>
                    <a:pt x="8980" y="3781"/>
                  </a:cubicBezTo>
                  <a:cubicBezTo>
                    <a:pt x="8980" y="3718"/>
                    <a:pt x="8917" y="3623"/>
                    <a:pt x="8885" y="3560"/>
                  </a:cubicBezTo>
                  <a:lnTo>
                    <a:pt x="8854" y="3497"/>
                  </a:lnTo>
                  <a:lnTo>
                    <a:pt x="8192" y="2836"/>
                  </a:lnTo>
                  <a:cubicBezTo>
                    <a:pt x="8129" y="2773"/>
                    <a:pt x="8035" y="2741"/>
                    <a:pt x="7944" y="2741"/>
                  </a:cubicBezTo>
                  <a:cubicBezTo>
                    <a:pt x="7853" y="2741"/>
                    <a:pt x="7767" y="2773"/>
                    <a:pt x="7719" y="2836"/>
                  </a:cubicBezTo>
                  <a:cubicBezTo>
                    <a:pt x="7593" y="2962"/>
                    <a:pt x="7593" y="3182"/>
                    <a:pt x="7719" y="3308"/>
                  </a:cubicBezTo>
                  <a:lnTo>
                    <a:pt x="7814" y="3434"/>
                  </a:lnTo>
                  <a:cubicBezTo>
                    <a:pt x="6869" y="3466"/>
                    <a:pt x="5987" y="3875"/>
                    <a:pt x="5262" y="4568"/>
                  </a:cubicBezTo>
                  <a:cubicBezTo>
                    <a:pt x="4600" y="5230"/>
                    <a:pt x="4254" y="6081"/>
                    <a:pt x="4159" y="6963"/>
                  </a:cubicBezTo>
                  <a:cubicBezTo>
                    <a:pt x="3561" y="7120"/>
                    <a:pt x="3151" y="7656"/>
                    <a:pt x="3151" y="8318"/>
                  </a:cubicBezTo>
                  <a:cubicBezTo>
                    <a:pt x="3151" y="9074"/>
                    <a:pt x="3781" y="9704"/>
                    <a:pt x="4506" y="9704"/>
                  </a:cubicBezTo>
                  <a:cubicBezTo>
                    <a:pt x="5262" y="9704"/>
                    <a:pt x="5892" y="9074"/>
                    <a:pt x="5892" y="8318"/>
                  </a:cubicBezTo>
                  <a:cubicBezTo>
                    <a:pt x="5892" y="7687"/>
                    <a:pt x="5451" y="7120"/>
                    <a:pt x="4884" y="6963"/>
                  </a:cubicBezTo>
                  <a:cubicBezTo>
                    <a:pt x="5042" y="5482"/>
                    <a:pt x="6302" y="4222"/>
                    <a:pt x="7814" y="4127"/>
                  </a:cubicBezTo>
                  <a:lnTo>
                    <a:pt x="7814" y="4127"/>
                  </a:lnTo>
                  <a:lnTo>
                    <a:pt x="7751" y="4222"/>
                  </a:lnTo>
                  <a:cubicBezTo>
                    <a:pt x="7625" y="4348"/>
                    <a:pt x="7625" y="4568"/>
                    <a:pt x="7751" y="4694"/>
                  </a:cubicBezTo>
                  <a:cubicBezTo>
                    <a:pt x="7814" y="4757"/>
                    <a:pt x="7901" y="4789"/>
                    <a:pt x="7987" y="4789"/>
                  </a:cubicBezTo>
                  <a:cubicBezTo>
                    <a:pt x="8074" y="4789"/>
                    <a:pt x="8161" y="4757"/>
                    <a:pt x="8224" y="4694"/>
                  </a:cubicBezTo>
                  <a:lnTo>
                    <a:pt x="8885" y="4033"/>
                  </a:lnTo>
                  <a:cubicBezTo>
                    <a:pt x="8980" y="3938"/>
                    <a:pt x="9011" y="3875"/>
                    <a:pt x="9011" y="3781"/>
                  </a:cubicBezTo>
                  <a:cubicBezTo>
                    <a:pt x="9011" y="4537"/>
                    <a:pt x="9641" y="5167"/>
                    <a:pt x="10397" y="5167"/>
                  </a:cubicBezTo>
                  <a:cubicBezTo>
                    <a:pt x="10618" y="5167"/>
                    <a:pt x="10807" y="5136"/>
                    <a:pt x="11028" y="5010"/>
                  </a:cubicBezTo>
                  <a:cubicBezTo>
                    <a:pt x="11059" y="5293"/>
                    <a:pt x="11091" y="5545"/>
                    <a:pt x="11091" y="5829"/>
                  </a:cubicBezTo>
                  <a:cubicBezTo>
                    <a:pt x="11028" y="8696"/>
                    <a:pt x="8696" y="11027"/>
                    <a:pt x="5829" y="11027"/>
                  </a:cubicBezTo>
                  <a:cubicBezTo>
                    <a:pt x="2994" y="11027"/>
                    <a:pt x="694" y="8696"/>
                    <a:pt x="694" y="5829"/>
                  </a:cubicBezTo>
                  <a:cubicBezTo>
                    <a:pt x="694" y="2993"/>
                    <a:pt x="2994" y="725"/>
                    <a:pt x="5829" y="725"/>
                  </a:cubicBezTo>
                  <a:close/>
                  <a:moveTo>
                    <a:pt x="5829" y="0"/>
                  </a:moveTo>
                  <a:cubicBezTo>
                    <a:pt x="2584" y="0"/>
                    <a:pt x="1" y="2615"/>
                    <a:pt x="1" y="5829"/>
                  </a:cubicBezTo>
                  <a:cubicBezTo>
                    <a:pt x="1" y="7404"/>
                    <a:pt x="599" y="8853"/>
                    <a:pt x="1702" y="9956"/>
                  </a:cubicBezTo>
                  <a:cubicBezTo>
                    <a:pt x="2773" y="11058"/>
                    <a:pt x="4254" y="11689"/>
                    <a:pt x="5829" y="11689"/>
                  </a:cubicBezTo>
                  <a:cubicBezTo>
                    <a:pt x="6617" y="11689"/>
                    <a:pt x="7341" y="11531"/>
                    <a:pt x="8098" y="11216"/>
                  </a:cubicBezTo>
                  <a:cubicBezTo>
                    <a:pt x="8822" y="10901"/>
                    <a:pt x="9452" y="10523"/>
                    <a:pt x="9956" y="9956"/>
                  </a:cubicBezTo>
                  <a:cubicBezTo>
                    <a:pt x="10492" y="9420"/>
                    <a:pt x="10901" y="8790"/>
                    <a:pt x="11217" y="8128"/>
                  </a:cubicBezTo>
                  <a:cubicBezTo>
                    <a:pt x="11532" y="7404"/>
                    <a:pt x="11689" y="6616"/>
                    <a:pt x="11689" y="5829"/>
                  </a:cubicBezTo>
                  <a:cubicBezTo>
                    <a:pt x="11689" y="5356"/>
                    <a:pt x="11658" y="4884"/>
                    <a:pt x="11532" y="4442"/>
                  </a:cubicBezTo>
                  <a:cubicBezTo>
                    <a:pt x="11595" y="4253"/>
                    <a:pt x="11689" y="4033"/>
                    <a:pt x="11689" y="3781"/>
                  </a:cubicBezTo>
                  <a:cubicBezTo>
                    <a:pt x="11689" y="3119"/>
                    <a:pt x="11217" y="2552"/>
                    <a:pt x="10586" y="2458"/>
                  </a:cubicBezTo>
                  <a:cubicBezTo>
                    <a:pt x="9484" y="945"/>
                    <a:pt x="7719"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0" name="Google Shape;300;p13"/>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301" name="Google Shape;301;p13"/>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4"/>
          <p:cNvSpPr/>
          <p:nvPr/>
        </p:nvSpPr>
        <p:spPr>
          <a:xfrm rot="10800000">
            <a:off x="75825" y="0"/>
            <a:ext cx="2264758" cy="5143500"/>
          </a:xfrm>
          <a:prstGeom prst="parallelogram">
            <a:avLst>
              <a:gd fmla="val 20300" name="adj"/>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4"/>
          <p:cNvSpPr txBox="1"/>
          <p:nvPr>
            <p:ph type="title"/>
          </p:nvPr>
        </p:nvSpPr>
        <p:spPr>
          <a:xfrm>
            <a:off x="2438400" y="166959"/>
            <a:ext cx="5116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pt-BR"/>
              <a:t>O QUE É GMAT?</a:t>
            </a:r>
            <a:endParaRPr/>
          </a:p>
        </p:txBody>
      </p:sp>
      <p:sp>
        <p:nvSpPr>
          <p:cNvPr id="308" name="Google Shape;308;p14"/>
          <p:cNvSpPr txBox="1"/>
          <p:nvPr>
            <p:ph idx="2" type="subTitle"/>
          </p:nvPr>
        </p:nvSpPr>
        <p:spPr>
          <a:xfrm>
            <a:off x="2999100" y="687772"/>
            <a:ext cx="4073400" cy="681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pt-BR"/>
              <a:t>Onde mais esse modelo aparece?</a:t>
            </a:r>
            <a:endParaRPr/>
          </a:p>
        </p:txBody>
      </p:sp>
      <p:sp>
        <p:nvSpPr>
          <p:cNvPr id="309" name="Google Shape;309;p14"/>
          <p:cNvSpPr txBox="1"/>
          <p:nvPr>
            <p:ph idx="4" type="subTitle"/>
          </p:nvPr>
        </p:nvSpPr>
        <p:spPr>
          <a:xfrm>
            <a:off x="3711075" y="1462141"/>
            <a:ext cx="40734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CONSULTORIAS</a:t>
            </a:r>
            <a:endParaRPr/>
          </a:p>
        </p:txBody>
      </p:sp>
      <p:sp>
        <p:nvSpPr>
          <p:cNvPr id="310" name="Google Shape;310;p14"/>
          <p:cNvSpPr txBox="1"/>
          <p:nvPr>
            <p:ph idx="5" type="subTitle"/>
          </p:nvPr>
        </p:nvSpPr>
        <p:spPr>
          <a:xfrm>
            <a:off x="3757425" y="3850885"/>
            <a:ext cx="40734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START UP</a:t>
            </a:r>
            <a:endParaRPr/>
          </a:p>
        </p:txBody>
      </p:sp>
      <p:sp>
        <p:nvSpPr>
          <p:cNvPr id="311" name="Google Shape;311;p14"/>
          <p:cNvSpPr txBox="1"/>
          <p:nvPr>
            <p:ph idx="6" type="subTitle"/>
          </p:nvPr>
        </p:nvSpPr>
        <p:spPr>
          <a:xfrm>
            <a:off x="3742700" y="2656513"/>
            <a:ext cx="40734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BANCOS</a:t>
            </a:r>
            <a:endParaRPr/>
          </a:p>
        </p:txBody>
      </p:sp>
      <p:sp>
        <p:nvSpPr>
          <p:cNvPr id="312" name="Google Shape;312;p14"/>
          <p:cNvSpPr/>
          <p:nvPr/>
        </p:nvSpPr>
        <p:spPr>
          <a:xfrm>
            <a:off x="3065775" y="1400388"/>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4"/>
          <p:cNvSpPr/>
          <p:nvPr/>
        </p:nvSpPr>
        <p:spPr>
          <a:xfrm>
            <a:off x="3065775" y="2593513"/>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4"/>
          <p:cNvSpPr/>
          <p:nvPr/>
        </p:nvSpPr>
        <p:spPr>
          <a:xfrm>
            <a:off x="3065775" y="3787388"/>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4"/>
          <p:cNvSpPr/>
          <p:nvPr/>
        </p:nvSpPr>
        <p:spPr>
          <a:xfrm>
            <a:off x="3223437" y="1538106"/>
            <a:ext cx="300263" cy="340186"/>
          </a:xfrm>
          <a:custGeom>
            <a:rect b="b" l="l" r="r" t="t"/>
            <a:pathLst>
              <a:path extrusionOk="0" h="19326" w="17058">
                <a:moveTo>
                  <a:pt x="15013" y="2021"/>
                </a:moveTo>
                <a:lnTo>
                  <a:pt x="11577" y="5741"/>
                </a:lnTo>
                <a:cubicBezTo>
                  <a:pt x="11378" y="5958"/>
                  <a:pt x="11378" y="6290"/>
                  <a:pt x="11577" y="6507"/>
                </a:cubicBezTo>
                <a:lnTo>
                  <a:pt x="15013" y="10230"/>
                </a:lnTo>
                <a:lnTo>
                  <a:pt x="3195" y="10230"/>
                </a:lnTo>
                <a:lnTo>
                  <a:pt x="3195" y="2021"/>
                </a:lnTo>
                <a:close/>
                <a:moveTo>
                  <a:pt x="1716" y="1133"/>
                </a:moveTo>
                <a:cubicBezTo>
                  <a:pt x="1906" y="1136"/>
                  <a:pt x="2060" y="1290"/>
                  <a:pt x="2063" y="1480"/>
                </a:cubicBezTo>
                <a:lnTo>
                  <a:pt x="2063" y="17846"/>
                </a:lnTo>
                <a:cubicBezTo>
                  <a:pt x="2060" y="18036"/>
                  <a:pt x="1906" y="18190"/>
                  <a:pt x="1716" y="18193"/>
                </a:cubicBezTo>
                <a:lnTo>
                  <a:pt x="1483" y="18193"/>
                </a:lnTo>
                <a:cubicBezTo>
                  <a:pt x="1290" y="18190"/>
                  <a:pt x="1136" y="18036"/>
                  <a:pt x="1133" y="17846"/>
                </a:cubicBezTo>
                <a:lnTo>
                  <a:pt x="1133" y="1480"/>
                </a:lnTo>
                <a:cubicBezTo>
                  <a:pt x="1136" y="1290"/>
                  <a:pt x="1290" y="1136"/>
                  <a:pt x="1483" y="1133"/>
                </a:cubicBezTo>
                <a:close/>
                <a:moveTo>
                  <a:pt x="1483" y="1"/>
                </a:moveTo>
                <a:cubicBezTo>
                  <a:pt x="665" y="1"/>
                  <a:pt x="4" y="665"/>
                  <a:pt x="1" y="1480"/>
                </a:cubicBezTo>
                <a:lnTo>
                  <a:pt x="1" y="17846"/>
                </a:lnTo>
                <a:cubicBezTo>
                  <a:pt x="4" y="18661"/>
                  <a:pt x="665" y="19325"/>
                  <a:pt x="1483" y="19325"/>
                </a:cubicBezTo>
                <a:lnTo>
                  <a:pt x="1716" y="19325"/>
                </a:lnTo>
                <a:cubicBezTo>
                  <a:pt x="2531" y="19325"/>
                  <a:pt x="3195" y="18661"/>
                  <a:pt x="3195" y="17846"/>
                </a:cubicBezTo>
                <a:lnTo>
                  <a:pt x="3195" y="11363"/>
                </a:lnTo>
                <a:lnTo>
                  <a:pt x="16306" y="11363"/>
                </a:lnTo>
                <a:cubicBezTo>
                  <a:pt x="16801" y="11360"/>
                  <a:pt x="17058" y="10774"/>
                  <a:pt x="16722" y="10412"/>
                </a:cubicBezTo>
                <a:lnTo>
                  <a:pt x="12764" y="6124"/>
                </a:lnTo>
                <a:lnTo>
                  <a:pt x="16722" y="1836"/>
                </a:lnTo>
                <a:cubicBezTo>
                  <a:pt x="16873" y="1673"/>
                  <a:pt x="16916" y="1432"/>
                  <a:pt x="16825" y="1226"/>
                </a:cubicBezTo>
                <a:cubicBezTo>
                  <a:pt x="16734" y="1021"/>
                  <a:pt x="16532" y="885"/>
                  <a:pt x="16306" y="885"/>
                </a:cubicBezTo>
                <a:lnTo>
                  <a:pt x="3071" y="885"/>
                </a:lnTo>
                <a:cubicBezTo>
                  <a:pt x="2833" y="348"/>
                  <a:pt x="2302"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nvGrpSpPr>
          <p:cNvPr id="316" name="Google Shape;316;p14"/>
          <p:cNvGrpSpPr/>
          <p:nvPr/>
        </p:nvGrpSpPr>
        <p:grpSpPr>
          <a:xfrm>
            <a:off x="3197446" y="2727425"/>
            <a:ext cx="352230" cy="348542"/>
            <a:chOff x="1049375" y="2318350"/>
            <a:chExt cx="298525" cy="295400"/>
          </a:xfrm>
        </p:grpSpPr>
        <p:sp>
          <p:nvSpPr>
            <p:cNvPr id="317" name="Google Shape;317;p14"/>
            <p:cNvSpPr/>
            <p:nvPr/>
          </p:nvSpPr>
          <p:spPr>
            <a:xfrm>
              <a:off x="1101350" y="2492325"/>
              <a:ext cx="70125" cy="50525"/>
            </a:xfrm>
            <a:custGeom>
              <a:rect b="b" l="l" r="r" t="t"/>
              <a:pathLst>
                <a:path extrusionOk="0" h="2021" w="2805">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4"/>
            <p:cNvSpPr/>
            <p:nvPr/>
          </p:nvSpPr>
          <p:spPr>
            <a:xfrm>
              <a:off x="1101350" y="2440525"/>
              <a:ext cx="70125" cy="51150"/>
            </a:xfrm>
            <a:custGeom>
              <a:rect b="b" l="l" r="r" t="t"/>
              <a:pathLst>
                <a:path extrusionOk="0" h="2046" w="2805">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4"/>
            <p:cNvSpPr/>
            <p:nvPr/>
          </p:nvSpPr>
          <p:spPr>
            <a:xfrm>
              <a:off x="1101350" y="2388550"/>
              <a:ext cx="70125" cy="51125"/>
            </a:xfrm>
            <a:custGeom>
              <a:rect b="b" l="l" r="r" t="t"/>
              <a:pathLst>
                <a:path extrusionOk="0" h="2045" w="2805">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4"/>
            <p:cNvSpPr/>
            <p:nvPr/>
          </p:nvSpPr>
          <p:spPr>
            <a:xfrm>
              <a:off x="1049375" y="2318350"/>
              <a:ext cx="298525" cy="295400"/>
            </a:xfrm>
            <a:custGeom>
              <a:rect b="b" l="l" r="r" t="t"/>
              <a:pathLst>
                <a:path extrusionOk="0" h="11816" w="11941">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1" name="Google Shape;321;p14"/>
          <p:cNvGrpSpPr/>
          <p:nvPr/>
        </p:nvGrpSpPr>
        <p:grpSpPr>
          <a:xfrm>
            <a:off x="3162595" y="3884247"/>
            <a:ext cx="421951" cy="421914"/>
            <a:chOff x="-5276050" y="2037975"/>
            <a:chExt cx="292250" cy="292225"/>
          </a:xfrm>
        </p:grpSpPr>
        <p:sp>
          <p:nvSpPr>
            <p:cNvPr id="322" name="Google Shape;322;p14"/>
            <p:cNvSpPr/>
            <p:nvPr/>
          </p:nvSpPr>
          <p:spPr>
            <a:xfrm>
              <a:off x="-5102775" y="2211250"/>
              <a:ext cx="51225" cy="49650"/>
            </a:xfrm>
            <a:custGeom>
              <a:rect b="b" l="l" r="r" t="t"/>
              <a:pathLst>
                <a:path extrusionOk="0" h="1986" w="2049">
                  <a:moveTo>
                    <a:pt x="343" y="0"/>
                  </a:moveTo>
                  <a:cubicBezTo>
                    <a:pt x="253" y="0"/>
                    <a:pt x="158" y="32"/>
                    <a:pt x="95" y="95"/>
                  </a:cubicBezTo>
                  <a:cubicBezTo>
                    <a:pt x="1" y="189"/>
                    <a:pt x="1" y="441"/>
                    <a:pt x="95" y="536"/>
                  </a:cubicBezTo>
                  <a:lnTo>
                    <a:pt x="536" y="977"/>
                  </a:lnTo>
                  <a:lnTo>
                    <a:pt x="95" y="1418"/>
                  </a:lnTo>
                  <a:cubicBezTo>
                    <a:pt x="1" y="1544"/>
                    <a:pt x="1" y="1765"/>
                    <a:pt x="95" y="1891"/>
                  </a:cubicBezTo>
                  <a:cubicBezTo>
                    <a:pt x="158" y="1954"/>
                    <a:pt x="253" y="1985"/>
                    <a:pt x="343" y="1985"/>
                  </a:cubicBezTo>
                  <a:cubicBezTo>
                    <a:pt x="434" y="1985"/>
                    <a:pt x="521" y="1954"/>
                    <a:pt x="568" y="1891"/>
                  </a:cubicBezTo>
                  <a:lnTo>
                    <a:pt x="1009" y="1450"/>
                  </a:lnTo>
                  <a:lnTo>
                    <a:pt x="1450" y="1891"/>
                  </a:lnTo>
                  <a:cubicBezTo>
                    <a:pt x="1513" y="1954"/>
                    <a:pt x="1600" y="1985"/>
                    <a:pt x="1686" y="1985"/>
                  </a:cubicBezTo>
                  <a:cubicBezTo>
                    <a:pt x="1773" y="1985"/>
                    <a:pt x="1860" y="1954"/>
                    <a:pt x="1923" y="1891"/>
                  </a:cubicBezTo>
                  <a:cubicBezTo>
                    <a:pt x="2049" y="1765"/>
                    <a:pt x="2049" y="1544"/>
                    <a:pt x="1923" y="1418"/>
                  </a:cubicBezTo>
                  <a:lnTo>
                    <a:pt x="1482" y="977"/>
                  </a:lnTo>
                  <a:lnTo>
                    <a:pt x="1923" y="536"/>
                  </a:lnTo>
                  <a:cubicBezTo>
                    <a:pt x="2049" y="441"/>
                    <a:pt x="2049" y="189"/>
                    <a:pt x="1923" y="95"/>
                  </a:cubicBezTo>
                  <a:cubicBezTo>
                    <a:pt x="1860" y="32"/>
                    <a:pt x="1773" y="0"/>
                    <a:pt x="1686" y="0"/>
                  </a:cubicBezTo>
                  <a:cubicBezTo>
                    <a:pt x="1600" y="0"/>
                    <a:pt x="1513" y="32"/>
                    <a:pt x="1450" y="95"/>
                  </a:cubicBezTo>
                  <a:lnTo>
                    <a:pt x="1009" y="504"/>
                  </a:lnTo>
                  <a:lnTo>
                    <a:pt x="568" y="95"/>
                  </a:lnTo>
                  <a:cubicBezTo>
                    <a:pt x="521" y="32"/>
                    <a:pt x="434" y="0"/>
                    <a:pt x="34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4"/>
            <p:cNvSpPr/>
            <p:nvPr/>
          </p:nvSpPr>
          <p:spPr>
            <a:xfrm>
              <a:off x="-5224050" y="2107875"/>
              <a:ext cx="51200" cy="49825"/>
            </a:xfrm>
            <a:custGeom>
              <a:rect b="b" l="l" r="r" t="t"/>
              <a:pathLst>
                <a:path extrusionOk="0" h="1993" w="2048">
                  <a:moveTo>
                    <a:pt x="351" y="0"/>
                  </a:moveTo>
                  <a:cubicBezTo>
                    <a:pt x="260" y="0"/>
                    <a:pt x="173" y="24"/>
                    <a:pt x="126" y="71"/>
                  </a:cubicBezTo>
                  <a:cubicBezTo>
                    <a:pt x="0" y="197"/>
                    <a:pt x="0" y="449"/>
                    <a:pt x="126" y="544"/>
                  </a:cubicBezTo>
                  <a:lnTo>
                    <a:pt x="536" y="985"/>
                  </a:lnTo>
                  <a:lnTo>
                    <a:pt x="126" y="1426"/>
                  </a:lnTo>
                  <a:cubicBezTo>
                    <a:pt x="0" y="1552"/>
                    <a:pt x="0" y="1772"/>
                    <a:pt x="126" y="1898"/>
                  </a:cubicBezTo>
                  <a:cubicBezTo>
                    <a:pt x="173" y="1961"/>
                    <a:pt x="260" y="1993"/>
                    <a:pt x="351" y="1993"/>
                  </a:cubicBezTo>
                  <a:cubicBezTo>
                    <a:pt x="441" y="1993"/>
                    <a:pt x="536" y="1961"/>
                    <a:pt x="599" y="1898"/>
                  </a:cubicBezTo>
                  <a:lnTo>
                    <a:pt x="1008" y="1457"/>
                  </a:lnTo>
                  <a:lnTo>
                    <a:pt x="1449" y="1898"/>
                  </a:lnTo>
                  <a:cubicBezTo>
                    <a:pt x="1512" y="1961"/>
                    <a:pt x="1599" y="1993"/>
                    <a:pt x="1686" y="1993"/>
                  </a:cubicBezTo>
                  <a:cubicBezTo>
                    <a:pt x="1772" y="1993"/>
                    <a:pt x="1859" y="1961"/>
                    <a:pt x="1922" y="1898"/>
                  </a:cubicBezTo>
                  <a:cubicBezTo>
                    <a:pt x="2048" y="1772"/>
                    <a:pt x="2048" y="1520"/>
                    <a:pt x="1922" y="1426"/>
                  </a:cubicBezTo>
                  <a:lnTo>
                    <a:pt x="1481" y="985"/>
                  </a:lnTo>
                  <a:lnTo>
                    <a:pt x="1922" y="544"/>
                  </a:lnTo>
                  <a:cubicBezTo>
                    <a:pt x="2048" y="449"/>
                    <a:pt x="2048" y="197"/>
                    <a:pt x="1922" y="71"/>
                  </a:cubicBezTo>
                  <a:cubicBezTo>
                    <a:pt x="1875" y="24"/>
                    <a:pt x="1788" y="0"/>
                    <a:pt x="1697" y="0"/>
                  </a:cubicBezTo>
                  <a:cubicBezTo>
                    <a:pt x="1607" y="0"/>
                    <a:pt x="1512" y="24"/>
                    <a:pt x="1449" y="71"/>
                  </a:cubicBezTo>
                  <a:lnTo>
                    <a:pt x="1008" y="512"/>
                  </a:lnTo>
                  <a:lnTo>
                    <a:pt x="599" y="71"/>
                  </a:lnTo>
                  <a:cubicBezTo>
                    <a:pt x="536" y="24"/>
                    <a:pt x="441"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4"/>
            <p:cNvSpPr/>
            <p:nvPr/>
          </p:nvSpPr>
          <p:spPr>
            <a:xfrm>
              <a:off x="-5276050" y="2037975"/>
              <a:ext cx="292250" cy="292225"/>
            </a:xfrm>
            <a:custGeom>
              <a:rect b="b" l="l" r="r" t="t"/>
              <a:pathLst>
                <a:path extrusionOk="0" h="11689" w="11690">
                  <a:moveTo>
                    <a:pt x="10334" y="3119"/>
                  </a:moveTo>
                  <a:cubicBezTo>
                    <a:pt x="10712" y="3119"/>
                    <a:pt x="11028" y="3403"/>
                    <a:pt x="11028" y="3781"/>
                  </a:cubicBezTo>
                  <a:cubicBezTo>
                    <a:pt x="11028" y="4190"/>
                    <a:pt x="10712" y="4442"/>
                    <a:pt x="10334" y="4442"/>
                  </a:cubicBezTo>
                  <a:cubicBezTo>
                    <a:pt x="9956" y="4442"/>
                    <a:pt x="9673" y="4127"/>
                    <a:pt x="9673" y="3781"/>
                  </a:cubicBezTo>
                  <a:cubicBezTo>
                    <a:pt x="9673" y="3403"/>
                    <a:pt x="9988" y="3119"/>
                    <a:pt x="10334" y="3119"/>
                  </a:cubicBezTo>
                  <a:close/>
                  <a:moveTo>
                    <a:pt x="4443" y="7593"/>
                  </a:moveTo>
                  <a:cubicBezTo>
                    <a:pt x="4853" y="7593"/>
                    <a:pt x="5105" y="7908"/>
                    <a:pt x="5105" y="8255"/>
                  </a:cubicBezTo>
                  <a:cubicBezTo>
                    <a:pt x="5105" y="8664"/>
                    <a:pt x="4790" y="8948"/>
                    <a:pt x="4443" y="8948"/>
                  </a:cubicBezTo>
                  <a:cubicBezTo>
                    <a:pt x="4065" y="8948"/>
                    <a:pt x="3781" y="8633"/>
                    <a:pt x="3781" y="8255"/>
                  </a:cubicBezTo>
                  <a:cubicBezTo>
                    <a:pt x="3781" y="7876"/>
                    <a:pt x="4096" y="7593"/>
                    <a:pt x="4443" y="7593"/>
                  </a:cubicBezTo>
                  <a:close/>
                  <a:moveTo>
                    <a:pt x="5829" y="725"/>
                  </a:moveTo>
                  <a:cubicBezTo>
                    <a:pt x="7341" y="725"/>
                    <a:pt x="8822" y="1386"/>
                    <a:pt x="9799" y="2521"/>
                  </a:cubicBezTo>
                  <a:cubicBezTo>
                    <a:pt x="9326" y="2710"/>
                    <a:pt x="8980" y="3245"/>
                    <a:pt x="8980" y="3781"/>
                  </a:cubicBezTo>
                  <a:cubicBezTo>
                    <a:pt x="8980" y="3718"/>
                    <a:pt x="8917" y="3623"/>
                    <a:pt x="8885" y="3560"/>
                  </a:cubicBezTo>
                  <a:lnTo>
                    <a:pt x="8854" y="3497"/>
                  </a:lnTo>
                  <a:lnTo>
                    <a:pt x="8192" y="2836"/>
                  </a:lnTo>
                  <a:cubicBezTo>
                    <a:pt x="8129" y="2773"/>
                    <a:pt x="8035" y="2741"/>
                    <a:pt x="7944" y="2741"/>
                  </a:cubicBezTo>
                  <a:cubicBezTo>
                    <a:pt x="7853" y="2741"/>
                    <a:pt x="7767" y="2773"/>
                    <a:pt x="7719" y="2836"/>
                  </a:cubicBezTo>
                  <a:cubicBezTo>
                    <a:pt x="7593" y="2962"/>
                    <a:pt x="7593" y="3182"/>
                    <a:pt x="7719" y="3308"/>
                  </a:cubicBezTo>
                  <a:lnTo>
                    <a:pt x="7814" y="3434"/>
                  </a:lnTo>
                  <a:cubicBezTo>
                    <a:pt x="6869" y="3466"/>
                    <a:pt x="5987" y="3875"/>
                    <a:pt x="5262" y="4568"/>
                  </a:cubicBezTo>
                  <a:cubicBezTo>
                    <a:pt x="4600" y="5230"/>
                    <a:pt x="4254" y="6081"/>
                    <a:pt x="4159" y="6963"/>
                  </a:cubicBezTo>
                  <a:cubicBezTo>
                    <a:pt x="3561" y="7120"/>
                    <a:pt x="3151" y="7656"/>
                    <a:pt x="3151" y="8318"/>
                  </a:cubicBezTo>
                  <a:cubicBezTo>
                    <a:pt x="3151" y="9074"/>
                    <a:pt x="3781" y="9704"/>
                    <a:pt x="4506" y="9704"/>
                  </a:cubicBezTo>
                  <a:cubicBezTo>
                    <a:pt x="5262" y="9704"/>
                    <a:pt x="5892" y="9074"/>
                    <a:pt x="5892" y="8318"/>
                  </a:cubicBezTo>
                  <a:cubicBezTo>
                    <a:pt x="5892" y="7687"/>
                    <a:pt x="5451" y="7120"/>
                    <a:pt x="4884" y="6963"/>
                  </a:cubicBezTo>
                  <a:cubicBezTo>
                    <a:pt x="5042" y="5482"/>
                    <a:pt x="6302" y="4222"/>
                    <a:pt x="7814" y="4127"/>
                  </a:cubicBezTo>
                  <a:lnTo>
                    <a:pt x="7814" y="4127"/>
                  </a:lnTo>
                  <a:lnTo>
                    <a:pt x="7751" y="4222"/>
                  </a:lnTo>
                  <a:cubicBezTo>
                    <a:pt x="7625" y="4348"/>
                    <a:pt x="7625" y="4568"/>
                    <a:pt x="7751" y="4694"/>
                  </a:cubicBezTo>
                  <a:cubicBezTo>
                    <a:pt x="7814" y="4757"/>
                    <a:pt x="7901" y="4789"/>
                    <a:pt x="7987" y="4789"/>
                  </a:cubicBezTo>
                  <a:cubicBezTo>
                    <a:pt x="8074" y="4789"/>
                    <a:pt x="8161" y="4757"/>
                    <a:pt x="8224" y="4694"/>
                  </a:cubicBezTo>
                  <a:lnTo>
                    <a:pt x="8885" y="4033"/>
                  </a:lnTo>
                  <a:cubicBezTo>
                    <a:pt x="8980" y="3938"/>
                    <a:pt x="9011" y="3875"/>
                    <a:pt x="9011" y="3781"/>
                  </a:cubicBezTo>
                  <a:cubicBezTo>
                    <a:pt x="9011" y="4537"/>
                    <a:pt x="9641" y="5167"/>
                    <a:pt x="10397" y="5167"/>
                  </a:cubicBezTo>
                  <a:cubicBezTo>
                    <a:pt x="10618" y="5167"/>
                    <a:pt x="10807" y="5136"/>
                    <a:pt x="11028" y="5010"/>
                  </a:cubicBezTo>
                  <a:cubicBezTo>
                    <a:pt x="11059" y="5293"/>
                    <a:pt x="11091" y="5545"/>
                    <a:pt x="11091" y="5829"/>
                  </a:cubicBezTo>
                  <a:cubicBezTo>
                    <a:pt x="11028" y="8696"/>
                    <a:pt x="8696" y="11027"/>
                    <a:pt x="5829" y="11027"/>
                  </a:cubicBezTo>
                  <a:cubicBezTo>
                    <a:pt x="2994" y="11027"/>
                    <a:pt x="694" y="8696"/>
                    <a:pt x="694" y="5829"/>
                  </a:cubicBezTo>
                  <a:cubicBezTo>
                    <a:pt x="694" y="2993"/>
                    <a:pt x="2994" y="725"/>
                    <a:pt x="5829" y="725"/>
                  </a:cubicBezTo>
                  <a:close/>
                  <a:moveTo>
                    <a:pt x="5829" y="0"/>
                  </a:moveTo>
                  <a:cubicBezTo>
                    <a:pt x="2584" y="0"/>
                    <a:pt x="1" y="2615"/>
                    <a:pt x="1" y="5829"/>
                  </a:cubicBezTo>
                  <a:cubicBezTo>
                    <a:pt x="1" y="7404"/>
                    <a:pt x="599" y="8853"/>
                    <a:pt x="1702" y="9956"/>
                  </a:cubicBezTo>
                  <a:cubicBezTo>
                    <a:pt x="2773" y="11058"/>
                    <a:pt x="4254" y="11689"/>
                    <a:pt x="5829" y="11689"/>
                  </a:cubicBezTo>
                  <a:cubicBezTo>
                    <a:pt x="6617" y="11689"/>
                    <a:pt x="7341" y="11531"/>
                    <a:pt x="8098" y="11216"/>
                  </a:cubicBezTo>
                  <a:cubicBezTo>
                    <a:pt x="8822" y="10901"/>
                    <a:pt x="9452" y="10523"/>
                    <a:pt x="9956" y="9956"/>
                  </a:cubicBezTo>
                  <a:cubicBezTo>
                    <a:pt x="10492" y="9420"/>
                    <a:pt x="10901" y="8790"/>
                    <a:pt x="11217" y="8128"/>
                  </a:cubicBezTo>
                  <a:cubicBezTo>
                    <a:pt x="11532" y="7404"/>
                    <a:pt x="11689" y="6616"/>
                    <a:pt x="11689" y="5829"/>
                  </a:cubicBezTo>
                  <a:cubicBezTo>
                    <a:pt x="11689" y="5356"/>
                    <a:pt x="11658" y="4884"/>
                    <a:pt x="11532" y="4442"/>
                  </a:cubicBezTo>
                  <a:cubicBezTo>
                    <a:pt x="11595" y="4253"/>
                    <a:pt x="11689" y="4033"/>
                    <a:pt x="11689" y="3781"/>
                  </a:cubicBezTo>
                  <a:cubicBezTo>
                    <a:pt x="11689" y="3119"/>
                    <a:pt x="11217" y="2552"/>
                    <a:pt x="10586" y="2458"/>
                  </a:cubicBezTo>
                  <a:cubicBezTo>
                    <a:pt x="9484" y="945"/>
                    <a:pt x="7719"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5" name="Google Shape;325;p14"/>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326" name="Google Shape;326;p14"/>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15"/>
          <p:cNvSpPr txBox="1"/>
          <p:nvPr>
            <p:ph type="title"/>
          </p:nvPr>
        </p:nvSpPr>
        <p:spPr>
          <a:xfrm>
            <a:off x="923925" y="2959400"/>
            <a:ext cx="7344375" cy="1644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600"/>
              <a:buNone/>
            </a:pPr>
            <a:r>
              <a:rPr lang="pt-BR">
                <a:solidFill>
                  <a:srgbClr val="C1272D"/>
                </a:solidFill>
              </a:rPr>
              <a:t>ASPECTOS IMPORTANTES</a:t>
            </a:r>
            <a:r>
              <a:rPr lang="pt-BR">
                <a:solidFill>
                  <a:schemeClr val="lt1"/>
                </a:solidFill>
              </a:rPr>
              <a:t> DA PROVA </a:t>
            </a:r>
            <a:endParaRPr>
              <a:solidFill>
                <a:schemeClr val="lt1"/>
              </a:solidFill>
            </a:endParaRPr>
          </a:p>
        </p:txBody>
      </p:sp>
      <p:sp>
        <p:nvSpPr>
          <p:cNvPr id="332" name="Google Shape;332;p15"/>
          <p:cNvSpPr txBox="1"/>
          <p:nvPr>
            <p:ph idx="3" type="title"/>
          </p:nvPr>
        </p:nvSpPr>
        <p:spPr>
          <a:xfrm>
            <a:off x="7008600" y="1601400"/>
            <a:ext cx="1259700" cy="1259700"/>
          </a:xfrm>
          <a:prstGeom prst="rect">
            <a:avLst/>
          </a:prstGeom>
          <a:solidFill>
            <a:srgbClr val="C1272D"/>
          </a:solid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pt-BR"/>
              <a:t>02.</a:t>
            </a:r>
            <a:endParaRPr/>
          </a:p>
        </p:txBody>
      </p:sp>
      <p:sp>
        <p:nvSpPr>
          <p:cNvPr id="333" name="Google Shape;333;p15"/>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334" name="Google Shape;334;p15"/>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6"/>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ASPECTOS IMPORTANTES DA PROVA</a:t>
            </a:r>
            <a:endParaRPr/>
          </a:p>
        </p:txBody>
      </p:sp>
      <p:sp>
        <p:nvSpPr>
          <p:cNvPr id="340" name="Google Shape;340;p16"/>
          <p:cNvSpPr txBox="1"/>
          <p:nvPr>
            <p:ph idx="3" type="subTitle"/>
          </p:nvPr>
        </p:nvSpPr>
        <p:spPr>
          <a:xfrm>
            <a:off x="1616177" y="1653825"/>
            <a:ext cx="27825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FORMATO</a:t>
            </a:r>
            <a:endParaRPr/>
          </a:p>
        </p:txBody>
      </p:sp>
      <p:sp>
        <p:nvSpPr>
          <p:cNvPr id="341" name="Google Shape;341;p16"/>
          <p:cNvSpPr txBox="1"/>
          <p:nvPr>
            <p:ph idx="4" type="subTitle"/>
          </p:nvPr>
        </p:nvSpPr>
        <p:spPr>
          <a:xfrm>
            <a:off x="5484125" y="1664089"/>
            <a:ext cx="27825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TEMPO</a:t>
            </a:r>
            <a:endParaRPr/>
          </a:p>
        </p:txBody>
      </p:sp>
      <p:sp>
        <p:nvSpPr>
          <p:cNvPr id="342" name="Google Shape;342;p16"/>
          <p:cNvSpPr txBox="1"/>
          <p:nvPr>
            <p:ph idx="7" type="subTitle"/>
          </p:nvPr>
        </p:nvSpPr>
        <p:spPr>
          <a:xfrm>
            <a:off x="1559131" y="3413621"/>
            <a:ext cx="27825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IDIOMA</a:t>
            </a:r>
            <a:endParaRPr/>
          </a:p>
        </p:txBody>
      </p:sp>
      <p:sp>
        <p:nvSpPr>
          <p:cNvPr id="343" name="Google Shape;343;p16"/>
          <p:cNvSpPr txBox="1"/>
          <p:nvPr>
            <p:ph idx="8" type="subTitle"/>
          </p:nvPr>
        </p:nvSpPr>
        <p:spPr>
          <a:xfrm>
            <a:off x="5484125" y="3413621"/>
            <a:ext cx="2782500" cy="489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pt-BR"/>
              <a:t>CONTEÚDO</a:t>
            </a:r>
            <a:endParaRPr/>
          </a:p>
        </p:txBody>
      </p:sp>
      <p:sp>
        <p:nvSpPr>
          <p:cNvPr id="344" name="Google Shape;344;p16"/>
          <p:cNvSpPr/>
          <p:nvPr/>
        </p:nvSpPr>
        <p:spPr>
          <a:xfrm>
            <a:off x="877275" y="1602663"/>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6"/>
          <p:cNvSpPr/>
          <p:nvPr/>
        </p:nvSpPr>
        <p:spPr>
          <a:xfrm>
            <a:off x="4792325" y="1602663"/>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6"/>
          <p:cNvSpPr/>
          <p:nvPr/>
        </p:nvSpPr>
        <p:spPr>
          <a:xfrm>
            <a:off x="877275" y="3350630"/>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6"/>
          <p:cNvSpPr/>
          <p:nvPr/>
        </p:nvSpPr>
        <p:spPr>
          <a:xfrm>
            <a:off x="4792325" y="3350630"/>
            <a:ext cx="615600" cy="615600"/>
          </a:xfrm>
          <a:prstGeom prst="rect">
            <a:avLst/>
          </a:prstGeom>
          <a:solidFill>
            <a:srgbClr val="C127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8" name="Google Shape;348;p16"/>
          <p:cNvGrpSpPr/>
          <p:nvPr/>
        </p:nvGrpSpPr>
        <p:grpSpPr>
          <a:xfrm>
            <a:off x="4946006" y="3504304"/>
            <a:ext cx="308234" cy="308234"/>
            <a:chOff x="3270550" y="4993750"/>
            <a:chExt cx="483125" cy="483125"/>
          </a:xfrm>
        </p:grpSpPr>
        <p:sp>
          <p:nvSpPr>
            <p:cNvPr id="349" name="Google Shape;349;p16"/>
            <p:cNvSpPr/>
            <p:nvPr/>
          </p:nvSpPr>
          <p:spPr>
            <a:xfrm>
              <a:off x="3270550" y="4993750"/>
              <a:ext cx="483125" cy="483125"/>
            </a:xfrm>
            <a:custGeom>
              <a:rect b="b" l="l" r="r" t="t"/>
              <a:pathLst>
                <a:path extrusionOk="0" h="19325" w="19325">
                  <a:moveTo>
                    <a:pt x="17628" y="1133"/>
                  </a:moveTo>
                  <a:cubicBezTo>
                    <a:pt x="17939" y="1133"/>
                    <a:pt x="18193" y="1386"/>
                    <a:pt x="18193" y="1700"/>
                  </a:cubicBezTo>
                  <a:lnTo>
                    <a:pt x="18193" y="17628"/>
                  </a:lnTo>
                  <a:cubicBezTo>
                    <a:pt x="18193" y="17939"/>
                    <a:pt x="17939" y="18193"/>
                    <a:pt x="17628" y="18193"/>
                  </a:cubicBezTo>
                  <a:lnTo>
                    <a:pt x="1700" y="18193"/>
                  </a:lnTo>
                  <a:cubicBezTo>
                    <a:pt x="1386" y="18193"/>
                    <a:pt x="1133" y="17939"/>
                    <a:pt x="1133" y="17628"/>
                  </a:cubicBezTo>
                  <a:lnTo>
                    <a:pt x="1133" y="1700"/>
                  </a:lnTo>
                  <a:cubicBezTo>
                    <a:pt x="1133" y="1386"/>
                    <a:pt x="1386" y="1133"/>
                    <a:pt x="1700" y="1133"/>
                  </a:cubicBezTo>
                  <a:close/>
                  <a:moveTo>
                    <a:pt x="1700" y="1"/>
                  </a:moveTo>
                  <a:cubicBezTo>
                    <a:pt x="761" y="1"/>
                    <a:pt x="1" y="761"/>
                    <a:pt x="1" y="1700"/>
                  </a:cubicBezTo>
                  <a:lnTo>
                    <a:pt x="1" y="17628"/>
                  </a:lnTo>
                  <a:cubicBezTo>
                    <a:pt x="1" y="18564"/>
                    <a:pt x="761" y="19325"/>
                    <a:pt x="1700" y="19325"/>
                  </a:cubicBezTo>
                  <a:lnTo>
                    <a:pt x="17628" y="19325"/>
                  </a:lnTo>
                  <a:cubicBezTo>
                    <a:pt x="18564" y="19325"/>
                    <a:pt x="19325" y="18564"/>
                    <a:pt x="19325" y="17628"/>
                  </a:cubicBezTo>
                  <a:lnTo>
                    <a:pt x="19325" y="1700"/>
                  </a:lnTo>
                  <a:cubicBezTo>
                    <a:pt x="19325" y="761"/>
                    <a:pt x="18564" y="1"/>
                    <a:pt x="1762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350" name="Google Shape;350;p16"/>
            <p:cNvSpPr/>
            <p:nvPr/>
          </p:nvSpPr>
          <p:spPr>
            <a:xfrm>
              <a:off x="3469675" y="5079600"/>
              <a:ext cx="88275" cy="85000"/>
            </a:xfrm>
            <a:custGeom>
              <a:rect b="b" l="l" r="r" t="t"/>
              <a:pathLst>
                <a:path extrusionOk="0" h="3400" w="3531">
                  <a:moveTo>
                    <a:pt x="1698" y="1135"/>
                  </a:moveTo>
                  <a:cubicBezTo>
                    <a:pt x="2202" y="1135"/>
                    <a:pt x="2456" y="1742"/>
                    <a:pt x="2099" y="2101"/>
                  </a:cubicBezTo>
                  <a:cubicBezTo>
                    <a:pt x="1983" y="2216"/>
                    <a:pt x="1842" y="2268"/>
                    <a:pt x="1703" y="2268"/>
                  </a:cubicBezTo>
                  <a:cubicBezTo>
                    <a:pt x="1411" y="2268"/>
                    <a:pt x="1133" y="2041"/>
                    <a:pt x="1133" y="1700"/>
                  </a:cubicBezTo>
                  <a:cubicBezTo>
                    <a:pt x="1133" y="1386"/>
                    <a:pt x="1384" y="1135"/>
                    <a:pt x="1698" y="1135"/>
                  </a:cubicBezTo>
                  <a:close/>
                  <a:moveTo>
                    <a:pt x="1698" y="0"/>
                  </a:moveTo>
                  <a:cubicBezTo>
                    <a:pt x="1479" y="0"/>
                    <a:pt x="1259" y="42"/>
                    <a:pt x="1049" y="129"/>
                  </a:cubicBezTo>
                  <a:cubicBezTo>
                    <a:pt x="415" y="392"/>
                    <a:pt x="1" y="1011"/>
                    <a:pt x="1" y="1700"/>
                  </a:cubicBezTo>
                  <a:cubicBezTo>
                    <a:pt x="1" y="2639"/>
                    <a:pt x="759" y="3397"/>
                    <a:pt x="1698" y="3400"/>
                  </a:cubicBezTo>
                  <a:cubicBezTo>
                    <a:pt x="2386" y="3400"/>
                    <a:pt x="3005" y="2983"/>
                    <a:pt x="3268" y="2349"/>
                  </a:cubicBezTo>
                  <a:cubicBezTo>
                    <a:pt x="3531" y="1715"/>
                    <a:pt x="3386" y="984"/>
                    <a:pt x="2900" y="498"/>
                  </a:cubicBezTo>
                  <a:cubicBezTo>
                    <a:pt x="2574" y="173"/>
                    <a:pt x="2140" y="0"/>
                    <a:pt x="169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351" name="Google Shape;351;p16"/>
            <p:cNvSpPr/>
            <p:nvPr/>
          </p:nvSpPr>
          <p:spPr>
            <a:xfrm>
              <a:off x="3441375" y="5192875"/>
              <a:ext cx="141475" cy="198175"/>
            </a:xfrm>
            <a:custGeom>
              <a:rect b="b" l="l" r="r" t="t"/>
              <a:pathLst>
                <a:path extrusionOk="0" h="7927" w="5659">
                  <a:moveTo>
                    <a:pt x="3397" y="1133"/>
                  </a:moveTo>
                  <a:lnTo>
                    <a:pt x="3397" y="6795"/>
                  </a:lnTo>
                  <a:lnTo>
                    <a:pt x="2265" y="6795"/>
                  </a:lnTo>
                  <a:lnTo>
                    <a:pt x="2265" y="1133"/>
                  </a:lnTo>
                  <a:close/>
                  <a:moveTo>
                    <a:pt x="565" y="1"/>
                  </a:moveTo>
                  <a:cubicBezTo>
                    <a:pt x="251" y="1"/>
                    <a:pt x="1" y="251"/>
                    <a:pt x="1" y="565"/>
                  </a:cubicBezTo>
                  <a:cubicBezTo>
                    <a:pt x="1" y="879"/>
                    <a:pt x="251" y="1133"/>
                    <a:pt x="565" y="1133"/>
                  </a:cubicBezTo>
                  <a:lnTo>
                    <a:pt x="1133" y="1133"/>
                  </a:lnTo>
                  <a:lnTo>
                    <a:pt x="1133" y="6795"/>
                  </a:lnTo>
                  <a:lnTo>
                    <a:pt x="565" y="6795"/>
                  </a:lnTo>
                  <a:cubicBezTo>
                    <a:pt x="251" y="6795"/>
                    <a:pt x="1" y="7045"/>
                    <a:pt x="1" y="7359"/>
                  </a:cubicBezTo>
                  <a:cubicBezTo>
                    <a:pt x="1" y="7673"/>
                    <a:pt x="251" y="7927"/>
                    <a:pt x="565" y="7927"/>
                  </a:cubicBezTo>
                  <a:lnTo>
                    <a:pt x="5094" y="7927"/>
                  </a:lnTo>
                  <a:cubicBezTo>
                    <a:pt x="5408" y="7927"/>
                    <a:pt x="5659" y="7673"/>
                    <a:pt x="5659" y="7359"/>
                  </a:cubicBezTo>
                  <a:cubicBezTo>
                    <a:pt x="5659" y="7045"/>
                    <a:pt x="5408" y="6795"/>
                    <a:pt x="5094" y="6795"/>
                  </a:cubicBezTo>
                  <a:lnTo>
                    <a:pt x="4530" y="6795"/>
                  </a:lnTo>
                  <a:lnTo>
                    <a:pt x="4530" y="565"/>
                  </a:lnTo>
                  <a:cubicBezTo>
                    <a:pt x="4530" y="251"/>
                    <a:pt x="4276" y="1"/>
                    <a:pt x="39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pic>
        <p:nvPicPr>
          <p:cNvPr descr="Club Suit outline" id="352" name="Google Shape;352;p16"/>
          <p:cNvPicPr preferRelativeResize="0"/>
          <p:nvPr/>
        </p:nvPicPr>
        <p:blipFill rotWithShape="1">
          <a:blip r:embed="rId3">
            <a:alphaModFix/>
          </a:blip>
          <a:srcRect b="0" l="0" r="0" t="0"/>
          <a:stretch/>
        </p:blipFill>
        <p:spPr>
          <a:xfrm>
            <a:off x="877275" y="1595613"/>
            <a:ext cx="615600" cy="615600"/>
          </a:xfrm>
          <a:prstGeom prst="rect">
            <a:avLst/>
          </a:prstGeom>
          <a:noFill/>
          <a:ln>
            <a:noFill/>
          </a:ln>
        </p:spPr>
      </p:pic>
      <p:pic>
        <p:nvPicPr>
          <p:cNvPr descr="Alarm clock outline" id="353" name="Google Shape;353;p16"/>
          <p:cNvPicPr preferRelativeResize="0"/>
          <p:nvPr/>
        </p:nvPicPr>
        <p:blipFill rotWithShape="1">
          <a:blip r:embed="rId4">
            <a:alphaModFix/>
          </a:blip>
          <a:srcRect b="0" l="0" r="0" t="0"/>
          <a:stretch/>
        </p:blipFill>
        <p:spPr>
          <a:xfrm>
            <a:off x="4817301" y="1615725"/>
            <a:ext cx="565642" cy="565642"/>
          </a:xfrm>
          <a:prstGeom prst="rect">
            <a:avLst/>
          </a:prstGeom>
          <a:noFill/>
          <a:ln>
            <a:noFill/>
          </a:ln>
        </p:spPr>
      </p:pic>
      <p:pic>
        <p:nvPicPr>
          <p:cNvPr descr="Artificial Intelligence outline" id="354" name="Google Shape;354;p16"/>
          <p:cNvPicPr preferRelativeResize="0"/>
          <p:nvPr/>
        </p:nvPicPr>
        <p:blipFill rotWithShape="1">
          <a:blip r:embed="rId5">
            <a:alphaModFix/>
          </a:blip>
          <a:srcRect b="0" l="0" r="0" t="0"/>
          <a:stretch/>
        </p:blipFill>
        <p:spPr>
          <a:xfrm>
            <a:off x="928277" y="3413621"/>
            <a:ext cx="501898" cy="501898"/>
          </a:xfrm>
          <a:prstGeom prst="rect">
            <a:avLst/>
          </a:prstGeom>
          <a:noFill/>
          <a:ln>
            <a:noFill/>
          </a:ln>
        </p:spPr>
      </p:pic>
      <p:sp>
        <p:nvSpPr>
          <p:cNvPr id="355" name="Google Shape;355;p16"/>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356" name="Google Shape;356;p16"/>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7"/>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solidFill>
                  <a:srgbClr val="C1272D"/>
                </a:solidFill>
              </a:rPr>
              <a:t>ASPECTOS IMPORTANTES DA PROVA</a:t>
            </a:r>
            <a:endParaRPr>
              <a:solidFill>
                <a:srgbClr val="C1272D"/>
              </a:solidFill>
            </a:endParaRPr>
          </a:p>
        </p:txBody>
      </p:sp>
      <p:sp>
        <p:nvSpPr>
          <p:cNvPr id="362" name="Google Shape;362;p17"/>
          <p:cNvSpPr txBox="1"/>
          <p:nvPr>
            <p:ph idx="1" type="subTitle"/>
          </p:nvPr>
        </p:nvSpPr>
        <p:spPr>
          <a:xfrm>
            <a:off x="3069900" y="3075925"/>
            <a:ext cx="3321376" cy="14625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200"/>
              <a:buFont typeface="Arial"/>
              <a:buChar char="•"/>
            </a:pPr>
            <a:r>
              <a:rPr lang="pt-BR"/>
              <a:t>Maior alcance de candidatos </a:t>
            </a:r>
            <a:endParaRPr/>
          </a:p>
          <a:p>
            <a:pPr indent="-171450" lvl="0" marL="171450" rtl="0" algn="l">
              <a:lnSpc>
                <a:spcPct val="100000"/>
              </a:lnSpc>
              <a:spcBef>
                <a:spcPts val="0"/>
              </a:spcBef>
              <a:spcAft>
                <a:spcPts val="0"/>
              </a:spcAft>
              <a:buSzPts val="1200"/>
              <a:buFont typeface="Arial"/>
              <a:buChar char="•"/>
            </a:pPr>
            <a:r>
              <a:rPr lang="pt-BR"/>
              <a:t>Maior flexibilidade para realização de prova </a:t>
            </a:r>
            <a:endParaRPr/>
          </a:p>
          <a:p>
            <a:pPr indent="-171450" lvl="0" marL="171450" rtl="0" algn="l">
              <a:lnSpc>
                <a:spcPct val="100000"/>
              </a:lnSpc>
              <a:spcBef>
                <a:spcPts val="0"/>
              </a:spcBef>
              <a:spcAft>
                <a:spcPts val="0"/>
              </a:spcAft>
              <a:buSzPts val="1200"/>
              <a:buFont typeface="Arial"/>
              <a:buChar char="•"/>
            </a:pPr>
            <a:r>
              <a:rPr lang="pt-BR"/>
              <a:t>Recursos </a:t>
            </a:r>
            <a:r>
              <a:rPr b="1" lang="pt-BR"/>
              <a:t>antifraude</a:t>
            </a:r>
            <a:endParaRPr b="1"/>
          </a:p>
        </p:txBody>
      </p:sp>
      <p:sp>
        <p:nvSpPr>
          <p:cNvPr id="363" name="Google Shape;363;p17"/>
          <p:cNvSpPr txBox="1"/>
          <p:nvPr>
            <p:ph idx="3" type="subTitle"/>
          </p:nvPr>
        </p:nvSpPr>
        <p:spPr>
          <a:xfrm>
            <a:off x="3069900" y="2586325"/>
            <a:ext cx="3004200" cy="489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
              <a:buNone/>
            </a:pPr>
            <a:r>
              <a:rPr lang="pt-BR"/>
              <a:t>PROVAS ONLINE</a:t>
            </a:r>
            <a:endParaRPr/>
          </a:p>
        </p:txBody>
      </p:sp>
      <p:pic>
        <p:nvPicPr>
          <p:cNvPr descr="Computer with solid fill" id="364" name="Google Shape;364;p17"/>
          <p:cNvPicPr preferRelativeResize="0"/>
          <p:nvPr/>
        </p:nvPicPr>
        <p:blipFill rotWithShape="1">
          <a:blip r:embed="rId3">
            <a:alphaModFix/>
          </a:blip>
          <a:srcRect b="0" l="0" r="0" t="0"/>
          <a:stretch/>
        </p:blipFill>
        <p:spPr>
          <a:xfrm>
            <a:off x="3850250" y="1123825"/>
            <a:ext cx="1443500" cy="1462500"/>
          </a:xfrm>
          <a:prstGeom prst="rect">
            <a:avLst/>
          </a:prstGeom>
          <a:noFill/>
          <a:ln>
            <a:noFill/>
          </a:ln>
        </p:spPr>
      </p:pic>
      <p:sp>
        <p:nvSpPr>
          <p:cNvPr id="365" name="Google Shape;365;p17"/>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366" name="Google Shape;366;p17"/>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8"/>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solidFill>
                  <a:srgbClr val="C1272D"/>
                </a:solidFill>
              </a:rPr>
              <a:t>ASPECTOS IMPORTANTES DA PROVA</a:t>
            </a:r>
            <a:endParaRPr>
              <a:solidFill>
                <a:srgbClr val="C1272D"/>
              </a:solidFill>
            </a:endParaRPr>
          </a:p>
        </p:txBody>
      </p:sp>
      <p:sp>
        <p:nvSpPr>
          <p:cNvPr id="372" name="Google Shape;372;p18"/>
          <p:cNvSpPr txBox="1"/>
          <p:nvPr>
            <p:ph idx="1" type="subTitle"/>
          </p:nvPr>
        </p:nvSpPr>
        <p:spPr>
          <a:xfrm>
            <a:off x="770950" y="956748"/>
            <a:ext cx="6407475" cy="425003"/>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pt-BR"/>
              <a:t>Exemplos de plataformas utilizadas pelas empresas para a realização das provas</a:t>
            </a:r>
            <a:endParaRPr b="1"/>
          </a:p>
        </p:txBody>
      </p:sp>
      <p:pic>
        <p:nvPicPr>
          <p:cNvPr id="373" name="Google Shape;373;p18"/>
          <p:cNvPicPr preferRelativeResize="0"/>
          <p:nvPr/>
        </p:nvPicPr>
        <p:blipFill rotWithShape="1">
          <a:blip r:embed="rId3">
            <a:alphaModFix/>
          </a:blip>
          <a:srcRect b="0" l="0" r="0" t="0"/>
          <a:stretch/>
        </p:blipFill>
        <p:spPr>
          <a:xfrm>
            <a:off x="1050078" y="2894001"/>
            <a:ext cx="1911931" cy="346651"/>
          </a:xfrm>
          <a:prstGeom prst="rect">
            <a:avLst/>
          </a:prstGeom>
          <a:noFill/>
          <a:ln>
            <a:noFill/>
          </a:ln>
        </p:spPr>
      </p:pic>
      <p:pic>
        <p:nvPicPr>
          <p:cNvPr id="374" name="Google Shape;374;p18"/>
          <p:cNvPicPr preferRelativeResize="0"/>
          <p:nvPr/>
        </p:nvPicPr>
        <p:blipFill rotWithShape="1">
          <a:blip r:embed="rId4">
            <a:alphaModFix/>
          </a:blip>
          <a:srcRect b="0" l="0" r="0" t="0"/>
          <a:stretch/>
        </p:blipFill>
        <p:spPr>
          <a:xfrm>
            <a:off x="995632" y="1718908"/>
            <a:ext cx="2020825" cy="608943"/>
          </a:xfrm>
          <a:prstGeom prst="rect">
            <a:avLst/>
          </a:prstGeom>
          <a:noFill/>
          <a:ln>
            <a:noFill/>
          </a:ln>
        </p:spPr>
      </p:pic>
      <p:pic>
        <p:nvPicPr>
          <p:cNvPr id="375" name="Google Shape;375;p18"/>
          <p:cNvPicPr preferRelativeResize="0"/>
          <p:nvPr/>
        </p:nvPicPr>
        <p:blipFill rotWithShape="1">
          <a:blip r:embed="rId5">
            <a:alphaModFix/>
          </a:blip>
          <a:srcRect b="0" l="0" r="0" t="0"/>
          <a:stretch/>
        </p:blipFill>
        <p:spPr>
          <a:xfrm>
            <a:off x="995632" y="3806802"/>
            <a:ext cx="1812391" cy="683067"/>
          </a:xfrm>
          <a:prstGeom prst="rect">
            <a:avLst/>
          </a:prstGeom>
          <a:noFill/>
          <a:ln>
            <a:noFill/>
          </a:ln>
        </p:spPr>
      </p:pic>
      <p:sp>
        <p:nvSpPr>
          <p:cNvPr id="376" name="Google Shape;376;p18"/>
          <p:cNvSpPr txBox="1"/>
          <p:nvPr/>
        </p:nvSpPr>
        <p:spPr>
          <a:xfrm>
            <a:off x="3374081" y="1692861"/>
            <a:ext cx="6410155" cy="523180"/>
          </a:xfrm>
          <a:prstGeom prst="rect">
            <a:avLst/>
          </a:prstGeom>
          <a:noFill/>
          <a:ln>
            <a:noFill/>
          </a:ln>
        </p:spPr>
        <p:txBody>
          <a:bodyPr anchorCtr="0" anchor="t" bIns="45700" lIns="91425" spcFirstLastPara="1" rIns="91425" wrap="square" tIns="45700">
            <a:spAutoFit/>
          </a:bodyPr>
          <a:lstStyle/>
          <a:p>
            <a:pPr indent="-285750" lvl="0" marL="285750" marR="0" rtl="0" algn="l">
              <a:lnSpc>
                <a:spcPct val="200000"/>
              </a:lnSpc>
              <a:spcBef>
                <a:spcPts val="0"/>
              </a:spcBef>
              <a:spcAft>
                <a:spcPts val="0"/>
              </a:spcAft>
              <a:buClr>
                <a:schemeClr val="dk1"/>
              </a:buClr>
              <a:buSzPts val="2000"/>
              <a:buFont typeface="Arial"/>
              <a:buChar char="•"/>
            </a:pPr>
            <a:r>
              <a:rPr b="0" i="0" lang="pt-BR" sz="1400" u="none" cap="none" strike="noStrike">
                <a:solidFill>
                  <a:schemeClr val="lt1"/>
                </a:solidFill>
                <a:latin typeface="Work Sans"/>
                <a:ea typeface="Work Sans"/>
                <a:cs typeface="Work Sans"/>
                <a:sym typeface="Work Sans"/>
              </a:rPr>
              <a:t>BCG, Kearney, Oliver Wyman, Advisia, Pragmatis, Kéa</a:t>
            </a:r>
            <a:endParaRPr b="0" i="0" sz="1400" u="none" cap="none" strike="noStrike">
              <a:solidFill>
                <a:schemeClr val="lt1"/>
              </a:solidFill>
              <a:latin typeface="Work Sans"/>
              <a:ea typeface="Work Sans"/>
              <a:cs typeface="Work Sans"/>
              <a:sym typeface="Work Sans"/>
            </a:endParaRPr>
          </a:p>
        </p:txBody>
      </p:sp>
      <p:sp>
        <p:nvSpPr>
          <p:cNvPr id="377" name="Google Shape;377;p18"/>
          <p:cNvSpPr txBox="1"/>
          <p:nvPr/>
        </p:nvSpPr>
        <p:spPr>
          <a:xfrm>
            <a:off x="3374082" y="2790865"/>
            <a:ext cx="5243704" cy="523180"/>
          </a:xfrm>
          <a:prstGeom prst="rect">
            <a:avLst/>
          </a:prstGeom>
          <a:noFill/>
          <a:ln>
            <a:noFill/>
          </a:ln>
        </p:spPr>
        <p:txBody>
          <a:bodyPr anchorCtr="0" anchor="t" bIns="45700" lIns="91425" spcFirstLastPara="1" rIns="91425" wrap="square" tIns="45700">
            <a:spAutoFit/>
          </a:bodyPr>
          <a:lstStyle/>
          <a:p>
            <a:pPr indent="-285750" lvl="0" marL="285750" marR="0" rtl="0" algn="l">
              <a:lnSpc>
                <a:spcPct val="200000"/>
              </a:lnSpc>
              <a:spcBef>
                <a:spcPts val="0"/>
              </a:spcBef>
              <a:spcAft>
                <a:spcPts val="0"/>
              </a:spcAft>
              <a:buClr>
                <a:schemeClr val="dk1"/>
              </a:buClr>
              <a:buSzPts val="2000"/>
              <a:buFont typeface="Arial"/>
              <a:buChar char="•"/>
            </a:pPr>
            <a:r>
              <a:rPr b="0" i="0" lang="pt-BR" sz="1400" u="none" cap="none" strike="noStrike">
                <a:solidFill>
                  <a:schemeClr val="lt1"/>
                </a:solidFill>
                <a:latin typeface="Work Sans"/>
                <a:ea typeface="Work Sans"/>
                <a:cs typeface="Work Sans"/>
                <a:sym typeface="Work Sans"/>
              </a:rPr>
              <a:t>L.E.K.</a:t>
            </a:r>
            <a:endParaRPr b="0" i="0" sz="1400" u="none" cap="none" strike="noStrike">
              <a:solidFill>
                <a:schemeClr val="lt1"/>
              </a:solidFill>
              <a:latin typeface="Work Sans"/>
              <a:ea typeface="Work Sans"/>
              <a:cs typeface="Work Sans"/>
              <a:sym typeface="Work Sans"/>
            </a:endParaRPr>
          </a:p>
        </p:txBody>
      </p:sp>
      <p:sp>
        <p:nvSpPr>
          <p:cNvPr id="378" name="Google Shape;378;p18"/>
          <p:cNvSpPr txBox="1"/>
          <p:nvPr/>
        </p:nvSpPr>
        <p:spPr>
          <a:xfrm>
            <a:off x="3374082" y="3886745"/>
            <a:ext cx="5243704" cy="523180"/>
          </a:xfrm>
          <a:prstGeom prst="rect">
            <a:avLst/>
          </a:prstGeom>
          <a:noFill/>
          <a:ln>
            <a:noFill/>
          </a:ln>
        </p:spPr>
        <p:txBody>
          <a:bodyPr anchorCtr="0" anchor="t" bIns="45700" lIns="91425" spcFirstLastPara="1" rIns="91425" wrap="square" tIns="45700">
            <a:spAutoFit/>
          </a:bodyPr>
          <a:lstStyle/>
          <a:p>
            <a:pPr indent="-285750" lvl="0" marL="285750" marR="0" rtl="0" algn="l">
              <a:lnSpc>
                <a:spcPct val="200000"/>
              </a:lnSpc>
              <a:spcBef>
                <a:spcPts val="0"/>
              </a:spcBef>
              <a:spcAft>
                <a:spcPts val="0"/>
              </a:spcAft>
              <a:buClr>
                <a:schemeClr val="dk1"/>
              </a:buClr>
              <a:buSzPts val="2000"/>
              <a:buFont typeface="Arial"/>
              <a:buChar char="•"/>
            </a:pPr>
            <a:r>
              <a:rPr b="0" i="0" lang="pt-BR" sz="1400" u="none" cap="none" strike="noStrike">
                <a:solidFill>
                  <a:schemeClr val="lt1"/>
                </a:solidFill>
                <a:latin typeface="Work Sans"/>
                <a:ea typeface="Work Sans"/>
                <a:cs typeface="Work Sans"/>
                <a:sym typeface="Work Sans"/>
              </a:rPr>
              <a:t>Peers, Visagio</a:t>
            </a:r>
            <a:endParaRPr b="0" i="0" sz="1400" u="none" cap="none" strike="noStrike">
              <a:solidFill>
                <a:schemeClr val="lt1"/>
              </a:solidFill>
              <a:latin typeface="Work Sans"/>
              <a:ea typeface="Work Sans"/>
              <a:cs typeface="Work Sans"/>
              <a:sym typeface="Work Sans"/>
            </a:endParaRPr>
          </a:p>
        </p:txBody>
      </p:sp>
      <p:sp>
        <p:nvSpPr>
          <p:cNvPr id="379" name="Google Shape;379;p18"/>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380" name="Google Shape;380;p18"/>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9"/>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solidFill>
                  <a:srgbClr val="C1272D"/>
                </a:solidFill>
              </a:rPr>
              <a:t>ASPECTOS IMPORTANTES DA PROVA</a:t>
            </a:r>
            <a:endParaRPr>
              <a:solidFill>
                <a:srgbClr val="C1272D"/>
              </a:solidFill>
            </a:endParaRPr>
          </a:p>
        </p:txBody>
      </p:sp>
      <p:sp>
        <p:nvSpPr>
          <p:cNvPr id="386" name="Google Shape;386;p19"/>
          <p:cNvSpPr txBox="1"/>
          <p:nvPr>
            <p:ph idx="1" type="subTitle"/>
          </p:nvPr>
        </p:nvSpPr>
        <p:spPr>
          <a:xfrm>
            <a:off x="770950" y="956748"/>
            <a:ext cx="6407475" cy="425003"/>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pt-BR"/>
              <a:t>Exemplos de plataformas utilizadas pelas empresas para a realização das provas</a:t>
            </a:r>
            <a:endParaRPr b="1"/>
          </a:p>
        </p:txBody>
      </p:sp>
      <p:pic>
        <p:nvPicPr>
          <p:cNvPr id="387" name="Google Shape;387;p19"/>
          <p:cNvPicPr preferRelativeResize="0"/>
          <p:nvPr/>
        </p:nvPicPr>
        <p:blipFill rotWithShape="1">
          <a:blip r:embed="rId3">
            <a:alphaModFix/>
          </a:blip>
          <a:srcRect b="0" l="0" r="0" t="0"/>
          <a:stretch/>
        </p:blipFill>
        <p:spPr>
          <a:xfrm>
            <a:off x="377775" y="1666430"/>
            <a:ext cx="1687251" cy="620640"/>
          </a:xfrm>
          <a:prstGeom prst="rect">
            <a:avLst/>
          </a:prstGeom>
          <a:noFill/>
          <a:ln>
            <a:noFill/>
          </a:ln>
        </p:spPr>
      </p:pic>
      <p:pic>
        <p:nvPicPr>
          <p:cNvPr id="388" name="Google Shape;388;p19"/>
          <p:cNvPicPr preferRelativeResize="0"/>
          <p:nvPr/>
        </p:nvPicPr>
        <p:blipFill rotWithShape="1">
          <a:blip r:embed="rId4">
            <a:alphaModFix/>
          </a:blip>
          <a:srcRect b="0" l="0" r="0" t="0"/>
          <a:stretch/>
        </p:blipFill>
        <p:spPr>
          <a:xfrm>
            <a:off x="377775" y="2571750"/>
            <a:ext cx="8388449" cy="1316388"/>
          </a:xfrm>
          <a:prstGeom prst="rect">
            <a:avLst/>
          </a:prstGeom>
          <a:noFill/>
          <a:ln>
            <a:noFill/>
          </a:ln>
        </p:spPr>
      </p:pic>
      <p:sp>
        <p:nvSpPr>
          <p:cNvPr id="389" name="Google Shape;389;p19"/>
          <p:cNvSpPr txBox="1"/>
          <p:nvPr/>
        </p:nvSpPr>
        <p:spPr>
          <a:xfrm>
            <a:off x="722375" y="4172818"/>
            <a:ext cx="10545647" cy="523180"/>
          </a:xfrm>
          <a:prstGeom prst="rect">
            <a:avLst/>
          </a:prstGeom>
          <a:noFill/>
          <a:ln>
            <a:noFill/>
          </a:ln>
        </p:spPr>
        <p:txBody>
          <a:bodyPr anchorCtr="0" anchor="t" bIns="45700" lIns="91425" spcFirstLastPara="1" rIns="91425" wrap="square" tIns="45700">
            <a:spAutoFit/>
          </a:bodyPr>
          <a:lstStyle/>
          <a:p>
            <a:pPr indent="-285750" lvl="0" marL="285750" marR="0" rtl="0" algn="l">
              <a:lnSpc>
                <a:spcPct val="200000"/>
              </a:lnSpc>
              <a:spcBef>
                <a:spcPts val="0"/>
              </a:spcBef>
              <a:spcAft>
                <a:spcPts val="0"/>
              </a:spcAft>
              <a:buClr>
                <a:schemeClr val="dk1"/>
              </a:buClr>
              <a:buSzPts val="2000"/>
              <a:buFont typeface="Arial"/>
              <a:buChar char="•"/>
            </a:pPr>
            <a:r>
              <a:rPr b="0" i="0" lang="pt-BR" sz="1400" u="none" cap="none" strike="noStrike">
                <a:solidFill>
                  <a:schemeClr val="lt1"/>
                </a:solidFill>
                <a:latin typeface="Work Sans"/>
                <a:ea typeface="Work Sans"/>
                <a:cs typeface="Work Sans"/>
                <a:sym typeface="Work Sans"/>
              </a:rPr>
              <a:t>Recursos para a prevenção de fraudes e para segurança no processo seletivo</a:t>
            </a:r>
            <a:endParaRPr b="0" i="0" sz="1400" u="none" cap="none" strike="noStrike">
              <a:solidFill>
                <a:schemeClr val="lt1"/>
              </a:solidFill>
              <a:latin typeface="Work Sans"/>
              <a:ea typeface="Work Sans"/>
              <a:cs typeface="Work Sans"/>
              <a:sym typeface="Work Sans"/>
            </a:endParaRPr>
          </a:p>
        </p:txBody>
      </p:sp>
      <p:sp>
        <p:nvSpPr>
          <p:cNvPr id="390" name="Google Shape;390;p19"/>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391" name="Google Shape;391;p19"/>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0"/>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solidFill>
                  <a:srgbClr val="C1272D"/>
                </a:solidFill>
              </a:rPr>
              <a:t>ASPECTOS IMPORTANTES DA PROVA</a:t>
            </a:r>
            <a:endParaRPr>
              <a:solidFill>
                <a:srgbClr val="C1272D"/>
              </a:solidFill>
            </a:endParaRPr>
          </a:p>
        </p:txBody>
      </p:sp>
      <p:sp>
        <p:nvSpPr>
          <p:cNvPr id="397" name="Google Shape;397;p20"/>
          <p:cNvSpPr txBox="1"/>
          <p:nvPr>
            <p:ph idx="1" type="subTitle"/>
          </p:nvPr>
        </p:nvSpPr>
        <p:spPr>
          <a:xfrm>
            <a:off x="770950" y="956748"/>
            <a:ext cx="6407475" cy="425003"/>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pt-BR"/>
              <a:t>Alguns processos seletivos que possuem provas em português</a:t>
            </a:r>
            <a:endParaRPr b="1"/>
          </a:p>
        </p:txBody>
      </p:sp>
      <p:pic>
        <p:nvPicPr>
          <p:cNvPr descr="Bain &amp; Company fecha aquisição de agência de marketing digital - ABC da  Comunicação" id="398" name="Google Shape;398;p20"/>
          <p:cNvPicPr preferRelativeResize="0"/>
          <p:nvPr/>
        </p:nvPicPr>
        <p:blipFill rotWithShape="1">
          <a:blip r:embed="rId3">
            <a:alphaModFix/>
          </a:blip>
          <a:srcRect b="0" l="0" r="0" t="0"/>
          <a:stretch/>
        </p:blipFill>
        <p:spPr>
          <a:xfrm>
            <a:off x="1673959" y="1768475"/>
            <a:ext cx="2706688" cy="803275"/>
          </a:xfrm>
          <a:prstGeom prst="rect">
            <a:avLst/>
          </a:prstGeom>
          <a:noFill/>
          <a:ln>
            <a:noFill/>
          </a:ln>
        </p:spPr>
      </p:pic>
      <p:pic>
        <p:nvPicPr>
          <p:cNvPr id="399" name="Google Shape;399;p20"/>
          <p:cNvPicPr preferRelativeResize="0"/>
          <p:nvPr/>
        </p:nvPicPr>
        <p:blipFill rotWithShape="1">
          <a:blip r:embed="rId4">
            <a:alphaModFix/>
          </a:blip>
          <a:srcRect b="0" l="0" r="0" t="0"/>
          <a:stretch/>
        </p:blipFill>
        <p:spPr>
          <a:xfrm>
            <a:off x="5147103" y="1984038"/>
            <a:ext cx="2538413" cy="303212"/>
          </a:xfrm>
          <a:prstGeom prst="rect">
            <a:avLst/>
          </a:prstGeom>
          <a:noFill/>
          <a:ln>
            <a:noFill/>
          </a:ln>
        </p:spPr>
      </p:pic>
      <p:pic>
        <p:nvPicPr>
          <p:cNvPr id="400" name="Google Shape;400;p20"/>
          <p:cNvPicPr preferRelativeResize="0"/>
          <p:nvPr/>
        </p:nvPicPr>
        <p:blipFill rotWithShape="1">
          <a:blip r:embed="rId5">
            <a:alphaModFix/>
          </a:blip>
          <a:srcRect b="0" l="0" r="0" t="0"/>
          <a:stretch/>
        </p:blipFill>
        <p:spPr>
          <a:xfrm>
            <a:off x="5635259" y="2687320"/>
            <a:ext cx="1562100" cy="555625"/>
          </a:xfrm>
          <a:prstGeom prst="rect">
            <a:avLst/>
          </a:prstGeom>
          <a:noFill/>
          <a:ln>
            <a:noFill/>
          </a:ln>
        </p:spPr>
      </p:pic>
      <p:pic>
        <p:nvPicPr>
          <p:cNvPr descr="visagio - CEFET Jr. Consultoria" id="401" name="Google Shape;401;p20"/>
          <p:cNvPicPr preferRelativeResize="0"/>
          <p:nvPr/>
        </p:nvPicPr>
        <p:blipFill rotWithShape="1">
          <a:blip r:embed="rId6">
            <a:alphaModFix/>
          </a:blip>
          <a:srcRect b="0" l="0" r="0" t="0"/>
          <a:stretch/>
        </p:blipFill>
        <p:spPr>
          <a:xfrm>
            <a:off x="2148675" y="2780949"/>
            <a:ext cx="1654175" cy="542925"/>
          </a:xfrm>
          <a:prstGeom prst="rect">
            <a:avLst/>
          </a:prstGeom>
          <a:noFill/>
          <a:ln>
            <a:noFill/>
          </a:ln>
        </p:spPr>
      </p:pic>
      <p:sp>
        <p:nvSpPr>
          <p:cNvPr id="402" name="Google Shape;402;p20"/>
          <p:cNvSpPr txBox="1"/>
          <p:nvPr/>
        </p:nvSpPr>
        <p:spPr>
          <a:xfrm>
            <a:off x="684554" y="3817440"/>
            <a:ext cx="7774841" cy="73862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000"/>
              <a:buFont typeface="Arial"/>
              <a:buChar char="•"/>
            </a:pPr>
            <a:r>
              <a:rPr b="0" i="0" lang="pt-BR" sz="1400" u="none" cap="none" strike="noStrike">
                <a:solidFill>
                  <a:schemeClr val="lt1"/>
                </a:solidFill>
                <a:latin typeface="Arial"/>
                <a:ea typeface="Arial"/>
                <a:cs typeface="Arial"/>
                <a:sym typeface="Arial"/>
              </a:rPr>
              <a:t>Espera-se que, por ser a língua nativa, as pessoas tenham melhor desempenho e, portanto, isso afeta os resultados dos processos seletivos, apesar de deixá-lo mais abrangente</a:t>
            </a:r>
            <a:endParaRPr b="0" i="0" sz="1400" u="none" cap="none" strike="noStrike">
              <a:solidFill>
                <a:schemeClr val="lt1"/>
              </a:solidFill>
              <a:latin typeface="Arial"/>
              <a:ea typeface="Arial"/>
              <a:cs typeface="Arial"/>
              <a:sym typeface="Arial"/>
            </a:endParaRPr>
          </a:p>
        </p:txBody>
      </p:sp>
      <p:sp>
        <p:nvSpPr>
          <p:cNvPr id="403" name="Google Shape;403;p20"/>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404" name="Google Shape;404;p20"/>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1"/>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solidFill>
                  <a:srgbClr val="C1272D"/>
                </a:solidFill>
              </a:rPr>
              <a:t>ASPECTOS IMPORTANTES DA PROVA</a:t>
            </a:r>
            <a:endParaRPr>
              <a:solidFill>
                <a:srgbClr val="C1272D"/>
              </a:solidFill>
            </a:endParaRPr>
          </a:p>
        </p:txBody>
      </p:sp>
      <p:sp>
        <p:nvSpPr>
          <p:cNvPr id="410" name="Google Shape;410;p21"/>
          <p:cNvSpPr txBox="1"/>
          <p:nvPr>
            <p:ph idx="1" type="subTitle"/>
          </p:nvPr>
        </p:nvSpPr>
        <p:spPr>
          <a:xfrm>
            <a:off x="770950" y="956748"/>
            <a:ext cx="6407475" cy="425003"/>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pt-BR"/>
              <a:t>Exemplos comuns de tempos das provas</a:t>
            </a:r>
            <a:endParaRPr b="1"/>
          </a:p>
        </p:txBody>
      </p:sp>
      <p:sp>
        <p:nvSpPr>
          <p:cNvPr id="411" name="Google Shape;411;p21"/>
          <p:cNvSpPr txBox="1"/>
          <p:nvPr/>
        </p:nvSpPr>
        <p:spPr>
          <a:xfrm>
            <a:off x="770950" y="1735376"/>
            <a:ext cx="7650625" cy="267761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000"/>
              <a:buFont typeface="Arial"/>
              <a:buChar char="•"/>
            </a:pPr>
            <a:r>
              <a:rPr b="0" i="0" lang="pt-BR" sz="1400" u="none" cap="none" strike="noStrike">
                <a:solidFill>
                  <a:schemeClr val="lt1"/>
                </a:solidFill>
                <a:latin typeface="Work Sans"/>
                <a:ea typeface="Work Sans"/>
                <a:cs typeface="Work Sans"/>
                <a:sym typeface="Work Sans"/>
              </a:rPr>
              <a:t>Há processos seletivos com provas de </a:t>
            </a:r>
            <a:r>
              <a:rPr b="1" i="0" lang="pt-BR" sz="1400" u="none" cap="none" strike="noStrike">
                <a:solidFill>
                  <a:schemeClr val="lt1"/>
                </a:solidFill>
                <a:latin typeface="Work Sans"/>
                <a:ea typeface="Work Sans"/>
                <a:cs typeface="Work Sans"/>
                <a:sym typeface="Work Sans"/>
              </a:rPr>
              <a:t>15 a 20 min</a:t>
            </a:r>
            <a:r>
              <a:rPr b="0" i="0" lang="pt-BR" sz="1400" u="none" cap="none" strike="noStrike">
                <a:solidFill>
                  <a:schemeClr val="lt1"/>
                </a:solidFill>
                <a:latin typeface="Work Sans"/>
                <a:ea typeface="Work Sans"/>
                <a:cs typeface="Work Sans"/>
                <a:sym typeface="Work Sans"/>
              </a:rPr>
              <a:t>, mas há outros com provas de </a:t>
            </a:r>
            <a:r>
              <a:rPr b="1" i="0" lang="pt-BR" sz="1400" u="none" cap="none" strike="noStrike">
                <a:solidFill>
                  <a:schemeClr val="lt1"/>
                </a:solidFill>
                <a:latin typeface="Work Sans"/>
                <a:ea typeface="Work Sans"/>
                <a:cs typeface="Work Sans"/>
                <a:sym typeface="Work Sans"/>
              </a:rPr>
              <a:t>até 1h</a:t>
            </a:r>
            <a:endParaRPr/>
          </a:p>
          <a:p>
            <a:pPr indent="0" lvl="0" marL="0" marR="0" rtl="0" algn="l">
              <a:lnSpc>
                <a:spcPct val="150000"/>
              </a:lnSpc>
              <a:spcBef>
                <a:spcPts val="0"/>
              </a:spcBef>
              <a:spcAft>
                <a:spcPts val="0"/>
              </a:spcAft>
              <a:buNone/>
            </a:pPr>
            <a:r>
              <a:t/>
            </a:r>
            <a:endParaRPr b="1" i="0" sz="1400" u="none" cap="none" strike="noStrike">
              <a:solidFill>
                <a:schemeClr val="lt1"/>
              </a:solidFill>
              <a:latin typeface="Work Sans"/>
              <a:ea typeface="Work Sans"/>
              <a:cs typeface="Work Sans"/>
              <a:sym typeface="Work Sans"/>
            </a:endParaRPr>
          </a:p>
          <a:p>
            <a:pPr indent="-285750" lvl="0" marL="285750" marR="0" rtl="0" algn="l">
              <a:lnSpc>
                <a:spcPct val="150000"/>
              </a:lnSpc>
              <a:spcBef>
                <a:spcPts val="0"/>
              </a:spcBef>
              <a:spcAft>
                <a:spcPts val="0"/>
              </a:spcAft>
              <a:buClr>
                <a:schemeClr val="dk1"/>
              </a:buClr>
              <a:buSzPts val="2000"/>
              <a:buFont typeface="Arial"/>
              <a:buChar char="•"/>
            </a:pPr>
            <a:r>
              <a:rPr b="0" i="0" lang="pt-BR" sz="1400" u="none" cap="none" strike="noStrike">
                <a:solidFill>
                  <a:schemeClr val="lt1"/>
                </a:solidFill>
                <a:latin typeface="Work Sans"/>
                <a:ea typeface="Work Sans"/>
                <a:cs typeface="Work Sans"/>
                <a:sym typeface="Work Sans"/>
              </a:rPr>
              <a:t>Alguns processos seletivos são </a:t>
            </a:r>
            <a:r>
              <a:rPr b="1" i="0" lang="pt-BR" sz="1400" u="none" cap="none" strike="noStrike">
                <a:solidFill>
                  <a:schemeClr val="lt1"/>
                </a:solidFill>
                <a:latin typeface="Work Sans"/>
                <a:ea typeface="Work Sans"/>
                <a:cs typeface="Work Sans"/>
                <a:sym typeface="Work Sans"/>
              </a:rPr>
              <a:t>separados por módulos </a:t>
            </a:r>
            <a:r>
              <a:rPr b="0" i="0" lang="pt-BR" sz="1400" u="none" cap="none" strike="noStrike">
                <a:solidFill>
                  <a:schemeClr val="lt1"/>
                </a:solidFill>
                <a:latin typeface="Work Sans"/>
                <a:ea typeface="Work Sans"/>
                <a:cs typeface="Work Sans"/>
                <a:sym typeface="Work Sans"/>
              </a:rPr>
              <a:t>e você não precisa realizá-los de uma vez (Ex: Bain&amp;Company) </a:t>
            </a:r>
            <a:endParaRPr/>
          </a:p>
          <a:p>
            <a:pPr indent="0" lvl="0" marL="0" marR="0" rtl="0" algn="l">
              <a:lnSpc>
                <a:spcPct val="15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a:p>
            <a:pPr indent="-285750" lvl="0" marL="285750" marR="0" rtl="0" algn="l">
              <a:lnSpc>
                <a:spcPct val="150000"/>
              </a:lnSpc>
              <a:spcBef>
                <a:spcPts val="0"/>
              </a:spcBef>
              <a:spcAft>
                <a:spcPts val="0"/>
              </a:spcAft>
              <a:buClr>
                <a:schemeClr val="dk1"/>
              </a:buClr>
              <a:buSzPts val="2000"/>
              <a:buFont typeface="Arial"/>
              <a:buChar char="•"/>
            </a:pPr>
            <a:r>
              <a:rPr b="0" i="0" lang="pt-BR" sz="1400" u="none" cap="none" strike="noStrike">
                <a:solidFill>
                  <a:schemeClr val="lt1"/>
                </a:solidFill>
                <a:latin typeface="Work Sans"/>
                <a:ea typeface="Work Sans"/>
                <a:cs typeface="Work Sans"/>
                <a:sym typeface="Work Sans"/>
              </a:rPr>
              <a:t>O tempo por questão varia, mas algo entre </a:t>
            </a:r>
            <a:r>
              <a:rPr b="1" i="0" lang="pt-BR" sz="1400" u="none" cap="none" strike="noStrike">
                <a:solidFill>
                  <a:schemeClr val="lt1"/>
                </a:solidFill>
                <a:latin typeface="Work Sans"/>
                <a:ea typeface="Work Sans"/>
                <a:cs typeface="Work Sans"/>
                <a:sym typeface="Work Sans"/>
              </a:rPr>
              <a:t>1 min e 1min30s </a:t>
            </a:r>
            <a:r>
              <a:rPr b="0" i="0" lang="pt-BR" sz="1400" u="none" cap="none" strike="noStrike">
                <a:solidFill>
                  <a:schemeClr val="lt1"/>
                </a:solidFill>
                <a:latin typeface="Work Sans"/>
                <a:ea typeface="Work Sans"/>
                <a:cs typeface="Work Sans"/>
                <a:sym typeface="Work Sans"/>
              </a:rPr>
              <a:t>por questão por questão é comum</a:t>
            </a:r>
            <a:endParaRPr b="0" i="0" sz="1400" u="none" cap="none" strike="noStrike">
              <a:solidFill>
                <a:schemeClr val="lt1"/>
              </a:solidFill>
              <a:latin typeface="Work Sans"/>
              <a:ea typeface="Work Sans"/>
              <a:cs typeface="Work Sans"/>
              <a:sym typeface="Work Sans"/>
            </a:endParaRPr>
          </a:p>
        </p:txBody>
      </p:sp>
      <p:sp>
        <p:nvSpPr>
          <p:cNvPr id="412" name="Google Shape;412;p21"/>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413" name="Google Shape;413;p21"/>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2"/>
          <p:cNvSpPr txBox="1"/>
          <p:nvPr>
            <p:ph type="title"/>
          </p:nvPr>
        </p:nvSpPr>
        <p:spPr>
          <a:xfrm>
            <a:off x="722375" y="384048"/>
            <a:ext cx="7699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solidFill>
                  <a:srgbClr val="C1272D"/>
                </a:solidFill>
              </a:rPr>
              <a:t>ASPECTOS IMPORTANTES DA PROVA</a:t>
            </a:r>
            <a:endParaRPr>
              <a:solidFill>
                <a:srgbClr val="C1272D"/>
              </a:solidFill>
            </a:endParaRPr>
          </a:p>
        </p:txBody>
      </p:sp>
      <p:sp>
        <p:nvSpPr>
          <p:cNvPr id="419" name="Google Shape;419;p22"/>
          <p:cNvSpPr txBox="1"/>
          <p:nvPr>
            <p:ph idx="1" type="subTitle"/>
          </p:nvPr>
        </p:nvSpPr>
        <p:spPr>
          <a:xfrm>
            <a:off x="770950" y="956748"/>
            <a:ext cx="7249100" cy="425003"/>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pt-BR"/>
              <a:t>Assuntos gerais abordados em cada seção de provas comuns de processo seletivos </a:t>
            </a:r>
            <a:endParaRPr b="1"/>
          </a:p>
        </p:txBody>
      </p:sp>
      <p:sp>
        <p:nvSpPr>
          <p:cNvPr id="420" name="Google Shape;420;p22"/>
          <p:cNvSpPr txBox="1"/>
          <p:nvPr/>
        </p:nvSpPr>
        <p:spPr>
          <a:xfrm>
            <a:off x="798117" y="2032568"/>
            <a:ext cx="7547716" cy="138495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C1272D"/>
              </a:buClr>
              <a:buSzPts val="2000"/>
              <a:buFont typeface="Arial"/>
              <a:buChar char="•"/>
            </a:pPr>
            <a:r>
              <a:rPr b="1" i="0" lang="pt-BR" sz="1400" u="none" cap="none" strike="noStrike">
                <a:solidFill>
                  <a:schemeClr val="lt1"/>
                </a:solidFill>
                <a:latin typeface="Work Sans"/>
                <a:ea typeface="Work Sans"/>
                <a:cs typeface="Work Sans"/>
                <a:sym typeface="Work Sans"/>
              </a:rPr>
              <a:t>Quantitative reasoning </a:t>
            </a:r>
            <a:r>
              <a:rPr b="0" i="0" lang="pt-BR" sz="1400" u="none" cap="none" strike="noStrike">
                <a:solidFill>
                  <a:schemeClr val="lt1"/>
                </a:solidFill>
                <a:latin typeface="Work Sans"/>
                <a:ea typeface="Work Sans"/>
                <a:cs typeface="Work Sans"/>
                <a:sym typeface="Work Sans"/>
              </a:rPr>
              <a:t>terá conteúdo pautado em conceitos de matemática</a:t>
            </a:r>
            <a:endParaRPr/>
          </a:p>
          <a:p>
            <a:pPr indent="0" lvl="0" marL="0" marR="0" rtl="0" algn="l">
              <a:lnSpc>
                <a:spcPct val="15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a:p>
            <a:pPr indent="-285750" lvl="0" marL="285750" marR="0" rtl="0" algn="l">
              <a:lnSpc>
                <a:spcPct val="150000"/>
              </a:lnSpc>
              <a:spcBef>
                <a:spcPts val="0"/>
              </a:spcBef>
              <a:spcAft>
                <a:spcPts val="0"/>
              </a:spcAft>
              <a:buClr>
                <a:srgbClr val="C1272D"/>
              </a:buClr>
              <a:buSzPts val="2000"/>
              <a:buFont typeface="Arial"/>
              <a:buChar char="•"/>
            </a:pPr>
            <a:r>
              <a:rPr b="1" i="0" lang="pt-BR" sz="1400" u="none" cap="none" strike="noStrike">
                <a:solidFill>
                  <a:schemeClr val="lt1"/>
                </a:solidFill>
                <a:latin typeface="Work Sans"/>
                <a:ea typeface="Work Sans"/>
                <a:cs typeface="Work Sans"/>
                <a:sym typeface="Work Sans"/>
              </a:rPr>
              <a:t>Verbal reasoning </a:t>
            </a:r>
            <a:r>
              <a:rPr b="0" i="0" lang="pt-BR" sz="1400" u="none" cap="none" strike="noStrike">
                <a:solidFill>
                  <a:schemeClr val="lt1"/>
                </a:solidFill>
                <a:latin typeface="Work Sans"/>
                <a:ea typeface="Work Sans"/>
                <a:cs typeface="Work Sans"/>
                <a:sym typeface="Work Sans"/>
              </a:rPr>
              <a:t>terá conteúdo pautado em conceitos de interpretação de textos, usualmente em inglês</a:t>
            </a:r>
            <a:endParaRPr b="0" i="0" sz="1400" u="none" cap="none" strike="noStrike">
              <a:solidFill>
                <a:schemeClr val="lt1"/>
              </a:solidFill>
              <a:latin typeface="Work Sans"/>
              <a:ea typeface="Work Sans"/>
              <a:cs typeface="Work Sans"/>
              <a:sym typeface="Work Sans"/>
            </a:endParaRPr>
          </a:p>
        </p:txBody>
      </p:sp>
      <p:sp>
        <p:nvSpPr>
          <p:cNvPr id="421" name="Google Shape;421;p22"/>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422" name="Google Shape;422;p22"/>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23"/>
          <p:cNvPicPr preferRelativeResize="0"/>
          <p:nvPr/>
        </p:nvPicPr>
        <p:blipFill rotWithShape="1">
          <a:blip r:embed="rId3">
            <a:alphaModFix/>
          </a:blip>
          <a:srcRect b="15625" l="0" r="0" t="0"/>
          <a:stretch/>
        </p:blipFill>
        <p:spPr>
          <a:xfrm>
            <a:off x="0" y="0"/>
            <a:ext cx="9144000" cy="5143500"/>
          </a:xfrm>
          <a:prstGeom prst="rect">
            <a:avLst/>
          </a:prstGeom>
          <a:noFill/>
          <a:ln>
            <a:noFill/>
          </a:ln>
        </p:spPr>
      </p:pic>
      <p:sp>
        <p:nvSpPr>
          <p:cNvPr id="428" name="Google Shape;428;p23"/>
          <p:cNvSpPr txBox="1"/>
          <p:nvPr>
            <p:ph type="title"/>
          </p:nvPr>
        </p:nvSpPr>
        <p:spPr>
          <a:xfrm>
            <a:off x="629524" y="3346125"/>
            <a:ext cx="5085475" cy="951555"/>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sz="2400">
                <a:solidFill>
                  <a:schemeClr val="lt1"/>
                </a:solidFill>
              </a:rPr>
              <a:t>EXEMPLOS DE PROVA EM ALGUNS </a:t>
            </a:r>
            <a:r>
              <a:rPr lang="pt-BR" sz="2400">
                <a:solidFill>
                  <a:schemeClr val="dk1"/>
                </a:solidFill>
              </a:rPr>
              <a:t>PROCESSOS SELETIVOS</a:t>
            </a:r>
            <a:endParaRPr sz="2400">
              <a:solidFill>
                <a:schemeClr val="dk1"/>
              </a:solidFill>
            </a:endParaRPr>
          </a:p>
        </p:txBody>
      </p:sp>
      <p:grpSp>
        <p:nvGrpSpPr>
          <p:cNvPr id="429" name="Google Shape;429;p23"/>
          <p:cNvGrpSpPr/>
          <p:nvPr/>
        </p:nvGrpSpPr>
        <p:grpSpPr>
          <a:xfrm>
            <a:off x="0" y="0"/>
            <a:ext cx="9144000" cy="5143500"/>
            <a:chOff x="0" y="0"/>
            <a:chExt cx="9144000" cy="5143500"/>
          </a:xfrm>
        </p:grpSpPr>
        <p:sp>
          <p:nvSpPr>
            <p:cNvPr id="430" name="Google Shape;430;p23"/>
            <p:cNvSpPr/>
            <p:nvPr/>
          </p:nvSpPr>
          <p:spPr>
            <a:xfrm flipH="1" rot="10800000">
              <a:off x="0" y="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3"/>
            <p:cNvSpPr/>
            <p:nvPr/>
          </p:nvSpPr>
          <p:spPr>
            <a:xfrm flipH="1">
              <a:off x="8746800" y="982800"/>
              <a:ext cx="397200" cy="41607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2" name="Google Shape;432;p23"/>
          <p:cNvSpPr/>
          <p:nvPr/>
        </p:nvSpPr>
        <p:spPr>
          <a:xfrm>
            <a:off x="4419600" y="2419350"/>
            <a:ext cx="3162300" cy="3162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4"/>
          <p:cNvSpPr txBox="1"/>
          <p:nvPr>
            <p:ph type="title"/>
          </p:nvPr>
        </p:nvSpPr>
        <p:spPr>
          <a:xfrm>
            <a:off x="722375" y="384050"/>
            <a:ext cx="721195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ASPECTOS IMPORTANTES DA PROVA</a:t>
            </a:r>
            <a:endParaRPr/>
          </a:p>
        </p:txBody>
      </p:sp>
      <p:sp>
        <p:nvSpPr>
          <p:cNvPr id="438" name="Google Shape;438;p24"/>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439" name="Google Shape;439;p24"/>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440" name="Google Shape;440;p24"/>
          <p:cNvSpPr/>
          <p:nvPr/>
        </p:nvSpPr>
        <p:spPr>
          <a:xfrm>
            <a:off x="3799414" y="2600269"/>
            <a:ext cx="316242" cy="184148"/>
          </a:xfrm>
          <a:prstGeom prst="chevron">
            <a:avLst>
              <a:gd fmla="val 50000" name="adj"/>
            </a:avLst>
          </a:prstGeom>
          <a:solidFill>
            <a:srgbClr val="00A7D1"/>
          </a:solidFill>
          <a:ln cap="flat" cmpd="sng" w="25400">
            <a:solidFill>
              <a:srgbClr val="00A7D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descr="Resultado de imagem para oliver wyman png" id="441" name="Google Shape;441;p24"/>
          <p:cNvPicPr preferRelativeResize="0"/>
          <p:nvPr/>
        </p:nvPicPr>
        <p:blipFill rotWithShape="1">
          <a:blip r:embed="rId3">
            <a:alphaModFix/>
          </a:blip>
          <a:srcRect b="36044" l="9956" r="11272" t="37100"/>
          <a:stretch/>
        </p:blipFill>
        <p:spPr>
          <a:xfrm>
            <a:off x="281103" y="2525390"/>
            <a:ext cx="3158222" cy="367787"/>
          </a:xfrm>
          <a:prstGeom prst="rect">
            <a:avLst/>
          </a:prstGeom>
          <a:noFill/>
          <a:ln>
            <a:noFill/>
          </a:ln>
        </p:spPr>
      </p:pic>
      <p:sp>
        <p:nvSpPr>
          <p:cNvPr id="442" name="Google Shape;442;p24"/>
          <p:cNvSpPr txBox="1"/>
          <p:nvPr/>
        </p:nvSpPr>
        <p:spPr>
          <a:xfrm>
            <a:off x="4722646" y="1694172"/>
            <a:ext cx="4663836"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Prova: 22 questões | 50 minutos</a:t>
            </a:r>
            <a:endParaRPr b="0" i="0" sz="1400" u="none" cap="none" strike="noStrike">
              <a:solidFill>
                <a:schemeClr val="lt1"/>
              </a:solidFill>
              <a:latin typeface="Work Sans"/>
              <a:ea typeface="Work Sans"/>
              <a:cs typeface="Work Sans"/>
              <a:sym typeface="Work Sans"/>
            </a:endParaRPr>
          </a:p>
        </p:txBody>
      </p:sp>
      <p:sp>
        <p:nvSpPr>
          <p:cNvPr id="443" name="Google Shape;443;p24"/>
          <p:cNvSpPr txBox="1"/>
          <p:nvPr/>
        </p:nvSpPr>
        <p:spPr>
          <a:xfrm>
            <a:off x="4572000" y="2187973"/>
            <a:ext cx="4572000" cy="1345433"/>
          </a:xfrm>
          <a:prstGeom prst="rect">
            <a:avLst/>
          </a:prstGeom>
          <a:noFill/>
          <a:ln>
            <a:noFill/>
          </a:ln>
        </p:spPr>
        <p:txBody>
          <a:bodyPr anchorCtr="0" anchor="t" bIns="45700" lIns="91425" spcFirstLastPara="1" rIns="91425" wrap="square" tIns="45700">
            <a:spAutoFit/>
          </a:bodyPr>
          <a:lstStyle/>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Problem Solving</a:t>
            </a:r>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Data Sufficiency</a:t>
            </a:r>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Critical Reasoning</a:t>
            </a:r>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Integrated Reasoning</a:t>
            </a:r>
            <a:endParaRPr b="0" i="0" sz="1400" u="none" cap="none" strike="noStrike">
              <a:solidFill>
                <a:schemeClr val="lt1"/>
              </a:solidFill>
              <a:latin typeface="Work Sans"/>
              <a:ea typeface="Work Sans"/>
              <a:cs typeface="Work Sans"/>
              <a:sym typeface="Work Sans"/>
            </a:endParaRPr>
          </a:p>
          <a:p>
            <a:pPr indent="0" lvl="0" marL="146050" marR="0" rtl="0" algn="l">
              <a:lnSpc>
                <a:spcPct val="115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444" name="Google Shape;444;p24"/>
          <p:cNvSpPr txBox="1"/>
          <p:nvPr/>
        </p:nvSpPr>
        <p:spPr>
          <a:xfrm>
            <a:off x="4722646" y="3418587"/>
            <a:ext cx="4126079" cy="68015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A prova fica disponível por 4 dias para a realização</a:t>
            </a:r>
            <a:endParaRPr b="0" i="0" sz="1400" u="none" cap="none" strike="noStrike">
              <a:solidFill>
                <a:schemeClr val="lt1"/>
              </a:solidFill>
              <a:latin typeface="Work Sans"/>
              <a:ea typeface="Work Sans"/>
              <a:cs typeface="Work Sans"/>
              <a:sym typeface="Work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5"/>
          <p:cNvSpPr txBox="1"/>
          <p:nvPr>
            <p:ph type="title"/>
          </p:nvPr>
        </p:nvSpPr>
        <p:spPr>
          <a:xfrm>
            <a:off x="722375" y="384050"/>
            <a:ext cx="721195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ASPECTOS IMPORTANTES DA PROVA</a:t>
            </a:r>
            <a:endParaRPr/>
          </a:p>
        </p:txBody>
      </p:sp>
      <p:sp>
        <p:nvSpPr>
          <p:cNvPr id="450" name="Google Shape;450;p25"/>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451" name="Google Shape;451;p25"/>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452" name="Google Shape;452;p25"/>
          <p:cNvSpPr/>
          <p:nvPr/>
        </p:nvSpPr>
        <p:spPr>
          <a:xfrm>
            <a:off x="3451180" y="2747432"/>
            <a:ext cx="316242" cy="184148"/>
          </a:xfrm>
          <a:prstGeom prst="chevron">
            <a:avLst>
              <a:gd fmla="val 50000" name="adj"/>
            </a:avLst>
          </a:prstGeom>
          <a:solidFill>
            <a:srgbClr val="7030A0"/>
          </a:solid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id="453" name="Google Shape;453;p25"/>
          <p:cNvPicPr preferRelativeResize="0"/>
          <p:nvPr/>
        </p:nvPicPr>
        <p:blipFill rotWithShape="1">
          <a:blip r:embed="rId3">
            <a:alphaModFix/>
          </a:blip>
          <a:srcRect b="0" l="0" r="0" t="0"/>
          <a:stretch/>
        </p:blipFill>
        <p:spPr>
          <a:xfrm>
            <a:off x="436461" y="2679012"/>
            <a:ext cx="2726445" cy="320987"/>
          </a:xfrm>
          <a:prstGeom prst="rect">
            <a:avLst/>
          </a:prstGeom>
          <a:noFill/>
          <a:ln>
            <a:noFill/>
          </a:ln>
        </p:spPr>
      </p:pic>
      <p:sp>
        <p:nvSpPr>
          <p:cNvPr id="454" name="Google Shape;454;p25"/>
          <p:cNvSpPr txBox="1"/>
          <p:nvPr/>
        </p:nvSpPr>
        <p:spPr>
          <a:xfrm>
            <a:off x="4007172" y="1231862"/>
            <a:ext cx="3649655"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Prova única: 25 questões | 50 minutos</a:t>
            </a:r>
            <a:endParaRPr b="0" i="0" sz="1400" u="none" cap="none" strike="noStrike">
              <a:solidFill>
                <a:schemeClr val="lt1"/>
              </a:solidFill>
              <a:latin typeface="Work Sans"/>
              <a:ea typeface="Work Sans"/>
              <a:cs typeface="Work Sans"/>
              <a:sym typeface="Work Sans"/>
            </a:endParaRPr>
          </a:p>
        </p:txBody>
      </p:sp>
      <p:sp>
        <p:nvSpPr>
          <p:cNvPr id="455" name="Google Shape;455;p25"/>
          <p:cNvSpPr txBox="1"/>
          <p:nvPr/>
        </p:nvSpPr>
        <p:spPr>
          <a:xfrm>
            <a:off x="3992020" y="1743806"/>
            <a:ext cx="2520000" cy="1175676"/>
          </a:xfrm>
          <a:prstGeom prst="rect">
            <a:avLst/>
          </a:prstGeom>
          <a:noFill/>
          <a:ln>
            <a:noFill/>
          </a:ln>
        </p:spPr>
        <p:txBody>
          <a:bodyPr anchorCtr="0" anchor="t" bIns="91425" lIns="91425" spcFirstLastPara="1" rIns="85950" wrap="square" tIns="91425">
            <a:spAutoFit/>
          </a:bodyPr>
          <a:lstStyle/>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Problem Solving</a:t>
            </a:r>
            <a:endParaRPr b="0" i="0" sz="14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Data Sufficiency*</a:t>
            </a:r>
            <a:endParaRPr b="0" i="0" sz="14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Critical Reasoning</a:t>
            </a:r>
            <a:endParaRPr b="0" i="0" sz="14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Business Case Test</a:t>
            </a:r>
            <a:endParaRPr/>
          </a:p>
        </p:txBody>
      </p:sp>
      <p:sp>
        <p:nvSpPr>
          <p:cNvPr id="456" name="Google Shape;456;p25"/>
          <p:cNvSpPr txBox="1"/>
          <p:nvPr/>
        </p:nvSpPr>
        <p:spPr>
          <a:xfrm>
            <a:off x="4007172" y="3211823"/>
            <a:ext cx="2520000" cy="680156"/>
          </a:xfrm>
          <a:prstGeom prst="rect">
            <a:avLst/>
          </a:prstGeom>
          <a:noFill/>
          <a:ln>
            <a:noFill/>
          </a:ln>
        </p:spPr>
        <p:txBody>
          <a:bodyPr anchorCtr="0" anchor="t" bIns="91425" lIns="91425" spcFirstLastPara="1" rIns="85950" wrap="square" tIns="91425">
            <a:spAutoFit/>
          </a:bodyPr>
          <a:lstStyle/>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Compreensão de texto em inglês</a:t>
            </a:r>
            <a:endParaRPr b="0" i="0" sz="1400" u="none" cap="none" strike="noStrike">
              <a:solidFill>
                <a:schemeClr val="lt1"/>
              </a:solidFill>
              <a:latin typeface="Work Sans"/>
              <a:ea typeface="Work Sans"/>
              <a:cs typeface="Work Sans"/>
              <a:sym typeface="Work Sans"/>
            </a:endParaRPr>
          </a:p>
        </p:txBody>
      </p:sp>
      <p:sp>
        <p:nvSpPr>
          <p:cNvPr id="457" name="Google Shape;457;p25"/>
          <p:cNvSpPr txBox="1"/>
          <p:nvPr/>
        </p:nvSpPr>
        <p:spPr>
          <a:xfrm>
            <a:off x="7088567" y="2025960"/>
            <a:ext cx="1691515" cy="432396"/>
          </a:xfrm>
          <a:prstGeom prst="rect">
            <a:avLst/>
          </a:prstGeom>
          <a:noFill/>
          <a:ln>
            <a:noFill/>
          </a:ln>
        </p:spPr>
        <p:txBody>
          <a:bodyPr anchorCtr="0" anchor="t" bIns="91425" lIns="91425" spcFirstLastPara="1" rIns="85950" wrap="square" tIns="91425">
            <a:spAutoFit/>
          </a:bodyPr>
          <a:lstStyle/>
          <a:p>
            <a:pPr indent="0" lvl="0" marL="146050" marR="0" rtl="0" algn="l">
              <a:lnSpc>
                <a:spcPct val="115000"/>
              </a:lnSpc>
              <a:spcBef>
                <a:spcPts val="0"/>
              </a:spcBef>
              <a:spcAft>
                <a:spcPts val="0"/>
              </a:spcAft>
              <a:buClr>
                <a:srgbClr val="000000"/>
              </a:buClr>
              <a:buSzPts val="1600"/>
              <a:buFont typeface="Arial"/>
              <a:buNone/>
            </a:pPr>
            <a:r>
              <a:rPr b="0" i="0" lang="pt-BR" sz="1400" u="none" cap="none" strike="noStrike">
                <a:solidFill>
                  <a:schemeClr val="lt1"/>
                </a:solidFill>
                <a:latin typeface="Work Sans"/>
                <a:ea typeface="Work Sans"/>
                <a:cs typeface="Work Sans"/>
                <a:sym typeface="Work Sans"/>
              </a:rPr>
              <a:t>19 questões</a:t>
            </a:r>
            <a:endParaRPr b="0" i="0" sz="1400" u="none" cap="none" strike="noStrike">
              <a:solidFill>
                <a:schemeClr val="lt1"/>
              </a:solidFill>
              <a:latin typeface="Work Sans"/>
              <a:ea typeface="Work Sans"/>
              <a:cs typeface="Work Sans"/>
              <a:sym typeface="Work Sans"/>
            </a:endParaRPr>
          </a:p>
        </p:txBody>
      </p:sp>
      <p:sp>
        <p:nvSpPr>
          <p:cNvPr id="458" name="Google Shape;458;p25"/>
          <p:cNvSpPr txBox="1"/>
          <p:nvPr/>
        </p:nvSpPr>
        <p:spPr>
          <a:xfrm>
            <a:off x="7088567" y="3335703"/>
            <a:ext cx="1691515" cy="432396"/>
          </a:xfrm>
          <a:prstGeom prst="rect">
            <a:avLst/>
          </a:prstGeom>
          <a:noFill/>
          <a:ln>
            <a:noFill/>
          </a:ln>
        </p:spPr>
        <p:txBody>
          <a:bodyPr anchorCtr="0" anchor="t" bIns="91425" lIns="91425" spcFirstLastPara="1" rIns="85950" wrap="square" tIns="91425">
            <a:spAutoFit/>
          </a:bodyPr>
          <a:lstStyle/>
          <a:p>
            <a:pPr indent="0" lvl="0" marL="146050" marR="0" rtl="0" algn="l">
              <a:lnSpc>
                <a:spcPct val="115000"/>
              </a:lnSpc>
              <a:spcBef>
                <a:spcPts val="0"/>
              </a:spcBef>
              <a:spcAft>
                <a:spcPts val="0"/>
              </a:spcAft>
              <a:buClr>
                <a:srgbClr val="000000"/>
              </a:buClr>
              <a:buSzPts val="1600"/>
              <a:buFont typeface="Arial"/>
              <a:buNone/>
            </a:pPr>
            <a:r>
              <a:rPr b="0" i="0" lang="pt-BR" sz="1400" u="none" cap="none" strike="noStrike">
                <a:solidFill>
                  <a:schemeClr val="lt1"/>
                </a:solidFill>
                <a:latin typeface="Work Sans"/>
                <a:ea typeface="Work Sans"/>
                <a:cs typeface="Work Sans"/>
                <a:sym typeface="Work Sans"/>
              </a:rPr>
              <a:t>6 questões</a:t>
            </a:r>
            <a:endParaRPr b="0" i="0" sz="1400" u="none" cap="none" strike="noStrike">
              <a:solidFill>
                <a:schemeClr val="lt1"/>
              </a:solidFill>
              <a:latin typeface="Work Sans"/>
              <a:ea typeface="Work Sans"/>
              <a:cs typeface="Work Sans"/>
              <a:sym typeface="Work Sans"/>
            </a:endParaRPr>
          </a:p>
        </p:txBody>
      </p:sp>
      <p:sp>
        <p:nvSpPr>
          <p:cNvPr id="459" name="Google Shape;459;p25"/>
          <p:cNvSpPr/>
          <p:nvPr/>
        </p:nvSpPr>
        <p:spPr>
          <a:xfrm>
            <a:off x="6527172" y="2143574"/>
            <a:ext cx="316242" cy="184148"/>
          </a:xfrm>
          <a:prstGeom prst="chevron">
            <a:avLst>
              <a:gd fmla="val 50000" name="adj"/>
            </a:avLst>
          </a:prstGeom>
          <a:solidFill>
            <a:srgbClr val="7030A0"/>
          </a:solid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60" name="Google Shape;460;p25"/>
          <p:cNvSpPr/>
          <p:nvPr/>
        </p:nvSpPr>
        <p:spPr>
          <a:xfrm>
            <a:off x="6527172" y="3432471"/>
            <a:ext cx="316242" cy="184148"/>
          </a:xfrm>
          <a:prstGeom prst="chevron">
            <a:avLst>
              <a:gd fmla="val 50000" name="adj"/>
            </a:avLst>
          </a:prstGeom>
          <a:solidFill>
            <a:srgbClr val="7030A0"/>
          </a:solid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61" name="Google Shape;461;p25"/>
          <p:cNvSpPr txBox="1"/>
          <p:nvPr/>
        </p:nvSpPr>
        <p:spPr>
          <a:xfrm>
            <a:off x="4179721" y="3976808"/>
            <a:ext cx="4126079" cy="68015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A prova fica disponível por 5 dias para a realização</a:t>
            </a:r>
            <a:endParaRPr b="0" i="0" sz="1400" u="none" cap="none" strike="noStrike">
              <a:solidFill>
                <a:schemeClr val="lt1"/>
              </a:solidFill>
              <a:latin typeface="Work Sans"/>
              <a:ea typeface="Work Sans"/>
              <a:cs typeface="Work Sans"/>
              <a:sym typeface="Work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f554ed0205_0_0"/>
          <p:cNvSpPr txBox="1"/>
          <p:nvPr>
            <p:ph type="title"/>
          </p:nvPr>
        </p:nvSpPr>
        <p:spPr>
          <a:xfrm>
            <a:off x="722375" y="384050"/>
            <a:ext cx="5052900" cy="5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f554ed0205_0_0"/>
          <p:cNvSpPr txBox="1"/>
          <p:nvPr>
            <p:ph idx="1" type="body"/>
          </p:nvPr>
        </p:nvSpPr>
        <p:spPr>
          <a:xfrm>
            <a:off x="965025" y="1638050"/>
            <a:ext cx="3549900" cy="181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3f554ed0205_0_0"/>
          <p:cNvSpPr/>
          <p:nvPr>
            <p:ph idx="2" type="pic"/>
          </p:nvPr>
        </p:nvSpPr>
        <p:spPr>
          <a:xfrm>
            <a:off x="6183025" y="125"/>
            <a:ext cx="2344800" cy="5143500"/>
          </a:xfrm>
          <a:prstGeom prst="parallelogram">
            <a:avLst>
              <a:gd fmla="val 25000" name="adj"/>
            </a:avLst>
          </a:prstGeom>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6"/>
          <p:cNvSpPr txBox="1"/>
          <p:nvPr>
            <p:ph type="title"/>
          </p:nvPr>
        </p:nvSpPr>
        <p:spPr>
          <a:xfrm>
            <a:off x="722375" y="384050"/>
            <a:ext cx="721195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ASPECTOS IMPORTANTES DA PROVA</a:t>
            </a:r>
            <a:endParaRPr/>
          </a:p>
        </p:txBody>
      </p:sp>
      <p:sp>
        <p:nvSpPr>
          <p:cNvPr id="474" name="Google Shape;474;p26"/>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475" name="Google Shape;475;p26"/>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476" name="Google Shape;476;p26"/>
          <p:cNvSpPr/>
          <p:nvPr/>
        </p:nvSpPr>
        <p:spPr>
          <a:xfrm>
            <a:off x="6290856" y="3201518"/>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77" name="Google Shape;477;p26"/>
          <p:cNvSpPr/>
          <p:nvPr/>
        </p:nvSpPr>
        <p:spPr>
          <a:xfrm>
            <a:off x="6290856" y="2184401"/>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78" name="Google Shape;478;p26"/>
          <p:cNvSpPr/>
          <p:nvPr/>
        </p:nvSpPr>
        <p:spPr>
          <a:xfrm>
            <a:off x="6290856" y="2692959"/>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descr="Relatório Anual 2019" id="479" name="Google Shape;479;p26"/>
          <p:cNvPicPr preferRelativeResize="0"/>
          <p:nvPr/>
        </p:nvPicPr>
        <p:blipFill rotWithShape="1">
          <a:blip r:embed="rId3">
            <a:alphaModFix/>
          </a:blip>
          <a:srcRect b="19314" l="12144" r="10748" t="25066"/>
          <a:stretch/>
        </p:blipFill>
        <p:spPr>
          <a:xfrm>
            <a:off x="147360" y="2288121"/>
            <a:ext cx="2452524" cy="1209233"/>
          </a:xfrm>
          <a:prstGeom prst="rect">
            <a:avLst/>
          </a:prstGeom>
          <a:noFill/>
          <a:ln>
            <a:noFill/>
          </a:ln>
        </p:spPr>
      </p:pic>
      <p:sp>
        <p:nvSpPr>
          <p:cNvPr id="480" name="Google Shape;480;p26"/>
          <p:cNvSpPr txBox="1"/>
          <p:nvPr/>
        </p:nvSpPr>
        <p:spPr>
          <a:xfrm>
            <a:off x="3278066" y="1378657"/>
            <a:ext cx="4338903"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Prova conjunta: 62 questões | 75 minutos</a:t>
            </a:r>
            <a:endParaRPr b="0" i="0" sz="1400" u="none" cap="none" strike="noStrike">
              <a:solidFill>
                <a:schemeClr val="lt1"/>
              </a:solidFill>
              <a:latin typeface="Work Sans"/>
              <a:ea typeface="Work Sans"/>
              <a:cs typeface="Work Sans"/>
              <a:sym typeface="Work Sans"/>
            </a:endParaRPr>
          </a:p>
        </p:txBody>
      </p:sp>
      <p:sp>
        <p:nvSpPr>
          <p:cNvPr id="481" name="Google Shape;481;p26"/>
          <p:cNvSpPr txBox="1"/>
          <p:nvPr/>
        </p:nvSpPr>
        <p:spPr>
          <a:xfrm>
            <a:off x="3278065" y="2079300"/>
            <a:ext cx="3032083" cy="1423436"/>
          </a:xfrm>
          <a:prstGeom prst="rect">
            <a:avLst/>
          </a:prstGeom>
          <a:noFill/>
          <a:ln>
            <a:noFill/>
          </a:ln>
        </p:spPr>
        <p:txBody>
          <a:bodyPr anchorCtr="0" anchor="t" bIns="91425" lIns="91425" spcFirstLastPara="1" rIns="85950" wrap="square" tIns="91425">
            <a:spAutoFit/>
          </a:bodyPr>
          <a:lstStyle/>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Prova baseada em GMAT</a:t>
            </a:r>
            <a:endParaRPr/>
          </a:p>
          <a:p>
            <a:pPr indent="0" lvl="0" marL="146050" marR="0" rtl="0" algn="l">
              <a:lnSpc>
                <a:spcPct val="115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Business Case Test</a:t>
            </a:r>
            <a:endParaRPr/>
          </a:p>
          <a:p>
            <a:pPr indent="0" lvl="0" marL="146050" marR="0" rtl="0" algn="l">
              <a:lnSpc>
                <a:spcPct val="115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400" u="none" cap="none" strike="noStrike">
                <a:solidFill>
                  <a:schemeClr val="lt1"/>
                </a:solidFill>
                <a:latin typeface="Work Sans"/>
                <a:ea typeface="Work Sans"/>
                <a:cs typeface="Work Sans"/>
                <a:sym typeface="Work Sans"/>
              </a:rPr>
              <a:t>Inglês (leitura e áudio)</a:t>
            </a:r>
            <a:endParaRPr b="0" i="0" sz="1400" u="none" cap="none" strike="noStrike">
              <a:solidFill>
                <a:schemeClr val="lt1"/>
              </a:solidFill>
              <a:latin typeface="Work Sans"/>
              <a:ea typeface="Work Sans"/>
              <a:cs typeface="Work Sans"/>
              <a:sym typeface="Work Sans"/>
            </a:endParaRPr>
          </a:p>
        </p:txBody>
      </p:sp>
      <p:sp>
        <p:nvSpPr>
          <p:cNvPr id="482" name="Google Shape;482;p26"/>
          <p:cNvSpPr txBox="1"/>
          <p:nvPr/>
        </p:nvSpPr>
        <p:spPr>
          <a:xfrm>
            <a:off x="6890673" y="2073315"/>
            <a:ext cx="4338903" cy="142343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10 questões | 20 min</a:t>
            </a:r>
            <a:endParaRPr/>
          </a:p>
          <a:p>
            <a:pPr indent="0" lvl="0" marL="0" marR="0" rtl="0" algn="l">
              <a:lnSpc>
                <a:spcPct val="115000"/>
              </a:lnSpc>
              <a:spcBef>
                <a:spcPts val="0"/>
              </a:spcBef>
              <a:spcAft>
                <a:spcPts val="0"/>
              </a:spcAft>
              <a:buClr>
                <a:schemeClr val="dk1"/>
              </a:buClr>
              <a:buSzPts val="1600"/>
              <a:buFont typeface="Arial"/>
              <a:buNone/>
            </a:pPr>
            <a:r>
              <a:t/>
            </a:r>
            <a:endParaRPr b="0" i="0" sz="1400" u="none" cap="none" strike="noStrike">
              <a:solidFill>
                <a:schemeClr val="lt1"/>
              </a:solidFill>
              <a:latin typeface="Work Sans"/>
              <a:ea typeface="Work Sans"/>
              <a:cs typeface="Work Sans"/>
              <a:sym typeface="Work Sans"/>
            </a:endParaRPr>
          </a:p>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10 questões | 25 min</a:t>
            </a:r>
            <a:endParaRPr/>
          </a:p>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 </a:t>
            </a:r>
            <a:endParaRPr/>
          </a:p>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42 questões | 30 min</a:t>
            </a:r>
            <a:endParaRPr b="0" i="0" sz="1400" u="none" cap="none" strike="noStrike">
              <a:solidFill>
                <a:schemeClr val="lt1"/>
              </a:solidFill>
              <a:latin typeface="Work Sans"/>
              <a:ea typeface="Work Sans"/>
              <a:cs typeface="Work Sans"/>
              <a:sym typeface="Work Sans"/>
            </a:endParaRPr>
          </a:p>
        </p:txBody>
      </p:sp>
      <p:sp>
        <p:nvSpPr>
          <p:cNvPr id="483" name="Google Shape;483;p26"/>
          <p:cNvSpPr/>
          <p:nvPr/>
        </p:nvSpPr>
        <p:spPr>
          <a:xfrm>
            <a:off x="2697540" y="2692959"/>
            <a:ext cx="316242" cy="184148"/>
          </a:xfrm>
          <a:prstGeom prst="chevron">
            <a:avLst>
              <a:gd fmla="val 50000" name="adj"/>
            </a:avLst>
          </a:prstGeom>
          <a:solidFill>
            <a:srgbClr val="177B57"/>
          </a:solidFill>
          <a:ln cap="flat" cmpd="sng" w="25400">
            <a:solidFill>
              <a:srgbClr val="177B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84" name="Google Shape;484;p26"/>
          <p:cNvSpPr txBox="1"/>
          <p:nvPr/>
        </p:nvSpPr>
        <p:spPr>
          <a:xfrm>
            <a:off x="3278066" y="3817036"/>
            <a:ext cx="5561134"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600"/>
              <a:buFont typeface="Arial"/>
              <a:buNone/>
            </a:pPr>
            <a:r>
              <a:rPr b="0" i="0" lang="pt-BR" sz="1400" u="none" cap="none" strike="noStrike">
                <a:solidFill>
                  <a:schemeClr val="lt1"/>
                </a:solidFill>
                <a:latin typeface="Work Sans"/>
                <a:ea typeface="Work Sans"/>
                <a:cs typeface="Work Sans"/>
                <a:sym typeface="Work Sans"/>
              </a:rPr>
              <a:t>Data e horário fixos (duas opções) e câmera ligada no zoom</a:t>
            </a:r>
            <a:endParaRPr b="0" i="0" sz="1400" u="none" cap="none" strike="noStrike">
              <a:solidFill>
                <a:schemeClr val="lt1"/>
              </a:solidFill>
              <a:latin typeface="Work Sans"/>
              <a:ea typeface="Work Sans"/>
              <a:cs typeface="Work Sans"/>
              <a:sym typeface="Work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7"/>
          <p:cNvSpPr txBox="1"/>
          <p:nvPr>
            <p:ph type="title"/>
          </p:nvPr>
        </p:nvSpPr>
        <p:spPr>
          <a:xfrm>
            <a:off x="722375" y="384050"/>
            <a:ext cx="721195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ASPECTOS IMPORTANTES DA PROVA</a:t>
            </a:r>
            <a:endParaRPr/>
          </a:p>
        </p:txBody>
      </p:sp>
      <p:sp>
        <p:nvSpPr>
          <p:cNvPr id="490" name="Google Shape;490;p27"/>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a:t>
            </a:r>
            <a:r>
              <a:rPr b="1" lang="pt-BR" sz="900"/>
              <a:t>2</a:t>
            </a:r>
            <a:r>
              <a:rPr b="1" i="0" lang="pt-BR" sz="900" u="none" cap="none" strike="noStrike">
                <a:solidFill>
                  <a:srgbClr val="000000"/>
                </a:solidFill>
                <a:latin typeface="Arial"/>
                <a:ea typeface="Arial"/>
                <a:cs typeface="Arial"/>
                <a:sym typeface="Arial"/>
              </a:rPr>
              <a:t>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491" name="Google Shape;491;p27"/>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pic>
        <p:nvPicPr>
          <p:cNvPr id="492" name="Google Shape;492;p27"/>
          <p:cNvPicPr preferRelativeResize="0"/>
          <p:nvPr/>
        </p:nvPicPr>
        <p:blipFill rotWithShape="1">
          <a:blip r:embed="rId3">
            <a:alphaModFix/>
          </a:blip>
          <a:srcRect b="24634" l="0" r="0" t="25408"/>
          <a:stretch/>
        </p:blipFill>
        <p:spPr>
          <a:xfrm>
            <a:off x="293146" y="2447925"/>
            <a:ext cx="3231104" cy="502389"/>
          </a:xfrm>
          <a:prstGeom prst="rect">
            <a:avLst/>
          </a:prstGeom>
          <a:noFill/>
          <a:ln>
            <a:noFill/>
          </a:ln>
        </p:spPr>
      </p:pic>
      <p:sp>
        <p:nvSpPr>
          <p:cNvPr id="493" name="Google Shape;493;p27"/>
          <p:cNvSpPr txBox="1"/>
          <p:nvPr/>
        </p:nvSpPr>
        <p:spPr>
          <a:xfrm>
            <a:off x="3671481" y="1771546"/>
            <a:ext cx="5179373" cy="1600408"/>
          </a:xfrm>
          <a:prstGeom prst="rect">
            <a:avLst/>
          </a:prstGeom>
          <a:noFill/>
          <a:ln>
            <a:noFill/>
          </a:ln>
        </p:spPr>
        <p:txBody>
          <a:bodyPr anchorCtr="0" anchor="t" bIns="91425" lIns="91425" spcFirstLastPara="1" rIns="85950" wrap="square" tIns="91425">
            <a:spAutoFit/>
          </a:bodyPr>
          <a:lstStyle/>
          <a:p>
            <a:pPr indent="-311150" lvl="0" marL="457200" marR="0" rtl="0" algn="l">
              <a:lnSpc>
                <a:spcPct val="115000"/>
              </a:lnSpc>
              <a:spcBef>
                <a:spcPts val="0"/>
              </a:spcBef>
              <a:spcAft>
                <a:spcPts val="0"/>
              </a:spcAft>
              <a:buClr>
                <a:schemeClr val="dk1"/>
              </a:buClr>
              <a:buSzPts val="1300"/>
              <a:buFont typeface="Montserrat"/>
              <a:buChar char="●"/>
            </a:pPr>
            <a:r>
              <a:rPr b="0" i="0" lang="pt-BR" sz="1600" u="none" cap="none" strike="noStrike">
                <a:solidFill>
                  <a:schemeClr val="lt1"/>
                </a:solidFill>
                <a:latin typeface="Work Sans"/>
                <a:ea typeface="Work Sans"/>
                <a:cs typeface="Work Sans"/>
                <a:sym typeface="Work Sans"/>
              </a:rPr>
              <a:t>Pensamento Crítico: 12 perguntas/10min </a:t>
            </a:r>
            <a:endParaRPr b="0" i="0" sz="16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600" u="none" cap="none" strike="noStrike">
                <a:solidFill>
                  <a:schemeClr val="lt1"/>
                </a:solidFill>
                <a:latin typeface="Work Sans"/>
                <a:ea typeface="Work Sans"/>
                <a:cs typeface="Work Sans"/>
                <a:sym typeface="Work Sans"/>
              </a:rPr>
              <a:t>Raciocínio Numérico: 12 perguntas/10min</a:t>
            </a:r>
            <a:endParaRPr b="0" i="0" sz="14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600" u="none" cap="none" strike="noStrike">
                <a:solidFill>
                  <a:schemeClr val="lt1"/>
                </a:solidFill>
                <a:latin typeface="Work Sans"/>
                <a:ea typeface="Work Sans"/>
                <a:cs typeface="Work Sans"/>
                <a:sym typeface="Work Sans"/>
              </a:rPr>
              <a:t>Julgamento de Negócios: 15 perguntas/10min</a:t>
            </a:r>
            <a:endParaRPr b="0" i="0" sz="14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600" u="none" cap="none" strike="noStrike">
                <a:solidFill>
                  <a:schemeClr val="lt1"/>
                </a:solidFill>
                <a:latin typeface="Work Sans"/>
                <a:ea typeface="Work Sans"/>
                <a:cs typeface="Work Sans"/>
                <a:sym typeface="Work Sans"/>
              </a:rPr>
              <a:t>Resolução de problemas: 12 perguntas/9min</a:t>
            </a:r>
            <a:endParaRPr b="0" i="0" sz="1600" u="none" cap="none" strike="noStrike">
              <a:solidFill>
                <a:schemeClr val="lt1"/>
              </a:solidFill>
              <a:latin typeface="Work Sans"/>
              <a:ea typeface="Work Sans"/>
              <a:cs typeface="Work Sans"/>
              <a:sym typeface="Work Sans"/>
            </a:endParaRPr>
          </a:p>
          <a:p>
            <a:pPr indent="-311150" lvl="0" marL="457200" marR="0" rtl="0" algn="l">
              <a:lnSpc>
                <a:spcPct val="115000"/>
              </a:lnSpc>
              <a:spcBef>
                <a:spcPts val="0"/>
              </a:spcBef>
              <a:spcAft>
                <a:spcPts val="0"/>
              </a:spcAft>
              <a:buClr>
                <a:schemeClr val="dk1"/>
              </a:buClr>
              <a:buSzPts val="1300"/>
              <a:buFont typeface="Montserrat"/>
              <a:buChar char="●"/>
            </a:pPr>
            <a:r>
              <a:rPr b="0" i="0" lang="pt-BR" sz="1600" u="none" cap="none" strike="noStrike">
                <a:solidFill>
                  <a:schemeClr val="lt1"/>
                </a:solidFill>
                <a:latin typeface="Work Sans"/>
                <a:ea typeface="Work Sans"/>
                <a:cs typeface="Work Sans"/>
                <a:sym typeface="Work Sans"/>
              </a:rPr>
              <a:t>*Nível de inglês: 20 perguntas/10min</a:t>
            </a:r>
            <a:endParaRPr b="0" i="0" sz="1600" u="none" cap="none" strike="noStrike">
              <a:solidFill>
                <a:schemeClr val="lt1"/>
              </a:solidFill>
              <a:latin typeface="Work Sans"/>
              <a:ea typeface="Work Sans"/>
              <a:cs typeface="Work Sans"/>
              <a:sym typeface="Work Sans"/>
            </a:endParaRPr>
          </a:p>
        </p:txBody>
      </p:sp>
      <p:sp>
        <p:nvSpPr>
          <p:cNvPr id="494" name="Google Shape;494;p27"/>
          <p:cNvSpPr txBox="1"/>
          <p:nvPr/>
        </p:nvSpPr>
        <p:spPr>
          <a:xfrm>
            <a:off x="3671481" y="3630899"/>
            <a:ext cx="5179373" cy="467790"/>
          </a:xfrm>
          <a:prstGeom prst="rect">
            <a:avLst/>
          </a:prstGeom>
          <a:noFill/>
          <a:ln>
            <a:noFill/>
          </a:ln>
        </p:spPr>
        <p:txBody>
          <a:bodyPr anchorCtr="0" anchor="t" bIns="91425" lIns="91425" spcFirstLastPara="1" rIns="85950" wrap="square" tIns="91425">
            <a:spAutoFit/>
          </a:bodyPr>
          <a:lstStyle/>
          <a:p>
            <a:pPr indent="0" lvl="0" marL="146050" marR="0" rtl="0" algn="l">
              <a:lnSpc>
                <a:spcPct val="115000"/>
              </a:lnSpc>
              <a:spcBef>
                <a:spcPts val="0"/>
              </a:spcBef>
              <a:spcAft>
                <a:spcPts val="0"/>
              </a:spcAft>
              <a:buNone/>
            </a:pPr>
            <a:r>
              <a:rPr b="0" i="0" lang="pt-BR" sz="1600" u="none" cap="none" strike="noStrike">
                <a:solidFill>
                  <a:schemeClr val="lt1"/>
                </a:solidFill>
                <a:latin typeface="Work Sans"/>
                <a:ea typeface="Work Sans"/>
                <a:cs typeface="Work Sans"/>
                <a:sym typeface="Work Sans"/>
              </a:rPr>
              <a:t>Fica disponível por alguns dias</a:t>
            </a:r>
            <a:endParaRPr b="0" i="0" sz="1600" u="none" cap="none" strike="noStrike">
              <a:solidFill>
                <a:schemeClr val="lt1"/>
              </a:solidFill>
              <a:latin typeface="Work Sans"/>
              <a:ea typeface="Work Sans"/>
              <a:cs typeface="Work Sans"/>
              <a:sym typeface="Work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8"/>
          <p:cNvSpPr txBox="1"/>
          <p:nvPr>
            <p:ph type="title"/>
          </p:nvPr>
        </p:nvSpPr>
        <p:spPr>
          <a:xfrm>
            <a:off x="722375" y="384050"/>
            <a:ext cx="721195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ASPECTOS IMPORTANTES DA PROVA</a:t>
            </a:r>
            <a:endParaRPr/>
          </a:p>
        </p:txBody>
      </p:sp>
      <p:sp>
        <p:nvSpPr>
          <p:cNvPr id="500" name="Google Shape;500;p28"/>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
        <p:nvSpPr>
          <p:cNvPr id="501" name="Google Shape;501;p28"/>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502" name="Google Shape;502;p28"/>
          <p:cNvSpPr/>
          <p:nvPr/>
        </p:nvSpPr>
        <p:spPr>
          <a:xfrm>
            <a:off x="3671481" y="2222565"/>
            <a:ext cx="316242" cy="184148"/>
          </a:xfrm>
          <a:prstGeom prst="chevron">
            <a:avLst>
              <a:gd fmla="val 50000" name="adj"/>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503" name="Google Shape;503;p28"/>
          <p:cNvSpPr txBox="1"/>
          <p:nvPr/>
        </p:nvSpPr>
        <p:spPr>
          <a:xfrm>
            <a:off x="4143050" y="2153547"/>
            <a:ext cx="4794327" cy="30777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1400" u="none" cap="none" strike="noStrike">
                <a:solidFill>
                  <a:srgbClr val="000000"/>
                </a:solidFill>
                <a:latin typeface="Work Sans"/>
                <a:ea typeface="Work Sans"/>
                <a:cs typeface="Work Sans"/>
                <a:sym typeface="Work Sans"/>
              </a:rPr>
              <a:t>Joguinho (2 etapas)</a:t>
            </a:r>
            <a:endParaRPr/>
          </a:p>
        </p:txBody>
      </p:sp>
      <p:sp>
        <p:nvSpPr>
          <p:cNvPr id="504" name="Google Shape;504;p28"/>
          <p:cNvSpPr/>
          <p:nvPr/>
        </p:nvSpPr>
        <p:spPr>
          <a:xfrm>
            <a:off x="3671481" y="3076044"/>
            <a:ext cx="316242" cy="184148"/>
          </a:xfrm>
          <a:prstGeom prst="chevron">
            <a:avLst>
              <a:gd fmla="val 50000" name="adj"/>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id="505" name="Google Shape;505;p28"/>
          <p:cNvPicPr preferRelativeResize="0"/>
          <p:nvPr/>
        </p:nvPicPr>
        <p:blipFill rotWithShape="1">
          <a:blip r:embed="rId3">
            <a:alphaModFix/>
          </a:blip>
          <a:srcRect b="0" l="0" r="0" t="0"/>
          <a:stretch/>
        </p:blipFill>
        <p:spPr>
          <a:xfrm>
            <a:off x="722375" y="2012973"/>
            <a:ext cx="2400300" cy="1350169"/>
          </a:xfrm>
          <a:prstGeom prst="rect">
            <a:avLst/>
          </a:prstGeom>
          <a:noFill/>
          <a:ln>
            <a:noFill/>
          </a:ln>
        </p:spPr>
      </p:pic>
      <p:sp>
        <p:nvSpPr>
          <p:cNvPr id="506" name="Google Shape;506;p28"/>
          <p:cNvSpPr txBox="1"/>
          <p:nvPr/>
        </p:nvSpPr>
        <p:spPr>
          <a:xfrm>
            <a:off x="4143050" y="3020872"/>
            <a:ext cx="4794327" cy="30777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1400" u="none" cap="none" strike="noStrike">
                <a:solidFill>
                  <a:srgbClr val="000000"/>
                </a:solidFill>
                <a:latin typeface="Work Sans"/>
                <a:ea typeface="Work Sans"/>
                <a:cs typeface="Work Sans"/>
                <a:sym typeface="Work Sans"/>
              </a:rPr>
              <a:t>Geladeira de 1 ano (seu jogo continua valendo)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9"/>
          <p:cNvSpPr txBox="1"/>
          <p:nvPr/>
        </p:nvSpPr>
        <p:spPr>
          <a:xfrm>
            <a:off x="1259359" y="158808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01.</a:t>
            </a:r>
            <a:endParaRPr b="0" i="0" sz="3000" u="none" cap="none" strike="noStrike">
              <a:solidFill>
                <a:srgbClr val="F3F3F3"/>
              </a:solidFill>
              <a:latin typeface="Kanit"/>
              <a:ea typeface="Kanit"/>
              <a:cs typeface="Kanit"/>
              <a:sym typeface="Kanit"/>
            </a:endParaRPr>
          </a:p>
        </p:txBody>
      </p:sp>
      <p:sp>
        <p:nvSpPr>
          <p:cNvPr id="512" name="Google Shape;512;p29"/>
          <p:cNvSpPr txBox="1"/>
          <p:nvPr/>
        </p:nvSpPr>
        <p:spPr>
          <a:xfrm>
            <a:off x="3199584" y="158808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02.</a:t>
            </a:r>
            <a:endParaRPr b="0" i="0" sz="3000" u="none" cap="none" strike="noStrike">
              <a:solidFill>
                <a:srgbClr val="F3F3F3"/>
              </a:solidFill>
              <a:latin typeface="Kanit"/>
              <a:ea typeface="Kanit"/>
              <a:cs typeface="Kanit"/>
              <a:sym typeface="Kanit"/>
            </a:endParaRPr>
          </a:p>
        </p:txBody>
      </p:sp>
      <p:sp>
        <p:nvSpPr>
          <p:cNvPr id="513" name="Google Shape;513;p29"/>
          <p:cNvSpPr txBox="1"/>
          <p:nvPr/>
        </p:nvSpPr>
        <p:spPr>
          <a:xfrm>
            <a:off x="5139809" y="158808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03.</a:t>
            </a:r>
            <a:endParaRPr b="0" i="0" sz="3000" u="none" cap="none" strike="noStrike">
              <a:solidFill>
                <a:srgbClr val="F3F3F3"/>
              </a:solidFill>
              <a:latin typeface="Kanit"/>
              <a:ea typeface="Kanit"/>
              <a:cs typeface="Kanit"/>
              <a:sym typeface="Kanit"/>
            </a:endParaRPr>
          </a:p>
        </p:txBody>
      </p:sp>
      <p:sp>
        <p:nvSpPr>
          <p:cNvPr id="514" name="Google Shape;514;p29"/>
          <p:cNvSpPr txBox="1"/>
          <p:nvPr/>
        </p:nvSpPr>
        <p:spPr>
          <a:xfrm>
            <a:off x="7080034" y="158808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pt-BR" sz="3000" u="none" cap="none" strike="noStrike">
                <a:solidFill>
                  <a:srgbClr val="F3F3F3"/>
                </a:solidFill>
                <a:latin typeface="Kanit"/>
                <a:ea typeface="Kanit"/>
                <a:cs typeface="Kanit"/>
                <a:sym typeface="Kanit"/>
              </a:rPr>
              <a:t>04.</a:t>
            </a:r>
            <a:endParaRPr b="0" i="0" sz="3000" u="none" cap="none" strike="noStrike">
              <a:solidFill>
                <a:srgbClr val="F3F3F3"/>
              </a:solidFill>
              <a:latin typeface="Kanit"/>
              <a:ea typeface="Kanit"/>
              <a:cs typeface="Kanit"/>
              <a:sym typeface="Kanit"/>
            </a:endParaRPr>
          </a:p>
        </p:txBody>
      </p:sp>
      <p:cxnSp>
        <p:nvCxnSpPr>
          <p:cNvPr id="515" name="Google Shape;515;p29"/>
          <p:cNvCxnSpPr>
            <a:stCxn id="511" idx="3"/>
            <a:endCxn id="512" idx="1"/>
          </p:cNvCxnSpPr>
          <p:nvPr/>
        </p:nvCxnSpPr>
        <p:spPr>
          <a:xfrm>
            <a:off x="2063959" y="1988884"/>
            <a:ext cx="1135500" cy="0"/>
          </a:xfrm>
          <a:prstGeom prst="straightConnector1">
            <a:avLst/>
          </a:prstGeom>
          <a:noFill/>
          <a:ln cap="flat" cmpd="sng" w="9525">
            <a:solidFill>
              <a:schemeClr val="dk1"/>
            </a:solidFill>
            <a:prstDash val="solid"/>
            <a:round/>
            <a:headEnd len="sm" w="sm" type="none"/>
            <a:tailEnd len="sm" w="sm" type="none"/>
          </a:ln>
        </p:spPr>
      </p:cxnSp>
      <p:cxnSp>
        <p:nvCxnSpPr>
          <p:cNvPr id="516" name="Google Shape;516;p29"/>
          <p:cNvCxnSpPr>
            <a:stCxn id="512" idx="3"/>
            <a:endCxn id="513" idx="1"/>
          </p:cNvCxnSpPr>
          <p:nvPr/>
        </p:nvCxnSpPr>
        <p:spPr>
          <a:xfrm>
            <a:off x="4004184" y="1988884"/>
            <a:ext cx="1135500" cy="0"/>
          </a:xfrm>
          <a:prstGeom prst="straightConnector1">
            <a:avLst/>
          </a:prstGeom>
          <a:noFill/>
          <a:ln cap="flat" cmpd="sng" w="9525">
            <a:solidFill>
              <a:schemeClr val="dk1"/>
            </a:solidFill>
            <a:prstDash val="solid"/>
            <a:round/>
            <a:headEnd len="sm" w="sm" type="none"/>
            <a:tailEnd len="sm" w="sm" type="none"/>
          </a:ln>
        </p:spPr>
      </p:cxnSp>
      <p:cxnSp>
        <p:nvCxnSpPr>
          <p:cNvPr id="517" name="Google Shape;517;p29"/>
          <p:cNvCxnSpPr>
            <a:stCxn id="513" idx="3"/>
            <a:endCxn id="514" idx="1"/>
          </p:cNvCxnSpPr>
          <p:nvPr/>
        </p:nvCxnSpPr>
        <p:spPr>
          <a:xfrm>
            <a:off x="5944409" y="1988884"/>
            <a:ext cx="1135500" cy="0"/>
          </a:xfrm>
          <a:prstGeom prst="straightConnector1">
            <a:avLst/>
          </a:prstGeom>
          <a:noFill/>
          <a:ln cap="flat" cmpd="sng" w="9525">
            <a:solidFill>
              <a:schemeClr val="dk1"/>
            </a:solidFill>
            <a:prstDash val="solid"/>
            <a:round/>
            <a:headEnd len="sm" w="sm" type="none"/>
            <a:tailEnd len="sm" w="sm" type="none"/>
          </a:ln>
        </p:spPr>
      </p:cxnSp>
      <p:sp>
        <p:nvSpPr>
          <p:cNvPr id="518" name="Google Shape;518;p29"/>
          <p:cNvSpPr txBox="1"/>
          <p:nvPr>
            <p:ph idx="4294967295" type="title"/>
          </p:nvPr>
        </p:nvSpPr>
        <p:spPr>
          <a:xfrm>
            <a:off x="722374" y="384050"/>
            <a:ext cx="6973825"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ASPECTOS IMPORTANTES DA PROVA</a:t>
            </a:r>
            <a:endParaRPr/>
          </a:p>
        </p:txBody>
      </p:sp>
      <p:sp>
        <p:nvSpPr>
          <p:cNvPr id="519" name="Google Shape;519;p29"/>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520" name="Google Shape;520;p29"/>
          <p:cNvSpPr txBox="1"/>
          <p:nvPr/>
        </p:nvSpPr>
        <p:spPr>
          <a:xfrm>
            <a:off x="968132" y="2634371"/>
            <a:ext cx="1387053" cy="166199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pt-BR" sz="1200" u="none" cap="none" strike="noStrike">
                <a:solidFill>
                  <a:schemeClr val="lt1"/>
                </a:solidFill>
                <a:latin typeface="Work Sans"/>
                <a:ea typeface="Work Sans"/>
                <a:cs typeface="Work Sans"/>
                <a:sym typeface="Work Sans"/>
              </a:rPr>
              <a:t>Apesar de abordarem assuntos similares, </a:t>
            </a:r>
            <a:r>
              <a:rPr b="1" i="0" lang="pt-BR" sz="1200" u="none" cap="none" strike="noStrike">
                <a:solidFill>
                  <a:schemeClr val="lt1"/>
                </a:solidFill>
                <a:latin typeface="Work Sans"/>
                <a:ea typeface="Work Sans"/>
                <a:cs typeface="Work Sans"/>
                <a:sym typeface="Work Sans"/>
              </a:rPr>
              <a:t>cada prova tem a sua características</a:t>
            </a:r>
            <a:r>
              <a:rPr b="0" i="0" lang="pt-BR" sz="1200" u="none" cap="none" strike="noStrike">
                <a:solidFill>
                  <a:schemeClr val="lt1"/>
                </a:solidFill>
                <a:latin typeface="Work Sans"/>
                <a:ea typeface="Work Sans"/>
                <a:cs typeface="Work Sans"/>
                <a:sym typeface="Work Sans"/>
              </a:rPr>
              <a:t>. Então, vale verificar antes de fazê-las</a:t>
            </a:r>
            <a:endParaRPr b="0" i="0" sz="1200" u="none" cap="none" strike="noStrike">
              <a:solidFill>
                <a:schemeClr val="lt1"/>
              </a:solidFill>
              <a:latin typeface="Work Sans"/>
              <a:ea typeface="Work Sans"/>
              <a:cs typeface="Work Sans"/>
              <a:sym typeface="Work Sans"/>
            </a:endParaRPr>
          </a:p>
        </p:txBody>
      </p:sp>
      <p:sp>
        <p:nvSpPr>
          <p:cNvPr id="521" name="Google Shape;521;p29"/>
          <p:cNvSpPr txBox="1"/>
          <p:nvPr/>
        </p:nvSpPr>
        <p:spPr>
          <a:xfrm>
            <a:off x="2891553" y="2634371"/>
            <a:ext cx="1420661" cy="166199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pt-BR" sz="1200" u="none" cap="none" strike="noStrike">
                <a:solidFill>
                  <a:schemeClr val="lt1"/>
                </a:solidFill>
                <a:latin typeface="Work Sans"/>
                <a:ea typeface="Work Sans"/>
                <a:cs typeface="Work Sans"/>
                <a:sym typeface="Work Sans"/>
              </a:rPr>
              <a:t>Há formatos de prova em que o candidato tem </a:t>
            </a:r>
            <a:r>
              <a:rPr b="1" i="0" lang="pt-BR" sz="1200" u="none" cap="none" strike="noStrike">
                <a:solidFill>
                  <a:schemeClr val="lt1"/>
                </a:solidFill>
                <a:latin typeface="Work Sans"/>
                <a:ea typeface="Work Sans"/>
                <a:cs typeface="Work Sans"/>
                <a:sym typeface="Work Sans"/>
              </a:rPr>
              <a:t>pouca flexibilidade de horários</a:t>
            </a:r>
            <a:r>
              <a:rPr b="0" i="0" lang="pt-BR" sz="1200" u="none" cap="none" strike="noStrike">
                <a:solidFill>
                  <a:schemeClr val="lt1"/>
                </a:solidFill>
                <a:latin typeface="Work Sans"/>
                <a:ea typeface="Work Sans"/>
                <a:cs typeface="Work Sans"/>
                <a:sym typeface="Work Sans"/>
              </a:rPr>
              <a:t> para fazer a prova, enquanto </a:t>
            </a:r>
            <a:r>
              <a:rPr b="1" i="0" lang="pt-BR" sz="1200" u="none" cap="none" strike="noStrike">
                <a:solidFill>
                  <a:schemeClr val="lt1"/>
                </a:solidFill>
                <a:latin typeface="Work Sans"/>
                <a:ea typeface="Work Sans"/>
                <a:cs typeface="Work Sans"/>
                <a:sym typeface="Work Sans"/>
              </a:rPr>
              <a:t>outros há alguns dias</a:t>
            </a:r>
            <a:endParaRPr b="1" i="0" sz="1200" u="none" cap="none" strike="noStrike">
              <a:solidFill>
                <a:schemeClr val="lt1"/>
              </a:solidFill>
              <a:latin typeface="Work Sans"/>
              <a:ea typeface="Work Sans"/>
              <a:cs typeface="Work Sans"/>
              <a:sym typeface="Work Sans"/>
            </a:endParaRPr>
          </a:p>
        </p:txBody>
      </p:sp>
      <p:sp>
        <p:nvSpPr>
          <p:cNvPr id="522" name="Google Shape;522;p29"/>
          <p:cNvSpPr txBox="1"/>
          <p:nvPr/>
        </p:nvSpPr>
        <p:spPr>
          <a:xfrm>
            <a:off x="6653917" y="2634371"/>
            <a:ext cx="1656834" cy="184665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pt-BR" sz="1200" u="none" cap="none" strike="noStrike">
                <a:solidFill>
                  <a:schemeClr val="lt1"/>
                </a:solidFill>
                <a:latin typeface="Work Sans"/>
                <a:ea typeface="Work Sans"/>
                <a:cs typeface="Work Sans"/>
                <a:sym typeface="Work Sans"/>
              </a:rPr>
              <a:t>A mudança para o formato online </a:t>
            </a:r>
            <a:r>
              <a:rPr b="0" i="0" lang="pt-BR" sz="1200" u="none" cap="none" strike="noStrike">
                <a:solidFill>
                  <a:schemeClr val="lt1"/>
                </a:solidFill>
                <a:latin typeface="Work Sans"/>
                <a:ea typeface="Work Sans"/>
                <a:cs typeface="Work Sans"/>
                <a:sym typeface="Work Sans"/>
              </a:rPr>
              <a:t>é recente; portanto, há espaço para as consultorias mudarem a estrutura das provas, e torná-las mais adaptativa (similar ao caso tradicional)</a:t>
            </a:r>
            <a:endParaRPr b="0" i="0" sz="1200" u="none" cap="none" strike="noStrike">
              <a:solidFill>
                <a:schemeClr val="lt1"/>
              </a:solidFill>
              <a:latin typeface="Work Sans"/>
              <a:ea typeface="Work Sans"/>
              <a:cs typeface="Work Sans"/>
              <a:sym typeface="Work Sans"/>
            </a:endParaRPr>
          </a:p>
        </p:txBody>
      </p:sp>
      <p:sp>
        <p:nvSpPr>
          <p:cNvPr id="523" name="Google Shape;523;p29"/>
          <p:cNvSpPr txBox="1"/>
          <p:nvPr/>
        </p:nvSpPr>
        <p:spPr>
          <a:xfrm>
            <a:off x="4814974" y="2634371"/>
            <a:ext cx="1420661" cy="14773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pt-BR" sz="1200" u="none" cap="none" strike="noStrike">
                <a:solidFill>
                  <a:schemeClr val="lt1"/>
                </a:solidFill>
                <a:latin typeface="Work Sans"/>
                <a:ea typeface="Work Sans"/>
                <a:cs typeface="Work Sans"/>
                <a:sym typeface="Work Sans"/>
              </a:rPr>
              <a:t>Nos últimos semestres, algumas consultorias passaram a oferecer as </a:t>
            </a:r>
            <a:r>
              <a:rPr b="1" i="0" lang="pt-BR" sz="1200" u="none" cap="none" strike="noStrike">
                <a:solidFill>
                  <a:schemeClr val="lt1"/>
                </a:solidFill>
                <a:latin typeface="Work Sans"/>
                <a:ea typeface="Work Sans"/>
                <a:cs typeface="Work Sans"/>
                <a:sym typeface="Work Sans"/>
              </a:rPr>
              <a:t>etapas inicias em português</a:t>
            </a:r>
            <a:endParaRPr b="1" i="0" sz="1200" u="none" cap="none" strike="noStrike">
              <a:solidFill>
                <a:schemeClr val="lt1"/>
              </a:solidFill>
              <a:latin typeface="Work Sans"/>
              <a:ea typeface="Work Sans"/>
              <a:cs typeface="Work Sans"/>
              <a:sym typeface="Work Sans"/>
            </a:endParaRPr>
          </a:p>
        </p:txBody>
      </p:sp>
      <p:sp>
        <p:nvSpPr>
          <p:cNvPr id="524" name="Google Shape;524;p29"/>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30"/>
          <p:cNvSpPr txBox="1"/>
          <p:nvPr>
            <p:ph type="title"/>
          </p:nvPr>
        </p:nvSpPr>
        <p:spPr>
          <a:xfrm>
            <a:off x="923925" y="2959400"/>
            <a:ext cx="7344375" cy="1644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600"/>
              <a:buNone/>
            </a:pPr>
            <a:r>
              <a:rPr lang="pt-BR">
                <a:solidFill>
                  <a:srgbClr val="C1272D"/>
                </a:solidFill>
              </a:rPr>
              <a:t>REVISÃO</a:t>
            </a:r>
            <a:br>
              <a:rPr lang="pt-BR">
                <a:solidFill>
                  <a:srgbClr val="C1272D"/>
                </a:solidFill>
              </a:rPr>
            </a:br>
            <a:r>
              <a:rPr lang="pt-BR">
                <a:solidFill>
                  <a:schemeClr val="lt1"/>
                </a:solidFill>
              </a:rPr>
              <a:t>DE MATEMÁTICA</a:t>
            </a:r>
            <a:endParaRPr>
              <a:solidFill>
                <a:schemeClr val="lt1"/>
              </a:solidFill>
            </a:endParaRPr>
          </a:p>
        </p:txBody>
      </p:sp>
      <p:sp>
        <p:nvSpPr>
          <p:cNvPr id="530" name="Google Shape;530;p30"/>
          <p:cNvSpPr txBox="1"/>
          <p:nvPr>
            <p:ph idx="3" type="title"/>
          </p:nvPr>
        </p:nvSpPr>
        <p:spPr>
          <a:xfrm>
            <a:off x="7008600" y="1601400"/>
            <a:ext cx="1259700" cy="1259700"/>
          </a:xfrm>
          <a:prstGeom prst="rect">
            <a:avLst/>
          </a:prstGeom>
          <a:solidFill>
            <a:srgbClr val="C1272D"/>
          </a:solid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pt-BR"/>
              <a:t>03.</a:t>
            </a:r>
            <a:endParaRPr/>
          </a:p>
        </p:txBody>
      </p:sp>
      <p:sp>
        <p:nvSpPr>
          <p:cNvPr id="531" name="Google Shape;531;p30"/>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532" name="Google Shape;532;p30"/>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1"/>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grpSp>
        <p:nvGrpSpPr>
          <p:cNvPr id="538" name="Google Shape;538;p31"/>
          <p:cNvGrpSpPr/>
          <p:nvPr/>
        </p:nvGrpSpPr>
        <p:grpSpPr>
          <a:xfrm>
            <a:off x="973835" y="2511095"/>
            <a:ext cx="804600" cy="801600"/>
            <a:chOff x="1259359" y="1911934"/>
            <a:chExt cx="804600" cy="801600"/>
          </a:xfrm>
        </p:grpSpPr>
        <p:sp>
          <p:nvSpPr>
            <p:cNvPr id="539" name="Google Shape;539;p31"/>
            <p:cNvSpPr txBox="1"/>
            <p:nvPr/>
          </p:nvSpPr>
          <p:spPr>
            <a:xfrm>
              <a:off x="1259359" y="1911934"/>
              <a:ext cx="804600" cy="801600"/>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id="540" name="Google Shape;540;p31"/>
            <p:cNvPicPr preferRelativeResize="0"/>
            <p:nvPr/>
          </p:nvPicPr>
          <p:blipFill rotWithShape="1">
            <a:blip r:embed="rId3">
              <a:alphaModFix/>
            </a:blip>
            <a:srcRect b="0" l="0" r="0" t="0"/>
            <a:stretch/>
          </p:blipFill>
          <p:spPr>
            <a:xfrm>
              <a:off x="1400410" y="2033997"/>
              <a:ext cx="543384" cy="569036"/>
            </a:xfrm>
            <a:prstGeom prst="rect">
              <a:avLst/>
            </a:prstGeom>
            <a:noFill/>
            <a:ln>
              <a:noFill/>
            </a:ln>
          </p:spPr>
        </p:pic>
      </p:grpSp>
      <p:sp>
        <p:nvSpPr>
          <p:cNvPr id="541" name="Google Shape;541;p31"/>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542" name="Google Shape;542;p31"/>
          <p:cNvGrpSpPr/>
          <p:nvPr/>
        </p:nvGrpSpPr>
        <p:grpSpPr>
          <a:xfrm>
            <a:off x="3364432" y="4048999"/>
            <a:ext cx="2159892" cy="720000"/>
            <a:chOff x="5220000" y="5040000"/>
            <a:chExt cx="2520000" cy="720000"/>
          </a:xfrm>
        </p:grpSpPr>
        <p:sp>
          <p:nvSpPr>
            <p:cNvPr id="543" name="Google Shape;543;p31"/>
            <p:cNvSpPr txBox="1"/>
            <p:nvPr/>
          </p:nvSpPr>
          <p:spPr>
            <a:xfrm>
              <a:off x="5220000" y="5040000"/>
              <a:ext cx="25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WORD PROBLEM</a:t>
              </a:r>
              <a:endParaRPr b="0" i="0" sz="1600" u="none" cap="none" strike="noStrike">
                <a:solidFill>
                  <a:schemeClr val="lt1"/>
                </a:solidFill>
                <a:latin typeface="Arial"/>
                <a:ea typeface="Arial"/>
                <a:cs typeface="Arial"/>
                <a:sym typeface="Arial"/>
              </a:endParaRPr>
            </a:p>
          </p:txBody>
        </p:sp>
        <p:sp>
          <p:nvSpPr>
            <p:cNvPr id="544" name="Google Shape;544;p31"/>
            <p:cNvSpPr txBox="1"/>
            <p:nvPr/>
          </p:nvSpPr>
          <p:spPr>
            <a:xfrm>
              <a:off x="5220000" y="5400000"/>
              <a:ext cx="25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1" lang="pt-BR" sz="1800" u="none" cap="none" strike="noStrike">
                  <a:solidFill>
                    <a:schemeClr val="dk1"/>
                  </a:solidFill>
                  <a:latin typeface="Arial"/>
                  <a:ea typeface="Arial"/>
                  <a:cs typeface="Arial"/>
                  <a:sym typeface="Arial"/>
                </a:rPr>
                <a:t>word problem</a:t>
              </a:r>
              <a:endParaRPr b="0" i="1" sz="1800" u="none" cap="none" strike="noStrike">
                <a:solidFill>
                  <a:srgbClr val="000000"/>
                </a:solidFill>
                <a:latin typeface="Arial"/>
                <a:ea typeface="Arial"/>
                <a:cs typeface="Arial"/>
                <a:sym typeface="Arial"/>
              </a:endParaRPr>
            </a:p>
          </p:txBody>
        </p:sp>
      </p:grpSp>
      <p:grpSp>
        <p:nvGrpSpPr>
          <p:cNvPr id="545" name="Google Shape;545;p31"/>
          <p:cNvGrpSpPr/>
          <p:nvPr/>
        </p:nvGrpSpPr>
        <p:grpSpPr>
          <a:xfrm>
            <a:off x="3310176" y="1092737"/>
            <a:ext cx="1620000" cy="720000"/>
            <a:chOff x="5220000" y="5040000"/>
            <a:chExt cx="1620000" cy="720000"/>
          </a:xfrm>
        </p:grpSpPr>
        <p:sp>
          <p:nvSpPr>
            <p:cNvPr id="546" name="Google Shape;546;p31"/>
            <p:cNvSpPr txBox="1"/>
            <p:nvPr/>
          </p:nvSpPr>
          <p:spPr>
            <a:xfrm>
              <a:off x="5220000" y="5040000"/>
              <a:ext cx="16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ARITMÉTICA</a:t>
              </a:r>
              <a:endParaRPr b="0" i="0" sz="1600" u="none" cap="none" strike="noStrike">
                <a:solidFill>
                  <a:schemeClr val="lt1"/>
                </a:solidFill>
                <a:latin typeface="Arial"/>
                <a:ea typeface="Arial"/>
                <a:cs typeface="Arial"/>
                <a:sym typeface="Arial"/>
              </a:endParaRPr>
            </a:p>
          </p:txBody>
        </p:sp>
        <p:sp>
          <p:nvSpPr>
            <p:cNvPr id="547" name="Google Shape;547;p31"/>
            <p:cNvSpPr txBox="1"/>
            <p:nvPr/>
          </p:nvSpPr>
          <p:spPr>
            <a:xfrm>
              <a:off x="5220000" y="5400000"/>
              <a:ext cx="16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1" lang="pt-BR" sz="1800" u="none" cap="none" strike="noStrike">
                  <a:solidFill>
                    <a:schemeClr val="dk1"/>
                  </a:solidFill>
                  <a:latin typeface="Arial"/>
                  <a:ea typeface="Arial"/>
                  <a:cs typeface="Arial"/>
                  <a:sym typeface="Arial"/>
                </a:rPr>
                <a:t>arithmetic</a:t>
              </a:r>
              <a:endParaRPr b="1" i="1" sz="1800" u="none" cap="none" strike="noStrike">
                <a:solidFill>
                  <a:schemeClr val="dk1"/>
                </a:solidFill>
                <a:latin typeface="Arial"/>
                <a:ea typeface="Arial"/>
                <a:cs typeface="Arial"/>
                <a:sym typeface="Arial"/>
              </a:endParaRPr>
            </a:p>
          </p:txBody>
        </p:sp>
      </p:grpSp>
      <p:grpSp>
        <p:nvGrpSpPr>
          <p:cNvPr id="548" name="Google Shape;548;p31"/>
          <p:cNvGrpSpPr/>
          <p:nvPr/>
        </p:nvGrpSpPr>
        <p:grpSpPr>
          <a:xfrm>
            <a:off x="3268980" y="2062552"/>
            <a:ext cx="1620000" cy="720000"/>
            <a:chOff x="5220000" y="5040000"/>
            <a:chExt cx="1620000" cy="720000"/>
          </a:xfrm>
        </p:grpSpPr>
        <p:sp>
          <p:nvSpPr>
            <p:cNvPr id="549" name="Google Shape;549;p31"/>
            <p:cNvSpPr txBox="1"/>
            <p:nvPr/>
          </p:nvSpPr>
          <p:spPr>
            <a:xfrm>
              <a:off x="5220000" y="5040000"/>
              <a:ext cx="16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ÁLGEBRA</a:t>
              </a:r>
              <a:endParaRPr b="0" i="0" sz="1600" u="none" cap="none" strike="noStrike">
                <a:solidFill>
                  <a:schemeClr val="lt1"/>
                </a:solidFill>
                <a:latin typeface="Arial"/>
                <a:ea typeface="Arial"/>
                <a:cs typeface="Arial"/>
                <a:sym typeface="Arial"/>
              </a:endParaRPr>
            </a:p>
          </p:txBody>
        </p:sp>
        <p:sp>
          <p:nvSpPr>
            <p:cNvPr id="550" name="Google Shape;550;p31"/>
            <p:cNvSpPr txBox="1"/>
            <p:nvPr/>
          </p:nvSpPr>
          <p:spPr>
            <a:xfrm>
              <a:off x="5220000" y="5400000"/>
              <a:ext cx="16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1" lang="pt-BR" sz="1800" u="none" cap="none" strike="noStrike">
                  <a:solidFill>
                    <a:schemeClr val="dk1"/>
                  </a:solidFill>
                  <a:latin typeface="Arial"/>
                  <a:ea typeface="Arial"/>
                  <a:cs typeface="Arial"/>
                  <a:sym typeface="Arial"/>
                </a:rPr>
                <a:t>algebra</a:t>
              </a:r>
              <a:endParaRPr b="0" i="1" sz="1800" u="none" cap="none" strike="noStrike">
                <a:solidFill>
                  <a:srgbClr val="000000"/>
                </a:solidFill>
                <a:latin typeface="Arial"/>
                <a:ea typeface="Arial"/>
                <a:cs typeface="Arial"/>
                <a:sym typeface="Arial"/>
              </a:endParaRPr>
            </a:p>
          </p:txBody>
        </p:sp>
      </p:grpSp>
      <p:grpSp>
        <p:nvGrpSpPr>
          <p:cNvPr id="551" name="Google Shape;551;p31"/>
          <p:cNvGrpSpPr/>
          <p:nvPr/>
        </p:nvGrpSpPr>
        <p:grpSpPr>
          <a:xfrm>
            <a:off x="3310176" y="3071941"/>
            <a:ext cx="1620000" cy="720000"/>
            <a:chOff x="5220000" y="5040000"/>
            <a:chExt cx="1620000" cy="720000"/>
          </a:xfrm>
        </p:grpSpPr>
        <p:sp>
          <p:nvSpPr>
            <p:cNvPr id="552" name="Google Shape;552;p31"/>
            <p:cNvSpPr txBox="1"/>
            <p:nvPr/>
          </p:nvSpPr>
          <p:spPr>
            <a:xfrm>
              <a:off x="5220000" y="5040000"/>
              <a:ext cx="16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GEOMETRIA</a:t>
              </a:r>
              <a:endParaRPr b="0" i="0" sz="1600" u="none" cap="none" strike="noStrike">
                <a:solidFill>
                  <a:schemeClr val="lt1"/>
                </a:solidFill>
                <a:latin typeface="Arial"/>
                <a:ea typeface="Arial"/>
                <a:cs typeface="Arial"/>
                <a:sym typeface="Arial"/>
              </a:endParaRPr>
            </a:p>
          </p:txBody>
        </p:sp>
        <p:sp>
          <p:nvSpPr>
            <p:cNvPr id="553" name="Google Shape;553;p31"/>
            <p:cNvSpPr txBox="1"/>
            <p:nvPr/>
          </p:nvSpPr>
          <p:spPr>
            <a:xfrm>
              <a:off x="5220000" y="5400000"/>
              <a:ext cx="16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1" lang="pt-BR" sz="1800" u="none" cap="none" strike="noStrike">
                  <a:solidFill>
                    <a:schemeClr val="dk1"/>
                  </a:solidFill>
                  <a:latin typeface="Arial"/>
                  <a:ea typeface="Arial"/>
                  <a:cs typeface="Arial"/>
                  <a:sym typeface="Arial"/>
                </a:rPr>
                <a:t>geometry</a:t>
              </a:r>
              <a:endParaRPr b="0" i="1" sz="1800" u="none" cap="none" strike="noStrike">
                <a:solidFill>
                  <a:srgbClr val="000000"/>
                </a:solidFill>
                <a:latin typeface="Arial"/>
                <a:ea typeface="Arial"/>
                <a:cs typeface="Arial"/>
                <a:sym typeface="Arial"/>
              </a:endParaRPr>
            </a:p>
          </p:txBody>
        </p:sp>
      </p:grpSp>
      <p:sp>
        <p:nvSpPr>
          <p:cNvPr id="554" name="Google Shape;554;p31"/>
          <p:cNvSpPr txBox="1"/>
          <p:nvPr/>
        </p:nvSpPr>
        <p:spPr>
          <a:xfrm>
            <a:off x="576578" y="1699118"/>
            <a:ext cx="1620000" cy="750945"/>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1" i="0" lang="pt-BR" sz="1600" u="none" cap="none" strike="noStrike">
                <a:solidFill>
                  <a:srgbClr val="000000"/>
                </a:solidFill>
                <a:latin typeface="Work Sans"/>
                <a:ea typeface="Work Sans"/>
                <a:cs typeface="Work Sans"/>
                <a:sym typeface="Work Sans"/>
              </a:rPr>
              <a:t>Quantitative Reasoning</a:t>
            </a:r>
            <a:endParaRPr b="0" i="0" sz="1600" u="none" cap="none" strike="noStrike">
              <a:solidFill>
                <a:srgbClr val="000000"/>
              </a:solidFill>
              <a:latin typeface="Work Sans"/>
              <a:ea typeface="Work Sans"/>
              <a:cs typeface="Work Sans"/>
              <a:sym typeface="Work Sans"/>
            </a:endParaRPr>
          </a:p>
        </p:txBody>
      </p:sp>
      <p:grpSp>
        <p:nvGrpSpPr>
          <p:cNvPr id="555" name="Google Shape;555;p31"/>
          <p:cNvGrpSpPr/>
          <p:nvPr/>
        </p:nvGrpSpPr>
        <p:grpSpPr>
          <a:xfrm>
            <a:off x="2681424" y="1189522"/>
            <a:ext cx="587556" cy="576001"/>
            <a:chOff x="2681424" y="1189522"/>
            <a:chExt cx="587556" cy="576001"/>
          </a:xfrm>
        </p:grpSpPr>
        <p:sp>
          <p:nvSpPr>
            <p:cNvPr id="556" name="Google Shape;556;p31"/>
            <p:cNvSpPr txBox="1"/>
            <p:nvPr/>
          </p:nvSpPr>
          <p:spPr>
            <a:xfrm>
              <a:off x="2681424" y="1189522"/>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Abacus outline" id="557" name="Google Shape;557;p31"/>
            <p:cNvPicPr preferRelativeResize="0"/>
            <p:nvPr/>
          </p:nvPicPr>
          <p:blipFill rotWithShape="1">
            <a:blip r:embed="rId4">
              <a:alphaModFix/>
            </a:blip>
            <a:srcRect b="0" l="0" r="0" t="0"/>
            <a:stretch/>
          </p:blipFill>
          <p:spPr>
            <a:xfrm>
              <a:off x="2712741" y="1211923"/>
              <a:ext cx="524922" cy="524922"/>
            </a:xfrm>
            <a:prstGeom prst="rect">
              <a:avLst/>
            </a:prstGeom>
            <a:noFill/>
            <a:ln>
              <a:noFill/>
            </a:ln>
          </p:spPr>
        </p:pic>
      </p:grpSp>
      <p:grpSp>
        <p:nvGrpSpPr>
          <p:cNvPr id="558" name="Google Shape;558;p31"/>
          <p:cNvGrpSpPr/>
          <p:nvPr/>
        </p:nvGrpSpPr>
        <p:grpSpPr>
          <a:xfrm>
            <a:off x="2681424" y="3154785"/>
            <a:ext cx="609517" cy="609517"/>
            <a:chOff x="2681424" y="3154785"/>
            <a:chExt cx="609517" cy="609517"/>
          </a:xfrm>
        </p:grpSpPr>
        <p:sp>
          <p:nvSpPr>
            <p:cNvPr id="559" name="Google Shape;559;p31"/>
            <p:cNvSpPr txBox="1"/>
            <p:nvPr/>
          </p:nvSpPr>
          <p:spPr>
            <a:xfrm>
              <a:off x="2681424" y="3156655"/>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Cube outline" id="560" name="Google Shape;560;p31"/>
            <p:cNvPicPr preferRelativeResize="0"/>
            <p:nvPr/>
          </p:nvPicPr>
          <p:blipFill rotWithShape="1">
            <a:blip r:embed="rId5">
              <a:alphaModFix/>
            </a:blip>
            <a:srcRect b="0" l="0" r="0" t="0"/>
            <a:stretch/>
          </p:blipFill>
          <p:spPr>
            <a:xfrm>
              <a:off x="2681424" y="3154785"/>
              <a:ext cx="609517" cy="609517"/>
            </a:xfrm>
            <a:prstGeom prst="rect">
              <a:avLst/>
            </a:prstGeom>
            <a:noFill/>
            <a:ln>
              <a:noFill/>
            </a:ln>
          </p:spPr>
        </p:pic>
      </p:grpSp>
      <p:grpSp>
        <p:nvGrpSpPr>
          <p:cNvPr id="561" name="Google Shape;561;p31"/>
          <p:cNvGrpSpPr/>
          <p:nvPr/>
        </p:nvGrpSpPr>
        <p:grpSpPr>
          <a:xfrm>
            <a:off x="2681424" y="2177901"/>
            <a:ext cx="587556" cy="588657"/>
            <a:chOff x="2681424" y="2177901"/>
            <a:chExt cx="587556" cy="588657"/>
          </a:xfrm>
        </p:grpSpPr>
        <p:sp>
          <p:nvSpPr>
            <p:cNvPr id="562" name="Google Shape;562;p31"/>
            <p:cNvSpPr txBox="1"/>
            <p:nvPr/>
          </p:nvSpPr>
          <p:spPr>
            <a:xfrm>
              <a:off x="2681424" y="2177901"/>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Mathematics outline" id="563" name="Google Shape;563;p31"/>
            <p:cNvPicPr preferRelativeResize="0"/>
            <p:nvPr/>
          </p:nvPicPr>
          <p:blipFill rotWithShape="1">
            <a:blip r:embed="rId6">
              <a:alphaModFix/>
            </a:blip>
            <a:srcRect b="0" l="0" r="0" t="0"/>
            <a:stretch/>
          </p:blipFill>
          <p:spPr>
            <a:xfrm>
              <a:off x="2681424" y="2179002"/>
              <a:ext cx="587556" cy="587556"/>
            </a:xfrm>
            <a:prstGeom prst="rect">
              <a:avLst/>
            </a:prstGeom>
            <a:noFill/>
            <a:ln>
              <a:noFill/>
            </a:ln>
          </p:spPr>
        </p:pic>
      </p:grpSp>
      <p:grpSp>
        <p:nvGrpSpPr>
          <p:cNvPr id="564" name="Google Shape;564;p31"/>
          <p:cNvGrpSpPr/>
          <p:nvPr/>
        </p:nvGrpSpPr>
        <p:grpSpPr>
          <a:xfrm>
            <a:off x="2681424" y="4117956"/>
            <a:ext cx="589127" cy="598281"/>
            <a:chOff x="2681424" y="4117956"/>
            <a:chExt cx="589127" cy="598281"/>
          </a:xfrm>
        </p:grpSpPr>
        <p:sp>
          <p:nvSpPr>
            <p:cNvPr id="565" name="Google Shape;565;p31"/>
            <p:cNvSpPr txBox="1"/>
            <p:nvPr/>
          </p:nvSpPr>
          <p:spPr>
            <a:xfrm>
              <a:off x="2681424" y="4117956"/>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Puzzle outline" id="566" name="Google Shape;566;p31"/>
            <p:cNvPicPr preferRelativeResize="0"/>
            <p:nvPr/>
          </p:nvPicPr>
          <p:blipFill rotWithShape="1">
            <a:blip r:embed="rId7">
              <a:alphaModFix/>
            </a:blip>
            <a:srcRect b="0" l="0" r="0" t="0"/>
            <a:stretch/>
          </p:blipFill>
          <p:spPr>
            <a:xfrm>
              <a:off x="2682995" y="4128681"/>
              <a:ext cx="587556" cy="587556"/>
            </a:xfrm>
            <a:prstGeom prst="rect">
              <a:avLst/>
            </a:prstGeom>
            <a:noFill/>
            <a:ln>
              <a:noFill/>
            </a:ln>
          </p:spPr>
        </p:pic>
      </p:grpSp>
      <p:sp>
        <p:nvSpPr>
          <p:cNvPr id="567" name="Google Shape;567;p31"/>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32"/>
          <p:cNvSpPr txBox="1"/>
          <p:nvPr/>
        </p:nvSpPr>
        <p:spPr>
          <a:xfrm>
            <a:off x="4949618" y="304824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573" name="Google Shape;573;p32"/>
          <p:cNvSpPr txBox="1"/>
          <p:nvPr/>
        </p:nvSpPr>
        <p:spPr>
          <a:xfrm>
            <a:off x="4942955" y="206099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574" name="Google Shape;574;p32"/>
          <p:cNvSpPr txBox="1"/>
          <p:nvPr/>
        </p:nvSpPr>
        <p:spPr>
          <a:xfrm>
            <a:off x="1011707" y="4035497"/>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575" name="Google Shape;575;p32"/>
          <p:cNvSpPr txBox="1"/>
          <p:nvPr/>
        </p:nvSpPr>
        <p:spPr>
          <a:xfrm>
            <a:off x="996447" y="3048246"/>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576" name="Google Shape;576;p32"/>
          <p:cNvSpPr txBox="1"/>
          <p:nvPr/>
        </p:nvSpPr>
        <p:spPr>
          <a:xfrm>
            <a:off x="3526523" y="1166023"/>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577" name="Google Shape;577;p32"/>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578" name="Google Shape;578;p32"/>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579" name="Google Shape;579;p32"/>
          <p:cNvGrpSpPr/>
          <p:nvPr/>
        </p:nvGrpSpPr>
        <p:grpSpPr>
          <a:xfrm>
            <a:off x="4155275" y="1069238"/>
            <a:ext cx="1620000" cy="720000"/>
            <a:chOff x="5220000" y="5040000"/>
            <a:chExt cx="1620000" cy="720000"/>
          </a:xfrm>
        </p:grpSpPr>
        <p:sp>
          <p:nvSpPr>
            <p:cNvPr id="580" name="Google Shape;580;p32"/>
            <p:cNvSpPr txBox="1"/>
            <p:nvPr/>
          </p:nvSpPr>
          <p:spPr>
            <a:xfrm>
              <a:off x="5220000" y="5040000"/>
              <a:ext cx="16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ARITMÉTICA</a:t>
              </a:r>
              <a:endParaRPr b="0" i="0" sz="1600" u="none" cap="none" strike="noStrike">
                <a:solidFill>
                  <a:schemeClr val="lt1"/>
                </a:solidFill>
                <a:latin typeface="Arial"/>
                <a:ea typeface="Arial"/>
                <a:cs typeface="Arial"/>
                <a:sym typeface="Arial"/>
              </a:endParaRPr>
            </a:p>
          </p:txBody>
        </p:sp>
        <p:sp>
          <p:nvSpPr>
            <p:cNvPr id="581" name="Google Shape;581;p32"/>
            <p:cNvSpPr txBox="1"/>
            <p:nvPr/>
          </p:nvSpPr>
          <p:spPr>
            <a:xfrm>
              <a:off x="5220000" y="5400000"/>
              <a:ext cx="16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1" lang="pt-BR" sz="1800" u="none" cap="none" strike="noStrike">
                  <a:solidFill>
                    <a:schemeClr val="dk1"/>
                  </a:solidFill>
                  <a:latin typeface="Arial"/>
                  <a:ea typeface="Arial"/>
                  <a:cs typeface="Arial"/>
                  <a:sym typeface="Arial"/>
                </a:rPr>
                <a:t>arithmetic</a:t>
              </a:r>
              <a:endParaRPr b="1" i="1" sz="1800" u="none" cap="none" strike="noStrike">
                <a:solidFill>
                  <a:schemeClr val="dk1"/>
                </a:solidFill>
                <a:latin typeface="Arial"/>
                <a:ea typeface="Arial"/>
                <a:cs typeface="Arial"/>
                <a:sym typeface="Arial"/>
              </a:endParaRPr>
            </a:p>
          </p:txBody>
        </p:sp>
      </p:grpSp>
      <p:pic>
        <p:nvPicPr>
          <p:cNvPr descr="Abacus outline" id="582" name="Google Shape;582;p32"/>
          <p:cNvPicPr preferRelativeResize="0"/>
          <p:nvPr/>
        </p:nvPicPr>
        <p:blipFill rotWithShape="1">
          <a:blip r:embed="rId3">
            <a:alphaModFix/>
          </a:blip>
          <a:srcRect b="0" l="0" r="0" t="0"/>
          <a:stretch/>
        </p:blipFill>
        <p:spPr>
          <a:xfrm>
            <a:off x="3557840" y="1188424"/>
            <a:ext cx="524922" cy="524922"/>
          </a:xfrm>
          <a:prstGeom prst="rect">
            <a:avLst/>
          </a:prstGeom>
          <a:noFill/>
          <a:ln>
            <a:noFill/>
          </a:ln>
        </p:spPr>
      </p:pic>
      <p:pic>
        <p:nvPicPr>
          <p:cNvPr descr="Puzzle outline" id="583" name="Google Shape;583;p32"/>
          <p:cNvPicPr preferRelativeResize="0"/>
          <p:nvPr/>
        </p:nvPicPr>
        <p:blipFill rotWithShape="1">
          <a:blip r:embed="rId4">
            <a:alphaModFix/>
          </a:blip>
          <a:srcRect b="0" l="0" r="0" t="0"/>
          <a:stretch/>
        </p:blipFill>
        <p:spPr>
          <a:xfrm>
            <a:off x="2682995" y="4128681"/>
            <a:ext cx="587556" cy="587556"/>
          </a:xfrm>
          <a:prstGeom prst="rect">
            <a:avLst/>
          </a:prstGeom>
          <a:noFill/>
          <a:ln>
            <a:noFill/>
          </a:ln>
        </p:spPr>
      </p:pic>
      <p:sp>
        <p:nvSpPr>
          <p:cNvPr id="584" name="Google Shape;584;p32"/>
          <p:cNvSpPr txBox="1"/>
          <p:nvPr/>
        </p:nvSpPr>
        <p:spPr>
          <a:xfrm>
            <a:off x="1710004" y="2134184"/>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Propriedade dos Inteiros</a:t>
            </a:r>
            <a:endParaRPr b="0" i="0" sz="1400" u="none" cap="none" strike="noStrike">
              <a:solidFill>
                <a:schemeClr val="lt1"/>
              </a:solidFill>
              <a:latin typeface="Work Sans"/>
              <a:ea typeface="Work Sans"/>
              <a:cs typeface="Work Sans"/>
              <a:sym typeface="Work Sans"/>
            </a:endParaRPr>
          </a:p>
        </p:txBody>
      </p:sp>
      <p:sp>
        <p:nvSpPr>
          <p:cNvPr id="585" name="Google Shape;585;p32"/>
          <p:cNvSpPr txBox="1"/>
          <p:nvPr/>
        </p:nvSpPr>
        <p:spPr>
          <a:xfrm>
            <a:off x="1710004" y="4102719"/>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Estatística Descritiva</a:t>
            </a:r>
            <a:endParaRPr b="0" i="0" sz="1400" u="none" cap="none" strike="noStrike">
              <a:solidFill>
                <a:schemeClr val="lt1"/>
              </a:solidFill>
              <a:latin typeface="Work Sans"/>
              <a:ea typeface="Work Sans"/>
              <a:cs typeface="Work Sans"/>
              <a:sym typeface="Work Sans"/>
            </a:endParaRPr>
          </a:p>
        </p:txBody>
      </p:sp>
      <p:sp>
        <p:nvSpPr>
          <p:cNvPr id="586" name="Google Shape;586;p32"/>
          <p:cNvSpPr txBox="1"/>
          <p:nvPr/>
        </p:nvSpPr>
        <p:spPr>
          <a:xfrm>
            <a:off x="5628236" y="2126790"/>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Métodos de Contagem</a:t>
            </a:r>
            <a:endParaRPr b="0" i="0" sz="1400" u="none" cap="none" strike="noStrike">
              <a:solidFill>
                <a:schemeClr val="lt1"/>
              </a:solidFill>
              <a:latin typeface="Work Sans"/>
              <a:ea typeface="Work Sans"/>
              <a:cs typeface="Work Sans"/>
              <a:sym typeface="Work Sans"/>
            </a:endParaRPr>
          </a:p>
        </p:txBody>
      </p:sp>
      <p:sp>
        <p:nvSpPr>
          <p:cNvPr id="587" name="Google Shape;587;p32"/>
          <p:cNvSpPr txBox="1"/>
          <p:nvPr/>
        </p:nvSpPr>
        <p:spPr>
          <a:xfrm>
            <a:off x="5682346" y="3045285"/>
            <a:ext cx="3476894"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Probabilidade Discreta / Conjuntos</a:t>
            </a:r>
            <a:endParaRPr b="0" i="0" sz="1400" u="none" cap="none" strike="noStrike">
              <a:solidFill>
                <a:schemeClr val="lt1"/>
              </a:solidFill>
              <a:latin typeface="Work Sans"/>
              <a:ea typeface="Work Sans"/>
              <a:cs typeface="Work Sans"/>
              <a:sym typeface="Work Sans"/>
            </a:endParaRPr>
          </a:p>
        </p:txBody>
      </p:sp>
      <p:sp>
        <p:nvSpPr>
          <p:cNvPr id="588" name="Google Shape;588;p32"/>
          <p:cNvSpPr txBox="1"/>
          <p:nvPr/>
        </p:nvSpPr>
        <p:spPr>
          <a:xfrm>
            <a:off x="1710004" y="3117088"/>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Porcentagens</a:t>
            </a:r>
            <a:endParaRPr b="0" i="0" sz="1400" u="none" cap="none" strike="noStrike">
              <a:solidFill>
                <a:schemeClr val="lt1"/>
              </a:solidFill>
              <a:latin typeface="Work Sans"/>
              <a:ea typeface="Work Sans"/>
              <a:cs typeface="Work Sans"/>
              <a:sym typeface="Work Sans"/>
            </a:endParaRPr>
          </a:p>
        </p:txBody>
      </p:sp>
      <p:sp>
        <p:nvSpPr>
          <p:cNvPr id="589" name="Google Shape;589;p32"/>
          <p:cNvSpPr txBox="1"/>
          <p:nvPr/>
        </p:nvSpPr>
        <p:spPr>
          <a:xfrm>
            <a:off x="996448" y="206099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Bar graph with upward trend outline" id="590" name="Google Shape;590;p32"/>
          <p:cNvPicPr preferRelativeResize="0"/>
          <p:nvPr/>
        </p:nvPicPr>
        <p:blipFill rotWithShape="1">
          <a:blip r:embed="rId5">
            <a:alphaModFix/>
          </a:blip>
          <a:srcRect b="0" l="0" r="0" t="0"/>
          <a:stretch/>
        </p:blipFill>
        <p:spPr>
          <a:xfrm>
            <a:off x="996447" y="4035497"/>
            <a:ext cx="587558" cy="587558"/>
          </a:xfrm>
          <a:prstGeom prst="rect">
            <a:avLst/>
          </a:prstGeom>
          <a:noFill/>
          <a:ln>
            <a:noFill/>
          </a:ln>
        </p:spPr>
      </p:pic>
      <p:pic>
        <p:nvPicPr>
          <p:cNvPr descr="Pie chart outline" id="591" name="Google Shape;591;p32"/>
          <p:cNvPicPr preferRelativeResize="0"/>
          <p:nvPr/>
        </p:nvPicPr>
        <p:blipFill rotWithShape="1">
          <a:blip r:embed="rId6">
            <a:alphaModFix/>
          </a:blip>
          <a:srcRect b="0" l="0" r="0" t="0"/>
          <a:stretch/>
        </p:blipFill>
        <p:spPr>
          <a:xfrm>
            <a:off x="1012664" y="3059064"/>
            <a:ext cx="555122" cy="555122"/>
          </a:xfrm>
          <a:prstGeom prst="rect">
            <a:avLst/>
          </a:prstGeom>
          <a:noFill/>
          <a:ln>
            <a:noFill/>
          </a:ln>
        </p:spPr>
      </p:pic>
      <p:pic>
        <p:nvPicPr>
          <p:cNvPr descr="Scatterplot outline" id="592" name="Google Shape;592;p32"/>
          <p:cNvPicPr preferRelativeResize="0"/>
          <p:nvPr/>
        </p:nvPicPr>
        <p:blipFill rotWithShape="1">
          <a:blip r:embed="rId7">
            <a:alphaModFix/>
          </a:blip>
          <a:srcRect b="0" l="0" r="0" t="0"/>
          <a:stretch/>
        </p:blipFill>
        <p:spPr>
          <a:xfrm>
            <a:off x="4943608" y="3033729"/>
            <a:ext cx="587557" cy="587557"/>
          </a:xfrm>
          <a:prstGeom prst="rect">
            <a:avLst/>
          </a:prstGeom>
          <a:noFill/>
          <a:ln>
            <a:noFill/>
          </a:ln>
        </p:spPr>
      </p:pic>
      <p:pic>
        <p:nvPicPr>
          <p:cNvPr descr="Dice outline" id="593" name="Google Shape;593;p32"/>
          <p:cNvPicPr preferRelativeResize="0"/>
          <p:nvPr/>
        </p:nvPicPr>
        <p:blipFill rotWithShape="1">
          <a:blip r:embed="rId8">
            <a:alphaModFix/>
          </a:blip>
          <a:srcRect b="0" l="0" r="0" t="0"/>
          <a:stretch/>
        </p:blipFill>
        <p:spPr>
          <a:xfrm>
            <a:off x="4989450" y="2123478"/>
            <a:ext cx="495871" cy="495871"/>
          </a:xfrm>
          <a:prstGeom prst="rect">
            <a:avLst/>
          </a:prstGeom>
          <a:noFill/>
          <a:ln>
            <a:noFill/>
          </a:ln>
        </p:spPr>
      </p:pic>
      <p:pic>
        <p:nvPicPr>
          <p:cNvPr descr="Tally outline" id="594" name="Google Shape;594;p32"/>
          <p:cNvPicPr preferRelativeResize="0"/>
          <p:nvPr/>
        </p:nvPicPr>
        <p:blipFill rotWithShape="1">
          <a:blip r:embed="rId9">
            <a:alphaModFix/>
          </a:blip>
          <a:srcRect b="0" l="0" r="0" t="0"/>
          <a:stretch/>
        </p:blipFill>
        <p:spPr>
          <a:xfrm>
            <a:off x="1081191" y="2134183"/>
            <a:ext cx="432397" cy="432397"/>
          </a:xfrm>
          <a:prstGeom prst="rect">
            <a:avLst/>
          </a:prstGeom>
          <a:noFill/>
          <a:ln>
            <a:noFill/>
          </a:ln>
        </p:spPr>
      </p:pic>
      <p:sp>
        <p:nvSpPr>
          <p:cNvPr id="595" name="Google Shape;595;p32"/>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3"/>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601" name="Google Shape;601;p33"/>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pic>
        <p:nvPicPr>
          <p:cNvPr descr="Puzzle outline" id="602" name="Google Shape;602;p33"/>
          <p:cNvPicPr preferRelativeResize="0"/>
          <p:nvPr/>
        </p:nvPicPr>
        <p:blipFill rotWithShape="1">
          <a:blip r:embed="rId3">
            <a:alphaModFix/>
          </a:blip>
          <a:srcRect b="0" l="0" r="0" t="0"/>
          <a:stretch/>
        </p:blipFill>
        <p:spPr>
          <a:xfrm>
            <a:off x="2682995" y="4128681"/>
            <a:ext cx="587556" cy="587556"/>
          </a:xfrm>
          <a:prstGeom prst="rect">
            <a:avLst/>
          </a:prstGeom>
          <a:noFill/>
          <a:ln>
            <a:noFill/>
          </a:ln>
        </p:spPr>
      </p:pic>
      <p:grpSp>
        <p:nvGrpSpPr>
          <p:cNvPr id="603" name="Google Shape;603;p33"/>
          <p:cNvGrpSpPr/>
          <p:nvPr/>
        </p:nvGrpSpPr>
        <p:grpSpPr>
          <a:xfrm>
            <a:off x="339712" y="888243"/>
            <a:ext cx="2825326" cy="397001"/>
            <a:chOff x="938974" y="1053283"/>
            <a:chExt cx="4201831" cy="575247"/>
          </a:xfrm>
        </p:grpSpPr>
        <p:sp>
          <p:nvSpPr>
            <p:cNvPr id="604" name="Google Shape;604;p33"/>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Propriedade dos Inteiros</a:t>
              </a:r>
              <a:endParaRPr b="1" i="0" sz="1200" u="none" cap="none" strike="noStrike">
                <a:solidFill>
                  <a:schemeClr val="lt1"/>
                </a:solidFill>
                <a:latin typeface="Work Sans"/>
                <a:ea typeface="Work Sans"/>
                <a:cs typeface="Work Sans"/>
                <a:sym typeface="Work Sans"/>
              </a:endParaRPr>
            </a:p>
          </p:txBody>
        </p:sp>
        <p:pic>
          <p:nvPicPr>
            <p:cNvPr descr="Tally outline" id="605" name="Google Shape;605;p33"/>
            <p:cNvPicPr preferRelativeResize="0"/>
            <p:nvPr/>
          </p:nvPicPr>
          <p:blipFill rotWithShape="1">
            <a:blip r:embed="rId4">
              <a:alphaModFix/>
            </a:blip>
            <a:srcRect b="0" l="0" r="0" t="0"/>
            <a:stretch/>
          </p:blipFill>
          <p:spPr>
            <a:xfrm>
              <a:off x="938974" y="1126471"/>
              <a:ext cx="432397" cy="432397"/>
            </a:xfrm>
            <a:prstGeom prst="rect">
              <a:avLst/>
            </a:prstGeom>
            <a:noFill/>
            <a:ln>
              <a:noFill/>
            </a:ln>
          </p:spPr>
        </p:pic>
      </p:grpSp>
      <p:sp>
        <p:nvSpPr>
          <p:cNvPr id="606" name="Google Shape;606;p33"/>
          <p:cNvSpPr txBox="1"/>
          <p:nvPr/>
        </p:nvSpPr>
        <p:spPr>
          <a:xfrm>
            <a:off x="727922" y="1278585"/>
            <a:ext cx="7367749" cy="573973"/>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Se </a:t>
            </a:r>
            <a:r>
              <a:rPr b="1" i="0" lang="pt-BR" sz="1100" u="none" cap="none" strike="noStrike">
                <a:solidFill>
                  <a:schemeClr val="lt1"/>
                </a:solidFill>
                <a:latin typeface="Work Sans"/>
                <a:ea typeface="Work Sans"/>
                <a:cs typeface="Work Sans"/>
                <a:sym typeface="Work Sans"/>
              </a:rPr>
              <a:t>x </a:t>
            </a:r>
            <a:r>
              <a:rPr b="0" i="0" lang="pt-BR" sz="1100" u="none" cap="none" strike="noStrike">
                <a:solidFill>
                  <a:schemeClr val="lt1"/>
                </a:solidFill>
                <a:latin typeface="Work Sans"/>
                <a:ea typeface="Work Sans"/>
                <a:cs typeface="Work Sans"/>
                <a:sym typeface="Work Sans"/>
              </a:rPr>
              <a:t>e </a:t>
            </a:r>
            <a:r>
              <a:rPr b="1" i="0" lang="pt-BR" sz="1100" u="none" cap="none" strike="noStrike">
                <a:solidFill>
                  <a:schemeClr val="lt1"/>
                </a:solidFill>
                <a:latin typeface="Work Sans"/>
                <a:ea typeface="Work Sans"/>
                <a:cs typeface="Work Sans"/>
                <a:sym typeface="Work Sans"/>
              </a:rPr>
              <a:t>y </a:t>
            </a:r>
            <a:r>
              <a:rPr b="0" i="0" lang="pt-BR" sz="1100" u="none" cap="none" strike="noStrike">
                <a:solidFill>
                  <a:schemeClr val="lt1"/>
                </a:solidFill>
                <a:latin typeface="Work Sans"/>
                <a:ea typeface="Work Sans"/>
                <a:cs typeface="Work Sans"/>
                <a:sym typeface="Work Sans"/>
              </a:rPr>
              <a:t>são </a:t>
            </a:r>
            <a:r>
              <a:rPr b="1" i="0" lang="pt-BR" sz="1100" u="none" cap="none" strike="noStrike">
                <a:solidFill>
                  <a:schemeClr val="lt1"/>
                </a:solidFill>
                <a:latin typeface="Work Sans"/>
                <a:ea typeface="Work Sans"/>
                <a:cs typeface="Work Sans"/>
                <a:sym typeface="Work Sans"/>
              </a:rPr>
              <a:t>números inteiros </a:t>
            </a:r>
            <a:r>
              <a:rPr b="0" i="0" lang="pt-BR" sz="1100" u="none" cap="none" strike="noStrike">
                <a:solidFill>
                  <a:schemeClr val="lt1"/>
                </a:solidFill>
                <a:latin typeface="Work Sans"/>
                <a:ea typeface="Work Sans"/>
                <a:cs typeface="Work Sans"/>
                <a:sym typeface="Work Sans"/>
              </a:rPr>
              <a:t>e </a:t>
            </a:r>
            <a:r>
              <a:rPr b="1" i="0" lang="pt-BR" sz="1100" u="none" cap="none" strike="noStrike">
                <a:solidFill>
                  <a:schemeClr val="lt1"/>
                </a:solidFill>
                <a:latin typeface="Work Sans"/>
                <a:ea typeface="Work Sans"/>
                <a:cs typeface="Work Sans"/>
                <a:sym typeface="Work Sans"/>
              </a:rPr>
              <a:t>x é diferente de zero</a:t>
            </a:r>
            <a:r>
              <a:rPr b="0" i="0" lang="pt-BR" sz="1100" u="none" cap="none" strike="noStrike">
                <a:solidFill>
                  <a:schemeClr val="lt1"/>
                </a:solidFill>
                <a:latin typeface="Work Sans"/>
                <a:ea typeface="Work Sans"/>
                <a:cs typeface="Work Sans"/>
                <a:sym typeface="Work Sans"/>
              </a:rPr>
              <a:t>, então </a:t>
            </a:r>
            <a:r>
              <a:rPr b="1" i="0" lang="pt-BR" sz="1100" u="none" cap="none" strike="noStrike">
                <a:solidFill>
                  <a:schemeClr val="lt1"/>
                </a:solidFill>
                <a:latin typeface="Work Sans"/>
                <a:ea typeface="Work Sans"/>
                <a:cs typeface="Work Sans"/>
                <a:sym typeface="Work Sans"/>
              </a:rPr>
              <a:t>n = y / x</a:t>
            </a:r>
            <a:r>
              <a:rPr b="0" i="0" lang="pt-BR" sz="1100" u="none" cap="none" strike="noStrike">
                <a:solidFill>
                  <a:schemeClr val="lt1"/>
                </a:solidFill>
                <a:latin typeface="Work Sans"/>
                <a:ea typeface="Work Sans"/>
                <a:cs typeface="Work Sans"/>
                <a:sym typeface="Work Sans"/>
              </a:rPr>
              <a:t>, sendo </a:t>
            </a:r>
            <a:r>
              <a:rPr b="1" i="0" lang="pt-BR" sz="1100" u="none" cap="none" strike="noStrike">
                <a:solidFill>
                  <a:schemeClr val="lt1"/>
                </a:solidFill>
                <a:latin typeface="Work Sans"/>
                <a:ea typeface="Work Sans"/>
                <a:cs typeface="Work Sans"/>
                <a:sym typeface="Work Sans"/>
              </a:rPr>
              <a:t>n </a:t>
            </a:r>
            <a:r>
              <a:rPr b="0" i="0" lang="pt-BR" sz="1100" u="none" cap="none" strike="noStrike">
                <a:solidFill>
                  <a:schemeClr val="lt1"/>
                </a:solidFill>
                <a:latin typeface="Work Sans"/>
                <a:ea typeface="Work Sans"/>
                <a:cs typeface="Work Sans"/>
                <a:sym typeface="Work Sans"/>
              </a:rPr>
              <a:t>um </a:t>
            </a:r>
            <a:r>
              <a:rPr b="1" i="0" lang="pt-BR" sz="1100" u="none" cap="none" strike="noStrike">
                <a:solidFill>
                  <a:schemeClr val="lt1"/>
                </a:solidFill>
                <a:latin typeface="Work Sans"/>
                <a:ea typeface="Work Sans"/>
                <a:cs typeface="Work Sans"/>
                <a:sym typeface="Work Sans"/>
              </a:rPr>
              <a:t>número inteiro</a:t>
            </a:r>
            <a:r>
              <a:rPr b="0" i="0" lang="pt-BR" sz="1100" u="none" cap="none" strike="noStrike">
                <a:solidFill>
                  <a:schemeClr val="lt1"/>
                </a:solidFill>
                <a:latin typeface="Work Sans"/>
                <a:ea typeface="Work Sans"/>
                <a:cs typeface="Work Sans"/>
                <a:sym typeface="Work Sans"/>
              </a:rPr>
              <a:t>, dizemos que </a:t>
            </a:r>
            <a:r>
              <a:rPr b="1" i="0" lang="pt-BR" sz="1100" u="none" cap="none" strike="noStrike">
                <a:solidFill>
                  <a:schemeClr val="lt1"/>
                </a:solidFill>
                <a:latin typeface="Work Sans"/>
                <a:ea typeface="Work Sans"/>
                <a:cs typeface="Work Sans"/>
                <a:sym typeface="Work Sans"/>
              </a:rPr>
              <a:t>“y é divisível por x”</a:t>
            </a:r>
            <a:r>
              <a:rPr b="0" i="0" lang="pt-BR" sz="1100" u="none" cap="none" strike="noStrike">
                <a:solidFill>
                  <a:schemeClr val="lt1"/>
                </a:solidFill>
                <a:latin typeface="Work Sans"/>
                <a:ea typeface="Work Sans"/>
                <a:cs typeface="Work Sans"/>
                <a:sym typeface="Work Sans"/>
              </a:rPr>
              <a:t> ou que </a:t>
            </a:r>
            <a:r>
              <a:rPr b="1" i="0" lang="pt-BR" sz="1100" u="none" cap="none" strike="noStrike">
                <a:solidFill>
                  <a:schemeClr val="lt1"/>
                </a:solidFill>
                <a:latin typeface="Work Sans"/>
                <a:ea typeface="Work Sans"/>
                <a:cs typeface="Work Sans"/>
                <a:sym typeface="Work Sans"/>
              </a:rPr>
              <a:t>“y é múltiplo de x”</a:t>
            </a:r>
            <a:endParaRPr b="1" i="0" sz="1100" u="none" cap="none" strike="noStrike">
              <a:solidFill>
                <a:schemeClr val="lt1"/>
              </a:solidFill>
              <a:latin typeface="Work Sans"/>
              <a:ea typeface="Work Sans"/>
              <a:cs typeface="Work Sans"/>
              <a:sym typeface="Work Sans"/>
            </a:endParaRPr>
          </a:p>
        </p:txBody>
      </p:sp>
      <p:pic>
        <p:nvPicPr>
          <p:cNvPr id="607" name="Google Shape;607;p33"/>
          <p:cNvPicPr preferRelativeResize="0"/>
          <p:nvPr/>
        </p:nvPicPr>
        <p:blipFill rotWithShape="1">
          <a:blip r:embed="rId5">
            <a:alphaModFix/>
          </a:blip>
          <a:srcRect b="0" l="2695" r="0" t="0"/>
          <a:stretch/>
        </p:blipFill>
        <p:spPr>
          <a:xfrm>
            <a:off x="6237624" y="473289"/>
            <a:ext cx="2520000" cy="397521"/>
          </a:xfrm>
          <a:prstGeom prst="rect">
            <a:avLst/>
          </a:prstGeom>
          <a:noFill/>
          <a:ln>
            <a:noFill/>
          </a:ln>
        </p:spPr>
      </p:pic>
      <p:grpSp>
        <p:nvGrpSpPr>
          <p:cNvPr id="608" name="Google Shape;608;p33"/>
          <p:cNvGrpSpPr/>
          <p:nvPr/>
        </p:nvGrpSpPr>
        <p:grpSpPr>
          <a:xfrm>
            <a:off x="730142" y="1895253"/>
            <a:ext cx="6142500" cy="464628"/>
            <a:chOff x="1620000" y="2219526"/>
            <a:chExt cx="5412516" cy="464628"/>
          </a:xfrm>
        </p:grpSpPr>
        <p:pic>
          <p:nvPicPr>
            <p:cNvPr id="609" name="Google Shape;609;p33"/>
            <p:cNvPicPr preferRelativeResize="0"/>
            <p:nvPr/>
          </p:nvPicPr>
          <p:blipFill rotWithShape="1">
            <a:blip r:embed="rId6">
              <a:alphaModFix/>
            </a:blip>
            <a:srcRect b="0" l="0" r="0" t="0"/>
            <a:stretch/>
          </p:blipFill>
          <p:spPr>
            <a:xfrm>
              <a:off x="4714061" y="2219526"/>
              <a:ext cx="2318455" cy="464628"/>
            </a:xfrm>
            <a:prstGeom prst="rect">
              <a:avLst/>
            </a:prstGeom>
            <a:noFill/>
            <a:ln>
              <a:noFill/>
            </a:ln>
          </p:spPr>
        </p:pic>
        <p:sp>
          <p:nvSpPr>
            <p:cNvPr id="610" name="Google Shape;610;p33"/>
            <p:cNvSpPr txBox="1"/>
            <p:nvPr/>
          </p:nvSpPr>
          <p:spPr>
            <a:xfrm>
              <a:off x="1620000" y="2252670"/>
              <a:ext cx="4032000" cy="353913"/>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Se </a:t>
              </a:r>
              <a:r>
                <a:rPr b="1" i="0" lang="pt-BR" sz="1100" u="none" cap="none" strike="noStrike">
                  <a:solidFill>
                    <a:schemeClr val="lt1"/>
                  </a:solidFill>
                  <a:latin typeface="Work Sans"/>
                  <a:ea typeface="Work Sans"/>
                  <a:cs typeface="Work Sans"/>
                  <a:sym typeface="Work Sans"/>
                </a:rPr>
                <a:t>x </a:t>
              </a:r>
              <a:r>
                <a:rPr b="0" i="0" lang="pt-BR" sz="1100" u="none" cap="none" strike="noStrike">
                  <a:solidFill>
                    <a:schemeClr val="lt1"/>
                  </a:solidFill>
                  <a:latin typeface="Work Sans"/>
                  <a:ea typeface="Work Sans"/>
                  <a:cs typeface="Work Sans"/>
                  <a:sym typeface="Work Sans"/>
                </a:rPr>
                <a:t>e </a:t>
              </a:r>
              <a:r>
                <a:rPr b="1" i="0" lang="pt-BR" sz="1100" u="none" cap="none" strike="noStrike">
                  <a:solidFill>
                    <a:schemeClr val="lt1"/>
                  </a:solidFill>
                  <a:latin typeface="Work Sans"/>
                  <a:ea typeface="Work Sans"/>
                  <a:cs typeface="Work Sans"/>
                  <a:sym typeface="Work Sans"/>
                </a:rPr>
                <a:t>y </a:t>
              </a:r>
              <a:r>
                <a:rPr b="0" i="0" lang="pt-BR" sz="1100" u="none" cap="none" strike="noStrike">
                  <a:solidFill>
                    <a:schemeClr val="lt1"/>
                  </a:solidFill>
                  <a:latin typeface="Work Sans"/>
                  <a:ea typeface="Work Sans"/>
                  <a:cs typeface="Work Sans"/>
                  <a:sym typeface="Work Sans"/>
                </a:rPr>
                <a:t>são </a:t>
              </a:r>
              <a:r>
                <a:rPr b="1" i="0" lang="pt-BR" sz="1100" u="none" cap="none" strike="noStrike">
                  <a:solidFill>
                    <a:schemeClr val="lt1"/>
                  </a:solidFill>
                  <a:latin typeface="Work Sans"/>
                  <a:ea typeface="Work Sans"/>
                  <a:cs typeface="Work Sans"/>
                  <a:sym typeface="Work Sans"/>
                </a:rPr>
                <a:t>números inteiros POSITIVOS:</a:t>
              </a:r>
              <a:endParaRPr b="1" i="0" sz="1100" u="none" cap="none" strike="noStrike">
                <a:solidFill>
                  <a:schemeClr val="lt1"/>
                </a:solidFill>
                <a:latin typeface="Work Sans"/>
                <a:ea typeface="Work Sans"/>
                <a:cs typeface="Work Sans"/>
                <a:sym typeface="Work Sans"/>
              </a:endParaRPr>
            </a:p>
          </p:txBody>
        </p:sp>
      </p:grpSp>
      <p:sp>
        <p:nvSpPr>
          <p:cNvPr id="611" name="Google Shape;611;p33"/>
          <p:cNvSpPr txBox="1"/>
          <p:nvPr/>
        </p:nvSpPr>
        <p:spPr>
          <a:xfrm>
            <a:off x="730142" y="2414987"/>
            <a:ext cx="7022713" cy="573973"/>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Quando um número inteiro pode ser </a:t>
            </a:r>
            <a:r>
              <a:rPr b="1" i="0" lang="pt-BR" sz="1100" u="none" cap="none" strike="noStrike">
                <a:solidFill>
                  <a:schemeClr val="lt1"/>
                </a:solidFill>
                <a:latin typeface="Work Sans"/>
                <a:ea typeface="Work Sans"/>
                <a:cs typeface="Work Sans"/>
                <a:sym typeface="Work Sans"/>
              </a:rPr>
              <a:t>dividido por 2</a:t>
            </a:r>
            <a:r>
              <a:rPr b="0" i="0" lang="pt-BR" sz="1100" u="none" cap="none" strike="noStrike">
                <a:solidFill>
                  <a:schemeClr val="lt1"/>
                </a:solidFill>
                <a:latin typeface="Work Sans"/>
                <a:ea typeface="Work Sans"/>
                <a:cs typeface="Work Sans"/>
                <a:sym typeface="Work Sans"/>
              </a:rPr>
              <a:t>, este é um </a:t>
            </a:r>
            <a:r>
              <a:rPr b="1" i="0" lang="pt-BR" sz="1100" u="none" cap="none" strike="noStrike">
                <a:solidFill>
                  <a:schemeClr val="lt1"/>
                </a:solidFill>
                <a:latin typeface="Work Sans"/>
                <a:ea typeface="Work Sans"/>
                <a:cs typeface="Work Sans"/>
                <a:sym typeface="Work Sans"/>
              </a:rPr>
              <a:t>número par</a:t>
            </a:r>
            <a:r>
              <a:rPr b="0" i="0" lang="pt-BR" sz="1100" u="none" cap="none" strike="noStrike">
                <a:solidFill>
                  <a:schemeClr val="lt1"/>
                </a:solidFill>
                <a:latin typeface="Work Sans"/>
                <a:ea typeface="Work Sans"/>
                <a:cs typeface="Work Sans"/>
                <a:sym typeface="Work Sans"/>
              </a:rPr>
              <a:t> </a:t>
            </a:r>
            <a:r>
              <a:rPr b="1" i="0" lang="pt-BR" sz="1100" u="none" cap="none" strike="noStrike">
                <a:solidFill>
                  <a:srgbClr val="C1272D"/>
                </a:solidFill>
                <a:latin typeface="Work Sans"/>
                <a:ea typeface="Work Sans"/>
                <a:cs typeface="Work Sans"/>
                <a:sym typeface="Work Sans"/>
              </a:rPr>
              <a:t>(even)</a:t>
            </a:r>
            <a:r>
              <a:rPr b="0" i="0" lang="pt-BR" sz="1100" u="none" cap="none" strike="noStrike">
                <a:solidFill>
                  <a:srgbClr val="C1272D"/>
                </a:solidFill>
                <a:latin typeface="Work Sans"/>
                <a:ea typeface="Work Sans"/>
                <a:cs typeface="Work Sans"/>
                <a:sym typeface="Work Sans"/>
              </a:rPr>
              <a:t>.</a:t>
            </a:r>
            <a:endParaRPr b="0" i="0" sz="1100" u="none" cap="none" strike="noStrike">
              <a:solidFill>
                <a:srgbClr val="C1272D"/>
              </a:solidFill>
              <a:latin typeface="Work Sans"/>
              <a:ea typeface="Work Sans"/>
              <a:cs typeface="Work Sans"/>
              <a:sym typeface="Work Sans"/>
            </a:endParaRPr>
          </a:p>
          <a:p>
            <a:pPr indent="0" lvl="0" marL="0" marR="0" rtl="0" algn="just">
              <a:lnSpc>
                <a:spcPct val="115000"/>
              </a:lnSpc>
              <a:spcBef>
                <a:spcPts val="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Caso contrário (</a:t>
            </a:r>
            <a:r>
              <a:rPr b="1" i="0" lang="pt-BR" sz="1100" u="none" cap="none" strike="noStrike">
                <a:solidFill>
                  <a:schemeClr val="lt1"/>
                </a:solidFill>
                <a:latin typeface="Work Sans"/>
                <a:ea typeface="Work Sans"/>
                <a:cs typeface="Work Sans"/>
                <a:sym typeface="Work Sans"/>
              </a:rPr>
              <a:t>não divisível por 2</a:t>
            </a:r>
            <a:r>
              <a:rPr b="0" i="0" lang="pt-BR" sz="1100" u="none" cap="none" strike="noStrike">
                <a:solidFill>
                  <a:schemeClr val="lt1"/>
                </a:solidFill>
                <a:latin typeface="Work Sans"/>
                <a:ea typeface="Work Sans"/>
                <a:cs typeface="Work Sans"/>
                <a:sym typeface="Work Sans"/>
              </a:rPr>
              <a:t>), este é um </a:t>
            </a:r>
            <a:r>
              <a:rPr b="1" i="0" lang="pt-BR" sz="1100" u="none" cap="none" strike="noStrike">
                <a:solidFill>
                  <a:schemeClr val="lt1"/>
                </a:solidFill>
                <a:latin typeface="Work Sans"/>
                <a:ea typeface="Work Sans"/>
                <a:cs typeface="Work Sans"/>
                <a:sym typeface="Work Sans"/>
              </a:rPr>
              <a:t>número ímpar</a:t>
            </a:r>
            <a:r>
              <a:rPr b="0" i="0" lang="pt-BR" sz="1100" u="none" cap="none" strike="noStrike">
                <a:solidFill>
                  <a:schemeClr val="lt1"/>
                </a:solidFill>
                <a:latin typeface="Work Sans"/>
                <a:ea typeface="Work Sans"/>
                <a:cs typeface="Work Sans"/>
                <a:sym typeface="Work Sans"/>
              </a:rPr>
              <a:t> </a:t>
            </a:r>
            <a:r>
              <a:rPr b="1" i="0" lang="pt-BR" sz="1100" u="none" cap="none" strike="noStrike">
                <a:solidFill>
                  <a:srgbClr val="C1272D"/>
                </a:solidFill>
                <a:latin typeface="Work Sans"/>
                <a:ea typeface="Work Sans"/>
                <a:cs typeface="Work Sans"/>
                <a:sym typeface="Work Sans"/>
              </a:rPr>
              <a:t>(odd)</a:t>
            </a:r>
            <a:r>
              <a:rPr b="0" i="0" lang="pt-BR" sz="1100" u="none" cap="none" strike="noStrike">
                <a:solidFill>
                  <a:srgbClr val="C1272D"/>
                </a:solidFill>
                <a:latin typeface="Work Sans"/>
                <a:ea typeface="Work Sans"/>
                <a:cs typeface="Work Sans"/>
                <a:sym typeface="Work Sans"/>
              </a:rPr>
              <a:t>.</a:t>
            </a:r>
            <a:endParaRPr b="0" i="0" sz="1100" u="none" cap="none" strike="noStrike">
              <a:solidFill>
                <a:srgbClr val="C1272D"/>
              </a:solidFill>
              <a:latin typeface="Work Sans"/>
              <a:ea typeface="Work Sans"/>
              <a:cs typeface="Work Sans"/>
              <a:sym typeface="Work Sans"/>
            </a:endParaRPr>
          </a:p>
        </p:txBody>
      </p:sp>
      <p:sp>
        <p:nvSpPr>
          <p:cNvPr id="612" name="Google Shape;612;p33"/>
          <p:cNvSpPr txBox="1"/>
          <p:nvPr/>
        </p:nvSpPr>
        <p:spPr>
          <a:xfrm>
            <a:off x="730142" y="3010310"/>
            <a:ext cx="7682338" cy="896882"/>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Um </a:t>
            </a:r>
            <a:r>
              <a:rPr b="1" i="0" lang="pt-BR" sz="1100" u="none" cap="none" strike="noStrike">
                <a:solidFill>
                  <a:schemeClr val="lt1"/>
                </a:solidFill>
                <a:latin typeface="Work Sans"/>
                <a:ea typeface="Work Sans"/>
                <a:cs typeface="Work Sans"/>
                <a:sym typeface="Work Sans"/>
              </a:rPr>
              <a:t>número primo </a:t>
            </a:r>
            <a:r>
              <a:rPr b="1" i="0" lang="pt-BR" sz="1100" u="none" cap="none" strike="noStrike">
                <a:solidFill>
                  <a:srgbClr val="C1272D"/>
                </a:solidFill>
                <a:latin typeface="Work Sans"/>
                <a:ea typeface="Work Sans"/>
                <a:cs typeface="Work Sans"/>
                <a:sym typeface="Work Sans"/>
              </a:rPr>
              <a:t>(prime number)</a:t>
            </a:r>
            <a:r>
              <a:rPr b="0" i="0" lang="pt-BR" sz="1100" u="none" cap="none" strike="noStrike">
                <a:solidFill>
                  <a:srgbClr val="C1272D"/>
                </a:solidFill>
                <a:latin typeface="Work Sans"/>
                <a:ea typeface="Work Sans"/>
                <a:cs typeface="Work Sans"/>
                <a:sym typeface="Work Sans"/>
              </a:rPr>
              <a:t> </a:t>
            </a:r>
            <a:r>
              <a:rPr b="0" i="0" lang="pt-BR" sz="1100" u="none" cap="none" strike="noStrike">
                <a:solidFill>
                  <a:schemeClr val="lt1"/>
                </a:solidFill>
                <a:latin typeface="Work Sans"/>
                <a:ea typeface="Work Sans"/>
                <a:cs typeface="Work Sans"/>
                <a:sym typeface="Work Sans"/>
              </a:rPr>
              <a:t>é um número </a:t>
            </a:r>
            <a:r>
              <a:rPr b="1" i="0" lang="pt-BR" sz="1100" u="none" cap="none" strike="noStrike">
                <a:solidFill>
                  <a:schemeClr val="lt1"/>
                </a:solidFill>
                <a:latin typeface="Work Sans"/>
                <a:ea typeface="Work Sans"/>
                <a:cs typeface="Work Sans"/>
                <a:sym typeface="Work Sans"/>
              </a:rPr>
              <a:t>inteiro positivo</a:t>
            </a:r>
            <a:r>
              <a:rPr b="0" i="0" lang="pt-BR" sz="1100" u="none" cap="none" strike="noStrike">
                <a:solidFill>
                  <a:schemeClr val="lt1"/>
                </a:solidFill>
                <a:latin typeface="Work Sans"/>
                <a:ea typeface="Work Sans"/>
                <a:cs typeface="Work Sans"/>
                <a:sym typeface="Work Sans"/>
              </a:rPr>
              <a:t> que possui exatamente </a:t>
            </a:r>
            <a:r>
              <a:rPr b="1" i="0" lang="pt-BR" sz="1100" u="none" cap="none" strike="noStrike">
                <a:solidFill>
                  <a:schemeClr val="lt1"/>
                </a:solidFill>
                <a:latin typeface="Work Sans"/>
                <a:ea typeface="Work Sans"/>
                <a:cs typeface="Work Sans"/>
                <a:sym typeface="Work Sans"/>
              </a:rPr>
              <a:t>dois divisores diferentes, o número 1 e ele próprio</a:t>
            </a:r>
            <a:r>
              <a:rPr b="0" i="0" lang="pt-BR" sz="1100" u="none" cap="none" strike="noStrike">
                <a:solidFill>
                  <a:schemeClr val="lt1"/>
                </a:solidFill>
                <a:latin typeface="Work Sans"/>
                <a:ea typeface="Work Sans"/>
                <a:cs typeface="Work Sans"/>
                <a:sym typeface="Work Sans"/>
              </a:rPr>
              <a:t>.</a:t>
            </a:r>
            <a:endParaRPr b="0" i="0" sz="1100" u="none" cap="none" strike="noStrike">
              <a:solidFill>
                <a:schemeClr val="lt1"/>
              </a:solidFill>
              <a:latin typeface="Work Sans"/>
              <a:ea typeface="Work Sans"/>
              <a:cs typeface="Work Sans"/>
              <a:sym typeface="Work Sans"/>
            </a:endParaRPr>
          </a:p>
          <a:p>
            <a:pPr indent="-317500" lvl="0" marL="457200" marR="0" rtl="0" algn="just">
              <a:lnSpc>
                <a:spcPct val="115000"/>
              </a:lnSpc>
              <a:spcBef>
                <a:spcPts val="1000"/>
              </a:spcBef>
              <a:spcAft>
                <a:spcPts val="0"/>
              </a:spcAft>
              <a:buClr>
                <a:schemeClr val="dk1"/>
              </a:buClr>
              <a:buSzPts val="1400"/>
              <a:buFont typeface="Montserrat"/>
              <a:buChar char="-"/>
            </a:pPr>
            <a:r>
              <a:rPr b="0" i="0" lang="pt-BR" sz="1100" u="none" cap="none" strike="noStrike">
                <a:solidFill>
                  <a:schemeClr val="lt1"/>
                </a:solidFill>
                <a:latin typeface="Work Sans"/>
                <a:ea typeface="Work Sans"/>
                <a:cs typeface="Work Sans"/>
                <a:sym typeface="Work Sans"/>
              </a:rPr>
              <a:t>2,  3,  5,  7,  11,  13,  17,  19,  …</a:t>
            </a:r>
            <a:endParaRPr b="0" i="0" sz="1100" u="none" cap="none" strike="noStrike">
              <a:solidFill>
                <a:schemeClr val="lt1"/>
              </a:solidFill>
              <a:latin typeface="Work Sans"/>
              <a:ea typeface="Work Sans"/>
              <a:cs typeface="Work Sans"/>
              <a:sym typeface="Work Sans"/>
            </a:endParaRPr>
          </a:p>
        </p:txBody>
      </p:sp>
      <p:sp>
        <p:nvSpPr>
          <p:cNvPr id="613" name="Google Shape;613;p33"/>
          <p:cNvSpPr txBox="1"/>
          <p:nvPr/>
        </p:nvSpPr>
        <p:spPr>
          <a:xfrm>
            <a:off x="745112" y="3947595"/>
            <a:ext cx="9000000" cy="768642"/>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1" i="0" lang="pt-BR" sz="1100" u="none" cap="none" strike="noStrike">
                <a:solidFill>
                  <a:srgbClr val="C1272D"/>
                </a:solidFill>
                <a:latin typeface="Work Sans"/>
                <a:ea typeface="Work Sans"/>
                <a:cs typeface="Work Sans"/>
                <a:sym typeface="Work Sans"/>
              </a:rPr>
              <a:t>Obs:</a:t>
            </a:r>
            <a:r>
              <a:rPr b="0" i="0" lang="pt-BR" sz="1100" u="none" cap="none" strike="noStrike">
                <a:solidFill>
                  <a:srgbClr val="C1272D"/>
                </a:solidFill>
                <a:latin typeface="Work Sans"/>
                <a:ea typeface="Work Sans"/>
                <a:cs typeface="Work Sans"/>
                <a:sym typeface="Work Sans"/>
              </a:rPr>
              <a:t> </a:t>
            </a:r>
            <a:r>
              <a:rPr b="0" i="0" lang="pt-BR" sz="1100" u="none" cap="none" strike="noStrike">
                <a:solidFill>
                  <a:schemeClr val="lt1"/>
                </a:solidFill>
                <a:latin typeface="Work Sans"/>
                <a:ea typeface="Work Sans"/>
                <a:cs typeface="Work Sans"/>
                <a:sym typeface="Work Sans"/>
              </a:rPr>
              <a:t>O número </a:t>
            </a:r>
            <a:r>
              <a:rPr b="1" i="0" lang="pt-BR" sz="1100" u="none" cap="none" strike="noStrike">
                <a:solidFill>
                  <a:schemeClr val="lt1"/>
                </a:solidFill>
                <a:latin typeface="Work Sans"/>
                <a:ea typeface="Work Sans"/>
                <a:cs typeface="Work Sans"/>
                <a:sym typeface="Work Sans"/>
              </a:rPr>
              <a:t>1 não é primo </a:t>
            </a:r>
            <a:r>
              <a:rPr b="0" i="0" lang="pt-BR" sz="1100" u="none" cap="none" strike="noStrike">
                <a:solidFill>
                  <a:schemeClr val="lt1"/>
                </a:solidFill>
                <a:latin typeface="Work Sans"/>
                <a:ea typeface="Work Sans"/>
                <a:cs typeface="Work Sans"/>
                <a:sym typeface="Work Sans"/>
              </a:rPr>
              <a:t>pois possui </a:t>
            </a:r>
            <a:r>
              <a:rPr b="1" i="0" lang="pt-BR" sz="1100" u="none" cap="none" strike="noStrike">
                <a:solidFill>
                  <a:schemeClr val="lt1"/>
                </a:solidFill>
                <a:latin typeface="Work Sans"/>
                <a:ea typeface="Work Sans"/>
                <a:cs typeface="Work Sans"/>
                <a:sym typeface="Work Sans"/>
              </a:rPr>
              <a:t>apenas um divisor </a:t>
            </a:r>
            <a:r>
              <a:rPr b="0" i="0" lang="pt-BR" sz="1100" u="none" cap="none" strike="noStrike">
                <a:solidFill>
                  <a:schemeClr val="lt1"/>
                </a:solidFill>
                <a:latin typeface="Work Sans"/>
                <a:ea typeface="Work Sans"/>
                <a:cs typeface="Work Sans"/>
                <a:sym typeface="Work Sans"/>
              </a:rPr>
              <a:t>(1 = ele mesmo).</a:t>
            </a:r>
            <a:endParaRPr b="0" i="0" sz="1100" u="none" cap="none" strike="noStrike">
              <a:solidFill>
                <a:schemeClr val="lt1"/>
              </a:solidFill>
              <a:latin typeface="Work Sans"/>
              <a:ea typeface="Work Sans"/>
              <a:cs typeface="Work Sans"/>
              <a:sym typeface="Work Sans"/>
            </a:endParaRPr>
          </a:p>
          <a:p>
            <a:pPr indent="0" lvl="0" marL="0" marR="0" rtl="0" algn="just">
              <a:lnSpc>
                <a:spcPct val="115000"/>
              </a:lnSpc>
              <a:spcBef>
                <a:spcPts val="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	O número </a:t>
            </a:r>
            <a:r>
              <a:rPr b="1" i="0" lang="pt-BR" sz="1100" u="none" cap="none" strike="noStrike">
                <a:solidFill>
                  <a:schemeClr val="lt1"/>
                </a:solidFill>
                <a:latin typeface="Work Sans"/>
                <a:ea typeface="Work Sans"/>
                <a:cs typeface="Work Sans"/>
                <a:sym typeface="Work Sans"/>
              </a:rPr>
              <a:t>0 não é primo</a:t>
            </a:r>
            <a:r>
              <a:rPr b="0" i="0" lang="pt-BR" sz="1100" u="none" cap="none" strike="noStrike">
                <a:solidFill>
                  <a:schemeClr val="lt1"/>
                </a:solidFill>
                <a:latin typeface="Work Sans"/>
                <a:ea typeface="Work Sans"/>
                <a:cs typeface="Work Sans"/>
                <a:sym typeface="Work Sans"/>
              </a:rPr>
              <a:t> pois possui </a:t>
            </a:r>
            <a:r>
              <a:rPr b="1" i="0" lang="pt-BR" sz="1100" u="none" cap="none" strike="noStrike">
                <a:solidFill>
                  <a:schemeClr val="lt1"/>
                </a:solidFill>
                <a:latin typeface="Work Sans"/>
                <a:ea typeface="Work Sans"/>
                <a:cs typeface="Work Sans"/>
                <a:sym typeface="Work Sans"/>
              </a:rPr>
              <a:t>diversos divisores</a:t>
            </a:r>
            <a:r>
              <a:rPr b="0" i="0" lang="pt-BR" sz="1100" u="none" cap="none" strike="noStrike">
                <a:solidFill>
                  <a:schemeClr val="lt1"/>
                </a:solidFill>
                <a:latin typeface="Work Sans"/>
                <a:ea typeface="Work Sans"/>
                <a:cs typeface="Work Sans"/>
                <a:sym typeface="Work Sans"/>
              </a:rPr>
              <a:t>.</a:t>
            </a:r>
            <a:endParaRPr b="0" i="0" sz="1100" u="none" cap="none" strike="noStrike">
              <a:solidFill>
                <a:schemeClr val="lt1"/>
              </a:solidFill>
              <a:latin typeface="Work Sans"/>
              <a:ea typeface="Work Sans"/>
              <a:cs typeface="Work Sans"/>
              <a:sym typeface="Work Sans"/>
            </a:endParaRPr>
          </a:p>
          <a:p>
            <a:pPr indent="0" lvl="0" marL="0" marR="0" rtl="0" algn="just">
              <a:lnSpc>
                <a:spcPct val="115000"/>
              </a:lnSpc>
              <a:spcBef>
                <a:spcPts val="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	O número </a:t>
            </a:r>
            <a:r>
              <a:rPr b="1" i="0" lang="pt-BR" sz="1100" u="none" cap="none" strike="noStrike">
                <a:solidFill>
                  <a:schemeClr val="lt1"/>
                </a:solidFill>
                <a:latin typeface="Work Sans"/>
                <a:ea typeface="Work Sans"/>
                <a:cs typeface="Work Sans"/>
                <a:sym typeface="Work Sans"/>
              </a:rPr>
              <a:t>0 não é positivo e nem negativo</a:t>
            </a:r>
            <a:r>
              <a:rPr b="0" i="0" lang="pt-BR" sz="1100" u="none" cap="none" strike="noStrike">
                <a:solidFill>
                  <a:schemeClr val="lt1"/>
                </a:solidFill>
                <a:latin typeface="Work Sans"/>
                <a:ea typeface="Work Sans"/>
                <a:cs typeface="Work Sans"/>
                <a:sym typeface="Work Sans"/>
              </a:rPr>
              <a:t>, é um </a:t>
            </a:r>
            <a:r>
              <a:rPr b="1" i="0" lang="pt-BR" sz="1100" u="none" cap="none" strike="noStrike">
                <a:solidFill>
                  <a:schemeClr val="lt1"/>
                </a:solidFill>
                <a:latin typeface="Work Sans"/>
                <a:ea typeface="Work Sans"/>
                <a:cs typeface="Work Sans"/>
                <a:sym typeface="Work Sans"/>
              </a:rPr>
              <a:t>número neutro</a:t>
            </a:r>
            <a:r>
              <a:rPr b="0" i="0" lang="pt-BR" sz="1100" u="none" cap="none" strike="noStrike">
                <a:solidFill>
                  <a:schemeClr val="lt1"/>
                </a:solidFill>
                <a:latin typeface="Work Sans"/>
                <a:ea typeface="Work Sans"/>
                <a:cs typeface="Work Sans"/>
                <a:sym typeface="Work Sans"/>
              </a:rPr>
              <a:t>.</a:t>
            </a:r>
            <a:endParaRPr b="0" i="0" sz="1100" u="none" cap="none" strike="noStrike">
              <a:solidFill>
                <a:schemeClr val="lt1"/>
              </a:solidFill>
              <a:latin typeface="Work Sans"/>
              <a:ea typeface="Work Sans"/>
              <a:cs typeface="Work Sans"/>
              <a:sym typeface="Work Sans"/>
            </a:endParaRPr>
          </a:p>
        </p:txBody>
      </p:sp>
      <p:sp>
        <p:nvSpPr>
          <p:cNvPr id="614" name="Google Shape;614;p33"/>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10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10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34"/>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620" name="Google Shape;620;p34"/>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621" name="Google Shape;621;p34"/>
          <p:cNvGrpSpPr/>
          <p:nvPr/>
        </p:nvGrpSpPr>
        <p:grpSpPr>
          <a:xfrm>
            <a:off x="339712" y="888243"/>
            <a:ext cx="2825326" cy="397001"/>
            <a:chOff x="938974" y="1053283"/>
            <a:chExt cx="4201831" cy="575247"/>
          </a:xfrm>
        </p:grpSpPr>
        <p:sp>
          <p:nvSpPr>
            <p:cNvPr id="622" name="Google Shape;622;p34"/>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Propriedade dos Inteiros</a:t>
              </a:r>
              <a:endParaRPr b="1" i="0" sz="1200" u="none" cap="none" strike="noStrike">
                <a:solidFill>
                  <a:schemeClr val="lt1"/>
                </a:solidFill>
                <a:latin typeface="Work Sans"/>
                <a:ea typeface="Work Sans"/>
                <a:cs typeface="Work Sans"/>
                <a:sym typeface="Work Sans"/>
              </a:endParaRPr>
            </a:p>
          </p:txBody>
        </p:sp>
        <p:pic>
          <p:nvPicPr>
            <p:cNvPr descr="Tally outline" id="623" name="Google Shape;623;p34"/>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624" name="Google Shape;624;p34"/>
          <p:cNvSpPr txBox="1"/>
          <p:nvPr/>
        </p:nvSpPr>
        <p:spPr>
          <a:xfrm>
            <a:off x="734787" y="1237167"/>
            <a:ext cx="1260000" cy="397001"/>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Exemplo 1</a:t>
            </a:r>
            <a:endParaRPr b="0" i="0" sz="1200" u="none" cap="none" strike="noStrike">
              <a:solidFill>
                <a:schemeClr val="lt1"/>
              </a:solidFill>
              <a:latin typeface="Work Sans"/>
              <a:ea typeface="Work Sans"/>
              <a:cs typeface="Work Sans"/>
              <a:sym typeface="Work Sans"/>
            </a:endParaRPr>
          </a:p>
        </p:txBody>
      </p:sp>
      <p:sp>
        <p:nvSpPr>
          <p:cNvPr id="625" name="Google Shape;625;p34"/>
          <p:cNvSpPr txBox="1"/>
          <p:nvPr/>
        </p:nvSpPr>
        <p:spPr>
          <a:xfrm>
            <a:off x="3762000" y="4222339"/>
            <a:ext cx="1620000" cy="369302"/>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500"/>
              <a:buFont typeface="Arial"/>
              <a:buNone/>
            </a:pPr>
            <a:r>
              <a:rPr b="0" i="0" lang="pt-BR" sz="1200" u="none" cap="none" strike="noStrike">
                <a:solidFill>
                  <a:schemeClr val="lt1"/>
                </a:solidFill>
                <a:latin typeface="Work Sans"/>
                <a:ea typeface="Work Sans"/>
                <a:cs typeface="Work Sans"/>
                <a:sym typeface="Work Sans"/>
              </a:rPr>
              <a:t>x = 14/0,4 = 35</a:t>
            </a:r>
            <a:endParaRPr b="0" i="0" sz="1200" u="none" cap="none" strike="noStrike">
              <a:solidFill>
                <a:schemeClr val="lt1"/>
              </a:solidFill>
              <a:latin typeface="Work Sans"/>
              <a:ea typeface="Work Sans"/>
              <a:cs typeface="Work Sans"/>
              <a:sym typeface="Work Sans"/>
            </a:endParaRPr>
          </a:p>
        </p:txBody>
      </p:sp>
      <p:sp>
        <p:nvSpPr>
          <p:cNvPr id="626" name="Google Shape;626;p34"/>
          <p:cNvSpPr txBox="1"/>
          <p:nvPr/>
        </p:nvSpPr>
        <p:spPr>
          <a:xfrm>
            <a:off x="734787" y="1669167"/>
            <a:ext cx="9720000" cy="2062073"/>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pt-BR" sz="1200" u="none" cap="none" strike="noStrike">
                <a:solidFill>
                  <a:schemeClr val="lt1"/>
                </a:solidFill>
                <a:latin typeface="Work Sans"/>
                <a:ea typeface="Work Sans"/>
                <a:cs typeface="Work Sans"/>
                <a:sym typeface="Work Sans"/>
              </a:rPr>
              <a:t>When the integer y is divided by the integer x, the remainder is 14. If y/x = 65.4, what is the value of x?</a:t>
            </a:r>
            <a:endParaRPr b="0" i="0" sz="12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200" u="none" cap="none" strike="noStrike">
                <a:solidFill>
                  <a:schemeClr val="lt1"/>
                </a:solidFill>
                <a:latin typeface="Work Sans"/>
                <a:ea typeface="Work Sans"/>
                <a:cs typeface="Work Sans"/>
                <a:sym typeface="Work Sans"/>
              </a:rPr>
              <a:t>(A) 14</a:t>
            </a:r>
            <a:endParaRPr b="0" i="0" sz="12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200" u="none" cap="none" strike="noStrike">
                <a:solidFill>
                  <a:schemeClr val="lt1"/>
                </a:solidFill>
                <a:latin typeface="Work Sans"/>
                <a:ea typeface="Work Sans"/>
                <a:cs typeface="Work Sans"/>
                <a:sym typeface="Work Sans"/>
              </a:rPr>
              <a:t>(B) 27</a:t>
            </a:r>
            <a:endParaRPr b="0" i="0" sz="12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200" u="none" cap="none" strike="noStrike">
                <a:solidFill>
                  <a:schemeClr val="lt1"/>
                </a:solidFill>
                <a:latin typeface="Work Sans"/>
                <a:ea typeface="Work Sans"/>
                <a:cs typeface="Work Sans"/>
                <a:sym typeface="Work Sans"/>
              </a:rPr>
              <a:t>(C) 35</a:t>
            </a:r>
            <a:endParaRPr b="0" i="0" sz="12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200" u="none" cap="none" strike="noStrike">
                <a:solidFill>
                  <a:schemeClr val="lt1"/>
                </a:solidFill>
                <a:latin typeface="Work Sans"/>
                <a:ea typeface="Work Sans"/>
                <a:cs typeface="Work Sans"/>
                <a:sym typeface="Work Sans"/>
              </a:rPr>
              <a:t>(D) 42</a:t>
            </a:r>
            <a:endParaRPr b="0" i="0" sz="12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1000"/>
              </a:spcAft>
              <a:buClr>
                <a:srgbClr val="000000"/>
              </a:buClr>
              <a:buSzPts val="1300"/>
              <a:buFont typeface="Arial"/>
              <a:buNone/>
            </a:pPr>
            <a:r>
              <a:rPr b="0" i="0" lang="pt-BR" sz="1200" u="none" cap="none" strike="noStrike">
                <a:solidFill>
                  <a:schemeClr val="lt1"/>
                </a:solidFill>
                <a:latin typeface="Work Sans"/>
                <a:ea typeface="Work Sans"/>
                <a:cs typeface="Work Sans"/>
                <a:sym typeface="Work Sans"/>
              </a:rPr>
              <a:t>(E) 45</a:t>
            </a:r>
            <a:endParaRPr b="0" i="0" sz="1200" u="none" cap="none" strike="noStrike">
              <a:solidFill>
                <a:schemeClr val="lt1"/>
              </a:solidFill>
              <a:latin typeface="Work Sans"/>
              <a:ea typeface="Work Sans"/>
              <a:cs typeface="Work Sans"/>
              <a:sym typeface="Work Sans"/>
            </a:endParaRPr>
          </a:p>
        </p:txBody>
      </p:sp>
      <p:sp>
        <p:nvSpPr>
          <p:cNvPr id="627" name="Google Shape;627;p34"/>
          <p:cNvSpPr txBox="1"/>
          <p:nvPr/>
        </p:nvSpPr>
        <p:spPr>
          <a:xfrm>
            <a:off x="3132000" y="3335240"/>
            <a:ext cx="2880000"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500"/>
              <a:buFont typeface="Arial"/>
              <a:buNone/>
            </a:pPr>
            <a:r>
              <a:rPr b="0" i="0" lang="pt-BR" sz="1200" u="none" cap="none" strike="noStrike">
                <a:solidFill>
                  <a:schemeClr val="lt1"/>
                </a:solidFill>
                <a:latin typeface="Work Sans"/>
                <a:ea typeface="Work Sans"/>
                <a:cs typeface="Work Sans"/>
                <a:sym typeface="Work Sans"/>
              </a:rPr>
              <a:t>65.4 = 65 + 14/x</a:t>
            </a:r>
            <a:endParaRPr b="0" i="0" sz="1200" u="none" cap="none" strike="noStrike">
              <a:solidFill>
                <a:schemeClr val="lt1"/>
              </a:solidFill>
              <a:latin typeface="Work Sans"/>
              <a:ea typeface="Work Sans"/>
              <a:cs typeface="Work Sans"/>
              <a:sym typeface="Work Sans"/>
            </a:endParaRPr>
          </a:p>
        </p:txBody>
      </p:sp>
      <p:sp>
        <p:nvSpPr>
          <p:cNvPr id="628" name="Google Shape;628;p34"/>
          <p:cNvSpPr txBox="1"/>
          <p:nvPr/>
        </p:nvSpPr>
        <p:spPr>
          <a:xfrm>
            <a:off x="3132000" y="3731240"/>
            <a:ext cx="2880000"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500"/>
              <a:buFont typeface="Arial"/>
              <a:buNone/>
            </a:pPr>
            <a:r>
              <a:rPr b="0" i="0" lang="pt-BR" sz="1200" u="none" cap="none" strike="noStrike">
                <a:solidFill>
                  <a:schemeClr val="lt1"/>
                </a:solidFill>
                <a:latin typeface="Work Sans"/>
                <a:ea typeface="Work Sans"/>
                <a:cs typeface="Work Sans"/>
                <a:sym typeface="Work Sans"/>
              </a:rPr>
              <a:t>0.4 = 14/x</a:t>
            </a:r>
            <a:endParaRPr b="0" i="0" sz="1200" u="none" cap="none" strike="noStrike">
              <a:solidFill>
                <a:schemeClr val="lt1"/>
              </a:solidFill>
              <a:latin typeface="Work Sans"/>
              <a:ea typeface="Work Sans"/>
              <a:cs typeface="Work Sans"/>
              <a:sym typeface="Work Sans"/>
            </a:endParaRPr>
          </a:p>
        </p:txBody>
      </p:sp>
      <p:pic>
        <p:nvPicPr>
          <p:cNvPr id="629" name="Google Shape;629;p34"/>
          <p:cNvPicPr preferRelativeResize="0"/>
          <p:nvPr/>
        </p:nvPicPr>
        <p:blipFill rotWithShape="1">
          <a:blip r:embed="rId4">
            <a:alphaModFix/>
          </a:blip>
          <a:srcRect b="0" l="0" r="0" t="0"/>
          <a:stretch/>
        </p:blipFill>
        <p:spPr>
          <a:xfrm>
            <a:off x="7391570" y="2143042"/>
            <a:ext cx="1017643" cy="1487697"/>
          </a:xfrm>
          <a:prstGeom prst="rect">
            <a:avLst/>
          </a:prstGeom>
          <a:noFill/>
          <a:ln>
            <a:noFill/>
          </a:ln>
        </p:spPr>
      </p:pic>
      <p:grpSp>
        <p:nvGrpSpPr>
          <p:cNvPr id="630" name="Google Shape;630;p34"/>
          <p:cNvGrpSpPr/>
          <p:nvPr/>
        </p:nvGrpSpPr>
        <p:grpSpPr>
          <a:xfrm>
            <a:off x="2572874" y="2346184"/>
            <a:ext cx="3794400" cy="948664"/>
            <a:chOff x="2885294" y="2359790"/>
            <a:chExt cx="3794400" cy="948664"/>
          </a:xfrm>
        </p:grpSpPr>
        <p:sp>
          <p:nvSpPr>
            <p:cNvPr id="631" name="Google Shape;631;p34"/>
            <p:cNvSpPr txBox="1"/>
            <p:nvPr/>
          </p:nvSpPr>
          <p:spPr>
            <a:xfrm>
              <a:off x="2885294" y="2359790"/>
              <a:ext cx="3794400" cy="4155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500"/>
                <a:buFont typeface="Arial"/>
                <a:buNone/>
              </a:pPr>
              <a:r>
                <a:rPr b="1" i="0" lang="pt-BR" sz="1400" u="none" cap="none" strike="noStrike">
                  <a:solidFill>
                    <a:schemeClr val="dk1"/>
                  </a:solidFill>
                  <a:latin typeface="Work Sans"/>
                  <a:ea typeface="Work Sans"/>
                  <a:cs typeface="Work Sans"/>
                  <a:sym typeface="Work Sans"/>
                </a:rPr>
                <a:t>Analisando o resto da divisão</a:t>
              </a:r>
              <a:endParaRPr b="0" i="0" sz="1400" u="none" cap="none" strike="noStrike">
                <a:solidFill>
                  <a:schemeClr val="dk1"/>
                </a:solidFill>
                <a:latin typeface="Work Sans"/>
                <a:ea typeface="Work Sans"/>
                <a:cs typeface="Work Sans"/>
                <a:sym typeface="Work Sans"/>
              </a:endParaRPr>
            </a:p>
          </p:txBody>
        </p:sp>
        <p:pic>
          <p:nvPicPr>
            <p:cNvPr id="632" name="Google Shape;632;p34"/>
            <p:cNvPicPr preferRelativeResize="0"/>
            <p:nvPr/>
          </p:nvPicPr>
          <p:blipFill rotWithShape="1">
            <a:blip r:embed="rId5">
              <a:alphaModFix/>
            </a:blip>
            <a:srcRect b="0" l="0" r="0" t="0"/>
            <a:stretch/>
          </p:blipFill>
          <p:spPr>
            <a:xfrm>
              <a:off x="2885294" y="2959341"/>
              <a:ext cx="1080000" cy="231429"/>
            </a:xfrm>
            <a:prstGeom prst="rect">
              <a:avLst/>
            </a:prstGeom>
            <a:noFill/>
            <a:ln>
              <a:noFill/>
            </a:ln>
          </p:spPr>
        </p:pic>
        <p:grpSp>
          <p:nvGrpSpPr>
            <p:cNvPr id="633" name="Google Shape;633;p34"/>
            <p:cNvGrpSpPr/>
            <p:nvPr/>
          </p:nvGrpSpPr>
          <p:grpSpPr>
            <a:xfrm>
              <a:off x="4217294" y="2671341"/>
              <a:ext cx="1080000" cy="431100"/>
              <a:chOff x="4896000" y="4104000"/>
              <a:chExt cx="1080000" cy="431100"/>
            </a:xfrm>
          </p:grpSpPr>
          <p:sp>
            <p:nvSpPr>
              <p:cNvPr id="634" name="Google Shape;634;p34"/>
              <p:cNvSpPr txBox="1"/>
              <p:nvPr/>
            </p:nvSpPr>
            <p:spPr>
              <a:xfrm>
                <a:off x="5184000" y="4104000"/>
                <a:ext cx="487800" cy="431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Arial"/>
                  <a:buNone/>
                </a:pPr>
                <a:r>
                  <a:rPr b="0" i="0" lang="pt-BR" sz="1400" u="none" cap="none" strike="noStrike">
                    <a:solidFill>
                      <a:schemeClr val="dk1"/>
                    </a:solidFill>
                    <a:latin typeface="Work Sans"/>
                    <a:ea typeface="Work Sans"/>
                    <a:cs typeface="Work Sans"/>
                    <a:sym typeface="Work Sans"/>
                  </a:rPr>
                  <a:t>÷ x</a:t>
                </a:r>
                <a:endParaRPr b="0" i="0" sz="1400" u="none" cap="none" strike="noStrike">
                  <a:solidFill>
                    <a:schemeClr val="dk1"/>
                  </a:solidFill>
                  <a:latin typeface="Work Sans"/>
                  <a:ea typeface="Work Sans"/>
                  <a:cs typeface="Work Sans"/>
                  <a:sym typeface="Work Sans"/>
                </a:endParaRPr>
              </a:p>
            </p:txBody>
          </p:sp>
          <p:cxnSp>
            <p:nvCxnSpPr>
              <p:cNvPr id="635" name="Google Shape;635;p34"/>
              <p:cNvCxnSpPr/>
              <p:nvPr/>
            </p:nvCxnSpPr>
            <p:spPr>
              <a:xfrm>
                <a:off x="4896000" y="4500000"/>
                <a:ext cx="1080000" cy="0"/>
              </a:xfrm>
              <a:prstGeom prst="straightConnector1">
                <a:avLst/>
              </a:prstGeom>
              <a:noFill/>
              <a:ln cap="flat" cmpd="sng" w="19050">
                <a:solidFill>
                  <a:schemeClr val="dk1"/>
                </a:solidFill>
                <a:prstDash val="solid"/>
                <a:round/>
                <a:headEnd len="sm" w="sm" type="none"/>
                <a:tailEnd len="med" w="med" type="triangle"/>
              </a:ln>
            </p:spPr>
          </p:cxnSp>
        </p:grpSp>
        <p:pic>
          <p:nvPicPr>
            <p:cNvPr id="636" name="Google Shape;636;p34"/>
            <p:cNvPicPr preferRelativeResize="0"/>
            <p:nvPr/>
          </p:nvPicPr>
          <p:blipFill rotWithShape="1">
            <a:blip r:embed="rId6">
              <a:alphaModFix/>
            </a:blip>
            <a:srcRect b="0" l="0" r="0" t="0"/>
            <a:stretch/>
          </p:blipFill>
          <p:spPr>
            <a:xfrm>
              <a:off x="5656469" y="2887341"/>
              <a:ext cx="961200" cy="360000"/>
            </a:xfrm>
            <a:prstGeom prst="rect">
              <a:avLst/>
            </a:prstGeom>
            <a:noFill/>
            <a:ln>
              <a:noFill/>
            </a:ln>
          </p:spPr>
        </p:pic>
        <p:sp>
          <p:nvSpPr>
            <p:cNvPr id="637" name="Google Shape;637;p34"/>
            <p:cNvSpPr/>
            <p:nvPr/>
          </p:nvSpPr>
          <p:spPr>
            <a:xfrm>
              <a:off x="5524094" y="2804754"/>
              <a:ext cx="433500" cy="503700"/>
            </a:xfrm>
            <a:prstGeom prst="ellipse">
              <a:avLst/>
            </a:prstGeom>
            <a:noFill/>
            <a:ln cap="flat" cmpd="sng" w="19050">
              <a:solidFill>
                <a:srgbClr val="BA0E0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400" u="none" cap="none" strike="noStrike">
                <a:solidFill>
                  <a:schemeClr val="dk1"/>
                </a:solidFill>
                <a:latin typeface="Work Sans"/>
                <a:ea typeface="Work Sans"/>
                <a:cs typeface="Work Sans"/>
                <a:sym typeface="Work Sans"/>
              </a:endParaRPr>
            </a:p>
          </p:txBody>
        </p:sp>
      </p:grpSp>
      <p:grpSp>
        <p:nvGrpSpPr>
          <p:cNvPr id="638" name="Google Shape;638;p34"/>
          <p:cNvGrpSpPr/>
          <p:nvPr/>
        </p:nvGrpSpPr>
        <p:grpSpPr>
          <a:xfrm>
            <a:off x="551208" y="2640297"/>
            <a:ext cx="744371" cy="252440"/>
            <a:chOff x="271410" y="3520307"/>
            <a:chExt cx="952962" cy="241200"/>
          </a:xfrm>
        </p:grpSpPr>
        <p:sp>
          <p:nvSpPr>
            <p:cNvPr id="639" name="Google Shape;639;p34"/>
            <p:cNvSpPr/>
            <p:nvPr/>
          </p:nvSpPr>
          <p:spPr>
            <a:xfrm>
              <a:off x="619572" y="3520307"/>
              <a:ext cx="604800" cy="241200"/>
            </a:xfrm>
            <a:prstGeom prst="roundRect">
              <a:avLst>
                <a:gd fmla="val 16667" name="adj"/>
              </a:avLst>
            </a:prstGeom>
            <a:noFill/>
            <a:ln cap="flat" cmpd="sng" w="19050">
              <a:solidFill>
                <a:srgbClr val="00DF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0" name="Google Shape;640;p34"/>
            <p:cNvPicPr preferRelativeResize="0"/>
            <p:nvPr/>
          </p:nvPicPr>
          <p:blipFill rotWithShape="1">
            <a:blip r:embed="rId7">
              <a:alphaModFix/>
            </a:blip>
            <a:srcRect b="0" l="0" r="0" t="0"/>
            <a:stretch/>
          </p:blipFill>
          <p:spPr>
            <a:xfrm>
              <a:off x="271410" y="3547160"/>
              <a:ext cx="256540" cy="187485"/>
            </a:xfrm>
            <a:prstGeom prst="rect">
              <a:avLst/>
            </a:prstGeom>
            <a:noFill/>
            <a:ln>
              <a:noFill/>
            </a:ln>
          </p:spPr>
        </p:pic>
      </p:grpSp>
      <p:sp>
        <p:nvSpPr>
          <p:cNvPr id="641" name="Google Shape;641;p34"/>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35"/>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647" name="Google Shape;647;p35"/>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648" name="Google Shape;648;p35"/>
          <p:cNvGrpSpPr/>
          <p:nvPr/>
        </p:nvGrpSpPr>
        <p:grpSpPr>
          <a:xfrm>
            <a:off x="339712" y="888243"/>
            <a:ext cx="2825326" cy="397001"/>
            <a:chOff x="938974" y="1053283"/>
            <a:chExt cx="4201831" cy="575247"/>
          </a:xfrm>
        </p:grpSpPr>
        <p:sp>
          <p:nvSpPr>
            <p:cNvPr id="649" name="Google Shape;649;p35"/>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Porcentagens</a:t>
              </a:r>
              <a:endParaRPr b="1" i="0" sz="1200" u="none" cap="none" strike="noStrike">
                <a:solidFill>
                  <a:schemeClr val="lt1"/>
                </a:solidFill>
                <a:latin typeface="Work Sans"/>
                <a:ea typeface="Work Sans"/>
                <a:cs typeface="Work Sans"/>
                <a:sym typeface="Work Sans"/>
              </a:endParaRPr>
            </a:p>
          </p:txBody>
        </p:sp>
        <p:pic>
          <p:nvPicPr>
            <p:cNvPr descr="Tally outline" id="650" name="Google Shape;650;p35"/>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651" name="Google Shape;651;p35"/>
          <p:cNvSpPr txBox="1"/>
          <p:nvPr/>
        </p:nvSpPr>
        <p:spPr>
          <a:xfrm>
            <a:off x="508921" y="1364780"/>
            <a:ext cx="4212000" cy="353913"/>
          </a:xfrm>
          <a:prstGeom prst="rect">
            <a:avLst/>
          </a:prstGeom>
          <a:noFill/>
          <a:ln>
            <a:noFill/>
          </a:ln>
        </p:spPr>
        <p:txBody>
          <a:bodyPr anchorCtr="0" anchor="t" bIns="91425" lIns="91425" spcFirstLastPara="1" rIns="91425" wrap="square" tIns="91425">
            <a:spAutoFit/>
          </a:bodyPr>
          <a:lstStyle/>
          <a:p>
            <a:pPr indent="-311150" lvl="0" marL="457200" marR="0" rtl="0" algn="just">
              <a:lnSpc>
                <a:spcPct val="100000"/>
              </a:lnSpc>
              <a:spcBef>
                <a:spcPts val="0"/>
              </a:spcBef>
              <a:spcAft>
                <a:spcPts val="0"/>
              </a:spcAft>
              <a:buClr>
                <a:schemeClr val="dk1"/>
              </a:buClr>
              <a:buSzPts val="1300"/>
              <a:buFont typeface="Montserrat"/>
              <a:buChar char="●"/>
            </a:pPr>
            <a:r>
              <a:rPr b="0" i="0" lang="pt-BR" sz="1100" u="none" cap="none" strike="noStrike">
                <a:solidFill>
                  <a:schemeClr val="lt1"/>
                </a:solidFill>
                <a:latin typeface="Work Sans"/>
                <a:ea typeface="Work Sans"/>
                <a:cs typeface="Work Sans"/>
                <a:sym typeface="Work Sans"/>
              </a:rPr>
              <a:t>Porcentagem de um número (250% de 80):</a:t>
            </a:r>
            <a:endParaRPr b="0" i="0" sz="1100" u="none" cap="none" strike="noStrike">
              <a:solidFill>
                <a:schemeClr val="lt1"/>
              </a:solidFill>
              <a:latin typeface="Work Sans"/>
              <a:ea typeface="Work Sans"/>
              <a:cs typeface="Work Sans"/>
              <a:sym typeface="Work Sans"/>
            </a:endParaRPr>
          </a:p>
        </p:txBody>
      </p:sp>
      <p:sp>
        <p:nvSpPr>
          <p:cNvPr id="652" name="Google Shape;652;p35"/>
          <p:cNvSpPr txBox="1"/>
          <p:nvPr/>
        </p:nvSpPr>
        <p:spPr>
          <a:xfrm>
            <a:off x="508921" y="2015300"/>
            <a:ext cx="3420000" cy="353913"/>
          </a:xfrm>
          <a:prstGeom prst="rect">
            <a:avLst/>
          </a:prstGeom>
          <a:noFill/>
          <a:ln>
            <a:noFill/>
          </a:ln>
        </p:spPr>
        <p:txBody>
          <a:bodyPr anchorCtr="0" anchor="t" bIns="91425" lIns="91425" spcFirstLastPara="1" rIns="91425" wrap="square" tIns="91425">
            <a:spAutoFit/>
          </a:bodyPr>
          <a:lstStyle/>
          <a:p>
            <a:pPr indent="-311150" lvl="0" marL="457200" marR="0" rtl="0" algn="just">
              <a:lnSpc>
                <a:spcPct val="100000"/>
              </a:lnSpc>
              <a:spcBef>
                <a:spcPts val="0"/>
              </a:spcBef>
              <a:spcAft>
                <a:spcPts val="0"/>
              </a:spcAft>
              <a:buClr>
                <a:schemeClr val="dk1"/>
              </a:buClr>
              <a:buSzPts val="1300"/>
              <a:buFont typeface="Montserrat"/>
              <a:buChar char="●"/>
            </a:pPr>
            <a:r>
              <a:rPr b="0" i="0" lang="pt-BR" sz="1100" u="none" cap="none" strike="noStrike">
                <a:solidFill>
                  <a:schemeClr val="lt1"/>
                </a:solidFill>
                <a:latin typeface="Work Sans"/>
                <a:ea typeface="Work Sans"/>
                <a:cs typeface="Work Sans"/>
                <a:sym typeface="Work Sans"/>
              </a:rPr>
              <a:t>Aumento percentual (24 para 30):</a:t>
            </a:r>
            <a:endParaRPr b="0" i="0" sz="1100" u="none" cap="none" strike="noStrike">
              <a:solidFill>
                <a:schemeClr val="lt1"/>
              </a:solidFill>
              <a:latin typeface="Work Sans"/>
              <a:ea typeface="Work Sans"/>
              <a:cs typeface="Work Sans"/>
              <a:sym typeface="Work Sans"/>
            </a:endParaRPr>
          </a:p>
        </p:txBody>
      </p:sp>
      <p:sp>
        <p:nvSpPr>
          <p:cNvPr id="653" name="Google Shape;653;p35"/>
          <p:cNvSpPr txBox="1"/>
          <p:nvPr/>
        </p:nvSpPr>
        <p:spPr>
          <a:xfrm>
            <a:off x="526921" y="2665820"/>
            <a:ext cx="3384000" cy="353913"/>
          </a:xfrm>
          <a:prstGeom prst="rect">
            <a:avLst/>
          </a:prstGeom>
          <a:noFill/>
          <a:ln>
            <a:noFill/>
          </a:ln>
        </p:spPr>
        <p:txBody>
          <a:bodyPr anchorCtr="0" anchor="t" bIns="91425" lIns="91425" spcFirstLastPara="1" rIns="91425" wrap="square" tIns="91425">
            <a:spAutoFit/>
          </a:bodyPr>
          <a:lstStyle/>
          <a:p>
            <a:pPr indent="-311150" lvl="0" marL="457200" marR="0" rtl="0" algn="just">
              <a:lnSpc>
                <a:spcPct val="100000"/>
              </a:lnSpc>
              <a:spcBef>
                <a:spcPts val="0"/>
              </a:spcBef>
              <a:spcAft>
                <a:spcPts val="0"/>
              </a:spcAft>
              <a:buClr>
                <a:schemeClr val="dk1"/>
              </a:buClr>
              <a:buSzPts val="1300"/>
              <a:buFont typeface="Montserrat"/>
              <a:buChar char="●"/>
            </a:pPr>
            <a:r>
              <a:rPr b="0" i="0" lang="pt-BR" sz="1100" u="none" cap="none" strike="noStrike">
                <a:solidFill>
                  <a:schemeClr val="lt1"/>
                </a:solidFill>
                <a:latin typeface="Work Sans"/>
                <a:ea typeface="Work Sans"/>
                <a:cs typeface="Work Sans"/>
                <a:sym typeface="Work Sans"/>
              </a:rPr>
              <a:t>Redução percentual (30 para 24):</a:t>
            </a:r>
            <a:endParaRPr b="0" i="0" sz="1100" u="none" cap="none" strike="noStrike">
              <a:solidFill>
                <a:schemeClr val="lt1"/>
              </a:solidFill>
              <a:latin typeface="Work Sans"/>
              <a:ea typeface="Work Sans"/>
              <a:cs typeface="Work Sans"/>
              <a:sym typeface="Work Sans"/>
            </a:endParaRPr>
          </a:p>
        </p:txBody>
      </p:sp>
      <p:sp>
        <p:nvSpPr>
          <p:cNvPr id="654" name="Google Shape;654;p35"/>
          <p:cNvSpPr txBox="1"/>
          <p:nvPr/>
        </p:nvSpPr>
        <p:spPr>
          <a:xfrm>
            <a:off x="527912" y="3966860"/>
            <a:ext cx="2844000" cy="353913"/>
          </a:xfrm>
          <a:prstGeom prst="rect">
            <a:avLst/>
          </a:prstGeom>
          <a:noFill/>
          <a:ln>
            <a:noFill/>
          </a:ln>
        </p:spPr>
        <p:txBody>
          <a:bodyPr anchorCtr="0" anchor="t" bIns="91425" lIns="91425" spcFirstLastPara="1" rIns="91425" wrap="square" tIns="91425">
            <a:spAutoFit/>
          </a:bodyPr>
          <a:lstStyle/>
          <a:p>
            <a:pPr indent="-311150" lvl="0" marL="457200" marR="0" rtl="0" algn="just">
              <a:lnSpc>
                <a:spcPct val="100000"/>
              </a:lnSpc>
              <a:spcBef>
                <a:spcPts val="0"/>
              </a:spcBef>
              <a:spcAft>
                <a:spcPts val="0"/>
              </a:spcAft>
              <a:buClr>
                <a:schemeClr val="dk1"/>
              </a:buClr>
              <a:buSzPts val="1300"/>
              <a:buFont typeface="Montserrat"/>
              <a:buChar char="●"/>
            </a:pPr>
            <a:r>
              <a:rPr b="0" i="0" lang="pt-BR" sz="1100" u="none" cap="none" strike="noStrike">
                <a:solidFill>
                  <a:schemeClr val="lt1"/>
                </a:solidFill>
                <a:latin typeface="Work Sans"/>
                <a:ea typeface="Work Sans"/>
                <a:cs typeface="Work Sans"/>
                <a:sym typeface="Work Sans"/>
              </a:rPr>
              <a:t>Redução de X% (120 - 25%):</a:t>
            </a:r>
            <a:endParaRPr b="0" i="0" sz="1100" u="none" cap="none" strike="noStrike">
              <a:solidFill>
                <a:schemeClr val="lt1"/>
              </a:solidFill>
              <a:latin typeface="Work Sans"/>
              <a:ea typeface="Work Sans"/>
              <a:cs typeface="Work Sans"/>
              <a:sym typeface="Work Sans"/>
            </a:endParaRPr>
          </a:p>
        </p:txBody>
      </p:sp>
      <p:sp>
        <p:nvSpPr>
          <p:cNvPr id="655" name="Google Shape;655;p35"/>
          <p:cNvSpPr txBox="1"/>
          <p:nvPr/>
        </p:nvSpPr>
        <p:spPr>
          <a:xfrm>
            <a:off x="547680" y="3316340"/>
            <a:ext cx="2952000" cy="353913"/>
          </a:xfrm>
          <a:prstGeom prst="rect">
            <a:avLst/>
          </a:prstGeom>
          <a:noFill/>
          <a:ln>
            <a:noFill/>
          </a:ln>
        </p:spPr>
        <p:txBody>
          <a:bodyPr anchorCtr="0" anchor="t" bIns="91425" lIns="91425" spcFirstLastPara="1" rIns="91425" wrap="square" tIns="91425">
            <a:spAutoFit/>
          </a:bodyPr>
          <a:lstStyle/>
          <a:p>
            <a:pPr indent="-311150" lvl="0" marL="457200" marR="0" rtl="0" algn="just">
              <a:lnSpc>
                <a:spcPct val="100000"/>
              </a:lnSpc>
              <a:spcBef>
                <a:spcPts val="0"/>
              </a:spcBef>
              <a:spcAft>
                <a:spcPts val="0"/>
              </a:spcAft>
              <a:buClr>
                <a:schemeClr val="dk1"/>
              </a:buClr>
              <a:buSzPts val="1300"/>
              <a:buFont typeface="Montserrat"/>
              <a:buChar char="●"/>
            </a:pPr>
            <a:r>
              <a:rPr b="0" i="0" lang="pt-BR" sz="1100" u="none" cap="none" strike="noStrike">
                <a:solidFill>
                  <a:schemeClr val="lt1"/>
                </a:solidFill>
                <a:latin typeface="Work Sans"/>
                <a:ea typeface="Work Sans"/>
                <a:cs typeface="Work Sans"/>
                <a:sym typeface="Work Sans"/>
              </a:rPr>
              <a:t>Aumento de X% (120 + 25%):</a:t>
            </a:r>
            <a:endParaRPr b="0" i="0" sz="1100" u="none" cap="none" strike="noStrike">
              <a:solidFill>
                <a:schemeClr val="lt1"/>
              </a:solidFill>
              <a:latin typeface="Work Sans"/>
              <a:ea typeface="Work Sans"/>
              <a:cs typeface="Work Sans"/>
              <a:sym typeface="Work Sans"/>
            </a:endParaRPr>
          </a:p>
        </p:txBody>
      </p:sp>
      <p:pic>
        <p:nvPicPr>
          <p:cNvPr id="656" name="Google Shape;656;p35"/>
          <p:cNvPicPr preferRelativeResize="0"/>
          <p:nvPr/>
        </p:nvPicPr>
        <p:blipFill rotWithShape="1">
          <a:blip r:embed="rId4">
            <a:alphaModFix/>
          </a:blip>
          <a:srcRect b="0" l="0" r="0" t="0"/>
          <a:stretch/>
        </p:blipFill>
        <p:spPr>
          <a:xfrm>
            <a:off x="4151817" y="1439358"/>
            <a:ext cx="1623458" cy="255957"/>
          </a:xfrm>
          <a:prstGeom prst="rect">
            <a:avLst/>
          </a:prstGeom>
          <a:noFill/>
          <a:ln>
            <a:noFill/>
          </a:ln>
        </p:spPr>
      </p:pic>
      <p:pic>
        <p:nvPicPr>
          <p:cNvPr id="657" name="Google Shape;657;p35"/>
          <p:cNvPicPr preferRelativeResize="0"/>
          <p:nvPr/>
        </p:nvPicPr>
        <p:blipFill rotWithShape="1">
          <a:blip r:embed="rId5">
            <a:alphaModFix/>
          </a:blip>
          <a:srcRect b="0" l="0" r="0" t="0"/>
          <a:stretch/>
        </p:blipFill>
        <p:spPr>
          <a:xfrm>
            <a:off x="3461094" y="2100259"/>
            <a:ext cx="1736877" cy="255957"/>
          </a:xfrm>
          <a:prstGeom prst="rect">
            <a:avLst/>
          </a:prstGeom>
          <a:noFill/>
          <a:ln>
            <a:noFill/>
          </a:ln>
        </p:spPr>
      </p:pic>
      <p:pic>
        <p:nvPicPr>
          <p:cNvPr id="658" name="Google Shape;658;p35"/>
          <p:cNvPicPr preferRelativeResize="0"/>
          <p:nvPr/>
        </p:nvPicPr>
        <p:blipFill rotWithShape="1">
          <a:blip r:embed="rId6">
            <a:alphaModFix/>
          </a:blip>
          <a:srcRect b="0" l="0" r="0" t="0"/>
          <a:stretch/>
        </p:blipFill>
        <p:spPr>
          <a:xfrm>
            <a:off x="3488081" y="2745886"/>
            <a:ext cx="1848072" cy="255957"/>
          </a:xfrm>
          <a:prstGeom prst="rect">
            <a:avLst/>
          </a:prstGeom>
          <a:noFill/>
          <a:ln>
            <a:noFill/>
          </a:ln>
        </p:spPr>
      </p:pic>
      <p:pic>
        <p:nvPicPr>
          <p:cNvPr id="659" name="Google Shape;659;p35"/>
          <p:cNvPicPr preferRelativeResize="0"/>
          <p:nvPr/>
        </p:nvPicPr>
        <p:blipFill rotWithShape="1">
          <a:blip r:embed="rId7">
            <a:alphaModFix/>
          </a:blip>
          <a:srcRect b="0" l="0" r="0" t="0"/>
          <a:stretch/>
        </p:blipFill>
        <p:spPr>
          <a:xfrm>
            <a:off x="3182016" y="4012610"/>
            <a:ext cx="3235795" cy="255957"/>
          </a:xfrm>
          <a:prstGeom prst="rect">
            <a:avLst/>
          </a:prstGeom>
          <a:noFill/>
          <a:ln>
            <a:noFill/>
          </a:ln>
        </p:spPr>
      </p:pic>
      <p:pic>
        <p:nvPicPr>
          <p:cNvPr id="660" name="Google Shape;660;p35"/>
          <p:cNvPicPr preferRelativeResize="0"/>
          <p:nvPr/>
        </p:nvPicPr>
        <p:blipFill rotWithShape="1">
          <a:blip r:embed="rId8">
            <a:alphaModFix/>
          </a:blip>
          <a:srcRect b="0" l="0" r="0" t="0"/>
          <a:stretch/>
        </p:blipFill>
        <p:spPr>
          <a:xfrm>
            <a:off x="3182016" y="3382984"/>
            <a:ext cx="3317190" cy="255957"/>
          </a:xfrm>
          <a:prstGeom prst="rect">
            <a:avLst/>
          </a:prstGeom>
          <a:noFill/>
          <a:ln>
            <a:noFill/>
          </a:ln>
        </p:spPr>
      </p:pic>
      <p:sp>
        <p:nvSpPr>
          <p:cNvPr id="661" name="Google Shape;661;p35"/>
          <p:cNvSpPr/>
          <p:nvPr/>
        </p:nvSpPr>
        <p:spPr>
          <a:xfrm>
            <a:off x="5612769" y="2147854"/>
            <a:ext cx="82663" cy="773829"/>
          </a:xfrm>
          <a:prstGeom prst="rightBrace">
            <a:avLst>
              <a:gd fmla="val 26307"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400" u="none" cap="none" strike="noStrike">
              <a:solidFill>
                <a:schemeClr val="lt1"/>
              </a:solidFill>
              <a:latin typeface="Work Sans"/>
              <a:ea typeface="Work Sans"/>
              <a:cs typeface="Work Sans"/>
              <a:sym typeface="Work Sans"/>
            </a:endParaRPr>
          </a:p>
        </p:txBody>
      </p:sp>
      <p:pic>
        <p:nvPicPr>
          <p:cNvPr id="662" name="Google Shape;662;p35"/>
          <p:cNvPicPr preferRelativeResize="0"/>
          <p:nvPr/>
        </p:nvPicPr>
        <p:blipFill rotWithShape="1">
          <a:blip r:embed="rId9">
            <a:alphaModFix/>
          </a:blip>
          <a:srcRect b="0" l="0" r="0" t="0"/>
          <a:stretch/>
        </p:blipFill>
        <p:spPr>
          <a:xfrm>
            <a:off x="5816568" y="2358906"/>
            <a:ext cx="471497" cy="307148"/>
          </a:xfrm>
          <a:prstGeom prst="rect">
            <a:avLst/>
          </a:prstGeom>
          <a:noFill/>
          <a:ln>
            <a:noFill/>
          </a:ln>
        </p:spPr>
      </p:pic>
      <p:sp>
        <p:nvSpPr>
          <p:cNvPr id="663" name="Google Shape;663;p35"/>
          <p:cNvSpPr txBox="1"/>
          <p:nvPr/>
        </p:nvSpPr>
        <p:spPr>
          <a:xfrm>
            <a:off x="1062721" y="4417340"/>
            <a:ext cx="7316400" cy="35391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C00000"/>
              </a:buClr>
              <a:buSzPts val="1300"/>
              <a:buFont typeface="Arial"/>
              <a:buNone/>
            </a:pPr>
            <a:r>
              <a:rPr b="1" i="0" lang="pt-BR" sz="1100" u="none" cap="none" strike="noStrike">
                <a:solidFill>
                  <a:schemeClr val="lt1"/>
                </a:solidFill>
                <a:latin typeface="Work Sans"/>
                <a:ea typeface="Work Sans"/>
                <a:cs typeface="Work Sans"/>
                <a:sym typeface="Work Sans"/>
              </a:rPr>
              <a:t>TEMAS “IMPLÍCITOS” (em porcentagem):</a:t>
            </a:r>
            <a:r>
              <a:rPr b="0" i="0" lang="pt-BR" sz="1100" u="none" cap="none" strike="noStrike">
                <a:solidFill>
                  <a:schemeClr val="lt1"/>
                </a:solidFill>
                <a:latin typeface="Work Sans"/>
                <a:ea typeface="Work Sans"/>
                <a:cs typeface="Work Sans"/>
                <a:sym typeface="Work Sans"/>
              </a:rPr>
              <a:t> frações, decimais, razão e proporção.</a:t>
            </a:r>
            <a:endParaRPr b="0" i="0" sz="1100" u="none" cap="none" strike="noStrike">
              <a:solidFill>
                <a:schemeClr val="lt1"/>
              </a:solidFill>
              <a:latin typeface="Work Sans"/>
              <a:ea typeface="Work Sans"/>
              <a:cs typeface="Work Sans"/>
              <a:sym typeface="Work Sans"/>
            </a:endParaRPr>
          </a:p>
        </p:txBody>
      </p:sp>
      <p:grpSp>
        <p:nvGrpSpPr>
          <p:cNvPr id="664" name="Google Shape;664;p35"/>
          <p:cNvGrpSpPr/>
          <p:nvPr/>
        </p:nvGrpSpPr>
        <p:grpSpPr>
          <a:xfrm>
            <a:off x="7284719" y="1561955"/>
            <a:ext cx="1079098" cy="2623817"/>
            <a:chOff x="10063348" y="1998885"/>
            <a:chExt cx="1095365" cy="3084388"/>
          </a:xfrm>
        </p:grpSpPr>
        <p:sp>
          <p:nvSpPr>
            <p:cNvPr id="665" name="Google Shape;665;p35"/>
            <p:cNvSpPr txBox="1"/>
            <p:nvPr/>
          </p:nvSpPr>
          <p:spPr>
            <a:xfrm>
              <a:off x="10063349" y="2165818"/>
              <a:ext cx="1095364" cy="2437563"/>
            </a:xfrm>
            <a:prstGeom prst="rect">
              <a:avLst/>
            </a:prstGeom>
            <a:blipFill rotWithShape="1">
              <a:blip r:embed="rId10">
                <a:alphaModFix/>
              </a:blip>
              <a:stretch>
                <a:fillRect b="-1382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latin typeface="Arial"/>
                  <a:ea typeface="Arial"/>
                  <a:cs typeface="Arial"/>
                  <a:sym typeface="Arial"/>
                </a:rPr>
                <a:t> </a:t>
              </a:r>
              <a:endParaRPr/>
            </a:p>
          </p:txBody>
        </p:sp>
        <p:sp>
          <p:nvSpPr>
            <p:cNvPr id="666" name="Google Shape;666;p35"/>
            <p:cNvSpPr/>
            <p:nvPr/>
          </p:nvSpPr>
          <p:spPr>
            <a:xfrm>
              <a:off x="10063348" y="1998885"/>
              <a:ext cx="1080000" cy="3084388"/>
            </a:xfrm>
            <a:prstGeom prst="roundRect">
              <a:avLst>
                <a:gd fmla="val 8069"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400" u="none" cap="none" strike="noStrike">
                <a:solidFill>
                  <a:schemeClr val="lt1"/>
                </a:solidFill>
                <a:latin typeface="Work Sans"/>
                <a:ea typeface="Work Sans"/>
                <a:cs typeface="Work Sans"/>
                <a:sym typeface="Work Sans"/>
              </a:endParaRPr>
            </a:p>
          </p:txBody>
        </p:sp>
      </p:grpSp>
      <p:sp>
        <p:nvSpPr>
          <p:cNvPr id="667" name="Google Shape;667;p35"/>
          <p:cNvSpPr txBox="1"/>
          <p:nvPr/>
        </p:nvSpPr>
        <p:spPr>
          <a:xfrm>
            <a:off x="6052316" y="1183724"/>
            <a:ext cx="3503388" cy="35391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C00000"/>
              </a:buClr>
              <a:buSzPts val="1300"/>
              <a:buFont typeface="Arial"/>
              <a:buNone/>
            </a:pPr>
            <a:r>
              <a:rPr b="1" i="0" lang="pt-BR" sz="1100" u="none" cap="none" strike="noStrike">
                <a:solidFill>
                  <a:schemeClr val="lt1"/>
                </a:solidFill>
                <a:latin typeface="Work Sans"/>
                <a:ea typeface="Work Sans"/>
                <a:cs typeface="Work Sans"/>
                <a:sym typeface="Work Sans"/>
              </a:rPr>
              <a:t>Conversões comuns</a:t>
            </a:r>
            <a:endParaRPr b="0" i="0" sz="1100" u="none" cap="none" strike="noStrike">
              <a:solidFill>
                <a:schemeClr val="lt1"/>
              </a:solidFill>
              <a:latin typeface="Work Sans"/>
              <a:ea typeface="Work Sans"/>
              <a:cs typeface="Work Sans"/>
              <a:sym typeface="Work Sans"/>
            </a:endParaRPr>
          </a:p>
        </p:txBody>
      </p:sp>
      <p:sp>
        <p:nvSpPr>
          <p:cNvPr id="668" name="Google Shape;668;p35"/>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1000"/>
                                        <p:tgtEl>
                                          <p:spTgt spid="651"/>
                                        </p:tgtEl>
                                      </p:cBhvr>
                                    </p:animEffect>
                                  </p:childTnLst>
                                </p:cTn>
                              </p:par>
                              <p:par>
                                <p:cTn fill="hold" nodeType="with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1000"/>
                                        <p:tgtEl>
                                          <p:spTgt spid="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1000"/>
                                        <p:tgtEl>
                                          <p:spTgt spid="653"/>
                                        </p:tgtEl>
                                      </p:cBhvr>
                                    </p:animEffect>
                                  </p:childTnLst>
                                </p:cTn>
                              </p:par>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000"/>
                                        <p:tgtEl>
                                          <p:spTgt spid="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1000"/>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1000"/>
                                        <p:tgtEl>
                                          <p:spTgt spid="655"/>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000"/>
                                        <p:tgtEl>
                                          <p:spTgt spid="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1000"/>
                                        <p:tgtEl>
                                          <p:spTgt spid="654"/>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000"/>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36"/>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674" name="Google Shape;674;p36"/>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675" name="Google Shape;675;p36"/>
          <p:cNvGrpSpPr/>
          <p:nvPr/>
        </p:nvGrpSpPr>
        <p:grpSpPr>
          <a:xfrm>
            <a:off x="339712" y="888243"/>
            <a:ext cx="2825326" cy="397001"/>
            <a:chOff x="938974" y="1053283"/>
            <a:chExt cx="4201831" cy="575247"/>
          </a:xfrm>
        </p:grpSpPr>
        <p:sp>
          <p:nvSpPr>
            <p:cNvPr id="676" name="Google Shape;676;p36"/>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Porcentagens</a:t>
              </a:r>
              <a:endParaRPr b="1" i="0" sz="1200" u="none" cap="none" strike="noStrike">
                <a:solidFill>
                  <a:schemeClr val="lt1"/>
                </a:solidFill>
                <a:latin typeface="Work Sans"/>
                <a:ea typeface="Work Sans"/>
                <a:cs typeface="Work Sans"/>
                <a:sym typeface="Work Sans"/>
              </a:endParaRPr>
            </a:p>
          </p:txBody>
        </p:sp>
        <p:pic>
          <p:nvPicPr>
            <p:cNvPr descr="Tally outline" id="677" name="Google Shape;677;p36"/>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678" name="Google Shape;678;p36"/>
          <p:cNvSpPr txBox="1"/>
          <p:nvPr/>
        </p:nvSpPr>
        <p:spPr>
          <a:xfrm>
            <a:off x="734787" y="1237167"/>
            <a:ext cx="1062300" cy="379304"/>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100" u="none" cap="none" strike="noStrike">
                <a:solidFill>
                  <a:schemeClr val="lt1"/>
                </a:solidFill>
                <a:latin typeface="Work Sans"/>
                <a:ea typeface="Work Sans"/>
                <a:cs typeface="Work Sans"/>
                <a:sym typeface="Work Sans"/>
              </a:rPr>
              <a:t>Exemplo 2</a:t>
            </a:r>
            <a:endParaRPr b="0" i="0" sz="1100" u="none" cap="none" strike="noStrike">
              <a:solidFill>
                <a:schemeClr val="lt1"/>
              </a:solidFill>
              <a:latin typeface="Work Sans"/>
              <a:ea typeface="Work Sans"/>
              <a:cs typeface="Work Sans"/>
              <a:sym typeface="Work Sans"/>
            </a:endParaRPr>
          </a:p>
        </p:txBody>
      </p:sp>
      <p:sp>
        <p:nvSpPr>
          <p:cNvPr id="679" name="Google Shape;679;p36"/>
          <p:cNvSpPr txBox="1"/>
          <p:nvPr/>
        </p:nvSpPr>
        <p:spPr>
          <a:xfrm>
            <a:off x="728077" y="1503390"/>
            <a:ext cx="7967253" cy="218005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2800"/>
              <a:buFont typeface="Arial"/>
              <a:buNone/>
            </a:pPr>
            <a:r>
              <a:rPr b="0" i="0" lang="pt-BR" sz="1100" u="none" cap="none" strike="noStrike">
                <a:solidFill>
                  <a:schemeClr val="lt1"/>
                </a:solidFill>
                <a:latin typeface="Work Sans"/>
                <a:ea typeface="Work Sans"/>
                <a:cs typeface="Work Sans"/>
                <a:sym typeface="Work Sans"/>
              </a:rPr>
              <a:t>Last year Carlos saved 10 percent of his annual earnings. This year he earned 5 percent more than last year and he saved 12 percent of his annual earnings. The amount saved this year was what percent of the amount saved last year?</a:t>
            </a:r>
            <a:endParaRPr b="0" i="0" sz="11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(A) 122%</a:t>
            </a:r>
            <a:endParaRPr b="0" i="0" sz="11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(B) 124%</a:t>
            </a:r>
            <a:endParaRPr b="0" i="0" sz="11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(C) 126%</a:t>
            </a:r>
            <a:endParaRPr b="0" i="0" sz="11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(D) 128%</a:t>
            </a:r>
            <a:endParaRPr b="0" i="0" sz="11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100" u="none" cap="none" strike="noStrike">
                <a:solidFill>
                  <a:schemeClr val="lt1"/>
                </a:solidFill>
                <a:latin typeface="Work Sans"/>
                <a:ea typeface="Work Sans"/>
                <a:cs typeface="Work Sans"/>
                <a:sym typeface="Work Sans"/>
              </a:rPr>
              <a:t>(E) 130%</a:t>
            </a:r>
            <a:endParaRPr b="0" i="0" sz="1100" u="none" cap="none" strike="noStrike">
              <a:solidFill>
                <a:schemeClr val="lt1"/>
              </a:solidFill>
              <a:latin typeface="Work Sans"/>
              <a:ea typeface="Work Sans"/>
              <a:cs typeface="Work Sans"/>
              <a:sym typeface="Work Sans"/>
            </a:endParaRPr>
          </a:p>
        </p:txBody>
      </p:sp>
      <p:pic>
        <p:nvPicPr>
          <p:cNvPr id="680" name="Google Shape;680;p36"/>
          <p:cNvPicPr preferRelativeResize="0"/>
          <p:nvPr/>
        </p:nvPicPr>
        <p:blipFill rotWithShape="1">
          <a:blip r:embed="rId4">
            <a:alphaModFix/>
          </a:blip>
          <a:srcRect b="0" l="0" r="0" t="0"/>
          <a:stretch/>
        </p:blipFill>
        <p:spPr>
          <a:xfrm>
            <a:off x="1598350" y="4048365"/>
            <a:ext cx="799588" cy="391175"/>
          </a:xfrm>
          <a:prstGeom prst="rect">
            <a:avLst/>
          </a:prstGeom>
          <a:noFill/>
          <a:ln>
            <a:noFill/>
          </a:ln>
        </p:spPr>
      </p:pic>
      <p:pic>
        <p:nvPicPr>
          <p:cNvPr id="681" name="Google Shape;681;p36"/>
          <p:cNvPicPr preferRelativeResize="0"/>
          <p:nvPr/>
        </p:nvPicPr>
        <p:blipFill rotWithShape="1">
          <a:blip r:embed="rId5">
            <a:alphaModFix/>
          </a:blip>
          <a:srcRect b="0" l="0" r="0" t="0"/>
          <a:stretch/>
        </p:blipFill>
        <p:spPr>
          <a:xfrm>
            <a:off x="7400988" y="2664069"/>
            <a:ext cx="720267" cy="241768"/>
          </a:xfrm>
          <a:prstGeom prst="rect">
            <a:avLst/>
          </a:prstGeom>
          <a:noFill/>
          <a:ln>
            <a:noFill/>
          </a:ln>
        </p:spPr>
      </p:pic>
      <p:pic>
        <p:nvPicPr>
          <p:cNvPr id="682" name="Google Shape;682;p36"/>
          <p:cNvPicPr preferRelativeResize="0"/>
          <p:nvPr/>
        </p:nvPicPr>
        <p:blipFill rotWithShape="1">
          <a:blip r:embed="rId6">
            <a:alphaModFix/>
          </a:blip>
          <a:srcRect b="0" l="0" r="0" t="0"/>
          <a:stretch/>
        </p:blipFill>
        <p:spPr>
          <a:xfrm>
            <a:off x="6961947" y="3158434"/>
            <a:ext cx="1598546" cy="241768"/>
          </a:xfrm>
          <a:prstGeom prst="rect">
            <a:avLst/>
          </a:prstGeom>
          <a:noFill/>
          <a:ln>
            <a:noFill/>
          </a:ln>
        </p:spPr>
      </p:pic>
      <p:sp>
        <p:nvSpPr>
          <p:cNvPr id="683" name="Google Shape;683;p36"/>
          <p:cNvSpPr txBox="1"/>
          <p:nvPr/>
        </p:nvSpPr>
        <p:spPr>
          <a:xfrm>
            <a:off x="1846906" y="2212153"/>
            <a:ext cx="1662661" cy="357486"/>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500"/>
              <a:buFont typeface="Arial"/>
              <a:buNone/>
            </a:pPr>
            <a:r>
              <a:rPr b="1" i="0" lang="pt-BR" sz="1100" u="none" cap="none" strike="noStrike">
                <a:solidFill>
                  <a:schemeClr val="lt1"/>
                </a:solidFill>
                <a:latin typeface="Work Sans"/>
                <a:ea typeface="Work Sans"/>
                <a:cs typeface="Work Sans"/>
                <a:sym typeface="Work Sans"/>
              </a:rPr>
              <a:t>ANO PASSADO (Y1)</a:t>
            </a:r>
            <a:endParaRPr b="0" i="0" sz="1100" u="none" cap="none" strike="noStrike">
              <a:solidFill>
                <a:schemeClr val="lt1"/>
              </a:solidFill>
              <a:latin typeface="Work Sans"/>
              <a:ea typeface="Work Sans"/>
              <a:cs typeface="Work Sans"/>
              <a:sym typeface="Work Sans"/>
            </a:endParaRPr>
          </a:p>
        </p:txBody>
      </p:sp>
      <p:sp>
        <p:nvSpPr>
          <p:cNvPr id="684" name="Google Shape;684;p36"/>
          <p:cNvSpPr txBox="1"/>
          <p:nvPr/>
        </p:nvSpPr>
        <p:spPr>
          <a:xfrm>
            <a:off x="1518916" y="2575220"/>
            <a:ext cx="2360668" cy="438551"/>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400"/>
              <a:buFont typeface="Arial"/>
              <a:buNone/>
            </a:pPr>
            <a:r>
              <a:rPr b="0" i="0" lang="pt-BR" sz="1100" u="none" cap="none" strike="noStrike">
                <a:solidFill>
                  <a:schemeClr val="lt1"/>
                </a:solidFill>
                <a:latin typeface="Work Sans"/>
                <a:ea typeface="Work Sans"/>
                <a:cs typeface="Work Sans"/>
                <a:sym typeface="Work Sans"/>
              </a:rPr>
              <a:t>annual earnings = X</a:t>
            </a:r>
            <a:endParaRPr b="0" i="0" sz="1100" u="none" cap="none" strike="noStrike">
              <a:solidFill>
                <a:schemeClr val="lt1"/>
              </a:solidFill>
              <a:latin typeface="Work Sans"/>
              <a:ea typeface="Work Sans"/>
              <a:cs typeface="Work Sans"/>
              <a:sym typeface="Work Sans"/>
            </a:endParaRPr>
          </a:p>
        </p:txBody>
      </p:sp>
      <p:sp>
        <p:nvSpPr>
          <p:cNvPr id="685" name="Google Shape;685;p36"/>
          <p:cNvSpPr txBox="1"/>
          <p:nvPr/>
        </p:nvSpPr>
        <p:spPr>
          <a:xfrm>
            <a:off x="3975535" y="2212153"/>
            <a:ext cx="2360668" cy="35391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500"/>
              <a:buFont typeface="Arial"/>
              <a:buNone/>
            </a:pPr>
            <a:r>
              <a:rPr b="1" i="0" lang="pt-BR" sz="1100" u="none" cap="none" strike="noStrike">
                <a:solidFill>
                  <a:schemeClr val="lt1"/>
                </a:solidFill>
                <a:latin typeface="Work Sans"/>
                <a:ea typeface="Work Sans"/>
                <a:cs typeface="Work Sans"/>
                <a:sym typeface="Work Sans"/>
              </a:rPr>
              <a:t>ESTE ANO</a:t>
            </a:r>
            <a:endParaRPr b="0" i="0" sz="1100" u="none" cap="none" strike="noStrike">
              <a:solidFill>
                <a:schemeClr val="lt1"/>
              </a:solidFill>
              <a:latin typeface="Work Sans"/>
              <a:ea typeface="Work Sans"/>
              <a:cs typeface="Work Sans"/>
              <a:sym typeface="Work Sans"/>
            </a:endParaRPr>
          </a:p>
        </p:txBody>
      </p:sp>
      <p:sp>
        <p:nvSpPr>
          <p:cNvPr id="686" name="Google Shape;686;p36"/>
          <p:cNvSpPr txBox="1"/>
          <p:nvPr/>
        </p:nvSpPr>
        <p:spPr>
          <a:xfrm>
            <a:off x="4076608" y="3069610"/>
            <a:ext cx="2360668" cy="692467"/>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400"/>
              <a:buFont typeface="Arial"/>
              <a:buNone/>
            </a:pPr>
            <a:r>
              <a:rPr b="0" i="0" lang="pt-BR" sz="1100" u="none" cap="none" strike="noStrike">
                <a:solidFill>
                  <a:schemeClr val="lt1"/>
                </a:solidFill>
                <a:latin typeface="Work Sans"/>
                <a:ea typeface="Work Sans"/>
                <a:cs typeface="Work Sans"/>
                <a:sym typeface="Work Sans"/>
              </a:rPr>
              <a:t>savings = S2 = 12% of Y</a:t>
            </a:r>
            <a:endParaRPr b="0" i="0" sz="1100" u="none" cap="none" strike="noStrike">
              <a:solidFill>
                <a:schemeClr val="lt1"/>
              </a:solidFill>
              <a:latin typeface="Work Sans"/>
              <a:ea typeface="Work Sans"/>
              <a:cs typeface="Work Sans"/>
              <a:sym typeface="Work Sans"/>
            </a:endParaRPr>
          </a:p>
          <a:p>
            <a:pPr indent="0" lvl="0" marL="0" marR="0" rtl="0" algn="ctr">
              <a:lnSpc>
                <a:spcPct val="150000"/>
              </a:lnSpc>
              <a:spcBef>
                <a:spcPts val="0"/>
              </a:spcBef>
              <a:spcAft>
                <a:spcPts val="0"/>
              </a:spcAft>
              <a:buClr>
                <a:schemeClr val="dk1"/>
              </a:buClr>
              <a:buSzPts val="1400"/>
              <a:buFont typeface="Arial"/>
              <a:buNone/>
            </a:pPr>
            <a:r>
              <a:rPr b="0" i="0" lang="pt-BR" sz="1100" u="none" cap="none" strike="noStrike">
                <a:solidFill>
                  <a:schemeClr val="lt1"/>
                </a:solidFill>
                <a:latin typeface="Work Sans"/>
                <a:ea typeface="Work Sans"/>
                <a:cs typeface="Work Sans"/>
                <a:sym typeface="Work Sans"/>
              </a:rPr>
              <a:t>savings = 12% of 105% of X</a:t>
            </a:r>
            <a:endParaRPr b="0" i="0" sz="1100" u="none" cap="none" strike="noStrike">
              <a:solidFill>
                <a:schemeClr val="lt1"/>
              </a:solidFill>
              <a:latin typeface="Work Sans"/>
              <a:ea typeface="Work Sans"/>
              <a:cs typeface="Work Sans"/>
              <a:sym typeface="Work Sans"/>
            </a:endParaRPr>
          </a:p>
        </p:txBody>
      </p:sp>
      <p:sp>
        <p:nvSpPr>
          <p:cNvPr id="687" name="Google Shape;687;p36"/>
          <p:cNvSpPr txBox="1"/>
          <p:nvPr/>
        </p:nvSpPr>
        <p:spPr>
          <a:xfrm>
            <a:off x="1528762" y="3043784"/>
            <a:ext cx="2360668" cy="438551"/>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400"/>
              <a:buFont typeface="Arial"/>
              <a:buNone/>
            </a:pPr>
            <a:r>
              <a:rPr b="0" i="0" lang="pt-BR" sz="1100" u="none" cap="none" strike="noStrike">
                <a:solidFill>
                  <a:schemeClr val="lt1"/>
                </a:solidFill>
                <a:latin typeface="Work Sans"/>
                <a:ea typeface="Work Sans"/>
                <a:cs typeface="Work Sans"/>
                <a:sym typeface="Work Sans"/>
              </a:rPr>
              <a:t>savings = S1 = 10% of X</a:t>
            </a:r>
            <a:endParaRPr b="0" i="0" sz="1100" u="none" cap="none" strike="noStrike">
              <a:solidFill>
                <a:schemeClr val="lt1"/>
              </a:solidFill>
              <a:latin typeface="Work Sans"/>
              <a:ea typeface="Work Sans"/>
              <a:cs typeface="Work Sans"/>
              <a:sym typeface="Work Sans"/>
            </a:endParaRPr>
          </a:p>
        </p:txBody>
      </p:sp>
      <p:sp>
        <p:nvSpPr>
          <p:cNvPr id="688" name="Google Shape;688;p36"/>
          <p:cNvSpPr txBox="1"/>
          <p:nvPr/>
        </p:nvSpPr>
        <p:spPr>
          <a:xfrm>
            <a:off x="6589359" y="2198327"/>
            <a:ext cx="2360668" cy="35391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500"/>
              <a:buFont typeface="Arial"/>
              <a:buNone/>
            </a:pPr>
            <a:r>
              <a:rPr b="1" i="0" lang="pt-BR" sz="1100" u="none" cap="none" strike="noStrike">
                <a:solidFill>
                  <a:schemeClr val="lt1"/>
                </a:solidFill>
                <a:latin typeface="Work Sans"/>
                <a:ea typeface="Work Sans"/>
                <a:cs typeface="Work Sans"/>
                <a:sym typeface="Work Sans"/>
              </a:rPr>
              <a:t>EQUACIONANDO…</a:t>
            </a:r>
            <a:endParaRPr b="0" i="0" sz="1100" u="none" cap="none" strike="noStrike">
              <a:solidFill>
                <a:schemeClr val="lt1"/>
              </a:solidFill>
              <a:latin typeface="Work Sans"/>
              <a:ea typeface="Work Sans"/>
              <a:cs typeface="Work Sans"/>
              <a:sym typeface="Work Sans"/>
            </a:endParaRPr>
          </a:p>
        </p:txBody>
      </p:sp>
      <p:sp>
        <p:nvSpPr>
          <p:cNvPr id="689" name="Google Shape;689;p36"/>
          <p:cNvSpPr txBox="1"/>
          <p:nvPr/>
        </p:nvSpPr>
        <p:spPr>
          <a:xfrm>
            <a:off x="4065093" y="2539848"/>
            <a:ext cx="2360668" cy="692467"/>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400"/>
              <a:buFont typeface="Arial"/>
              <a:buNone/>
            </a:pPr>
            <a:r>
              <a:rPr b="0" i="0" lang="pt-BR" sz="1100" u="none" cap="none" strike="noStrike">
                <a:solidFill>
                  <a:schemeClr val="lt1"/>
                </a:solidFill>
                <a:latin typeface="Work Sans"/>
                <a:ea typeface="Work Sans"/>
                <a:cs typeface="Work Sans"/>
                <a:sym typeface="Work Sans"/>
              </a:rPr>
              <a:t>annual earnings = Y</a:t>
            </a:r>
            <a:endParaRPr b="0" i="0" sz="1100" u="none" cap="none" strike="noStrike">
              <a:solidFill>
                <a:schemeClr val="lt1"/>
              </a:solidFill>
              <a:latin typeface="Work Sans"/>
              <a:ea typeface="Work Sans"/>
              <a:cs typeface="Work Sans"/>
              <a:sym typeface="Work Sans"/>
            </a:endParaRPr>
          </a:p>
          <a:p>
            <a:pPr indent="0" lvl="0" marL="0" marR="0" rtl="0" algn="ctr">
              <a:lnSpc>
                <a:spcPct val="150000"/>
              </a:lnSpc>
              <a:spcBef>
                <a:spcPts val="0"/>
              </a:spcBef>
              <a:spcAft>
                <a:spcPts val="0"/>
              </a:spcAft>
              <a:buClr>
                <a:schemeClr val="dk1"/>
              </a:buClr>
              <a:buSzPts val="1400"/>
              <a:buFont typeface="Arial"/>
              <a:buNone/>
            </a:pPr>
            <a:r>
              <a:rPr b="0" i="0" lang="pt-BR" sz="1100" u="none" cap="none" strike="noStrike">
                <a:solidFill>
                  <a:schemeClr val="lt1"/>
                </a:solidFill>
                <a:latin typeface="Work Sans"/>
                <a:ea typeface="Work Sans"/>
                <a:cs typeface="Work Sans"/>
                <a:sym typeface="Work Sans"/>
              </a:rPr>
              <a:t>Y = 105% of X</a:t>
            </a:r>
            <a:endParaRPr b="0" i="0" sz="1100" u="none" cap="none" strike="noStrike">
              <a:solidFill>
                <a:schemeClr val="lt1"/>
              </a:solidFill>
              <a:latin typeface="Work Sans"/>
              <a:ea typeface="Work Sans"/>
              <a:cs typeface="Work Sans"/>
              <a:sym typeface="Work Sans"/>
            </a:endParaRPr>
          </a:p>
        </p:txBody>
      </p:sp>
      <p:cxnSp>
        <p:nvCxnSpPr>
          <p:cNvPr id="690" name="Google Shape;690;p36"/>
          <p:cNvCxnSpPr/>
          <p:nvPr/>
        </p:nvCxnSpPr>
        <p:spPr>
          <a:xfrm>
            <a:off x="3969142" y="2263623"/>
            <a:ext cx="9846" cy="1419821"/>
          </a:xfrm>
          <a:prstGeom prst="straightConnector1">
            <a:avLst/>
          </a:prstGeom>
          <a:noFill/>
          <a:ln cap="flat" cmpd="sng" w="19050">
            <a:solidFill>
              <a:schemeClr val="dk1"/>
            </a:solidFill>
            <a:prstDash val="dash"/>
            <a:round/>
            <a:headEnd len="sm" w="sm" type="none"/>
            <a:tailEnd len="sm" w="sm" type="none"/>
          </a:ln>
        </p:spPr>
      </p:cxnSp>
      <p:cxnSp>
        <p:nvCxnSpPr>
          <p:cNvPr id="691" name="Google Shape;691;p36"/>
          <p:cNvCxnSpPr/>
          <p:nvPr/>
        </p:nvCxnSpPr>
        <p:spPr>
          <a:xfrm>
            <a:off x="6495628" y="2263623"/>
            <a:ext cx="0" cy="1419821"/>
          </a:xfrm>
          <a:prstGeom prst="straightConnector1">
            <a:avLst/>
          </a:prstGeom>
          <a:noFill/>
          <a:ln cap="flat" cmpd="sng" w="19050">
            <a:solidFill>
              <a:schemeClr val="dk1"/>
            </a:solidFill>
            <a:prstDash val="dash"/>
            <a:round/>
            <a:headEnd len="sm" w="sm" type="none"/>
            <a:tailEnd len="sm" w="sm" type="none"/>
          </a:ln>
        </p:spPr>
      </p:cxnSp>
      <p:grpSp>
        <p:nvGrpSpPr>
          <p:cNvPr id="692" name="Google Shape;692;p36"/>
          <p:cNvGrpSpPr/>
          <p:nvPr/>
        </p:nvGrpSpPr>
        <p:grpSpPr>
          <a:xfrm>
            <a:off x="540899" y="2773430"/>
            <a:ext cx="853525" cy="240341"/>
            <a:chOff x="271410" y="3520307"/>
            <a:chExt cx="1154562" cy="241200"/>
          </a:xfrm>
        </p:grpSpPr>
        <p:sp>
          <p:nvSpPr>
            <p:cNvPr id="693" name="Google Shape;693;p36"/>
            <p:cNvSpPr/>
            <p:nvPr/>
          </p:nvSpPr>
          <p:spPr>
            <a:xfrm>
              <a:off x="619572" y="3520307"/>
              <a:ext cx="806400" cy="241200"/>
            </a:xfrm>
            <a:prstGeom prst="roundRect">
              <a:avLst>
                <a:gd fmla="val 16667" name="adj"/>
              </a:avLst>
            </a:prstGeom>
            <a:noFill/>
            <a:ln cap="flat" cmpd="sng" w="19050">
              <a:solidFill>
                <a:srgbClr val="00DF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chemeClr val="lt1"/>
                </a:solidFill>
                <a:latin typeface="Work Sans"/>
                <a:ea typeface="Work Sans"/>
                <a:cs typeface="Work Sans"/>
                <a:sym typeface="Work Sans"/>
              </a:endParaRPr>
            </a:p>
          </p:txBody>
        </p:sp>
        <p:pic>
          <p:nvPicPr>
            <p:cNvPr id="694" name="Google Shape;694;p36"/>
            <p:cNvPicPr preferRelativeResize="0"/>
            <p:nvPr/>
          </p:nvPicPr>
          <p:blipFill rotWithShape="1">
            <a:blip r:embed="rId7">
              <a:alphaModFix/>
            </a:blip>
            <a:srcRect b="0" l="0" r="0" t="0"/>
            <a:stretch/>
          </p:blipFill>
          <p:spPr>
            <a:xfrm>
              <a:off x="271410" y="3547160"/>
              <a:ext cx="256540" cy="187485"/>
            </a:xfrm>
            <a:prstGeom prst="rect">
              <a:avLst/>
            </a:prstGeom>
            <a:noFill/>
            <a:ln>
              <a:noFill/>
            </a:ln>
          </p:spPr>
        </p:pic>
      </p:grpSp>
      <p:sp>
        <p:nvSpPr>
          <p:cNvPr id="695" name="Google Shape;695;p36"/>
          <p:cNvSpPr/>
          <p:nvPr/>
        </p:nvSpPr>
        <p:spPr>
          <a:xfrm>
            <a:off x="2880022" y="4078076"/>
            <a:ext cx="295083" cy="252000"/>
          </a:xfrm>
          <a:prstGeom prst="rightArrow">
            <a:avLst>
              <a:gd fmla="val 50000" name="adj1"/>
              <a:gd fmla="val 50000" name="adj2"/>
            </a:avLst>
          </a:prstGeom>
          <a:solidFill>
            <a:srgbClr val="C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100" u="none" cap="none" strike="noStrike">
              <a:solidFill>
                <a:schemeClr val="lt1"/>
              </a:solidFill>
              <a:latin typeface="Work Sans"/>
              <a:ea typeface="Work Sans"/>
              <a:cs typeface="Work Sans"/>
              <a:sym typeface="Work Sans"/>
            </a:endParaRPr>
          </a:p>
        </p:txBody>
      </p:sp>
      <p:pic>
        <p:nvPicPr>
          <p:cNvPr id="696" name="Google Shape;696;p36"/>
          <p:cNvPicPr preferRelativeResize="0"/>
          <p:nvPr/>
        </p:nvPicPr>
        <p:blipFill rotWithShape="1">
          <a:blip r:embed="rId8">
            <a:alphaModFix/>
          </a:blip>
          <a:srcRect b="0" l="0" r="0" t="0"/>
          <a:stretch/>
        </p:blipFill>
        <p:spPr>
          <a:xfrm>
            <a:off x="3543648" y="4330655"/>
            <a:ext cx="1872830" cy="150452"/>
          </a:xfrm>
          <a:prstGeom prst="rect">
            <a:avLst/>
          </a:prstGeom>
          <a:noFill/>
          <a:ln>
            <a:noFill/>
          </a:ln>
        </p:spPr>
      </p:pic>
      <p:pic>
        <p:nvPicPr>
          <p:cNvPr id="697" name="Google Shape;697;p36"/>
          <p:cNvPicPr preferRelativeResize="0"/>
          <p:nvPr/>
        </p:nvPicPr>
        <p:blipFill rotWithShape="1">
          <a:blip r:embed="rId9">
            <a:alphaModFix/>
          </a:blip>
          <a:srcRect b="0" l="0" r="0" t="0"/>
          <a:stretch/>
        </p:blipFill>
        <p:spPr>
          <a:xfrm>
            <a:off x="3566621" y="4022937"/>
            <a:ext cx="1805943" cy="150452"/>
          </a:xfrm>
          <a:prstGeom prst="rect">
            <a:avLst/>
          </a:prstGeom>
          <a:noFill/>
          <a:ln>
            <a:noFill/>
          </a:ln>
        </p:spPr>
      </p:pic>
      <p:sp>
        <p:nvSpPr>
          <p:cNvPr id="698" name="Google Shape;698;p36"/>
          <p:cNvSpPr/>
          <p:nvPr/>
        </p:nvSpPr>
        <p:spPr>
          <a:xfrm>
            <a:off x="5764080" y="4098163"/>
            <a:ext cx="295083" cy="252000"/>
          </a:xfrm>
          <a:prstGeom prst="rightArrow">
            <a:avLst>
              <a:gd fmla="val 50000" name="adj1"/>
              <a:gd fmla="val 50000" name="adj2"/>
            </a:avLst>
          </a:prstGeom>
          <a:solidFill>
            <a:srgbClr val="C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100" u="none" cap="none" strike="noStrike">
              <a:solidFill>
                <a:schemeClr val="lt1"/>
              </a:solidFill>
              <a:latin typeface="Work Sans"/>
              <a:ea typeface="Work Sans"/>
              <a:cs typeface="Work Sans"/>
              <a:sym typeface="Work Sans"/>
            </a:endParaRPr>
          </a:p>
        </p:txBody>
      </p:sp>
      <p:grpSp>
        <p:nvGrpSpPr>
          <p:cNvPr id="699" name="Google Shape;699;p36"/>
          <p:cNvGrpSpPr/>
          <p:nvPr/>
        </p:nvGrpSpPr>
        <p:grpSpPr>
          <a:xfrm>
            <a:off x="6336732" y="3973139"/>
            <a:ext cx="1779770" cy="541627"/>
            <a:chOff x="7241488" y="4950000"/>
            <a:chExt cx="2448000" cy="648000"/>
          </a:xfrm>
        </p:grpSpPr>
        <p:pic>
          <p:nvPicPr>
            <p:cNvPr id="700" name="Google Shape;700;p36"/>
            <p:cNvPicPr preferRelativeResize="0"/>
            <p:nvPr/>
          </p:nvPicPr>
          <p:blipFill rotWithShape="1">
            <a:blip r:embed="rId10">
              <a:alphaModFix/>
            </a:blip>
            <a:srcRect b="0" l="0" r="0" t="0"/>
            <a:stretch/>
          </p:blipFill>
          <p:spPr>
            <a:xfrm>
              <a:off x="7359300" y="5040000"/>
              <a:ext cx="2212364" cy="468000"/>
            </a:xfrm>
            <a:prstGeom prst="rect">
              <a:avLst/>
            </a:prstGeom>
            <a:noFill/>
            <a:ln>
              <a:noFill/>
            </a:ln>
          </p:spPr>
        </p:pic>
        <p:sp>
          <p:nvSpPr>
            <p:cNvPr id="701" name="Google Shape;701;p36"/>
            <p:cNvSpPr/>
            <p:nvPr/>
          </p:nvSpPr>
          <p:spPr>
            <a:xfrm>
              <a:off x="7241488" y="4950000"/>
              <a:ext cx="2448000" cy="648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100" u="none" cap="none" strike="noStrike">
                <a:solidFill>
                  <a:schemeClr val="lt1"/>
                </a:solidFill>
                <a:latin typeface="Work Sans"/>
                <a:ea typeface="Work Sans"/>
                <a:cs typeface="Work Sans"/>
                <a:sym typeface="Work Sans"/>
              </a:endParaRPr>
            </a:p>
          </p:txBody>
        </p:sp>
      </p:grpSp>
      <p:sp>
        <p:nvSpPr>
          <p:cNvPr id="702" name="Google Shape;702;p36"/>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500"/>
                                        <p:tgtEl>
                                          <p:spTgt spid="6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37"/>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708" name="Google Shape;708;p37"/>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709" name="Google Shape;709;p37"/>
          <p:cNvGrpSpPr/>
          <p:nvPr/>
        </p:nvGrpSpPr>
        <p:grpSpPr>
          <a:xfrm>
            <a:off x="339712" y="888243"/>
            <a:ext cx="2825326" cy="397001"/>
            <a:chOff x="938974" y="1053283"/>
            <a:chExt cx="4201831" cy="575247"/>
          </a:xfrm>
        </p:grpSpPr>
        <p:sp>
          <p:nvSpPr>
            <p:cNvPr id="710" name="Google Shape;710;p37"/>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Estatística descritiva </a:t>
              </a:r>
              <a:endParaRPr b="1" i="0" sz="1200" u="none" cap="none" strike="noStrike">
                <a:solidFill>
                  <a:schemeClr val="lt1"/>
                </a:solidFill>
                <a:latin typeface="Work Sans"/>
                <a:ea typeface="Work Sans"/>
                <a:cs typeface="Work Sans"/>
                <a:sym typeface="Work Sans"/>
              </a:endParaRPr>
            </a:p>
          </p:txBody>
        </p:sp>
        <p:pic>
          <p:nvPicPr>
            <p:cNvPr descr="Tally outline" id="711" name="Google Shape;711;p37"/>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712" name="Google Shape;712;p37"/>
          <p:cNvSpPr/>
          <p:nvPr/>
        </p:nvSpPr>
        <p:spPr>
          <a:xfrm>
            <a:off x="475254" y="2242782"/>
            <a:ext cx="8120094" cy="573504"/>
          </a:xfrm>
          <a:prstGeom prst="roundRect">
            <a:avLst>
              <a:gd fmla="val 16667" name="adj"/>
            </a:avLst>
          </a:prstGeom>
          <a:no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713" name="Google Shape;713;p37"/>
          <p:cNvSpPr/>
          <p:nvPr/>
        </p:nvSpPr>
        <p:spPr>
          <a:xfrm>
            <a:off x="475254" y="3106380"/>
            <a:ext cx="8120100" cy="576000"/>
          </a:xfrm>
          <a:prstGeom prst="roundRect">
            <a:avLst>
              <a:gd fmla="val 16667" name="adj"/>
            </a:avLst>
          </a:prstGeom>
          <a:no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714" name="Google Shape;714;p37"/>
          <p:cNvSpPr/>
          <p:nvPr/>
        </p:nvSpPr>
        <p:spPr>
          <a:xfrm>
            <a:off x="475260" y="3861266"/>
            <a:ext cx="8120088" cy="576000"/>
          </a:xfrm>
          <a:prstGeom prst="roundRect">
            <a:avLst>
              <a:gd fmla="val 16667" name="adj"/>
            </a:avLst>
          </a:prstGeom>
          <a:no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1100" u="none" cap="none" strike="noStrike">
              <a:solidFill>
                <a:schemeClr val="lt1"/>
              </a:solidFill>
              <a:latin typeface="Work Sans"/>
              <a:ea typeface="Work Sans"/>
              <a:cs typeface="Work Sans"/>
              <a:sym typeface="Work Sans"/>
            </a:endParaRPr>
          </a:p>
        </p:txBody>
      </p:sp>
      <p:sp>
        <p:nvSpPr>
          <p:cNvPr id="715" name="Google Shape;715;p37"/>
          <p:cNvSpPr/>
          <p:nvPr/>
        </p:nvSpPr>
        <p:spPr>
          <a:xfrm>
            <a:off x="475260" y="1395446"/>
            <a:ext cx="8120094" cy="576000"/>
          </a:xfrm>
          <a:prstGeom prst="roundRect">
            <a:avLst>
              <a:gd fmla="val 16667" name="adj"/>
            </a:avLst>
          </a:prstGeom>
          <a:no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716" name="Google Shape;716;p37"/>
          <p:cNvSpPr/>
          <p:nvPr/>
        </p:nvSpPr>
        <p:spPr>
          <a:xfrm>
            <a:off x="475261" y="1395446"/>
            <a:ext cx="1771204" cy="576000"/>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Média aritmética </a:t>
            </a:r>
            <a:r>
              <a:rPr b="0" i="1" lang="pt-BR" sz="1000" u="none" cap="none" strike="noStrike">
                <a:solidFill>
                  <a:schemeClr val="lt1"/>
                </a:solidFill>
                <a:latin typeface="Work Sans"/>
                <a:ea typeface="Work Sans"/>
                <a:cs typeface="Work Sans"/>
                <a:sym typeface="Work Sans"/>
              </a:rPr>
              <a:t>arithmetic mean</a:t>
            </a:r>
            <a:endParaRPr b="0" i="0" sz="1000" u="none" cap="none" strike="noStrike">
              <a:solidFill>
                <a:schemeClr val="lt1"/>
              </a:solidFill>
              <a:latin typeface="Work Sans"/>
              <a:ea typeface="Work Sans"/>
              <a:cs typeface="Work Sans"/>
              <a:sym typeface="Work Sans"/>
            </a:endParaRPr>
          </a:p>
        </p:txBody>
      </p:sp>
      <p:sp>
        <p:nvSpPr>
          <p:cNvPr id="717" name="Google Shape;717;p37"/>
          <p:cNvSpPr/>
          <p:nvPr/>
        </p:nvSpPr>
        <p:spPr>
          <a:xfrm>
            <a:off x="475255" y="2246684"/>
            <a:ext cx="1771204" cy="576000"/>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Mediana</a:t>
            </a:r>
            <a:endParaRPr b="1"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800"/>
              <a:buFont typeface="Arial"/>
              <a:buNone/>
            </a:pPr>
            <a:r>
              <a:rPr b="0" i="1" lang="pt-BR" sz="1000" u="none" cap="none" strike="noStrike">
                <a:solidFill>
                  <a:schemeClr val="lt1"/>
                </a:solidFill>
                <a:latin typeface="Work Sans"/>
                <a:ea typeface="Work Sans"/>
                <a:cs typeface="Work Sans"/>
                <a:sym typeface="Work Sans"/>
              </a:rPr>
              <a:t>median</a:t>
            </a:r>
            <a:endParaRPr b="0" i="0" sz="1000" u="none" cap="none" strike="noStrike">
              <a:solidFill>
                <a:schemeClr val="lt1"/>
              </a:solidFill>
              <a:latin typeface="Work Sans"/>
              <a:ea typeface="Work Sans"/>
              <a:cs typeface="Work Sans"/>
              <a:sym typeface="Work Sans"/>
            </a:endParaRPr>
          </a:p>
        </p:txBody>
      </p:sp>
      <p:sp>
        <p:nvSpPr>
          <p:cNvPr id="718" name="Google Shape;718;p37"/>
          <p:cNvSpPr/>
          <p:nvPr/>
        </p:nvSpPr>
        <p:spPr>
          <a:xfrm>
            <a:off x="475260" y="3861266"/>
            <a:ext cx="1771199" cy="576000"/>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Desvio-padrão</a:t>
            </a:r>
            <a:endParaRPr b="0"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800"/>
              <a:buFont typeface="Arial"/>
              <a:buNone/>
            </a:pPr>
            <a:r>
              <a:rPr b="0" i="1" lang="pt-BR" sz="1000" u="none" cap="none" strike="noStrike">
                <a:solidFill>
                  <a:schemeClr val="lt1"/>
                </a:solidFill>
                <a:latin typeface="Work Sans"/>
                <a:ea typeface="Work Sans"/>
                <a:cs typeface="Work Sans"/>
                <a:sym typeface="Work Sans"/>
              </a:rPr>
              <a:t>standard deviation</a:t>
            </a:r>
            <a:endParaRPr b="0" i="0" sz="1000" u="none" cap="none" strike="noStrike">
              <a:solidFill>
                <a:schemeClr val="lt1"/>
              </a:solidFill>
              <a:latin typeface="Work Sans"/>
              <a:ea typeface="Work Sans"/>
              <a:cs typeface="Work Sans"/>
              <a:sym typeface="Work Sans"/>
            </a:endParaRPr>
          </a:p>
        </p:txBody>
      </p:sp>
      <p:sp>
        <p:nvSpPr>
          <p:cNvPr id="719" name="Google Shape;719;p37"/>
          <p:cNvSpPr/>
          <p:nvPr/>
        </p:nvSpPr>
        <p:spPr>
          <a:xfrm>
            <a:off x="475254" y="3109830"/>
            <a:ext cx="1771205" cy="576000"/>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Moda</a:t>
            </a:r>
            <a:endParaRPr b="1"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800"/>
              <a:buFont typeface="Arial"/>
              <a:buNone/>
            </a:pPr>
            <a:r>
              <a:rPr b="0" i="1" lang="pt-BR" sz="1000" u="none" cap="none" strike="noStrike">
                <a:solidFill>
                  <a:schemeClr val="lt1"/>
                </a:solidFill>
                <a:latin typeface="Work Sans"/>
                <a:ea typeface="Work Sans"/>
                <a:cs typeface="Work Sans"/>
                <a:sym typeface="Work Sans"/>
              </a:rPr>
              <a:t>mode</a:t>
            </a:r>
            <a:endParaRPr b="0" i="0" sz="1000" u="none" cap="none" strike="noStrike">
              <a:solidFill>
                <a:schemeClr val="lt1"/>
              </a:solidFill>
              <a:latin typeface="Work Sans"/>
              <a:ea typeface="Work Sans"/>
              <a:cs typeface="Work Sans"/>
              <a:sym typeface="Work Sans"/>
            </a:endParaRPr>
          </a:p>
        </p:txBody>
      </p:sp>
      <p:sp>
        <p:nvSpPr>
          <p:cNvPr id="720" name="Google Shape;720;p37"/>
          <p:cNvSpPr txBox="1"/>
          <p:nvPr/>
        </p:nvSpPr>
        <p:spPr>
          <a:xfrm>
            <a:off x="2246465" y="1407476"/>
            <a:ext cx="6027609" cy="576000"/>
          </a:xfrm>
          <a:prstGeom prst="rect">
            <a:avLst/>
          </a:prstGeom>
          <a:no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A média aritmética pode ser interpretada como o </a:t>
            </a:r>
            <a:r>
              <a:rPr b="1" i="0" lang="pt-BR" sz="1000" u="none" cap="none" strike="noStrike">
                <a:solidFill>
                  <a:schemeClr val="lt1"/>
                </a:solidFill>
                <a:latin typeface="Work Sans"/>
                <a:ea typeface="Work Sans"/>
                <a:cs typeface="Work Sans"/>
                <a:sym typeface="Work Sans"/>
              </a:rPr>
              <a:t>ponto de equilíbrio de uma distribuição</a:t>
            </a:r>
            <a:r>
              <a:rPr b="0" i="0" lang="pt-BR" sz="1000" u="none" cap="none" strike="noStrike">
                <a:solidFill>
                  <a:schemeClr val="lt1"/>
                </a:solidFill>
                <a:latin typeface="Work Sans"/>
                <a:ea typeface="Work Sans"/>
                <a:cs typeface="Work Sans"/>
                <a:sym typeface="Work Sans"/>
              </a:rPr>
              <a:t> e é muito utilizada em estatística como uma medida de tendência central.</a:t>
            </a:r>
            <a:endParaRPr b="0" i="0" sz="1000" u="none" cap="none" strike="noStrike">
              <a:solidFill>
                <a:schemeClr val="lt1"/>
              </a:solidFill>
              <a:latin typeface="Work Sans"/>
              <a:ea typeface="Work Sans"/>
              <a:cs typeface="Work Sans"/>
              <a:sym typeface="Work Sans"/>
            </a:endParaRPr>
          </a:p>
        </p:txBody>
      </p:sp>
      <p:sp>
        <p:nvSpPr>
          <p:cNvPr id="721" name="Google Shape;721;p37"/>
          <p:cNvSpPr txBox="1"/>
          <p:nvPr/>
        </p:nvSpPr>
        <p:spPr>
          <a:xfrm>
            <a:off x="2246459" y="2254811"/>
            <a:ext cx="6027609" cy="576000"/>
          </a:xfrm>
          <a:prstGeom prst="rect">
            <a:avLst/>
          </a:prstGeom>
          <a:noFill/>
          <a:ln>
            <a:noFill/>
          </a:ln>
        </p:spPr>
        <p:txBody>
          <a:bodyPr anchorCtr="0" anchor="ctr" bIns="91425" lIns="91425" spcFirstLastPara="1" rIns="91425" wrap="square" tIns="91425">
            <a:noAutofit/>
          </a:bodyPr>
          <a:lstStyle/>
          <a:p>
            <a:pPr indent="0" lvl="0" marL="0" marR="0" rtl="0" algn="just">
              <a:lnSpc>
                <a:spcPct val="115000"/>
              </a:lnSpc>
              <a:spcBef>
                <a:spcPts val="1200"/>
              </a:spcBef>
              <a:spcAft>
                <a:spcPts val="120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Mediana é o </a:t>
            </a:r>
            <a:r>
              <a:rPr b="1" i="0" lang="pt-BR" sz="1000" u="none" cap="none" strike="noStrike">
                <a:solidFill>
                  <a:schemeClr val="lt1"/>
                </a:solidFill>
                <a:latin typeface="Work Sans"/>
                <a:ea typeface="Work Sans"/>
                <a:cs typeface="Work Sans"/>
                <a:sym typeface="Work Sans"/>
              </a:rPr>
              <a:t>número central de uma lista </a:t>
            </a:r>
            <a:r>
              <a:rPr b="0" i="0" lang="pt-BR" sz="1000" u="none" cap="none" strike="noStrike">
                <a:solidFill>
                  <a:schemeClr val="lt1"/>
                </a:solidFill>
                <a:latin typeface="Work Sans"/>
                <a:ea typeface="Work Sans"/>
                <a:cs typeface="Work Sans"/>
                <a:sym typeface="Work Sans"/>
              </a:rPr>
              <a:t>de dados organizados de forma crescente/decrescente, sendo uma medida de tendência central/centralidade. A mediana é o valor do meio ou, que representa o meio, de uma lista de dados.</a:t>
            </a:r>
            <a:endParaRPr b="0" i="0" sz="1000" u="none" cap="none" strike="noStrike">
              <a:solidFill>
                <a:schemeClr val="lt1"/>
              </a:solidFill>
              <a:latin typeface="Work Sans"/>
              <a:ea typeface="Work Sans"/>
              <a:cs typeface="Work Sans"/>
              <a:sym typeface="Work Sans"/>
            </a:endParaRPr>
          </a:p>
        </p:txBody>
      </p:sp>
      <p:sp>
        <p:nvSpPr>
          <p:cNvPr id="722" name="Google Shape;722;p37"/>
          <p:cNvSpPr txBox="1"/>
          <p:nvPr/>
        </p:nvSpPr>
        <p:spPr>
          <a:xfrm>
            <a:off x="2246460" y="3101720"/>
            <a:ext cx="6027612" cy="576000"/>
          </a:xfrm>
          <a:prstGeom prst="rect">
            <a:avLst/>
          </a:prstGeom>
          <a:no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Moda é o </a:t>
            </a:r>
            <a:r>
              <a:rPr b="1" i="0" lang="pt-BR" sz="1000" u="none" cap="none" strike="noStrike">
                <a:solidFill>
                  <a:schemeClr val="lt1"/>
                </a:solidFill>
                <a:latin typeface="Work Sans"/>
                <a:ea typeface="Work Sans"/>
                <a:cs typeface="Work Sans"/>
                <a:sym typeface="Work Sans"/>
              </a:rPr>
              <a:t>valor mais frequente </a:t>
            </a:r>
            <a:r>
              <a:rPr b="0" i="0" lang="pt-BR" sz="1000" u="none" cap="none" strike="noStrike">
                <a:solidFill>
                  <a:schemeClr val="lt1"/>
                </a:solidFill>
                <a:latin typeface="Work Sans"/>
                <a:ea typeface="Work Sans"/>
                <a:cs typeface="Work Sans"/>
                <a:sym typeface="Work Sans"/>
              </a:rPr>
              <a:t>de um conjunto de dados e, para defini-la, basta observar a frequência com que os valores aparecem. Um conjunto de dados apresenta duas modas quando dois valores são igualmente frequentes (bimodal).</a:t>
            </a:r>
            <a:endParaRPr b="0" i="0" sz="1000" u="none" cap="none" strike="noStrike">
              <a:solidFill>
                <a:schemeClr val="lt1"/>
              </a:solidFill>
              <a:latin typeface="Work Sans"/>
              <a:ea typeface="Work Sans"/>
              <a:cs typeface="Work Sans"/>
              <a:sym typeface="Work Sans"/>
            </a:endParaRPr>
          </a:p>
        </p:txBody>
      </p:sp>
      <p:sp>
        <p:nvSpPr>
          <p:cNvPr id="723" name="Google Shape;723;p37"/>
          <p:cNvSpPr txBox="1"/>
          <p:nvPr/>
        </p:nvSpPr>
        <p:spPr>
          <a:xfrm>
            <a:off x="2246464" y="3861266"/>
            <a:ext cx="6257456" cy="576000"/>
          </a:xfrm>
          <a:prstGeom prst="rect">
            <a:avLst/>
          </a:prstGeom>
          <a:no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Desvio Padrão é uma medida do </a:t>
            </a:r>
            <a:r>
              <a:rPr b="1" i="0" lang="pt-BR" sz="1000" u="none" cap="none" strike="noStrike">
                <a:solidFill>
                  <a:schemeClr val="lt1"/>
                </a:solidFill>
                <a:latin typeface="Work Sans"/>
                <a:ea typeface="Work Sans"/>
                <a:cs typeface="Work Sans"/>
                <a:sym typeface="Work Sans"/>
              </a:rPr>
              <a:t>nível de dispersão</a:t>
            </a:r>
            <a:r>
              <a:rPr b="0" i="0" lang="pt-BR" sz="1000" u="none" cap="none" strike="noStrike">
                <a:solidFill>
                  <a:schemeClr val="lt1"/>
                </a:solidFill>
                <a:latin typeface="Work Sans"/>
                <a:ea typeface="Work Sans"/>
                <a:cs typeface="Work Sans"/>
                <a:sym typeface="Work Sans"/>
              </a:rPr>
              <a:t>, indicando quão uniforme está um conjunto de dados.</a:t>
            </a:r>
            <a:endParaRPr b="0" i="0" sz="1000" u="none" cap="none" strike="noStrike">
              <a:solidFill>
                <a:schemeClr val="lt1"/>
              </a:solidFill>
              <a:latin typeface="Work Sans"/>
              <a:ea typeface="Work Sans"/>
              <a:cs typeface="Work Sans"/>
              <a:sym typeface="Work Sans"/>
            </a:endParaRPr>
          </a:p>
        </p:txBody>
      </p:sp>
      <p:sp>
        <p:nvSpPr>
          <p:cNvPr id="724" name="Google Shape;724;p37"/>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1000"/>
                                        <p:tgtEl>
                                          <p:spTgt spid="715"/>
                                        </p:tgtEl>
                                      </p:cBhvr>
                                    </p:animEffect>
                                  </p:childTnLst>
                                </p:cTn>
                              </p:par>
                              <p:par>
                                <p:cTn fill="hold" nodeType="withEffect" presetClass="entr" presetID="10" presetSubtype="0">
                                  <p:stCondLst>
                                    <p:cond delay="0"/>
                                  </p:stCondLst>
                                  <p:childTnLst>
                                    <p:set>
                                      <p:cBhvr>
                                        <p:cTn dur="1" fill="hold">
                                          <p:stCondLst>
                                            <p:cond delay="0"/>
                                          </p:stCondLst>
                                        </p:cTn>
                                        <p:tgtEl>
                                          <p:spTgt spid="720"/>
                                        </p:tgtEl>
                                        <p:attrNameLst>
                                          <p:attrName>style.visibility</p:attrName>
                                        </p:attrNameLst>
                                      </p:cBhvr>
                                      <p:to>
                                        <p:strVal val="visible"/>
                                      </p:to>
                                    </p:set>
                                    <p:animEffect filter="fade" transition="in">
                                      <p:cBhvr>
                                        <p:cTn dur="1000"/>
                                        <p:tgtEl>
                                          <p:spTgt spid="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1000"/>
                                        <p:tgtEl>
                                          <p:spTgt spid="712"/>
                                        </p:tgtEl>
                                      </p:cBhvr>
                                    </p:animEffect>
                                  </p:childTnLst>
                                </p:cTn>
                              </p:par>
                              <p:par>
                                <p:cTn fill="hold" nodeType="with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1000"/>
                                        <p:tgtEl>
                                          <p:spTgt spid="7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1000"/>
                                        <p:tgtEl>
                                          <p:spTgt spid="713"/>
                                        </p:tgtEl>
                                      </p:cBhvr>
                                    </p:animEffect>
                                  </p:childTnLst>
                                </p:cTn>
                              </p:par>
                              <p:par>
                                <p:cTn fill="hold" nodeType="with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1000"/>
                                        <p:tgtEl>
                                          <p:spTgt spid="7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1000"/>
                                        <p:tgtEl>
                                          <p:spTgt spid="714"/>
                                        </p:tgtEl>
                                      </p:cBhvr>
                                    </p:animEffect>
                                  </p:childTnLst>
                                </p:cTn>
                              </p:par>
                              <p:par>
                                <p:cTn fill="hold" nodeType="with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1000"/>
                                        <p:tgtEl>
                                          <p:spTgt spid="7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38"/>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730" name="Google Shape;730;p38"/>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731" name="Google Shape;731;p38"/>
          <p:cNvGrpSpPr/>
          <p:nvPr/>
        </p:nvGrpSpPr>
        <p:grpSpPr>
          <a:xfrm>
            <a:off x="339712" y="888243"/>
            <a:ext cx="2825326" cy="397001"/>
            <a:chOff x="938974" y="1053283"/>
            <a:chExt cx="4201831" cy="575247"/>
          </a:xfrm>
        </p:grpSpPr>
        <p:sp>
          <p:nvSpPr>
            <p:cNvPr id="732" name="Google Shape;732;p38"/>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Estatística descritiva </a:t>
              </a:r>
              <a:endParaRPr b="1" i="0" sz="1200" u="none" cap="none" strike="noStrike">
                <a:solidFill>
                  <a:schemeClr val="lt1"/>
                </a:solidFill>
                <a:latin typeface="Work Sans"/>
                <a:ea typeface="Work Sans"/>
                <a:cs typeface="Work Sans"/>
                <a:sym typeface="Work Sans"/>
              </a:endParaRPr>
            </a:p>
          </p:txBody>
        </p:sp>
        <p:pic>
          <p:nvPicPr>
            <p:cNvPr descr="Tally outline" id="733" name="Google Shape;733;p38"/>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734" name="Google Shape;734;p38"/>
          <p:cNvSpPr/>
          <p:nvPr/>
        </p:nvSpPr>
        <p:spPr>
          <a:xfrm>
            <a:off x="726766" y="1340602"/>
            <a:ext cx="1771204" cy="576000"/>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Média aritmética </a:t>
            </a:r>
            <a:r>
              <a:rPr b="0" i="1" lang="pt-BR" sz="1000" u="none" cap="none" strike="noStrike">
                <a:solidFill>
                  <a:schemeClr val="lt1"/>
                </a:solidFill>
                <a:latin typeface="Work Sans"/>
                <a:ea typeface="Work Sans"/>
                <a:cs typeface="Work Sans"/>
                <a:sym typeface="Work Sans"/>
              </a:rPr>
              <a:t>arithmetic mean</a:t>
            </a:r>
            <a:endParaRPr b="0" i="0" sz="1000" u="none" cap="none" strike="noStrike">
              <a:solidFill>
                <a:schemeClr val="lt1"/>
              </a:solidFill>
              <a:latin typeface="Work Sans"/>
              <a:ea typeface="Work Sans"/>
              <a:cs typeface="Work Sans"/>
              <a:sym typeface="Work Sans"/>
            </a:endParaRPr>
          </a:p>
        </p:txBody>
      </p:sp>
      <p:pic>
        <p:nvPicPr>
          <p:cNvPr id="735" name="Google Shape;735;p38"/>
          <p:cNvPicPr preferRelativeResize="0"/>
          <p:nvPr/>
        </p:nvPicPr>
        <p:blipFill rotWithShape="1">
          <a:blip r:embed="rId4">
            <a:alphaModFix/>
          </a:blip>
          <a:srcRect b="0" l="0" r="0" t="0"/>
          <a:stretch/>
        </p:blipFill>
        <p:spPr>
          <a:xfrm>
            <a:off x="3441400" y="1419176"/>
            <a:ext cx="723693" cy="463186"/>
          </a:xfrm>
          <a:prstGeom prst="rect">
            <a:avLst/>
          </a:prstGeom>
          <a:noFill/>
          <a:ln>
            <a:noFill/>
          </a:ln>
        </p:spPr>
      </p:pic>
      <p:sp>
        <p:nvSpPr>
          <p:cNvPr id="736" name="Google Shape;736;p38"/>
          <p:cNvSpPr txBox="1"/>
          <p:nvPr/>
        </p:nvSpPr>
        <p:spPr>
          <a:xfrm>
            <a:off x="3194805" y="2514425"/>
            <a:ext cx="2779757" cy="2615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pt-BR" sz="1100" u="none" cap="none" strike="noStrike">
                <a:solidFill>
                  <a:schemeClr val="lt1"/>
                </a:solidFill>
                <a:latin typeface="Work Sans"/>
                <a:ea typeface="Work Sans"/>
                <a:cs typeface="Work Sans"/>
                <a:sym typeface="Work Sans"/>
              </a:rPr>
              <a:t>Média entre: 47, 48, 49, 55, 56, 63.</a:t>
            </a:r>
            <a:endParaRPr b="0" i="0" sz="1100" u="none" cap="none" strike="noStrike">
              <a:solidFill>
                <a:schemeClr val="lt1"/>
              </a:solidFill>
              <a:latin typeface="Work Sans"/>
              <a:ea typeface="Work Sans"/>
              <a:cs typeface="Work Sans"/>
              <a:sym typeface="Work Sans"/>
            </a:endParaRPr>
          </a:p>
        </p:txBody>
      </p:sp>
      <p:grpSp>
        <p:nvGrpSpPr>
          <p:cNvPr id="737" name="Google Shape;737;p38"/>
          <p:cNvGrpSpPr/>
          <p:nvPr/>
        </p:nvGrpSpPr>
        <p:grpSpPr>
          <a:xfrm>
            <a:off x="3481323" y="3085174"/>
            <a:ext cx="2181352" cy="698673"/>
            <a:chOff x="819450" y="2535240"/>
            <a:chExt cx="2520000" cy="698673"/>
          </a:xfrm>
        </p:grpSpPr>
        <p:sp>
          <p:nvSpPr>
            <p:cNvPr id="738" name="Google Shape;738;p38"/>
            <p:cNvSpPr txBox="1"/>
            <p:nvPr/>
          </p:nvSpPr>
          <p:spPr>
            <a:xfrm>
              <a:off x="819450" y="2535240"/>
              <a:ext cx="2520000" cy="35391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47 + 48 + 49 + 55 + 56 + 63</a:t>
              </a:r>
              <a:endParaRPr b="0" i="0" sz="1100" u="none" cap="none" strike="noStrike">
                <a:solidFill>
                  <a:schemeClr val="lt1"/>
                </a:solidFill>
                <a:latin typeface="Work Sans"/>
                <a:ea typeface="Work Sans"/>
                <a:cs typeface="Work Sans"/>
                <a:sym typeface="Work Sans"/>
              </a:endParaRPr>
            </a:p>
          </p:txBody>
        </p:sp>
        <p:cxnSp>
          <p:nvCxnSpPr>
            <p:cNvPr id="739" name="Google Shape;739;p38"/>
            <p:cNvCxnSpPr/>
            <p:nvPr/>
          </p:nvCxnSpPr>
          <p:spPr>
            <a:xfrm>
              <a:off x="819450" y="2880000"/>
              <a:ext cx="2520000" cy="0"/>
            </a:xfrm>
            <a:prstGeom prst="straightConnector1">
              <a:avLst/>
            </a:prstGeom>
            <a:noFill/>
            <a:ln cap="flat" cmpd="sng" w="19050">
              <a:solidFill>
                <a:schemeClr val="dk1"/>
              </a:solidFill>
              <a:prstDash val="solid"/>
              <a:round/>
              <a:headEnd len="sm" w="sm" type="none"/>
              <a:tailEnd len="sm" w="sm" type="none"/>
            </a:ln>
          </p:spPr>
        </p:cxnSp>
        <p:sp>
          <p:nvSpPr>
            <p:cNvPr id="740" name="Google Shape;740;p38"/>
            <p:cNvSpPr txBox="1"/>
            <p:nvPr/>
          </p:nvSpPr>
          <p:spPr>
            <a:xfrm>
              <a:off x="819450" y="2880000"/>
              <a:ext cx="2520000" cy="35391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6</a:t>
              </a:r>
              <a:endParaRPr b="0" i="0" sz="1100" u="none" cap="none" strike="noStrike">
                <a:solidFill>
                  <a:schemeClr val="lt1"/>
                </a:solidFill>
                <a:latin typeface="Work Sans"/>
                <a:ea typeface="Work Sans"/>
                <a:cs typeface="Work Sans"/>
                <a:sym typeface="Work Sans"/>
              </a:endParaRPr>
            </a:p>
          </p:txBody>
        </p:sp>
      </p:grpSp>
      <p:sp>
        <p:nvSpPr>
          <p:cNvPr id="741" name="Google Shape;741;p38"/>
          <p:cNvSpPr txBox="1"/>
          <p:nvPr/>
        </p:nvSpPr>
        <p:spPr>
          <a:xfrm>
            <a:off x="3494007" y="4047793"/>
            <a:ext cx="2181352" cy="353913"/>
          </a:xfrm>
          <a:prstGeom prst="rect">
            <a:avLst/>
          </a:prstGeom>
          <a:noFill/>
          <a:ln cap="flat" cmpd="sng" w="19050">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Média = 318 / 6 = </a:t>
            </a:r>
            <a:r>
              <a:rPr b="1" i="0" lang="pt-BR" sz="1100" u="none" cap="none" strike="noStrike">
                <a:solidFill>
                  <a:schemeClr val="lt1"/>
                </a:solidFill>
                <a:latin typeface="Work Sans"/>
                <a:ea typeface="Work Sans"/>
                <a:cs typeface="Work Sans"/>
                <a:sym typeface="Work Sans"/>
              </a:rPr>
              <a:t>53</a:t>
            </a:r>
            <a:endParaRPr b="1" i="0" sz="1100" u="none" cap="none" strike="noStrike">
              <a:solidFill>
                <a:schemeClr val="lt1"/>
              </a:solidFill>
              <a:latin typeface="Work Sans"/>
              <a:ea typeface="Work Sans"/>
              <a:cs typeface="Work Sans"/>
              <a:sym typeface="Work Sans"/>
            </a:endParaRPr>
          </a:p>
        </p:txBody>
      </p:sp>
      <p:grpSp>
        <p:nvGrpSpPr>
          <p:cNvPr id="742" name="Google Shape;742;p38"/>
          <p:cNvGrpSpPr/>
          <p:nvPr/>
        </p:nvGrpSpPr>
        <p:grpSpPr>
          <a:xfrm>
            <a:off x="5268340" y="1266972"/>
            <a:ext cx="3240000" cy="767593"/>
            <a:chOff x="-74962" y="3146224"/>
            <a:chExt cx="3240000" cy="767593"/>
          </a:xfrm>
        </p:grpSpPr>
        <p:sp>
          <p:nvSpPr>
            <p:cNvPr id="743" name="Google Shape;743;p38"/>
            <p:cNvSpPr txBox="1"/>
            <p:nvPr/>
          </p:nvSpPr>
          <p:spPr>
            <a:xfrm>
              <a:off x="-74962" y="3146224"/>
              <a:ext cx="3240000" cy="2615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pt-BR" sz="1100" u="none" cap="none" strike="noStrike">
                  <a:solidFill>
                    <a:schemeClr val="lt1"/>
                  </a:solidFill>
                  <a:latin typeface="Work Sans"/>
                  <a:ea typeface="Work Sans"/>
                  <a:cs typeface="Work Sans"/>
                  <a:sym typeface="Work Sans"/>
                </a:rPr>
                <a:t>Soma dos elementos</a:t>
              </a:r>
              <a:endParaRPr b="0" i="0" sz="1100" u="none" cap="none" strike="noStrike">
                <a:solidFill>
                  <a:schemeClr val="lt1"/>
                </a:solidFill>
                <a:latin typeface="Work Sans"/>
                <a:ea typeface="Work Sans"/>
                <a:cs typeface="Work Sans"/>
                <a:sym typeface="Work Sans"/>
              </a:endParaRPr>
            </a:p>
          </p:txBody>
        </p:sp>
        <p:sp>
          <p:nvSpPr>
            <p:cNvPr id="744" name="Google Shape;744;p38"/>
            <p:cNvSpPr txBox="1"/>
            <p:nvPr/>
          </p:nvSpPr>
          <p:spPr>
            <a:xfrm>
              <a:off x="-74962" y="3383767"/>
              <a:ext cx="3240000" cy="2615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pt-BR" sz="1100" u="none" cap="none" strike="noStrike">
                  <a:solidFill>
                    <a:schemeClr val="lt1"/>
                  </a:solidFill>
                  <a:latin typeface="Work Sans"/>
                  <a:ea typeface="Work Sans"/>
                  <a:cs typeface="Work Sans"/>
                  <a:sym typeface="Work Sans"/>
                </a:rPr>
                <a:t>… dividido por …</a:t>
              </a:r>
              <a:endParaRPr b="0" i="0" sz="1100" u="none" cap="none" strike="noStrike">
                <a:solidFill>
                  <a:schemeClr val="lt1"/>
                </a:solidFill>
                <a:latin typeface="Work Sans"/>
                <a:ea typeface="Work Sans"/>
                <a:cs typeface="Work Sans"/>
                <a:sym typeface="Work Sans"/>
              </a:endParaRPr>
            </a:p>
          </p:txBody>
        </p:sp>
        <p:sp>
          <p:nvSpPr>
            <p:cNvPr id="745" name="Google Shape;745;p38"/>
            <p:cNvSpPr txBox="1"/>
            <p:nvPr/>
          </p:nvSpPr>
          <p:spPr>
            <a:xfrm>
              <a:off x="-74962" y="3652247"/>
              <a:ext cx="3240000" cy="2615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pt-BR" sz="1100" u="none" cap="none" strike="noStrike">
                  <a:solidFill>
                    <a:schemeClr val="lt1"/>
                  </a:solidFill>
                  <a:latin typeface="Work Sans"/>
                  <a:ea typeface="Work Sans"/>
                  <a:cs typeface="Work Sans"/>
                  <a:sym typeface="Work Sans"/>
                </a:rPr>
                <a:t>Quantidade de elementos</a:t>
              </a:r>
              <a:endParaRPr b="0" i="0" sz="1100" u="none" cap="none" strike="noStrike">
                <a:solidFill>
                  <a:schemeClr val="lt1"/>
                </a:solidFill>
                <a:latin typeface="Work Sans"/>
                <a:ea typeface="Work Sans"/>
                <a:cs typeface="Work Sans"/>
                <a:sym typeface="Work Sans"/>
              </a:endParaRPr>
            </a:p>
          </p:txBody>
        </p:sp>
      </p:grpSp>
      <p:sp>
        <p:nvSpPr>
          <p:cNvPr id="746" name="Google Shape;746;p38"/>
          <p:cNvSpPr/>
          <p:nvPr/>
        </p:nvSpPr>
        <p:spPr>
          <a:xfrm>
            <a:off x="4831367" y="1524888"/>
            <a:ext cx="295083" cy="252000"/>
          </a:xfrm>
          <a:prstGeom prst="rightArrow">
            <a:avLst>
              <a:gd fmla="val 50000" name="adj1"/>
              <a:gd fmla="val 50000" name="adj2"/>
            </a:avLst>
          </a:prstGeom>
          <a:solidFill>
            <a:srgbClr val="C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100" u="none" cap="none" strike="noStrike">
              <a:solidFill>
                <a:schemeClr val="lt1"/>
              </a:solidFill>
              <a:latin typeface="Work Sans"/>
              <a:ea typeface="Work Sans"/>
              <a:cs typeface="Work Sans"/>
              <a:sym typeface="Work Sans"/>
            </a:endParaRPr>
          </a:p>
        </p:txBody>
      </p:sp>
      <p:sp>
        <p:nvSpPr>
          <p:cNvPr id="747" name="Google Shape;747;p38"/>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39"/>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753" name="Google Shape;753;p39"/>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754" name="Google Shape;754;p39"/>
          <p:cNvGrpSpPr/>
          <p:nvPr/>
        </p:nvGrpSpPr>
        <p:grpSpPr>
          <a:xfrm>
            <a:off x="339712" y="888243"/>
            <a:ext cx="2825326" cy="397001"/>
            <a:chOff x="938974" y="1053283"/>
            <a:chExt cx="4201831" cy="575247"/>
          </a:xfrm>
        </p:grpSpPr>
        <p:sp>
          <p:nvSpPr>
            <p:cNvPr id="755" name="Google Shape;755;p39"/>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Estatística descritiva </a:t>
              </a:r>
              <a:endParaRPr b="1" i="0" sz="1200" u="none" cap="none" strike="noStrike">
                <a:solidFill>
                  <a:schemeClr val="lt1"/>
                </a:solidFill>
                <a:latin typeface="Work Sans"/>
                <a:ea typeface="Work Sans"/>
                <a:cs typeface="Work Sans"/>
                <a:sym typeface="Work Sans"/>
              </a:endParaRPr>
            </a:p>
          </p:txBody>
        </p:sp>
        <p:pic>
          <p:nvPicPr>
            <p:cNvPr descr="Tally outline" id="756" name="Google Shape;756;p39"/>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757" name="Google Shape;757;p39"/>
          <p:cNvSpPr/>
          <p:nvPr/>
        </p:nvSpPr>
        <p:spPr>
          <a:xfrm>
            <a:off x="726766" y="1340602"/>
            <a:ext cx="1771204" cy="576000"/>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Média aritmética </a:t>
            </a:r>
            <a:r>
              <a:rPr b="0" i="1" lang="pt-BR" sz="1000" u="none" cap="none" strike="noStrike">
                <a:solidFill>
                  <a:schemeClr val="lt1"/>
                </a:solidFill>
                <a:latin typeface="Work Sans"/>
                <a:ea typeface="Work Sans"/>
                <a:cs typeface="Work Sans"/>
                <a:sym typeface="Work Sans"/>
              </a:rPr>
              <a:t>arithmetic mean</a:t>
            </a:r>
            <a:endParaRPr b="0" i="0" sz="1000" u="none" cap="none" strike="noStrike">
              <a:solidFill>
                <a:schemeClr val="lt1"/>
              </a:solidFill>
              <a:latin typeface="Work Sans"/>
              <a:ea typeface="Work Sans"/>
              <a:cs typeface="Work Sans"/>
              <a:sym typeface="Work Sans"/>
            </a:endParaRPr>
          </a:p>
        </p:txBody>
      </p:sp>
      <p:sp>
        <p:nvSpPr>
          <p:cNvPr id="758" name="Google Shape;758;p39"/>
          <p:cNvSpPr txBox="1"/>
          <p:nvPr/>
        </p:nvSpPr>
        <p:spPr>
          <a:xfrm>
            <a:off x="630458" y="2151596"/>
            <a:ext cx="3100874"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BA0E02"/>
              </a:buClr>
              <a:buSzPts val="1500"/>
              <a:buFont typeface="Arial"/>
              <a:buNone/>
            </a:pPr>
            <a:r>
              <a:rPr b="1" i="0" lang="pt-BR" sz="1000" u="none" cap="none" strike="noStrike">
                <a:solidFill>
                  <a:schemeClr val="lt1"/>
                </a:solidFill>
                <a:latin typeface="Work Sans"/>
                <a:ea typeface="Work Sans"/>
                <a:cs typeface="Work Sans"/>
                <a:sym typeface="Work Sans"/>
              </a:rPr>
              <a:t>Metodologia prática para cálculo</a:t>
            </a:r>
            <a:endParaRPr b="0" i="0" sz="1000" u="none" cap="none" strike="noStrike">
              <a:solidFill>
                <a:schemeClr val="lt1"/>
              </a:solidFill>
              <a:latin typeface="Work Sans"/>
              <a:ea typeface="Work Sans"/>
              <a:cs typeface="Work Sans"/>
              <a:sym typeface="Work Sans"/>
            </a:endParaRPr>
          </a:p>
        </p:txBody>
      </p:sp>
      <p:grpSp>
        <p:nvGrpSpPr>
          <p:cNvPr id="759" name="Google Shape;759;p39"/>
          <p:cNvGrpSpPr/>
          <p:nvPr/>
        </p:nvGrpSpPr>
        <p:grpSpPr>
          <a:xfrm>
            <a:off x="630456" y="2501743"/>
            <a:ext cx="3530717" cy="538579"/>
            <a:chOff x="6840000" y="1219774"/>
            <a:chExt cx="3656197" cy="549784"/>
          </a:xfrm>
        </p:grpSpPr>
        <p:sp>
          <p:nvSpPr>
            <p:cNvPr id="760" name="Google Shape;760;p39"/>
            <p:cNvSpPr txBox="1"/>
            <p:nvPr/>
          </p:nvSpPr>
          <p:spPr>
            <a:xfrm>
              <a:off x="7256196" y="1219774"/>
              <a:ext cx="3240001" cy="54978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Chute um valor </a:t>
              </a:r>
              <a:r>
                <a:rPr b="0" i="0" lang="pt-BR" sz="1000" u="none" cap="none" strike="noStrike">
                  <a:solidFill>
                    <a:schemeClr val="lt1"/>
                  </a:solidFill>
                  <a:latin typeface="Work Sans"/>
                  <a:ea typeface="Work Sans"/>
                  <a:cs typeface="Work Sans"/>
                  <a:sym typeface="Work Sans"/>
                </a:rPr>
                <a:t>aproximadamente intermediário. Exemplo: </a:t>
              </a:r>
              <a:r>
                <a:rPr b="1" i="0" lang="pt-BR" sz="1000" u="none" cap="none" strike="noStrike">
                  <a:solidFill>
                    <a:schemeClr val="lt1"/>
                  </a:solidFill>
                  <a:latin typeface="Work Sans"/>
                  <a:ea typeface="Work Sans"/>
                  <a:cs typeface="Work Sans"/>
                  <a:sym typeface="Work Sans"/>
                </a:rPr>
                <a:t>50</a:t>
              </a:r>
              <a:endParaRPr b="1" i="0" sz="1000" u="none" cap="none" strike="noStrike">
                <a:solidFill>
                  <a:schemeClr val="lt1"/>
                </a:solidFill>
                <a:latin typeface="Work Sans"/>
                <a:ea typeface="Work Sans"/>
                <a:cs typeface="Work Sans"/>
                <a:sym typeface="Work Sans"/>
              </a:endParaRPr>
            </a:p>
          </p:txBody>
        </p:sp>
        <p:sp>
          <p:nvSpPr>
            <p:cNvPr id="761" name="Google Shape;761;p39"/>
            <p:cNvSpPr/>
            <p:nvPr/>
          </p:nvSpPr>
          <p:spPr>
            <a:xfrm>
              <a:off x="6840000" y="1322550"/>
              <a:ext cx="416196" cy="360000"/>
            </a:xfrm>
            <a:prstGeom prst="roundRect">
              <a:avLst>
                <a:gd fmla="val 16667" name="adj"/>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chemeClr val="lt1"/>
                  </a:solidFill>
                  <a:latin typeface="Work Sans"/>
                  <a:ea typeface="Work Sans"/>
                  <a:cs typeface="Work Sans"/>
                  <a:sym typeface="Work Sans"/>
                </a:rPr>
                <a:t>1º</a:t>
              </a:r>
              <a:endParaRPr b="1" i="0" sz="1000" u="none" cap="none" strike="noStrike">
                <a:solidFill>
                  <a:schemeClr val="lt1"/>
                </a:solidFill>
                <a:latin typeface="Work Sans"/>
                <a:ea typeface="Work Sans"/>
                <a:cs typeface="Work Sans"/>
                <a:sym typeface="Work Sans"/>
              </a:endParaRPr>
            </a:p>
          </p:txBody>
        </p:sp>
      </p:grpSp>
      <p:grpSp>
        <p:nvGrpSpPr>
          <p:cNvPr id="762" name="Google Shape;762;p39"/>
          <p:cNvGrpSpPr/>
          <p:nvPr/>
        </p:nvGrpSpPr>
        <p:grpSpPr>
          <a:xfrm>
            <a:off x="630458" y="3579371"/>
            <a:ext cx="3530061" cy="356133"/>
            <a:chOff x="6840000" y="1203958"/>
            <a:chExt cx="3655517" cy="363542"/>
          </a:xfrm>
        </p:grpSpPr>
        <p:sp>
          <p:nvSpPr>
            <p:cNvPr id="763" name="Google Shape;763;p39"/>
            <p:cNvSpPr txBox="1"/>
            <p:nvPr/>
          </p:nvSpPr>
          <p:spPr>
            <a:xfrm>
              <a:off x="7255517" y="1203958"/>
              <a:ext cx="3240000" cy="361607"/>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0" i="0" lang="pt-BR" sz="1000" u="none" cap="none" strike="noStrike">
                  <a:solidFill>
                    <a:schemeClr val="lt1"/>
                  </a:solidFill>
                  <a:latin typeface="Work Sans"/>
                  <a:ea typeface="Work Sans"/>
                  <a:cs typeface="Work Sans"/>
                  <a:sym typeface="Work Sans"/>
                </a:rPr>
                <a:t>Faça a </a:t>
              </a:r>
              <a:r>
                <a:rPr b="1" i="0" lang="pt-BR" sz="1000" u="none" cap="none" strike="noStrike">
                  <a:solidFill>
                    <a:schemeClr val="lt1"/>
                  </a:solidFill>
                  <a:latin typeface="Work Sans"/>
                  <a:ea typeface="Work Sans"/>
                  <a:cs typeface="Work Sans"/>
                  <a:sym typeface="Work Sans"/>
                </a:rPr>
                <a:t>média das diferenças</a:t>
              </a: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p:txBody>
        </p:sp>
        <p:sp>
          <p:nvSpPr>
            <p:cNvPr id="764" name="Google Shape;764;p39"/>
            <p:cNvSpPr/>
            <p:nvPr/>
          </p:nvSpPr>
          <p:spPr>
            <a:xfrm>
              <a:off x="6840000" y="1207500"/>
              <a:ext cx="416196" cy="360000"/>
            </a:xfrm>
            <a:prstGeom prst="roundRect">
              <a:avLst>
                <a:gd fmla="val 16667" name="adj"/>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chemeClr val="lt1"/>
                  </a:solidFill>
                  <a:latin typeface="Work Sans"/>
                  <a:ea typeface="Work Sans"/>
                  <a:cs typeface="Work Sans"/>
                  <a:sym typeface="Work Sans"/>
                </a:rPr>
                <a:t>3º</a:t>
              </a:r>
              <a:endParaRPr b="1" i="0" sz="1000" u="none" cap="none" strike="noStrike">
                <a:solidFill>
                  <a:schemeClr val="lt1"/>
                </a:solidFill>
                <a:latin typeface="Work Sans"/>
                <a:ea typeface="Work Sans"/>
                <a:cs typeface="Work Sans"/>
                <a:sym typeface="Work Sans"/>
              </a:endParaRPr>
            </a:p>
          </p:txBody>
        </p:sp>
      </p:grpSp>
      <p:grpSp>
        <p:nvGrpSpPr>
          <p:cNvPr id="765" name="Google Shape;765;p39"/>
          <p:cNvGrpSpPr/>
          <p:nvPr/>
        </p:nvGrpSpPr>
        <p:grpSpPr>
          <a:xfrm>
            <a:off x="630458" y="3007338"/>
            <a:ext cx="3530717" cy="527602"/>
            <a:chOff x="6840000" y="1233260"/>
            <a:chExt cx="3656196" cy="538579"/>
          </a:xfrm>
        </p:grpSpPr>
        <p:sp>
          <p:nvSpPr>
            <p:cNvPr id="766" name="Google Shape;766;p39"/>
            <p:cNvSpPr txBox="1"/>
            <p:nvPr/>
          </p:nvSpPr>
          <p:spPr>
            <a:xfrm>
              <a:off x="7256196" y="1233260"/>
              <a:ext cx="3240000" cy="53857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Subtraia o chute </a:t>
              </a:r>
              <a:r>
                <a:rPr b="0" i="0" lang="pt-BR" sz="1000" u="none" cap="none" strike="noStrike">
                  <a:solidFill>
                    <a:schemeClr val="lt1"/>
                  </a:solidFill>
                  <a:latin typeface="Work Sans"/>
                  <a:ea typeface="Work Sans"/>
                  <a:cs typeface="Work Sans"/>
                  <a:sym typeface="Work Sans"/>
                </a:rPr>
                <a:t>de cada valor para obter as </a:t>
              </a:r>
              <a:r>
                <a:rPr b="1" i="0" lang="pt-BR" sz="1000" u="none" cap="none" strike="noStrike">
                  <a:solidFill>
                    <a:schemeClr val="lt1"/>
                  </a:solidFill>
                  <a:latin typeface="Work Sans"/>
                  <a:ea typeface="Work Sans"/>
                  <a:cs typeface="Work Sans"/>
                  <a:sym typeface="Work Sans"/>
                </a:rPr>
                <a:t>diferenças</a:t>
              </a:r>
              <a:r>
                <a:rPr b="0" i="0" lang="pt-BR" sz="1000" u="none" cap="none" strike="noStrike">
                  <a:solidFill>
                    <a:schemeClr val="lt1"/>
                  </a:solidFill>
                  <a:latin typeface="Work Sans"/>
                  <a:ea typeface="Work Sans"/>
                  <a:cs typeface="Work Sans"/>
                  <a:sym typeface="Work Sans"/>
                </a:rPr>
                <a:t>.</a:t>
              </a:r>
              <a:endParaRPr b="1" i="0" sz="1000" u="none" cap="none" strike="noStrike">
                <a:solidFill>
                  <a:schemeClr val="lt1"/>
                </a:solidFill>
                <a:latin typeface="Work Sans"/>
                <a:ea typeface="Work Sans"/>
                <a:cs typeface="Work Sans"/>
                <a:sym typeface="Work Sans"/>
              </a:endParaRPr>
            </a:p>
          </p:txBody>
        </p:sp>
        <p:sp>
          <p:nvSpPr>
            <p:cNvPr id="767" name="Google Shape;767;p39"/>
            <p:cNvSpPr/>
            <p:nvPr/>
          </p:nvSpPr>
          <p:spPr>
            <a:xfrm>
              <a:off x="6840000" y="1322550"/>
              <a:ext cx="416196" cy="360000"/>
            </a:xfrm>
            <a:prstGeom prst="roundRect">
              <a:avLst>
                <a:gd fmla="val 16667" name="adj"/>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chemeClr val="lt1"/>
                  </a:solidFill>
                  <a:latin typeface="Work Sans"/>
                  <a:ea typeface="Work Sans"/>
                  <a:cs typeface="Work Sans"/>
                  <a:sym typeface="Work Sans"/>
                </a:rPr>
                <a:t>2º</a:t>
              </a:r>
              <a:endParaRPr b="1" i="0" sz="1000" u="none" cap="none" strike="noStrike">
                <a:solidFill>
                  <a:schemeClr val="lt1"/>
                </a:solidFill>
                <a:latin typeface="Work Sans"/>
                <a:ea typeface="Work Sans"/>
                <a:cs typeface="Work Sans"/>
                <a:sym typeface="Work Sans"/>
              </a:endParaRPr>
            </a:p>
          </p:txBody>
        </p:sp>
      </p:grpSp>
      <p:sp>
        <p:nvSpPr>
          <p:cNvPr id="768" name="Google Shape;768;p39"/>
          <p:cNvSpPr txBox="1"/>
          <p:nvPr/>
        </p:nvSpPr>
        <p:spPr>
          <a:xfrm>
            <a:off x="4766920" y="1155086"/>
            <a:ext cx="2607406" cy="35391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47, 48, 49, 55, 56, 63</a:t>
            </a:r>
            <a:endParaRPr b="0" i="0" sz="1100" u="none" cap="none" strike="noStrike">
              <a:solidFill>
                <a:schemeClr val="lt1"/>
              </a:solidFill>
              <a:latin typeface="Work Sans"/>
              <a:ea typeface="Work Sans"/>
              <a:cs typeface="Work Sans"/>
              <a:sym typeface="Work Sans"/>
            </a:endParaRPr>
          </a:p>
        </p:txBody>
      </p:sp>
      <p:sp>
        <p:nvSpPr>
          <p:cNvPr id="769" name="Google Shape;769;p39"/>
          <p:cNvSpPr txBox="1"/>
          <p:nvPr/>
        </p:nvSpPr>
        <p:spPr>
          <a:xfrm>
            <a:off x="5102968" y="1966945"/>
            <a:ext cx="1980000" cy="35391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-3, -2, -1, 5, 6, 13</a:t>
            </a:r>
            <a:endParaRPr b="0" i="0" sz="1100" u="none" cap="none" strike="noStrike">
              <a:solidFill>
                <a:schemeClr val="lt1"/>
              </a:solidFill>
              <a:latin typeface="Work Sans"/>
              <a:ea typeface="Work Sans"/>
              <a:cs typeface="Work Sans"/>
              <a:sym typeface="Work Sans"/>
            </a:endParaRPr>
          </a:p>
        </p:txBody>
      </p:sp>
      <p:sp>
        <p:nvSpPr>
          <p:cNvPr id="770" name="Google Shape;770;p39"/>
          <p:cNvSpPr txBox="1"/>
          <p:nvPr/>
        </p:nvSpPr>
        <p:spPr>
          <a:xfrm>
            <a:off x="5058582" y="2825769"/>
            <a:ext cx="2084536" cy="607828"/>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Somatória = 18</a:t>
            </a:r>
            <a:endParaRPr b="0" i="0" sz="11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Média Dif. = 18/6 = 3</a:t>
            </a:r>
            <a:endParaRPr b="0" i="0" sz="1100" u="none" cap="none" strike="noStrike">
              <a:solidFill>
                <a:schemeClr val="lt1"/>
              </a:solidFill>
              <a:latin typeface="Work Sans"/>
              <a:ea typeface="Work Sans"/>
              <a:cs typeface="Work Sans"/>
              <a:sym typeface="Work Sans"/>
            </a:endParaRPr>
          </a:p>
        </p:txBody>
      </p:sp>
      <p:cxnSp>
        <p:nvCxnSpPr>
          <p:cNvPr id="771" name="Google Shape;771;p39"/>
          <p:cNvCxnSpPr>
            <a:stCxn id="769" idx="2"/>
            <a:endCxn id="770" idx="0"/>
          </p:cNvCxnSpPr>
          <p:nvPr/>
        </p:nvCxnSpPr>
        <p:spPr>
          <a:xfrm>
            <a:off x="6092968" y="2320858"/>
            <a:ext cx="7800" cy="504900"/>
          </a:xfrm>
          <a:prstGeom prst="straightConnector1">
            <a:avLst/>
          </a:prstGeom>
          <a:noFill/>
          <a:ln cap="flat" cmpd="sng" w="19050">
            <a:solidFill>
              <a:schemeClr val="dk1"/>
            </a:solidFill>
            <a:prstDash val="solid"/>
            <a:round/>
            <a:headEnd len="sm" w="sm" type="none"/>
            <a:tailEnd len="med" w="med" type="triangle"/>
          </a:ln>
        </p:spPr>
      </p:cxnSp>
      <p:grpSp>
        <p:nvGrpSpPr>
          <p:cNvPr id="772" name="Google Shape;772;p39"/>
          <p:cNvGrpSpPr/>
          <p:nvPr/>
        </p:nvGrpSpPr>
        <p:grpSpPr>
          <a:xfrm>
            <a:off x="630457" y="3970192"/>
            <a:ext cx="3530062" cy="527602"/>
            <a:chOff x="6839999" y="1239198"/>
            <a:chExt cx="3655518" cy="538579"/>
          </a:xfrm>
        </p:grpSpPr>
        <p:sp>
          <p:nvSpPr>
            <p:cNvPr id="773" name="Google Shape;773;p39"/>
            <p:cNvSpPr txBox="1"/>
            <p:nvPr/>
          </p:nvSpPr>
          <p:spPr>
            <a:xfrm>
              <a:off x="7255517" y="1239198"/>
              <a:ext cx="3240000" cy="53857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Some </a:t>
              </a:r>
              <a:r>
                <a:rPr b="0" i="0" lang="pt-BR" sz="1000" u="none" cap="none" strike="noStrike">
                  <a:solidFill>
                    <a:schemeClr val="lt1"/>
                  </a:solidFill>
                  <a:latin typeface="Work Sans"/>
                  <a:ea typeface="Work Sans"/>
                  <a:cs typeface="Work Sans"/>
                  <a:sym typeface="Work Sans"/>
                </a:rPr>
                <a:t>a </a:t>
              </a:r>
              <a:r>
                <a:rPr b="1" i="0" lang="pt-BR" sz="1000" u="none" cap="none" strike="noStrike">
                  <a:solidFill>
                    <a:schemeClr val="lt1"/>
                  </a:solidFill>
                  <a:latin typeface="Work Sans"/>
                  <a:ea typeface="Work Sans"/>
                  <a:cs typeface="Work Sans"/>
                  <a:sym typeface="Work Sans"/>
                </a:rPr>
                <a:t>média das diferenças e o chute </a:t>
              </a:r>
              <a:r>
                <a:rPr b="0" i="0" lang="pt-BR" sz="1000" u="none" cap="none" strike="noStrike">
                  <a:solidFill>
                    <a:schemeClr val="lt1"/>
                  </a:solidFill>
                  <a:latin typeface="Work Sans"/>
                  <a:ea typeface="Work Sans"/>
                  <a:cs typeface="Work Sans"/>
                  <a:sym typeface="Work Sans"/>
                </a:rPr>
                <a:t>para obter a média aritmética.</a:t>
              </a:r>
              <a:endParaRPr b="1" i="0" sz="1000" u="none" cap="none" strike="noStrike">
                <a:solidFill>
                  <a:schemeClr val="lt1"/>
                </a:solidFill>
                <a:latin typeface="Work Sans"/>
                <a:ea typeface="Work Sans"/>
                <a:cs typeface="Work Sans"/>
                <a:sym typeface="Work Sans"/>
              </a:endParaRPr>
            </a:p>
          </p:txBody>
        </p:sp>
        <p:sp>
          <p:nvSpPr>
            <p:cNvPr id="774" name="Google Shape;774;p39"/>
            <p:cNvSpPr/>
            <p:nvPr/>
          </p:nvSpPr>
          <p:spPr>
            <a:xfrm>
              <a:off x="6839999" y="1322550"/>
              <a:ext cx="416197" cy="360000"/>
            </a:xfrm>
            <a:prstGeom prst="roundRect">
              <a:avLst>
                <a:gd fmla="val 16667" name="adj"/>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chemeClr val="lt1"/>
                  </a:solidFill>
                  <a:latin typeface="Work Sans"/>
                  <a:ea typeface="Work Sans"/>
                  <a:cs typeface="Work Sans"/>
                  <a:sym typeface="Work Sans"/>
                </a:rPr>
                <a:t>4º</a:t>
              </a:r>
              <a:endParaRPr b="1" i="0" sz="1000" u="none" cap="none" strike="noStrike">
                <a:solidFill>
                  <a:schemeClr val="lt1"/>
                </a:solidFill>
                <a:latin typeface="Work Sans"/>
                <a:ea typeface="Work Sans"/>
                <a:cs typeface="Work Sans"/>
                <a:sym typeface="Work Sans"/>
              </a:endParaRPr>
            </a:p>
          </p:txBody>
        </p:sp>
      </p:grpSp>
      <p:sp>
        <p:nvSpPr>
          <p:cNvPr id="775" name="Google Shape;775;p39"/>
          <p:cNvSpPr txBox="1"/>
          <p:nvPr/>
        </p:nvSpPr>
        <p:spPr>
          <a:xfrm>
            <a:off x="5058582" y="4021901"/>
            <a:ext cx="2163366" cy="438551"/>
          </a:xfrm>
          <a:prstGeom prst="rect">
            <a:avLst/>
          </a:prstGeom>
          <a:noFill/>
          <a:ln cap="flat" cmpd="sng" w="19050">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600"/>
              <a:buFont typeface="Arial"/>
              <a:buNone/>
            </a:pPr>
            <a:r>
              <a:rPr b="0" i="0" lang="pt-BR" sz="1100" u="none" cap="none" strike="noStrike">
                <a:solidFill>
                  <a:schemeClr val="lt1"/>
                </a:solidFill>
                <a:latin typeface="Work Sans"/>
                <a:ea typeface="Work Sans"/>
                <a:cs typeface="Work Sans"/>
                <a:sym typeface="Work Sans"/>
              </a:rPr>
              <a:t>Média = 50 + 3 = </a:t>
            </a:r>
            <a:r>
              <a:rPr b="1" i="0" lang="pt-BR" sz="1100" u="none" cap="none" strike="noStrike">
                <a:solidFill>
                  <a:schemeClr val="lt1"/>
                </a:solidFill>
                <a:latin typeface="Work Sans"/>
                <a:ea typeface="Work Sans"/>
                <a:cs typeface="Work Sans"/>
                <a:sym typeface="Work Sans"/>
              </a:rPr>
              <a:t>53</a:t>
            </a:r>
            <a:endParaRPr b="1" i="0" sz="1100" u="none" cap="none" strike="noStrike">
              <a:solidFill>
                <a:schemeClr val="lt1"/>
              </a:solidFill>
              <a:latin typeface="Work Sans"/>
              <a:ea typeface="Work Sans"/>
              <a:cs typeface="Work Sans"/>
              <a:sym typeface="Work Sans"/>
            </a:endParaRPr>
          </a:p>
        </p:txBody>
      </p:sp>
      <p:cxnSp>
        <p:nvCxnSpPr>
          <p:cNvPr id="776" name="Google Shape;776;p39"/>
          <p:cNvCxnSpPr/>
          <p:nvPr/>
        </p:nvCxnSpPr>
        <p:spPr>
          <a:xfrm>
            <a:off x="6093109" y="1485846"/>
            <a:ext cx="4971" cy="469143"/>
          </a:xfrm>
          <a:prstGeom prst="straightConnector1">
            <a:avLst/>
          </a:prstGeom>
          <a:noFill/>
          <a:ln cap="flat" cmpd="sng" w="19050">
            <a:solidFill>
              <a:schemeClr val="dk1"/>
            </a:solidFill>
            <a:prstDash val="solid"/>
            <a:round/>
            <a:headEnd len="sm" w="sm" type="none"/>
            <a:tailEnd len="med" w="med" type="triangle"/>
          </a:ln>
        </p:spPr>
      </p:cxnSp>
      <p:cxnSp>
        <p:nvCxnSpPr>
          <p:cNvPr id="777" name="Google Shape;777;p39"/>
          <p:cNvCxnSpPr/>
          <p:nvPr/>
        </p:nvCxnSpPr>
        <p:spPr>
          <a:xfrm>
            <a:off x="6100850" y="3433597"/>
            <a:ext cx="4971" cy="469143"/>
          </a:xfrm>
          <a:prstGeom prst="straightConnector1">
            <a:avLst/>
          </a:prstGeom>
          <a:noFill/>
          <a:ln cap="flat" cmpd="sng" w="19050">
            <a:solidFill>
              <a:schemeClr val="dk1"/>
            </a:solidFill>
            <a:prstDash val="solid"/>
            <a:round/>
            <a:headEnd len="sm" w="sm" type="none"/>
            <a:tailEnd len="med" w="med" type="triangle"/>
          </a:ln>
        </p:spPr>
      </p:cxnSp>
      <p:sp>
        <p:nvSpPr>
          <p:cNvPr id="778" name="Google Shape;778;p39"/>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1000"/>
                                        <p:tgtEl>
                                          <p:spTgt spid="7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1000"/>
                                        <p:tgtEl>
                                          <p:spTgt spid="7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1000"/>
                                        <p:tgtEl>
                                          <p:spTgt spid="7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gtEl>
                                        <p:attrNameLst>
                                          <p:attrName>style.visibility</p:attrName>
                                        </p:attrNameLst>
                                      </p:cBhvr>
                                      <p:to>
                                        <p:strVal val="visible"/>
                                      </p:to>
                                    </p:set>
                                    <p:animEffect filter="fade" transition="in">
                                      <p:cBhvr>
                                        <p:cTn dur="1000"/>
                                        <p:tgtEl>
                                          <p:spTgt spid="7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1000"/>
                                        <p:tgtEl>
                                          <p:spTgt spid="776"/>
                                        </p:tgtEl>
                                      </p:cBhvr>
                                    </p:animEffect>
                                  </p:childTnLst>
                                </p:cTn>
                              </p:par>
                              <p:par>
                                <p:cTn fill="hold" nodeType="with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1000"/>
                                        <p:tgtEl>
                                          <p:spTgt spid="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1000"/>
                                        <p:tgtEl>
                                          <p:spTgt spid="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par>
                                <p:cTn fill="hold" nodeType="with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1000"/>
                                        <p:tgtEl>
                                          <p:spTgt spid="7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000"/>
                                        <p:tgtEl>
                                          <p:spTgt spid="777"/>
                                        </p:tgtEl>
                                      </p:cBhvr>
                                    </p:animEffect>
                                  </p:childTnLst>
                                </p:cTn>
                              </p:par>
                              <p:par>
                                <p:cTn fill="hold" nodeType="with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40"/>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784" name="Google Shape;784;p40"/>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785" name="Google Shape;785;p40"/>
          <p:cNvGrpSpPr/>
          <p:nvPr/>
        </p:nvGrpSpPr>
        <p:grpSpPr>
          <a:xfrm>
            <a:off x="339712" y="888243"/>
            <a:ext cx="2825326" cy="397001"/>
            <a:chOff x="938974" y="1053283"/>
            <a:chExt cx="4201831" cy="575247"/>
          </a:xfrm>
        </p:grpSpPr>
        <p:sp>
          <p:nvSpPr>
            <p:cNvPr id="786" name="Google Shape;786;p40"/>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Estatística descritiva </a:t>
              </a:r>
              <a:endParaRPr b="1" i="0" sz="1200" u="none" cap="none" strike="noStrike">
                <a:solidFill>
                  <a:schemeClr val="lt1"/>
                </a:solidFill>
                <a:latin typeface="Work Sans"/>
                <a:ea typeface="Work Sans"/>
                <a:cs typeface="Work Sans"/>
                <a:sym typeface="Work Sans"/>
              </a:endParaRPr>
            </a:p>
          </p:txBody>
        </p:sp>
        <p:pic>
          <p:nvPicPr>
            <p:cNvPr descr="Tally outline" id="787" name="Google Shape;787;p40"/>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788" name="Google Shape;788;p40"/>
          <p:cNvSpPr/>
          <p:nvPr/>
        </p:nvSpPr>
        <p:spPr>
          <a:xfrm>
            <a:off x="808340" y="1332752"/>
            <a:ext cx="1205300" cy="429685"/>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Mediana</a:t>
            </a:r>
            <a:endParaRPr b="1"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800"/>
              <a:buFont typeface="Arial"/>
              <a:buNone/>
            </a:pPr>
            <a:r>
              <a:rPr b="0" i="1" lang="pt-BR" sz="1000" u="none" cap="none" strike="noStrike">
                <a:solidFill>
                  <a:schemeClr val="lt1"/>
                </a:solidFill>
                <a:latin typeface="Work Sans"/>
                <a:ea typeface="Work Sans"/>
                <a:cs typeface="Work Sans"/>
                <a:sym typeface="Work Sans"/>
              </a:rPr>
              <a:t>median</a:t>
            </a:r>
            <a:endParaRPr b="0" i="0" sz="1000" u="none" cap="none" strike="noStrike">
              <a:solidFill>
                <a:schemeClr val="lt1"/>
              </a:solidFill>
              <a:latin typeface="Work Sans"/>
              <a:ea typeface="Work Sans"/>
              <a:cs typeface="Work Sans"/>
              <a:sym typeface="Work Sans"/>
            </a:endParaRPr>
          </a:p>
        </p:txBody>
      </p:sp>
      <p:pic>
        <p:nvPicPr>
          <p:cNvPr id="789" name="Google Shape;789;p40"/>
          <p:cNvPicPr preferRelativeResize="0"/>
          <p:nvPr/>
        </p:nvPicPr>
        <p:blipFill rotWithShape="1">
          <a:blip r:embed="rId4">
            <a:alphaModFix/>
          </a:blip>
          <a:srcRect b="0" l="0" r="0" t="0"/>
          <a:stretch/>
        </p:blipFill>
        <p:spPr>
          <a:xfrm>
            <a:off x="991050" y="1935173"/>
            <a:ext cx="919310" cy="599651"/>
          </a:xfrm>
          <a:prstGeom prst="rect">
            <a:avLst/>
          </a:prstGeom>
          <a:noFill/>
          <a:ln>
            <a:noFill/>
          </a:ln>
        </p:spPr>
      </p:pic>
      <p:sp>
        <p:nvSpPr>
          <p:cNvPr id="790" name="Google Shape;790;p40"/>
          <p:cNvSpPr txBox="1"/>
          <p:nvPr/>
        </p:nvSpPr>
        <p:spPr>
          <a:xfrm>
            <a:off x="2375840" y="1285244"/>
            <a:ext cx="2880000" cy="49241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pt-BR" sz="1000" u="none" cap="none" strike="noStrike">
                <a:solidFill>
                  <a:schemeClr val="lt1"/>
                </a:solidFill>
                <a:latin typeface="Work Sans"/>
                <a:ea typeface="Work Sans"/>
                <a:cs typeface="Work Sans"/>
                <a:sym typeface="Work Sans"/>
              </a:rPr>
              <a:t>Número </a:t>
            </a:r>
            <a:r>
              <a:rPr b="1" i="0" lang="pt-BR" sz="1000" u="none" cap="none" strike="noStrike">
                <a:solidFill>
                  <a:schemeClr val="lt1"/>
                </a:solidFill>
                <a:latin typeface="Work Sans"/>
                <a:ea typeface="Work Sans"/>
                <a:cs typeface="Work Sans"/>
                <a:sym typeface="Work Sans"/>
              </a:rPr>
              <a:t>ÍMPAR </a:t>
            </a:r>
            <a:r>
              <a:rPr b="0" i="0" lang="pt-BR" sz="1000" u="none" cap="none" strike="noStrike">
                <a:solidFill>
                  <a:schemeClr val="lt1"/>
                </a:solidFill>
                <a:latin typeface="Work Sans"/>
                <a:ea typeface="Work Sans"/>
                <a:cs typeface="Work Sans"/>
                <a:sym typeface="Work Sans"/>
              </a:rPr>
              <a:t>de termos:</a:t>
            </a:r>
            <a:endParaRPr b="0"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000"/>
              <a:buFont typeface="Arial"/>
              <a:buNone/>
            </a:pPr>
            <a:r>
              <a:rPr b="0" i="0" lang="pt-BR" sz="1000" u="none" cap="none" strike="noStrike">
                <a:solidFill>
                  <a:schemeClr val="lt1"/>
                </a:solidFill>
                <a:latin typeface="Work Sans"/>
                <a:ea typeface="Work Sans"/>
                <a:cs typeface="Work Sans"/>
                <a:sym typeface="Work Sans"/>
              </a:rPr>
              <a:t>[1,2,3,4,</a:t>
            </a:r>
            <a:r>
              <a:rPr b="0" i="0" lang="pt-BR" sz="1000" u="none" cap="none" strike="noStrike">
                <a:solidFill>
                  <a:schemeClr val="dk1"/>
                </a:solidFill>
                <a:latin typeface="Work Sans"/>
                <a:ea typeface="Work Sans"/>
                <a:cs typeface="Work Sans"/>
                <a:sym typeface="Work Sans"/>
              </a:rPr>
              <a:t>6</a:t>
            </a:r>
            <a:r>
              <a:rPr b="0" i="0" lang="pt-BR" sz="1000" u="none" cap="none" strike="noStrike">
                <a:solidFill>
                  <a:schemeClr val="lt1"/>
                </a:solidFill>
                <a:latin typeface="Work Sans"/>
                <a:ea typeface="Work Sans"/>
                <a:cs typeface="Work Sans"/>
                <a:sym typeface="Work Sans"/>
              </a:rPr>
              <a:t>,6,7,8,10]</a:t>
            </a:r>
            <a:endParaRPr b="0" i="1" sz="1000" u="none" cap="none" strike="noStrike">
              <a:solidFill>
                <a:schemeClr val="lt1"/>
              </a:solidFill>
              <a:latin typeface="Work Sans"/>
              <a:ea typeface="Work Sans"/>
              <a:cs typeface="Work Sans"/>
              <a:sym typeface="Work Sans"/>
            </a:endParaRPr>
          </a:p>
        </p:txBody>
      </p:sp>
      <p:sp>
        <p:nvSpPr>
          <p:cNvPr id="791" name="Google Shape;791;p40"/>
          <p:cNvSpPr txBox="1"/>
          <p:nvPr/>
        </p:nvSpPr>
        <p:spPr>
          <a:xfrm>
            <a:off x="2820630" y="1801229"/>
            <a:ext cx="1990420" cy="49241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pt-BR" sz="1000" u="none" cap="none" strike="noStrike">
                <a:solidFill>
                  <a:schemeClr val="lt1"/>
                </a:solidFill>
                <a:latin typeface="Work Sans"/>
                <a:ea typeface="Work Sans"/>
                <a:cs typeface="Work Sans"/>
                <a:sym typeface="Work Sans"/>
              </a:rPr>
              <a:t>Número </a:t>
            </a:r>
            <a:r>
              <a:rPr b="1" i="0" lang="pt-BR" sz="1000" u="none" cap="none" strike="noStrike">
                <a:solidFill>
                  <a:schemeClr val="lt1"/>
                </a:solidFill>
                <a:latin typeface="Work Sans"/>
                <a:ea typeface="Work Sans"/>
                <a:cs typeface="Work Sans"/>
                <a:sym typeface="Work Sans"/>
              </a:rPr>
              <a:t>PAR </a:t>
            </a:r>
            <a:r>
              <a:rPr b="0" i="0" lang="pt-BR" sz="1000" u="none" cap="none" strike="noStrike">
                <a:solidFill>
                  <a:schemeClr val="lt1"/>
                </a:solidFill>
                <a:latin typeface="Work Sans"/>
                <a:ea typeface="Work Sans"/>
                <a:cs typeface="Work Sans"/>
                <a:sym typeface="Work Sans"/>
              </a:rPr>
              <a:t>de termos:</a:t>
            </a:r>
            <a:endParaRPr b="0"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000"/>
              <a:buFont typeface="Arial"/>
              <a:buNone/>
            </a:pPr>
            <a:r>
              <a:rPr b="0" i="0" lang="pt-BR" sz="1000" u="none" cap="none" strike="noStrike">
                <a:solidFill>
                  <a:schemeClr val="lt1"/>
                </a:solidFill>
                <a:latin typeface="Work Sans"/>
                <a:ea typeface="Work Sans"/>
                <a:cs typeface="Work Sans"/>
                <a:sym typeface="Work Sans"/>
              </a:rPr>
              <a:t>[1,2,3,4,</a:t>
            </a:r>
            <a:r>
              <a:rPr b="0" i="0" lang="pt-BR" sz="1000" u="none" cap="none" strike="noStrike">
                <a:solidFill>
                  <a:schemeClr val="dk1"/>
                </a:solidFill>
                <a:latin typeface="Work Sans"/>
                <a:ea typeface="Work Sans"/>
                <a:cs typeface="Work Sans"/>
                <a:sym typeface="Work Sans"/>
              </a:rPr>
              <a:t>6,8</a:t>
            </a:r>
            <a:r>
              <a:rPr b="0" i="0" lang="pt-BR" sz="1000" u="none" cap="none" strike="noStrike">
                <a:solidFill>
                  <a:schemeClr val="lt1"/>
                </a:solidFill>
                <a:latin typeface="Work Sans"/>
                <a:ea typeface="Work Sans"/>
                <a:cs typeface="Work Sans"/>
                <a:sym typeface="Work Sans"/>
              </a:rPr>
              <a:t>,8,9,10,11]</a:t>
            </a:r>
            <a:endParaRPr b="0" i="1" sz="1000" u="none" cap="none" strike="noStrike">
              <a:solidFill>
                <a:schemeClr val="lt1"/>
              </a:solidFill>
              <a:latin typeface="Work Sans"/>
              <a:ea typeface="Work Sans"/>
              <a:cs typeface="Work Sans"/>
              <a:sym typeface="Work Sans"/>
            </a:endParaRPr>
          </a:p>
        </p:txBody>
      </p:sp>
      <p:sp>
        <p:nvSpPr>
          <p:cNvPr id="792" name="Google Shape;792;p40"/>
          <p:cNvSpPr txBox="1"/>
          <p:nvPr/>
        </p:nvSpPr>
        <p:spPr>
          <a:xfrm>
            <a:off x="3063378" y="2363044"/>
            <a:ext cx="1462032"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pt-BR" sz="1000" u="none" cap="none" strike="noStrike">
                <a:solidFill>
                  <a:schemeClr val="lt1"/>
                </a:solidFill>
                <a:latin typeface="Work Sans"/>
                <a:ea typeface="Work Sans"/>
                <a:cs typeface="Work Sans"/>
                <a:sym typeface="Work Sans"/>
              </a:rPr>
              <a:t>6 + 8 / 2 = 7</a:t>
            </a:r>
            <a:endParaRPr b="0" i="1" sz="1000" u="none" cap="none" strike="noStrike">
              <a:solidFill>
                <a:schemeClr val="lt1"/>
              </a:solidFill>
              <a:latin typeface="Work Sans"/>
              <a:ea typeface="Work Sans"/>
              <a:cs typeface="Work Sans"/>
              <a:sym typeface="Work Sans"/>
            </a:endParaRPr>
          </a:p>
        </p:txBody>
      </p:sp>
      <p:sp>
        <p:nvSpPr>
          <p:cNvPr id="793" name="Google Shape;793;p40"/>
          <p:cNvSpPr/>
          <p:nvPr/>
        </p:nvSpPr>
        <p:spPr>
          <a:xfrm>
            <a:off x="808338" y="3198474"/>
            <a:ext cx="1205302" cy="397002"/>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Moda</a:t>
            </a:r>
            <a:endParaRPr b="1"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800"/>
              <a:buFont typeface="Arial"/>
              <a:buNone/>
            </a:pPr>
            <a:r>
              <a:rPr b="0" i="1" lang="pt-BR" sz="1000" u="none" cap="none" strike="noStrike">
                <a:solidFill>
                  <a:schemeClr val="lt1"/>
                </a:solidFill>
                <a:latin typeface="Work Sans"/>
                <a:ea typeface="Work Sans"/>
                <a:cs typeface="Work Sans"/>
                <a:sym typeface="Work Sans"/>
              </a:rPr>
              <a:t>mode</a:t>
            </a:r>
            <a:endParaRPr b="0" i="0" sz="1000" u="none" cap="none" strike="noStrike">
              <a:solidFill>
                <a:schemeClr val="lt1"/>
              </a:solidFill>
              <a:latin typeface="Work Sans"/>
              <a:ea typeface="Work Sans"/>
              <a:cs typeface="Work Sans"/>
              <a:sym typeface="Work Sans"/>
            </a:endParaRPr>
          </a:p>
        </p:txBody>
      </p:sp>
      <p:pic>
        <p:nvPicPr>
          <p:cNvPr id="794" name="Google Shape;794;p40"/>
          <p:cNvPicPr preferRelativeResize="0"/>
          <p:nvPr/>
        </p:nvPicPr>
        <p:blipFill rotWithShape="1">
          <a:blip r:embed="rId5">
            <a:alphaModFix/>
          </a:blip>
          <a:srcRect b="67533" l="0" r="0" t="0"/>
          <a:stretch/>
        </p:blipFill>
        <p:spPr>
          <a:xfrm>
            <a:off x="771038" y="3793581"/>
            <a:ext cx="1279903" cy="753548"/>
          </a:xfrm>
          <a:prstGeom prst="rect">
            <a:avLst/>
          </a:prstGeom>
          <a:noFill/>
          <a:ln>
            <a:noFill/>
          </a:ln>
        </p:spPr>
      </p:pic>
      <p:cxnSp>
        <p:nvCxnSpPr>
          <p:cNvPr id="795" name="Google Shape;795;p40"/>
          <p:cNvCxnSpPr/>
          <p:nvPr/>
        </p:nvCxnSpPr>
        <p:spPr>
          <a:xfrm flipH="1" rot="10800000">
            <a:off x="339712" y="2885520"/>
            <a:ext cx="8141348" cy="27317"/>
          </a:xfrm>
          <a:prstGeom prst="straightConnector1">
            <a:avLst/>
          </a:prstGeom>
          <a:noFill/>
          <a:ln cap="flat" cmpd="sng" w="19050">
            <a:solidFill>
              <a:srgbClr val="C0504D"/>
            </a:solidFill>
            <a:prstDash val="dash"/>
            <a:round/>
            <a:headEnd len="sm" w="sm" type="none"/>
            <a:tailEnd len="sm" w="sm" type="none"/>
          </a:ln>
        </p:spPr>
      </p:cxnSp>
      <p:sp>
        <p:nvSpPr>
          <p:cNvPr id="796" name="Google Shape;796;p40"/>
          <p:cNvSpPr txBox="1"/>
          <p:nvPr/>
        </p:nvSpPr>
        <p:spPr>
          <a:xfrm>
            <a:off x="2899580" y="3919429"/>
            <a:ext cx="216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400"/>
              <a:buFont typeface="Arial"/>
              <a:buNone/>
            </a:pPr>
            <a:r>
              <a:rPr b="0" i="0" lang="pt-BR" sz="1000" u="none" cap="none" strike="noStrike">
                <a:solidFill>
                  <a:schemeClr val="lt1"/>
                </a:solidFill>
                <a:latin typeface="Work Sans"/>
                <a:ea typeface="Work Sans"/>
                <a:cs typeface="Work Sans"/>
                <a:sym typeface="Work Sans"/>
              </a:rPr>
              <a:t>[1,2,3,4,6,</a:t>
            </a:r>
            <a:r>
              <a:rPr b="0" i="0" lang="pt-BR" sz="1000" u="none" cap="none" strike="noStrike">
                <a:solidFill>
                  <a:schemeClr val="dk1"/>
                </a:solidFill>
                <a:latin typeface="Work Sans"/>
                <a:ea typeface="Work Sans"/>
                <a:cs typeface="Work Sans"/>
                <a:sym typeface="Work Sans"/>
              </a:rPr>
              <a:t>8,8</a:t>
            </a:r>
            <a:r>
              <a:rPr b="0" i="0" lang="pt-BR" sz="1000" u="none" cap="none" strike="noStrike">
                <a:solidFill>
                  <a:schemeClr val="lt1"/>
                </a:solidFill>
                <a:latin typeface="Work Sans"/>
                <a:ea typeface="Work Sans"/>
                <a:cs typeface="Work Sans"/>
                <a:sym typeface="Work Sans"/>
              </a:rPr>
              <a:t>,9,10,11] </a:t>
            </a:r>
            <a:endParaRPr b="0" i="0" sz="1000" u="none" cap="none" strike="noStrike">
              <a:solidFill>
                <a:schemeClr val="lt1"/>
              </a:solidFill>
              <a:latin typeface="Work Sans"/>
              <a:ea typeface="Work Sans"/>
              <a:cs typeface="Work Sans"/>
              <a:sym typeface="Work Sans"/>
            </a:endParaRPr>
          </a:p>
        </p:txBody>
      </p:sp>
      <p:sp>
        <p:nvSpPr>
          <p:cNvPr id="797" name="Google Shape;797;p40"/>
          <p:cNvSpPr txBox="1"/>
          <p:nvPr/>
        </p:nvSpPr>
        <p:spPr>
          <a:xfrm>
            <a:off x="2876720" y="3402622"/>
            <a:ext cx="216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400"/>
              <a:buFont typeface="Arial"/>
              <a:buNone/>
            </a:pPr>
            <a:r>
              <a:rPr b="0" i="0" lang="pt-BR" sz="1000" u="none" cap="none" strike="noStrike">
                <a:solidFill>
                  <a:schemeClr val="lt1"/>
                </a:solidFill>
                <a:latin typeface="Work Sans"/>
                <a:ea typeface="Work Sans"/>
                <a:cs typeface="Work Sans"/>
                <a:sym typeface="Work Sans"/>
              </a:rPr>
              <a:t>[1,2,3,4,</a:t>
            </a:r>
            <a:r>
              <a:rPr b="0" i="0" lang="pt-BR" sz="1000" u="none" cap="none" strike="noStrike">
                <a:solidFill>
                  <a:schemeClr val="dk1"/>
                </a:solidFill>
                <a:latin typeface="Work Sans"/>
                <a:ea typeface="Work Sans"/>
                <a:cs typeface="Work Sans"/>
                <a:sym typeface="Work Sans"/>
              </a:rPr>
              <a:t>6,6</a:t>
            </a:r>
            <a:r>
              <a:rPr b="0" i="0" lang="pt-BR" sz="1000" u="none" cap="none" strike="noStrike">
                <a:solidFill>
                  <a:schemeClr val="lt1"/>
                </a:solidFill>
                <a:latin typeface="Work Sans"/>
                <a:ea typeface="Work Sans"/>
                <a:cs typeface="Work Sans"/>
                <a:sym typeface="Work Sans"/>
              </a:rPr>
              <a:t>,7,8,10]</a:t>
            </a:r>
            <a:endParaRPr b="0" i="0" sz="1000" u="none" cap="none" strike="noStrike">
              <a:solidFill>
                <a:schemeClr val="lt1"/>
              </a:solidFill>
              <a:latin typeface="Work Sans"/>
              <a:ea typeface="Work Sans"/>
              <a:cs typeface="Work Sans"/>
              <a:sym typeface="Work Sans"/>
            </a:endParaRPr>
          </a:p>
        </p:txBody>
      </p:sp>
      <p:sp>
        <p:nvSpPr>
          <p:cNvPr id="798" name="Google Shape;798;p40"/>
          <p:cNvSpPr txBox="1"/>
          <p:nvPr/>
        </p:nvSpPr>
        <p:spPr>
          <a:xfrm>
            <a:off x="5216720" y="3390168"/>
            <a:ext cx="14400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pt-BR" sz="1000" u="none" cap="none" strike="noStrike">
                <a:solidFill>
                  <a:schemeClr val="lt1"/>
                </a:solidFill>
                <a:latin typeface="Work Sans"/>
                <a:ea typeface="Work Sans"/>
                <a:cs typeface="Work Sans"/>
                <a:sym typeface="Work Sans"/>
              </a:rPr>
              <a:t>Moda = 6</a:t>
            </a:r>
            <a:endParaRPr b="0" i="0" sz="1000" u="none" cap="none" strike="noStrike">
              <a:solidFill>
                <a:schemeClr val="lt1"/>
              </a:solidFill>
              <a:latin typeface="Work Sans"/>
              <a:ea typeface="Work Sans"/>
              <a:cs typeface="Work Sans"/>
              <a:sym typeface="Work Sans"/>
            </a:endParaRPr>
          </a:p>
        </p:txBody>
      </p:sp>
      <p:sp>
        <p:nvSpPr>
          <p:cNvPr id="799" name="Google Shape;799;p40"/>
          <p:cNvSpPr txBox="1"/>
          <p:nvPr/>
        </p:nvSpPr>
        <p:spPr>
          <a:xfrm>
            <a:off x="5216720" y="3919155"/>
            <a:ext cx="14400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pt-BR" sz="1000" u="none" cap="none" strike="noStrike">
                <a:solidFill>
                  <a:schemeClr val="lt1"/>
                </a:solidFill>
                <a:latin typeface="Work Sans"/>
                <a:ea typeface="Work Sans"/>
                <a:cs typeface="Work Sans"/>
                <a:sym typeface="Work Sans"/>
              </a:rPr>
              <a:t>Moda = 8</a:t>
            </a:r>
            <a:endParaRPr b="0" i="0" sz="1000" u="none" cap="none" strike="noStrike">
              <a:solidFill>
                <a:schemeClr val="lt1"/>
              </a:solidFill>
              <a:latin typeface="Work Sans"/>
              <a:ea typeface="Work Sans"/>
              <a:cs typeface="Work Sans"/>
              <a:sym typeface="Work Sans"/>
            </a:endParaRPr>
          </a:p>
        </p:txBody>
      </p:sp>
      <p:grpSp>
        <p:nvGrpSpPr>
          <p:cNvPr id="800" name="Google Shape;800;p40"/>
          <p:cNvGrpSpPr/>
          <p:nvPr/>
        </p:nvGrpSpPr>
        <p:grpSpPr>
          <a:xfrm>
            <a:off x="5432960" y="2067627"/>
            <a:ext cx="4236820" cy="368720"/>
            <a:chOff x="6840000" y="1187197"/>
            <a:chExt cx="4320000" cy="361607"/>
          </a:xfrm>
        </p:grpSpPr>
        <p:sp>
          <p:nvSpPr>
            <p:cNvPr id="801" name="Google Shape;801;p40"/>
            <p:cNvSpPr txBox="1"/>
            <p:nvPr/>
          </p:nvSpPr>
          <p:spPr>
            <a:xfrm>
              <a:off x="7200000" y="1187197"/>
              <a:ext cx="3960000" cy="361607"/>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0" i="0" lang="pt-BR" sz="1000" u="none" cap="none" strike="noStrike">
                  <a:solidFill>
                    <a:schemeClr val="lt1"/>
                  </a:solidFill>
                  <a:latin typeface="Work Sans"/>
                  <a:ea typeface="Work Sans"/>
                  <a:cs typeface="Work Sans"/>
                  <a:sym typeface="Work Sans"/>
                </a:rPr>
                <a:t>Buscar o(s) </a:t>
              </a:r>
              <a:r>
                <a:rPr b="1" i="0" lang="pt-BR" sz="1000" u="none" cap="none" strike="noStrike">
                  <a:solidFill>
                    <a:schemeClr val="lt1"/>
                  </a:solidFill>
                  <a:latin typeface="Work Sans"/>
                  <a:ea typeface="Work Sans"/>
                  <a:cs typeface="Work Sans"/>
                  <a:sym typeface="Work Sans"/>
                </a:rPr>
                <a:t>número(s) intermediário(s)</a:t>
              </a: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p:txBody>
        </p:sp>
        <p:sp>
          <p:nvSpPr>
            <p:cNvPr id="802" name="Google Shape;802;p40"/>
            <p:cNvSpPr/>
            <p:nvPr/>
          </p:nvSpPr>
          <p:spPr>
            <a:xfrm>
              <a:off x="6840000" y="1207500"/>
              <a:ext cx="360000" cy="341304"/>
            </a:xfrm>
            <a:prstGeom prst="roundRect">
              <a:avLst>
                <a:gd fmla="val 16667" name="adj"/>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chemeClr val="lt1"/>
                  </a:solidFill>
                  <a:latin typeface="Work Sans"/>
                  <a:ea typeface="Work Sans"/>
                  <a:cs typeface="Work Sans"/>
                  <a:sym typeface="Work Sans"/>
                </a:rPr>
                <a:t>2º</a:t>
              </a:r>
              <a:endParaRPr b="1" i="0" sz="1000" u="none" cap="none" strike="noStrike">
                <a:solidFill>
                  <a:schemeClr val="lt1"/>
                </a:solidFill>
                <a:latin typeface="Work Sans"/>
                <a:ea typeface="Work Sans"/>
                <a:cs typeface="Work Sans"/>
                <a:sym typeface="Work Sans"/>
              </a:endParaRPr>
            </a:p>
          </p:txBody>
        </p:sp>
      </p:grpSp>
      <p:grpSp>
        <p:nvGrpSpPr>
          <p:cNvPr id="803" name="Google Shape;803;p40"/>
          <p:cNvGrpSpPr/>
          <p:nvPr/>
        </p:nvGrpSpPr>
        <p:grpSpPr>
          <a:xfrm>
            <a:off x="5432960" y="1625784"/>
            <a:ext cx="3883333" cy="368720"/>
            <a:chOff x="6840000" y="1321746"/>
            <a:chExt cx="4320000" cy="361607"/>
          </a:xfrm>
        </p:grpSpPr>
        <p:sp>
          <p:nvSpPr>
            <p:cNvPr id="804" name="Google Shape;804;p40"/>
            <p:cNvSpPr txBox="1"/>
            <p:nvPr/>
          </p:nvSpPr>
          <p:spPr>
            <a:xfrm>
              <a:off x="7200000" y="1321746"/>
              <a:ext cx="3960000" cy="361607"/>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Ordenar os termos </a:t>
              </a:r>
              <a:r>
                <a:rPr b="0" i="0" lang="pt-BR" sz="1000" u="none" cap="none" strike="noStrike">
                  <a:solidFill>
                    <a:schemeClr val="lt1"/>
                  </a:solidFill>
                  <a:latin typeface="Work Sans"/>
                  <a:ea typeface="Work Sans"/>
                  <a:cs typeface="Work Sans"/>
                  <a:sym typeface="Work Sans"/>
                </a:rPr>
                <a:t>em ordem crescente ou decrescente.</a:t>
              </a:r>
              <a:endParaRPr b="1" i="0" sz="1000" u="none" cap="none" strike="noStrike">
                <a:solidFill>
                  <a:schemeClr val="lt1"/>
                </a:solidFill>
                <a:latin typeface="Work Sans"/>
                <a:ea typeface="Work Sans"/>
                <a:cs typeface="Work Sans"/>
                <a:sym typeface="Work Sans"/>
              </a:endParaRPr>
            </a:p>
          </p:txBody>
        </p:sp>
        <p:sp>
          <p:nvSpPr>
            <p:cNvPr id="805" name="Google Shape;805;p40"/>
            <p:cNvSpPr/>
            <p:nvPr/>
          </p:nvSpPr>
          <p:spPr>
            <a:xfrm>
              <a:off x="6840000" y="1338403"/>
              <a:ext cx="392769" cy="344146"/>
            </a:xfrm>
            <a:prstGeom prst="roundRect">
              <a:avLst>
                <a:gd fmla="val 16667" name="adj"/>
              </a:avLst>
            </a:prstGeom>
            <a:solidFill>
              <a:srgbClr val="C1272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chemeClr val="lt1"/>
                  </a:solidFill>
                  <a:latin typeface="Work Sans"/>
                  <a:ea typeface="Work Sans"/>
                  <a:cs typeface="Work Sans"/>
                  <a:sym typeface="Work Sans"/>
                </a:rPr>
                <a:t>1º</a:t>
              </a:r>
              <a:endParaRPr b="1" i="0" sz="1000" u="none" cap="none" strike="noStrike">
                <a:solidFill>
                  <a:schemeClr val="lt1"/>
                </a:solidFill>
                <a:latin typeface="Work Sans"/>
                <a:ea typeface="Work Sans"/>
                <a:cs typeface="Work Sans"/>
                <a:sym typeface="Work Sans"/>
              </a:endParaRPr>
            </a:p>
          </p:txBody>
        </p:sp>
      </p:grpSp>
      <p:sp>
        <p:nvSpPr>
          <p:cNvPr id="806" name="Google Shape;806;p40"/>
          <p:cNvSpPr txBox="1"/>
          <p:nvPr/>
        </p:nvSpPr>
        <p:spPr>
          <a:xfrm>
            <a:off x="5086030" y="1214244"/>
            <a:ext cx="404632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BA0E02"/>
              </a:buClr>
              <a:buSzPts val="1500"/>
              <a:buFont typeface="Arial"/>
              <a:buNone/>
            </a:pPr>
            <a:r>
              <a:rPr b="1" i="0" lang="pt-BR" sz="1000" u="none" cap="none" strike="noStrike">
                <a:solidFill>
                  <a:schemeClr val="lt1"/>
                </a:solidFill>
                <a:latin typeface="Work Sans"/>
                <a:ea typeface="Work Sans"/>
                <a:cs typeface="Work Sans"/>
                <a:sym typeface="Work Sans"/>
              </a:rPr>
              <a:t>Passo a passo</a:t>
            </a:r>
            <a:endParaRPr b="0" i="0" sz="1000" u="none" cap="none" strike="noStrike">
              <a:solidFill>
                <a:schemeClr val="lt1"/>
              </a:solidFill>
              <a:latin typeface="Work Sans"/>
              <a:ea typeface="Work Sans"/>
              <a:cs typeface="Work Sans"/>
              <a:sym typeface="Work Sans"/>
            </a:endParaRPr>
          </a:p>
        </p:txBody>
      </p:sp>
      <p:sp>
        <p:nvSpPr>
          <p:cNvPr id="807" name="Google Shape;807;p40"/>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1000"/>
                                        <p:tgtEl>
                                          <p:spTgt spid="7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1000"/>
                                        <p:tgtEl>
                                          <p:spTgt spid="791"/>
                                        </p:tgtEl>
                                      </p:cBhvr>
                                    </p:animEffect>
                                  </p:childTnLst>
                                </p:cTn>
                              </p:par>
                              <p:par>
                                <p:cTn fill="hold" nodeType="with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1000"/>
                                        <p:tgtEl>
                                          <p:spTgt spid="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10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1000"/>
                                        <p:tgtEl>
                                          <p:spTgt spid="8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000"/>
                                        <p:tgtEl>
                                          <p:spTgt spid="797"/>
                                        </p:tgtEl>
                                      </p:cBhvr>
                                    </p:animEffect>
                                  </p:childTnLst>
                                </p:cTn>
                              </p:par>
                              <p:par>
                                <p:cTn fill="hold" nodeType="with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1000"/>
                                        <p:tgtEl>
                                          <p:spTgt spid="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1000"/>
                                        <p:tgtEl>
                                          <p:spTgt spid="796"/>
                                        </p:tgtEl>
                                      </p:cBhvr>
                                    </p:animEffect>
                                  </p:childTnLst>
                                </p:cTn>
                              </p:par>
                              <p:par>
                                <p:cTn fill="hold" nodeType="with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1000"/>
                                        <p:tgtEl>
                                          <p:spTgt spid="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41"/>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813" name="Google Shape;813;p41"/>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814" name="Google Shape;814;p41"/>
          <p:cNvGrpSpPr/>
          <p:nvPr/>
        </p:nvGrpSpPr>
        <p:grpSpPr>
          <a:xfrm>
            <a:off x="339712" y="888243"/>
            <a:ext cx="2825326" cy="397001"/>
            <a:chOff x="938974" y="1053283"/>
            <a:chExt cx="4201831" cy="575247"/>
          </a:xfrm>
        </p:grpSpPr>
        <p:sp>
          <p:nvSpPr>
            <p:cNvPr id="815" name="Google Shape;815;p41"/>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Estatística descritiva </a:t>
              </a:r>
              <a:endParaRPr b="1" i="0" sz="1200" u="none" cap="none" strike="noStrike">
                <a:solidFill>
                  <a:schemeClr val="lt1"/>
                </a:solidFill>
                <a:latin typeface="Work Sans"/>
                <a:ea typeface="Work Sans"/>
                <a:cs typeface="Work Sans"/>
                <a:sym typeface="Work Sans"/>
              </a:endParaRPr>
            </a:p>
          </p:txBody>
        </p:sp>
        <p:pic>
          <p:nvPicPr>
            <p:cNvPr descr="Tally outline" id="816" name="Google Shape;816;p41"/>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817" name="Google Shape;817;p41"/>
          <p:cNvSpPr txBox="1"/>
          <p:nvPr/>
        </p:nvSpPr>
        <p:spPr>
          <a:xfrm>
            <a:off x="5852753" y="6385581"/>
            <a:ext cx="486493" cy="398966"/>
          </a:xfrm>
          <a:prstGeom prst="rect">
            <a:avLst/>
          </a:prstGeom>
          <a:no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pt-BR" sz="1100" u="none" cap="none" strike="noStrike">
                <a:solidFill>
                  <a:schemeClr val="lt1"/>
                </a:solidFill>
                <a:latin typeface="Work Sans"/>
                <a:ea typeface="Work Sans"/>
                <a:cs typeface="Work Sans"/>
                <a:sym typeface="Work Sans"/>
              </a:rPr>
              <a:t>‹#›</a:t>
            </a:fld>
            <a:endParaRPr b="0" i="0" sz="1100" u="none" cap="none" strike="noStrike">
              <a:solidFill>
                <a:schemeClr val="lt1"/>
              </a:solidFill>
              <a:latin typeface="Work Sans"/>
              <a:ea typeface="Work Sans"/>
              <a:cs typeface="Work Sans"/>
              <a:sym typeface="Work Sans"/>
            </a:endParaRPr>
          </a:p>
        </p:txBody>
      </p:sp>
      <p:sp>
        <p:nvSpPr>
          <p:cNvPr id="818" name="Google Shape;818;p41"/>
          <p:cNvSpPr/>
          <p:nvPr/>
        </p:nvSpPr>
        <p:spPr>
          <a:xfrm>
            <a:off x="795730" y="1365993"/>
            <a:ext cx="1596950" cy="567857"/>
          </a:xfrm>
          <a:prstGeom prst="roundRect">
            <a:avLst>
              <a:gd fmla="val 16667" name="adj"/>
            </a:avLst>
          </a:prstGeom>
          <a:solidFill>
            <a:srgbClr val="FFFFFF"/>
          </a:solidFill>
          <a:ln cap="flat" cmpd="sng" w="28575">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pt-BR" sz="1000" u="none" cap="none" strike="noStrike">
                <a:solidFill>
                  <a:schemeClr val="lt1"/>
                </a:solidFill>
                <a:latin typeface="Work Sans"/>
                <a:ea typeface="Work Sans"/>
                <a:cs typeface="Work Sans"/>
                <a:sym typeface="Work Sans"/>
              </a:rPr>
              <a:t>Desvio-padrão</a:t>
            </a:r>
            <a:endParaRPr b="0"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800"/>
              <a:buFont typeface="Arial"/>
              <a:buNone/>
            </a:pPr>
            <a:r>
              <a:rPr b="0" i="1" lang="pt-BR" sz="1000" u="none" cap="none" strike="noStrike">
                <a:solidFill>
                  <a:schemeClr val="lt1"/>
                </a:solidFill>
                <a:latin typeface="Work Sans"/>
                <a:ea typeface="Work Sans"/>
                <a:cs typeface="Work Sans"/>
                <a:sym typeface="Work Sans"/>
              </a:rPr>
              <a:t>standard deviation</a:t>
            </a:r>
            <a:endParaRPr b="0" i="0" sz="1000" u="none" cap="none" strike="noStrike">
              <a:solidFill>
                <a:schemeClr val="lt1"/>
              </a:solidFill>
              <a:latin typeface="Work Sans"/>
              <a:ea typeface="Work Sans"/>
              <a:cs typeface="Work Sans"/>
              <a:sym typeface="Work Sans"/>
            </a:endParaRPr>
          </a:p>
        </p:txBody>
      </p:sp>
      <p:sp>
        <p:nvSpPr>
          <p:cNvPr id="819" name="Google Shape;819;p41"/>
          <p:cNvSpPr txBox="1"/>
          <p:nvPr/>
        </p:nvSpPr>
        <p:spPr>
          <a:xfrm>
            <a:off x="972000" y="2802641"/>
            <a:ext cx="7200000" cy="24618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Quanto maior o </a:t>
            </a:r>
            <a:r>
              <a:rPr b="1" i="0" lang="pt-BR" sz="1000" u="none" cap="none" strike="noStrike">
                <a:solidFill>
                  <a:schemeClr val="lt1"/>
                </a:solidFill>
                <a:latin typeface="Work Sans"/>
                <a:ea typeface="Work Sans"/>
                <a:cs typeface="Work Sans"/>
                <a:sym typeface="Work Sans"/>
              </a:rPr>
              <a:t>desvio padrão</a:t>
            </a:r>
            <a:r>
              <a:rPr b="0" i="0" lang="pt-BR" sz="1000" u="none" cap="none" strike="noStrike">
                <a:solidFill>
                  <a:schemeClr val="lt1"/>
                </a:solidFill>
                <a:latin typeface="Work Sans"/>
                <a:ea typeface="Work Sans"/>
                <a:cs typeface="Work Sans"/>
                <a:sym typeface="Work Sans"/>
              </a:rPr>
              <a:t>, o conjunto de dados está </a:t>
            </a:r>
            <a:r>
              <a:rPr b="1" i="0" lang="pt-BR" sz="1000" u="none" cap="none" strike="noStrike">
                <a:solidFill>
                  <a:schemeClr val="lt1"/>
                </a:solidFill>
                <a:latin typeface="Work Sans"/>
                <a:ea typeface="Work Sans"/>
                <a:cs typeface="Work Sans"/>
                <a:sym typeface="Work Sans"/>
              </a:rPr>
              <a:t>mais distante da média</a:t>
            </a:r>
            <a:endParaRPr b="0" i="0" sz="1000" u="none" cap="none" strike="noStrike">
              <a:solidFill>
                <a:schemeClr val="lt1"/>
              </a:solidFill>
              <a:latin typeface="Work Sans"/>
              <a:ea typeface="Work Sans"/>
              <a:cs typeface="Work Sans"/>
              <a:sym typeface="Work Sans"/>
            </a:endParaRPr>
          </a:p>
        </p:txBody>
      </p:sp>
      <p:pic>
        <p:nvPicPr>
          <p:cNvPr id="820" name="Google Shape;820;p41"/>
          <p:cNvPicPr preferRelativeResize="0"/>
          <p:nvPr/>
        </p:nvPicPr>
        <p:blipFill rotWithShape="1">
          <a:blip r:embed="rId4">
            <a:alphaModFix/>
          </a:blip>
          <a:srcRect b="0" l="0" r="0" t="9089"/>
          <a:stretch/>
        </p:blipFill>
        <p:spPr>
          <a:xfrm>
            <a:off x="479455" y="3212623"/>
            <a:ext cx="3826450" cy="1335685"/>
          </a:xfrm>
          <a:prstGeom prst="rect">
            <a:avLst/>
          </a:prstGeom>
          <a:noFill/>
          <a:ln>
            <a:noFill/>
          </a:ln>
        </p:spPr>
      </p:pic>
      <p:sp>
        <p:nvSpPr>
          <p:cNvPr id="821" name="Google Shape;821;p41"/>
          <p:cNvSpPr txBox="1"/>
          <p:nvPr/>
        </p:nvSpPr>
        <p:spPr>
          <a:xfrm>
            <a:off x="4858082" y="3453540"/>
            <a:ext cx="3958930" cy="316800"/>
          </a:xfrm>
          <a:prstGeom prst="rect">
            <a:avLst/>
          </a:prstGeom>
          <a:noFill/>
          <a:ln>
            <a:noFill/>
          </a:ln>
        </p:spPr>
        <p:txBody>
          <a:bodyPr anchorCtr="0" anchor="t" bIns="45700" lIns="91425" spcFirstLastPara="1" rIns="91425" wrap="square" tIns="45700">
            <a:noAutofit/>
          </a:bodyPr>
          <a:lstStyle/>
          <a:p>
            <a:pPr indent="-311150" lvl="0" marL="457200" marR="0" rtl="0" algn="l">
              <a:lnSpc>
                <a:spcPct val="100000"/>
              </a:lnSpc>
              <a:spcBef>
                <a:spcPts val="0"/>
              </a:spcBef>
              <a:spcAft>
                <a:spcPts val="0"/>
              </a:spcAft>
              <a:buClr>
                <a:srgbClr val="000000"/>
              </a:buClr>
              <a:buSzPts val="1300"/>
              <a:buFont typeface="Montserrat"/>
              <a:buChar char="●"/>
            </a:pPr>
            <a:r>
              <a:rPr b="0" i="0" lang="pt-BR" sz="1000" u="none" cap="none" strike="noStrike">
                <a:solidFill>
                  <a:schemeClr val="lt1"/>
                </a:solidFill>
                <a:latin typeface="Work Sans"/>
                <a:ea typeface="Work Sans"/>
                <a:cs typeface="Work Sans"/>
                <a:sym typeface="Work Sans"/>
              </a:rPr>
              <a:t>O desvio-padrão </a:t>
            </a:r>
            <a:r>
              <a:rPr b="1" i="0" lang="pt-BR" sz="1000" u="none" cap="none" strike="noStrike">
                <a:solidFill>
                  <a:schemeClr val="lt1"/>
                </a:solidFill>
                <a:latin typeface="Work Sans"/>
                <a:ea typeface="Work Sans"/>
                <a:cs typeface="Work Sans"/>
                <a:sym typeface="Work Sans"/>
              </a:rPr>
              <a:t>é zero </a:t>
            </a:r>
            <a:r>
              <a:rPr b="0" i="0" lang="pt-BR" sz="1000" u="none" cap="none" strike="noStrike">
                <a:solidFill>
                  <a:schemeClr val="lt1"/>
                </a:solidFill>
                <a:latin typeface="Work Sans"/>
                <a:ea typeface="Work Sans"/>
                <a:cs typeface="Work Sans"/>
                <a:sym typeface="Work Sans"/>
              </a:rPr>
              <a:t>então todos elementos do conjunto são </a:t>
            </a:r>
            <a:r>
              <a:rPr b="1" i="0" lang="pt-BR" sz="1000" u="none" cap="none" strike="noStrike">
                <a:solidFill>
                  <a:schemeClr val="lt1"/>
                </a:solidFill>
                <a:latin typeface="Work Sans"/>
                <a:ea typeface="Work Sans"/>
                <a:cs typeface="Work Sans"/>
                <a:sym typeface="Work Sans"/>
              </a:rPr>
              <a:t>iguais</a:t>
            </a:r>
            <a:endParaRPr b="1" i="0" sz="1000" u="none" cap="none" strike="noStrike">
              <a:solidFill>
                <a:schemeClr val="lt1"/>
              </a:solidFill>
              <a:latin typeface="Work Sans"/>
              <a:ea typeface="Work Sans"/>
              <a:cs typeface="Work Sans"/>
              <a:sym typeface="Work Sans"/>
            </a:endParaRPr>
          </a:p>
        </p:txBody>
      </p:sp>
      <p:sp>
        <p:nvSpPr>
          <p:cNvPr id="822" name="Google Shape;822;p41"/>
          <p:cNvSpPr txBox="1"/>
          <p:nvPr/>
        </p:nvSpPr>
        <p:spPr>
          <a:xfrm>
            <a:off x="4858082" y="3813540"/>
            <a:ext cx="3958930" cy="316800"/>
          </a:xfrm>
          <a:prstGeom prst="rect">
            <a:avLst/>
          </a:prstGeom>
          <a:noFill/>
          <a:ln>
            <a:noFill/>
          </a:ln>
        </p:spPr>
        <p:txBody>
          <a:bodyPr anchorCtr="0" anchor="t" bIns="45700" lIns="91425" spcFirstLastPara="1" rIns="91425" wrap="square" tIns="45700">
            <a:noAutofit/>
          </a:bodyPr>
          <a:lstStyle/>
          <a:p>
            <a:pPr indent="-311150" lvl="0" marL="457200" marR="0" rtl="0" algn="l">
              <a:lnSpc>
                <a:spcPct val="100000"/>
              </a:lnSpc>
              <a:spcBef>
                <a:spcPts val="0"/>
              </a:spcBef>
              <a:spcAft>
                <a:spcPts val="0"/>
              </a:spcAft>
              <a:buClr>
                <a:srgbClr val="000000"/>
              </a:buClr>
              <a:buSzPts val="1300"/>
              <a:buFont typeface="Montserrat"/>
              <a:buChar char="●"/>
            </a:pPr>
            <a:r>
              <a:rPr b="0" i="0" lang="pt-BR" sz="1000" u="none" cap="none" strike="noStrike">
                <a:solidFill>
                  <a:schemeClr val="lt1"/>
                </a:solidFill>
                <a:latin typeface="Work Sans"/>
                <a:ea typeface="Work Sans"/>
                <a:cs typeface="Work Sans"/>
                <a:sym typeface="Work Sans"/>
              </a:rPr>
              <a:t>O desvio-padrão </a:t>
            </a:r>
            <a:r>
              <a:rPr b="1" i="0" lang="pt-BR" sz="1000" u="none" cap="none" strike="noStrike">
                <a:solidFill>
                  <a:schemeClr val="lt1"/>
                </a:solidFill>
                <a:latin typeface="Work Sans"/>
                <a:ea typeface="Work Sans"/>
                <a:cs typeface="Work Sans"/>
                <a:sym typeface="Work Sans"/>
              </a:rPr>
              <a:t>continua o mesmo </a:t>
            </a:r>
            <a:r>
              <a:rPr b="0" i="0" lang="pt-BR" sz="1000" u="none" cap="none" strike="noStrike">
                <a:solidFill>
                  <a:schemeClr val="lt1"/>
                </a:solidFill>
                <a:latin typeface="Work Sans"/>
                <a:ea typeface="Work Sans"/>
                <a:cs typeface="Work Sans"/>
                <a:sym typeface="Work Sans"/>
              </a:rPr>
              <a:t>após uma </a:t>
            </a:r>
            <a:r>
              <a:rPr b="1" i="0" lang="pt-BR" sz="1000" u="none" cap="none" strike="noStrike">
                <a:solidFill>
                  <a:schemeClr val="lt1"/>
                </a:solidFill>
                <a:latin typeface="Work Sans"/>
                <a:ea typeface="Work Sans"/>
                <a:cs typeface="Work Sans"/>
                <a:sym typeface="Work Sans"/>
              </a:rPr>
              <a:t>translação </a:t>
            </a:r>
            <a:r>
              <a:rPr b="0" i="0" lang="pt-BR" sz="1000" u="none" cap="none" strike="noStrike">
                <a:solidFill>
                  <a:schemeClr val="lt1"/>
                </a:solidFill>
                <a:latin typeface="Work Sans"/>
                <a:ea typeface="Work Sans"/>
                <a:cs typeface="Work Sans"/>
                <a:sym typeface="Work Sans"/>
              </a:rPr>
              <a:t>na reta numérica (conjunto)</a:t>
            </a:r>
            <a:endParaRPr b="0" i="0" sz="1000" u="none" cap="none" strike="noStrike">
              <a:solidFill>
                <a:schemeClr val="lt1"/>
              </a:solidFill>
              <a:latin typeface="Work Sans"/>
              <a:ea typeface="Work Sans"/>
              <a:cs typeface="Work Sans"/>
              <a:sym typeface="Work Sans"/>
            </a:endParaRPr>
          </a:p>
        </p:txBody>
      </p:sp>
      <p:sp>
        <p:nvSpPr>
          <p:cNvPr id="823" name="Google Shape;823;p41"/>
          <p:cNvSpPr txBox="1"/>
          <p:nvPr/>
        </p:nvSpPr>
        <p:spPr>
          <a:xfrm>
            <a:off x="4858082" y="4173540"/>
            <a:ext cx="3958930" cy="400069"/>
          </a:xfrm>
          <a:prstGeom prst="rect">
            <a:avLst/>
          </a:prstGeom>
          <a:noFill/>
          <a:ln>
            <a:noFill/>
          </a:ln>
        </p:spPr>
        <p:txBody>
          <a:bodyPr anchorCtr="0" anchor="t" bIns="45700" lIns="91425" spcFirstLastPara="1" rIns="91425" wrap="square" tIns="45700">
            <a:spAutoFit/>
          </a:bodyPr>
          <a:lstStyle/>
          <a:p>
            <a:pPr indent="-311150" lvl="0" marL="457200" marR="0" rtl="0" algn="l">
              <a:lnSpc>
                <a:spcPct val="100000"/>
              </a:lnSpc>
              <a:spcBef>
                <a:spcPts val="0"/>
              </a:spcBef>
              <a:spcAft>
                <a:spcPts val="0"/>
              </a:spcAft>
              <a:buClr>
                <a:srgbClr val="000000"/>
              </a:buClr>
              <a:buSzPts val="1300"/>
              <a:buFont typeface="Montserrat"/>
              <a:buChar char="●"/>
            </a:pPr>
            <a:r>
              <a:rPr b="0" i="0" lang="pt-BR" sz="1000" u="none" cap="none" strike="noStrike">
                <a:solidFill>
                  <a:schemeClr val="lt1"/>
                </a:solidFill>
                <a:latin typeface="Work Sans"/>
                <a:ea typeface="Work Sans"/>
                <a:cs typeface="Work Sans"/>
                <a:sym typeface="Work Sans"/>
              </a:rPr>
              <a:t>O desvio-padrão </a:t>
            </a:r>
            <a:r>
              <a:rPr b="1" i="0" lang="pt-BR" sz="1000" u="none" cap="none" strike="noStrike">
                <a:solidFill>
                  <a:schemeClr val="lt1"/>
                </a:solidFill>
                <a:latin typeface="Work Sans"/>
                <a:ea typeface="Work Sans"/>
                <a:cs typeface="Work Sans"/>
                <a:sym typeface="Work Sans"/>
              </a:rPr>
              <a:t>é multiplicado por k</a:t>
            </a:r>
            <a:r>
              <a:rPr b="0" i="0" lang="pt-BR" sz="1000" u="none" cap="none" strike="noStrike">
                <a:solidFill>
                  <a:schemeClr val="lt1"/>
                </a:solidFill>
                <a:latin typeface="Work Sans"/>
                <a:ea typeface="Work Sans"/>
                <a:cs typeface="Work Sans"/>
                <a:sym typeface="Work Sans"/>
              </a:rPr>
              <a:t> quando </a:t>
            </a:r>
            <a:r>
              <a:rPr b="1" i="0" lang="pt-BR" sz="1000" u="none" cap="none" strike="noStrike">
                <a:solidFill>
                  <a:schemeClr val="lt1"/>
                </a:solidFill>
                <a:latin typeface="Work Sans"/>
                <a:ea typeface="Work Sans"/>
                <a:cs typeface="Work Sans"/>
                <a:sym typeface="Work Sans"/>
              </a:rPr>
              <a:t>multiplicamos por k o conjunto </a:t>
            </a:r>
            <a:r>
              <a:rPr b="0" i="0" lang="pt-BR" sz="1000" u="none" cap="none" strike="noStrike">
                <a:solidFill>
                  <a:schemeClr val="lt1"/>
                </a:solidFill>
                <a:latin typeface="Work Sans"/>
                <a:ea typeface="Work Sans"/>
                <a:cs typeface="Work Sans"/>
                <a:sym typeface="Work Sans"/>
              </a:rPr>
              <a:t>original</a:t>
            </a:r>
            <a:endParaRPr b="0" i="0" sz="1000" u="none" cap="none" strike="noStrike">
              <a:solidFill>
                <a:schemeClr val="lt1"/>
              </a:solidFill>
              <a:latin typeface="Work Sans"/>
              <a:ea typeface="Work Sans"/>
              <a:cs typeface="Work Sans"/>
              <a:sym typeface="Work Sans"/>
            </a:endParaRPr>
          </a:p>
        </p:txBody>
      </p:sp>
      <p:pic>
        <p:nvPicPr>
          <p:cNvPr id="824" name="Google Shape;824;p41"/>
          <p:cNvPicPr preferRelativeResize="0"/>
          <p:nvPr/>
        </p:nvPicPr>
        <p:blipFill rotWithShape="1">
          <a:blip r:embed="rId5">
            <a:alphaModFix/>
          </a:blip>
          <a:srcRect b="0" l="0" r="0" t="0"/>
          <a:stretch/>
        </p:blipFill>
        <p:spPr>
          <a:xfrm>
            <a:off x="2775010" y="1464243"/>
            <a:ext cx="1080710" cy="397002"/>
          </a:xfrm>
          <a:prstGeom prst="rect">
            <a:avLst/>
          </a:prstGeom>
          <a:noFill/>
          <a:ln>
            <a:noFill/>
          </a:ln>
        </p:spPr>
      </p:pic>
      <p:sp>
        <p:nvSpPr>
          <p:cNvPr id="825" name="Google Shape;825;p41"/>
          <p:cNvSpPr txBox="1"/>
          <p:nvPr/>
        </p:nvSpPr>
        <p:spPr>
          <a:xfrm>
            <a:off x="722374" y="2190117"/>
            <a:ext cx="7804405"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Raíz do somatório do quadrado da </a:t>
            </a:r>
            <a:r>
              <a:rPr b="1" i="0" lang="pt-BR" sz="1000" u="none" cap="none" strike="noStrike">
                <a:solidFill>
                  <a:schemeClr val="lt1"/>
                </a:solidFill>
                <a:latin typeface="Work Sans"/>
                <a:ea typeface="Work Sans"/>
                <a:cs typeface="Work Sans"/>
                <a:sym typeface="Work Sans"/>
              </a:rPr>
              <a:t>diferença entre os elementos de um conjunto e sua média </a:t>
            </a:r>
            <a:r>
              <a:rPr b="0" i="0" lang="pt-BR" sz="1000" u="none" cap="none" strike="noStrike">
                <a:solidFill>
                  <a:schemeClr val="lt1"/>
                </a:solidFill>
                <a:latin typeface="Work Sans"/>
                <a:ea typeface="Work Sans"/>
                <a:cs typeface="Work Sans"/>
                <a:sym typeface="Work Sans"/>
              </a:rPr>
              <a:t>dividido pelo número de elementos</a:t>
            </a:r>
            <a:endParaRPr b="0" i="0" sz="1000" u="none" cap="none" strike="noStrike">
              <a:solidFill>
                <a:schemeClr val="lt1"/>
              </a:solidFill>
              <a:latin typeface="Work Sans"/>
              <a:ea typeface="Work Sans"/>
              <a:cs typeface="Work Sans"/>
              <a:sym typeface="Work Sans"/>
            </a:endParaRPr>
          </a:p>
        </p:txBody>
      </p:sp>
      <p:pic>
        <p:nvPicPr>
          <p:cNvPr id="826" name="Google Shape;826;p41"/>
          <p:cNvPicPr preferRelativeResize="0"/>
          <p:nvPr/>
        </p:nvPicPr>
        <p:blipFill rotWithShape="1">
          <a:blip r:embed="rId6">
            <a:alphaModFix/>
          </a:blip>
          <a:srcRect b="0" l="0" r="0" t="0"/>
          <a:stretch/>
        </p:blipFill>
        <p:spPr>
          <a:xfrm>
            <a:off x="7379521" y="2802641"/>
            <a:ext cx="792479" cy="196962"/>
          </a:xfrm>
          <a:prstGeom prst="rect">
            <a:avLst/>
          </a:prstGeom>
          <a:noFill/>
          <a:ln>
            <a:noFill/>
          </a:ln>
        </p:spPr>
      </p:pic>
      <p:sp>
        <p:nvSpPr>
          <p:cNvPr id="827" name="Google Shape;827;p41"/>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1000"/>
                                        <p:tgtEl>
                                          <p:spTgt spid="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1000"/>
                                        <p:tgtEl>
                                          <p:spTgt spid="8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10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000"/>
                                        <p:tgtEl>
                                          <p:spTgt spid="8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1000"/>
                                        <p:tgtEl>
                                          <p:spTgt spid="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42"/>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833" name="Google Shape;833;p42"/>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834" name="Google Shape;834;p42"/>
          <p:cNvGrpSpPr/>
          <p:nvPr/>
        </p:nvGrpSpPr>
        <p:grpSpPr>
          <a:xfrm>
            <a:off x="339712" y="888243"/>
            <a:ext cx="2825326" cy="397001"/>
            <a:chOff x="938974" y="1053283"/>
            <a:chExt cx="4201831" cy="575247"/>
          </a:xfrm>
        </p:grpSpPr>
        <p:sp>
          <p:nvSpPr>
            <p:cNvPr id="835" name="Google Shape;835;p42"/>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Estatística descritiva </a:t>
              </a:r>
              <a:endParaRPr b="1" i="0" sz="1200" u="none" cap="none" strike="noStrike">
                <a:solidFill>
                  <a:schemeClr val="lt1"/>
                </a:solidFill>
                <a:latin typeface="Work Sans"/>
                <a:ea typeface="Work Sans"/>
                <a:cs typeface="Work Sans"/>
                <a:sym typeface="Work Sans"/>
              </a:endParaRPr>
            </a:p>
          </p:txBody>
        </p:sp>
        <p:pic>
          <p:nvPicPr>
            <p:cNvPr descr="Tally outline" id="836" name="Google Shape;836;p42"/>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837" name="Google Shape;837;p42"/>
          <p:cNvSpPr txBox="1"/>
          <p:nvPr/>
        </p:nvSpPr>
        <p:spPr>
          <a:xfrm>
            <a:off x="5852753" y="6385581"/>
            <a:ext cx="486493" cy="398966"/>
          </a:xfrm>
          <a:prstGeom prst="rect">
            <a:avLst/>
          </a:prstGeom>
          <a:no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pt-BR" sz="1100" u="none" cap="none" strike="noStrike">
                <a:solidFill>
                  <a:schemeClr val="lt1"/>
                </a:solidFill>
                <a:latin typeface="Work Sans"/>
                <a:ea typeface="Work Sans"/>
                <a:cs typeface="Work Sans"/>
                <a:sym typeface="Work Sans"/>
              </a:rPr>
              <a:t>‹#›</a:t>
            </a:fld>
            <a:endParaRPr b="0" i="0" sz="1100" u="none" cap="none" strike="noStrike">
              <a:solidFill>
                <a:schemeClr val="lt1"/>
              </a:solidFill>
              <a:latin typeface="Work Sans"/>
              <a:ea typeface="Work Sans"/>
              <a:cs typeface="Work Sans"/>
              <a:sym typeface="Work Sans"/>
            </a:endParaRPr>
          </a:p>
        </p:txBody>
      </p:sp>
      <p:sp>
        <p:nvSpPr>
          <p:cNvPr id="838" name="Google Shape;838;p42"/>
          <p:cNvSpPr txBox="1"/>
          <p:nvPr/>
        </p:nvSpPr>
        <p:spPr>
          <a:xfrm>
            <a:off x="734787" y="1250325"/>
            <a:ext cx="1035684" cy="379304"/>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100" u="none" cap="none" strike="noStrike">
                <a:solidFill>
                  <a:schemeClr val="lt1"/>
                </a:solidFill>
                <a:latin typeface="Work Sans"/>
                <a:ea typeface="Work Sans"/>
                <a:cs typeface="Work Sans"/>
                <a:sym typeface="Work Sans"/>
              </a:rPr>
              <a:t>Exemplo 3</a:t>
            </a:r>
            <a:endParaRPr b="0" i="0" sz="1100" u="none" cap="none" strike="noStrike">
              <a:solidFill>
                <a:schemeClr val="lt1"/>
              </a:solidFill>
              <a:latin typeface="Work Sans"/>
              <a:ea typeface="Work Sans"/>
              <a:cs typeface="Work Sans"/>
              <a:sym typeface="Work Sans"/>
            </a:endParaRPr>
          </a:p>
        </p:txBody>
      </p:sp>
      <p:sp>
        <p:nvSpPr>
          <p:cNvPr id="839" name="Google Shape;839;p42"/>
          <p:cNvSpPr txBox="1"/>
          <p:nvPr/>
        </p:nvSpPr>
        <p:spPr>
          <a:xfrm>
            <a:off x="734786" y="1567209"/>
            <a:ext cx="7746273" cy="2431405"/>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For each student in a certain class, a teacher adjusted the student’s test score using the formula y = 0.8x + 20, where x is the student’s original test score and y is the student’s adjusted test score. If the standard deviation of the original test scores of the students in the class was 20, what was the standard deviation of the adjusted test scores of the students in the class?</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(A) 12</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(B) 16</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(C) 28</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(D) 36</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1000"/>
              </a:spcAft>
              <a:buClr>
                <a:srgbClr val="000000"/>
              </a:buClr>
              <a:buSzPts val="1300"/>
              <a:buFont typeface="Arial"/>
              <a:buNone/>
            </a:pPr>
            <a:r>
              <a:rPr b="0" i="0" lang="pt-BR" sz="1000" u="none" cap="none" strike="noStrike">
                <a:solidFill>
                  <a:schemeClr val="lt1"/>
                </a:solidFill>
                <a:latin typeface="Work Sans"/>
                <a:ea typeface="Work Sans"/>
                <a:cs typeface="Work Sans"/>
                <a:sym typeface="Work Sans"/>
              </a:rPr>
              <a:t>(E) 40</a:t>
            </a:r>
            <a:endParaRPr b="0" i="0" sz="1000" u="none" cap="none" strike="noStrike">
              <a:solidFill>
                <a:schemeClr val="lt1"/>
              </a:solidFill>
              <a:latin typeface="Work Sans"/>
              <a:ea typeface="Work Sans"/>
              <a:cs typeface="Work Sans"/>
              <a:sym typeface="Work Sans"/>
            </a:endParaRPr>
          </a:p>
        </p:txBody>
      </p:sp>
      <p:pic>
        <p:nvPicPr>
          <p:cNvPr id="840" name="Google Shape;840;p42"/>
          <p:cNvPicPr preferRelativeResize="0"/>
          <p:nvPr/>
        </p:nvPicPr>
        <p:blipFill rotWithShape="1">
          <a:blip r:embed="rId4">
            <a:alphaModFix/>
          </a:blip>
          <a:srcRect b="0" l="0" r="0" t="0"/>
          <a:stretch/>
        </p:blipFill>
        <p:spPr>
          <a:xfrm>
            <a:off x="3680460" y="4268392"/>
            <a:ext cx="1645920" cy="224799"/>
          </a:xfrm>
          <a:prstGeom prst="rect">
            <a:avLst/>
          </a:prstGeom>
          <a:noFill/>
          <a:ln>
            <a:noFill/>
          </a:ln>
        </p:spPr>
      </p:pic>
      <p:grpSp>
        <p:nvGrpSpPr>
          <p:cNvPr id="841" name="Google Shape;841;p42"/>
          <p:cNvGrpSpPr/>
          <p:nvPr/>
        </p:nvGrpSpPr>
        <p:grpSpPr>
          <a:xfrm>
            <a:off x="3004622" y="2485316"/>
            <a:ext cx="2848131" cy="1466726"/>
            <a:chOff x="7200000" y="3396525"/>
            <a:chExt cx="3960000" cy="1466726"/>
          </a:xfrm>
        </p:grpSpPr>
        <p:sp>
          <p:nvSpPr>
            <p:cNvPr id="842" name="Google Shape;842;p42"/>
            <p:cNvSpPr txBox="1"/>
            <p:nvPr/>
          </p:nvSpPr>
          <p:spPr>
            <a:xfrm>
              <a:off x="7200000" y="3899107"/>
              <a:ext cx="3960000" cy="4000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600"/>
                <a:buFont typeface="Arial"/>
                <a:buNone/>
              </a:pPr>
              <a:r>
                <a:rPr b="0" i="0" lang="pt-BR" sz="1000" u="none" cap="none" strike="noStrike">
                  <a:solidFill>
                    <a:schemeClr val="lt1"/>
                  </a:solidFill>
                  <a:latin typeface="Work Sans"/>
                  <a:ea typeface="Work Sans"/>
                  <a:cs typeface="Work Sans"/>
                  <a:sym typeface="Work Sans"/>
                </a:rPr>
                <a:t>O desvio-padrão continua o mesmo após uma translação na reta numérica.</a:t>
              </a:r>
              <a:endParaRPr b="0" i="0" sz="1000" u="none" cap="none" strike="noStrike">
                <a:solidFill>
                  <a:schemeClr val="lt1"/>
                </a:solidFill>
                <a:latin typeface="Work Sans"/>
                <a:ea typeface="Work Sans"/>
                <a:cs typeface="Work Sans"/>
                <a:sym typeface="Work Sans"/>
              </a:endParaRPr>
            </a:p>
          </p:txBody>
        </p:sp>
        <p:sp>
          <p:nvSpPr>
            <p:cNvPr id="843" name="Google Shape;843;p42"/>
            <p:cNvSpPr txBox="1"/>
            <p:nvPr/>
          </p:nvSpPr>
          <p:spPr>
            <a:xfrm>
              <a:off x="7200000" y="4463182"/>
              <a:ext cx="3960000" cy="4000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600"/>
                <a:buFont typeface="Arial"/>
                <a:buNone/>
              </a:pPr>
              <a:r>
                <a:rPr b="0" i="0" lang="pt-BR" sz="1000" u="none" cap="none" strike="noStrike">
                  <a:solidFill>
                    <a:schemeClr val="lt1"/>
                  </a:solidFill>
                  <a:latin typeface="Work Sans"/>
                  <a:ea typeface="Work Sans"/>
                  <a:cs typeface="Work Sans"/>
                  <a:sym typeface="Work Sans"/>
                </a:rPr>
                <a:t>O desvio-padrão é multiplicado por k quando multiplicamos por k o conjunto original.</a:t>
              </a:r>
              <a:endParaRPr b="0" i="0" sz="1000" u="none" cap="none" strike="noStrike">
                <a:solidFill>
                  <a:schemeClr val="lt1"/>
                </a:solidFill>
                <a:latin typeface="Work Sans"/>
                <a:ea typeface="Work Sans"/>
                <a:cs typeface="Work Sans"/>
                <a:sym typeface="Work Sans"/>
              </a:endParaRPr>
            </a:p>
          </p:txBody>
        </p:sp>
        <p:sp>
          <p:nvSpPr>
            <p:cNvPr id="844" name="Google Shape;844;p42"/>
            <p:cNvSpPr txBox="1"/>
            <p:nvPr/>
          </p:nvSpPr>
          <p:spPr>
            <a:xfrm>
              <a:off x="7200000" y="3396525"/>
              <a:ext cx="3960000" cy="361607"/>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1" i="0" lang="pt-BR" sz="1000" u="none" cap="none" strike="noStrike">
                  <a:solidFill>
                    <a:schemeClr val="lt1"/>
                  </a:solidFill>
                  <a:latin typeface="Work Sans"/>
                  <a:ea typeface="Work Sans"/>
                  <a:cs typeface="Work Sans"/>
                  <a:sym typeface="Work Sans"/>
                </a:rPr>
                <a:t>Lembrando…</a:t>
              </a:r>
              <a:endParaRPr b="0" i="0" sz="1000" u="none" cap="none" strike="noStrike">
                <a:solidFill>
                  <a:schemeClr val="lt1"/>
                </a:solidFill>
                <a:latin typeface="Work Sans"/>
                <a:ea typeface="Work Sans"/>
                <a:cs typeface="Work Sans"/>
                <a:sym typeface="Work Sans"/>
              </a:endParaRPr>
            </a:p>
          </p:txBody>
        </p:sp>
      </p:grpSp>
      <p:grpSp>
        <p:nvGrpSpPr>
          <p:cNvPr id="845" name="Google Shape;845;p42"/>
          <p:cNvGrpSpPr/>
          <p:nvPr/>
        </p:nvGrpSpPr>
        <p:grpSpPr>
          <a:xfrm>
            <a:off x="485084" y="2684272"/>
            <a:ext cx="752252" cy="276901"/>
            <a:chOff x="271410" y="3520307"/>
            <a:chExt cx="934662" cy="241200"/>
          </a:xfrm>
        </p:grpSpPr>
        <p:sp>
          <p:nvSpPr>
            <p:cNvPr id="846" name="Google Shape;846;p42"/>
            <p:cNvSpPr/>
            <p:nvPr/>
          </p:nvSpPr>
          <p:spPr>
            <a:xfrm>
              <a:off x="619572" y="3520307"/>
              <a:ext cx="586500" cy="241200"/>
            </a:xfrm>
            <a:prstGeom prst="roundRect">
              <a:avLst>
                <a:gd fmla="val 16667" name="adj"/>
              </a:avLst>
            </a:prstGeom>
            <a:noFill/>
            <a:ln cap="flat" cmpd="sng" w="19050">
              <a:solidFill>
                <a:srgbClr val="00DF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000" u="none" cap="none" strike="noStrike">
                <a:solidFill>
                  <a:schemeClr val="lt1"/>
                </a:solidFill>
                <a:latin typeface="Work Sans"/>
                <a:ea typeface="Work Sans"/>
                <a:cs typeface="Work Sans"/>
                <a:sym typeface="Work Sans"/>
              </a:endParaRPr>
            </a:p>
          </p:txBody>
        </p:sp>
        <p:pic>
          <p:nvPicPr>
            <p:cNvPr id="847" name="Google Shape;847;p42"/>
            <p:cNvPicPr preferRelativeResize="0"/>
            <p:nvPr/>
          </p:nvPicPr>
          <p:blipFill rotWithShape="1">
            <a:blip r:embed="rId5">
              <a:alphaModFix/>
            </a:blip>
            <a:srcRect b="0" l="0" r="0" t="0"/>
            <a:stretch/>
          </p:blipFill>
          <p:spPr>
            <a:xfrm>
              <a:off x="271410" y="3547160"/>
              <a:ext cx="256540" cy="187485"/>
            </a:xfrm>
            <a:prstGeom prst="rect">
              <a:avLst/>
            </a:prstGeom>
            <a:noFill/>
            <a:ln>
              <a:noFill/>
            </a:ln>
          </p:spPr>
        </p:pic>
      </p:grpSp>
      <p:sp>
        <p:nvSpPr>
          <p:cNvPr id="848" name="Google Shape;848;p42"/>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1000"/>
                                        <p:tgtEl>
                                          <p:spTgt spid="8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1000"/>
                                        <p:tgtEl>
                                          <p:spTgt spid="8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1000"/>
                                        <p:tgtEl>
                                          <p:spTgt spid="8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43"/>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854" name="Google Shape;854;p43"/>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855" name="Google Shape;855;p43"/>
          <p:cNvGrpSpPr/>
          <p:nvPr/>
        </p:nvGrpSpPr>
        <p:grpSpPr>
          <a:xfrm>
            <a:off x="339712" y="888243"/>
            <a:ext cx="2825326" cy="397001"/>
            <a:chOff x="938974" y="1053283"/>
            <a:chExt cx="4201831" cy="575247"/>
          </a:xfrm>
        </p:grpSpPr>
        <p:sp>
          <p:nvSpPr>
            <p:cNvPr id="856" name="Google Shape;856;p43"/>
            <p:cNvSpPr txBox="1"/>
            <p:nvPr/>
          </p:nvSpPr>
          <p:spPr>
            <a:xfrm>
              <a:off x="1526531" y="1053283"/>
              <a:ext cx="3614274"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Métodos de contagem </a:t>
              </a:r>
              <a:endParaRPr b="1" i="0" sz="1200" u="none" cap="none" strike="noStrike">
                <a:solidFill>
                  <a:schemeClr val="lt1"/>
                </a:solidFill>
                <a:latin typeface="Work Sans"/>
                <a:ea typeface="Work Sans"/>
                <a:cs typeface="Work Sans"/>
                <a:sym typeface="Work Sans"/>
              </a:endParaRPr>
            </a:p>
          </p:txBody>
        </p:sp>
        <p:pic>
          <p:nvPicPr>
            <p:cNvPr descr="Tally outline" id="857" name="Google Shape;857;p43"/>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858" name="Google Shape;858;p43"/>
          <p:cNvSpPr txBox="1"/>
          <p:nvPr/>
        </p:nvSpPr>
        <p:spPr>
          <a:xfrm>
            <a:off x="5852753" y="6385581"/>
            <a:ext cx="486493" cy="398966"/>
          </a:xfrm>
          <a:prstGeom prst="rect">
            <a:avLst/>
          </a:prstGeom>
          <a:no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pt-BR" sz="1100" u="none" cap="none" strike="noStrike">
                <a:solidFill>
                  <a:schemeClr val="lt1"/>
                </a:solidFill>
                <a:latin typeface="Work Sans"/>
                <a:ea typeface="Work Sans"/>
                <a:cs typeface="Work Sans"/>
                <a:sym typeface="Work Sans"/>
              </a:rPr>
              <a:t>‹#›</a:t>
            </a:fld>
            <a:endParaRPr b="0" i="0" sz="1100" u="none" cap="none" strike="noStrike">
              <a:solidFill>
                <a:schemeClr val="lt1"/>
              </a:solidFill>
              <a:latin typeface="Work Sans"/>
              <a:ea typeface="Work Sans"/>
              <a:cs typeface="Work Sans"/>
              <a:sym typeface="Work Sans"/>
            </a:endParaRPr>
          </a:p>
        </p:txBody>
      </p:sp>
      <p:sp>
        <p:nvSpPr>
          <p:cNvPr id="859" name="Google Shape;859;p43"/>
          <p:cNvSpPr txBox="1"/>
          <p:nvPr/>
        </p:nvSpPr>
        <p:spPr>
          <a:xfrm>
            <a:off x="554735" y="1374819"/>
            <a:ext cx="4320000" cy="600104"/>
          </a:xfrm>
          <a:prstGeom prst="rect">
            <a:avLst/>
          </a:prstGeom>
          <a:noFill/>
          <a:ln>
            <a:noFill/>
          </a:ln>
        </p:spPr>
        <p:txBody>
          <a:bodyPr anchorCtr="0" anchor="t" bIns="68550" lIns="137125" spcFirstLastPara="1" rIns="137125" wrap="square" tIns="68550">
            <a:spAutoFit/>
          </a:bodyPr>
          <a:lstStyle/>
          <a:p>
            <a:pPr indent="0" lvl="0" marL="0" marR="0" rtl="0" algn="just">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Fatorial: </a:t>
            </a:r>
            <a:r>
              <a:rPr b="0" i="0" lang="pt-BR" sz="1000" u="none" cap="none" strike="noStrike">
                <a:solidFill>
                  <a:schemeClr val="lt1"/>
                </a:solidFill>
                <a:latin typeface="Work Sans"/>
                <a:ea typeface="Work Sans"/>
                <a:cs typeface="Work Sans"/>
                <a:sym typeface="Work Sans"/>
              </a:rPr>
              <a:t>O fatorial de um número é calculado pela multiplicação desse número por todos os seus antecessores até chegar ao número 1.</a:t>
            </a:r>
            <a:endParaRPr b="0" i="0" sz="1000" u="none" cap="none" strike="noStrike">
              <a:solidFill>
                <a:schemeClr val="lt1"/>
              </a:solidFill>
              <a:latin typeface="Work Sans"/>
              <a:ea typeface="Work Sans"/>
              <a:cs typeface="Work Sans"/>
              <a:sym typeface="Work Sans"/>
            </a:endParaRPr>
          </a:p>
        </p:txBody>
      </p:sp>
      <p:sp>
        <p:nvSpPr>
          <p:cNvPr id="860" name="Google Shape;860;p43"/>
          <p:cNvSpPr txBox="1"/>
          <p:nvPr/>
        </p:nvSpPr>
        <p:spPr>
          <a:xfrm>
            <a:off x="5062125" y="1159644"/>
            <a:ext cx="5040000" cy="90788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n! = </a:t>
            </a:r>
            <a:r>
              <a:rPr b="0" i="0" lang="pt-BR" sz="1000" u="none" cap="none" strike="noStrike">
                <a:solidFill>
                  <a:schemeClr val="lt1"/>
                </a:solidFill>
                <a:latin typeface="Work Sans"/>
                <a:ea typeface="Work Sans"/>
                <a:cs typeface="Work Sans"/>
                <a:sym typeface="Work Sans"/>
              </a:rPr>
              <a:t>(n)(n-1) (n-2) (n-3)...(3)(2)(1)</a:t>
            </a:r>
            <a:endParaRPr b="0" i="0" sz="1000" u="none" cap="none" strike="noStrike">
              <a:solidFill>
                <a:schemeClr val="lt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4! = </a:t>
            </a:r>
            <a:r>
              <a:rPr b="0" i="0" lang="pt-BR" sz="1000" u="none" cap="none" strike="noStrike">
                <a:solidFill>
                  <a:schemeClr val="lt1"/>
                </a:solidFill>
                <a:latin typeface="Work Sans"/>
                <a:ea typeface="Work Sans"/>
                <a:cs typeface="Work Sans"/>
                <a:sym typeface="Work Sans"/>
              </a:rPr>
              <a:t>(4)(3)(2)(1) = 24</a:t>
            </a:r>
            <a:endParaRPr b="0" i="0" sz="1000" u="none" cap="none" strike="noStrike">
              <a:solidFill>
                <a:schemeClr val="lt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3! = </a:t>
            </a:r>
            <a:r>
              <a:rPr b="0" i="0" lang="pt-BR" sz="1000" u="none" cap="none" strike="noStrike">
                <a:solidFill>
                  <a:schemeClr val="lt1"/>
                </a:solidFill>
                <a:latin typeface="Work Sans"/>
                <a:ea typeface="Work Sans"/>
                <a:cs typeface="Work Sans"/>
                <a:sym typeface="Work Sans"/>
              </a:rPr>
              <a:t>(3)(2)(1) = 6</a:t>
            </a:r>
            <a:endParaRPr b="0" i="0" sz="1000" u="none" cap="none" strike="noStrike">
              <a:solidFill>
                <a:schemeClr val="lt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1! </a:t>
            </a:r>
            <a:r>
              <a:rPr b="0" i="0" lang="pt-BR" sz="1000" u="none" cap="none" strike="noStrike">
                <a:solidFill>
                  <a:schemeClr val="lt1"/>
                </a:solidFill>
                <a:latin typeface="Work Sans"/>
                <a:ea typeface="Work Sans"/>
                <a:cs typeface="Work Sans"/>
                <a:sym typeface="Work Sans"/>
              </a:rPr>
              <a:t>= 1</a:t>
            </a:r>
            <a:endParaRPr b="0" i="0" sz="1000" u="none" cap="none" strike="noStrike">
              <a:solidFill>
                <a:schemeClr val="lt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0! = 1</a:t>
            </a:r>
            <a:endParaRPr b="1" i="0" sz="1000" u="none" cap="none" strike="noStrike">
              <a:solidFill>
                <a:schemeClr val="lt1"/>
              </a:solidFill>
              <a:latin typeface="Work Sans"/>
              <a:ea typeface="Work Sans"/>
              <a:cs typeface="Work Sans"/>
              <a:sym typeface="Work Sans"/>
            </a:endParaRPr>
          </a:p>
        </p:txBody>
      </p:sp>
      <p:sp>
        <p:nvSpPr>
          <p:cNvPr id="861" name="Google Shape;861;p43"/>
          <p:cNvSpPr txBox="1"/>
          <p:nvPr/>
        </p:nvSpPr>
        <p:spPr>
          <a:xfrm>
            <a:off x="6346072" y="2770907"/>
            <a:ext cx="1044000" cy="446215"/>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400"/>
              <a:buFont typeface="Arial"/>
              <a:buNone/>
            </a:pPr>
            <a:r>
              <a:rPr b="0" i="0" lang="pt-BR" sz="1000" u="none" cap="none" strike="noStrike">
                <a:solidFill>
                  <a:schemeClr val="lt1"/>
                </a:solidFill>
                <a:latin typeface="Work Sans"/>
                <a:ea typeface="Work Sans"/>
                <a:cs typeface="Work Sans"/>
                <a:sym typeface="Work Sans"/>
              </a:rPr>
              <a:t>Ordem </a:t>
            </a:r>
            <a:r>
              <a:rPr b="1" i="0" lang="pt-BR" sz="1000" u="none" cap="none" strike="noStrike">
                <a:solidFill>
                  <a:schemeClr val="lt1"/>
                </a:solidFill>
                <a:latin typeface="Work Sans"/>
                <a:ea typeface="Work Sans"/>
                <a:cs typeface="Work Sans"/>
                <a:sym typeface="Work Sans"/>
              </a:rPr>
              <a:t>importa!</a:t>
            </a:r>
            <a:endParaRPr b="1" i="0" sz="1000" u="none" cap="none" strike="noStrike">
              <a:solidFill>
                <a:schemeClr val="lt1"/>
              </a:solidFill>
              <a:latin typeface="Work Sans"/>
              <a:ea typeface="Work Sans"/>
              <a:cs typeface="Work Sans"/>
              <a:sym typeface="Work Sans"/>
            </a:endParaRPr>
          </a:p>
        </p:txBody>
      </p:sp>
      <p:sp>
        <p:nvSpPr>
          <p:cNvPr id="862" name="Google Shape;862;p43"/>
          <p:cNvSpPr txBox="1"/>
          <p:nvPr/>
        </p:nvSpPr>
        <p:spPr>
          <a:xfrm>
            <a:off x="5062125" y="2255155"/>
            <a:ext cx="3365913" cy="446215"/>
          </a:xfrm>
          <a:prstGeom prst="rect">
            <a:avLst/>
          </a:prstGeom>
          <a:noFill/>
          <a:ln>
            <a:noFill/>
          </a:ln>
        </p:spPr>
        <p:txBody>
          <a:bodyPr anchorCtr="0" anchor="t" bIns="68550" lIns="137125" spcFirstLastPara="1" rIns="137125" wrap="square" tIns="68550">
            <a:spAutoFit/>
          </a:bodyPr>
          <a:lstStyle/>
          <a:p>
            <a:pPr indent="0" lvl="0" marL="0" marR="0" rtl="0" algn="just">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Ex: </a:t>
            </a:r>
            <a:r>
              <a:rPr b="0" i="0" lang="pt-BR" sz="1000" u="none" cap="none" strike="noStrike">
                <a:solidFill>
                  <a:schemeClr val="lt1"/>
                </a:solidFill>
                <a:latin typeface="Work Sans"/>
                <a:ea typeface="Work Sans"/>
                <a:cs typeface="Work Sans"/>
                <a:sym typeface="Work Sans"/>
              </a:rPr>
              <a:t>Número total de amostras possíveis de dois dos três snacks disponíveis </a:t>
            </a:r>
            <a:r>
              <a:rPr b="1" i="0" lang="pt-BR" sz="1000" u="none" cap="none" strike="noStrike">
                <a:solidFill>
                  <a:schemeClr val="lt1"/>
                </a:solidFill>
                <a:latin typeface="Work Sans"/>
                <a:ea typeface="Work Sans"/>
                <a:cs typeface="Work Sans"/>
                <a:sym typeface="Work Sans"/>
              </a:rPr>
              <a:t>A, B, C.</a:t>
            </a:r>
            <a:endParaRPr b="0" i="0" sz="1000" u="none" cap="none" strike="noStrike">
              <a:solidFill>
                <a:schemeClr val="lt1"/>
              </a:solidFill>
              <a:latin typeface="Work Sans"/>
              <a:ea typeface="Work Sans"/>
              <a:cs typeface="Work Sans"/>
              <a:sym typeface="Work Sans"/>
            </a:endParaRPr>
          </a:p>
        </p:txBody>
      </p:sp>
      <p:sp>
        <p:nvSpPr>
          <p:cNvPr id="863" name="Google Shape;863;p43"/>
          <p:cNvSpPr txBox="1"/>
          <p:nvPr/>
        </p:nvSpPr>
        <p:spPr>
          <a:xfrm>
            <a:off x="7398153" y="2797627"/>
            <a:ext cx="1368000" cy="446215"/>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100"/>
              <a:buFont typeface="Arial"/>
              <a:buNone/>
            </a:pPr>
            <a:r>
              <a:rPr b="1" i="0" lang="pt-BR" sz="1000" u="none" cap="none" strike="noStrike">
                <a:solidFill>
                  <a:schemeClr val="lt1"/>
                </a:solidFill>
                <a:latin typeface="Work Sans"/>
                <a:ea typeface="Work Sans"/>
                <a:cs typeface="Work Sans"/>
                <a:sym typeface="Work Sans"/>
              </a:rPr>
              <a:t>AB, BA, BC, CB, AC e CA.</a:t>
            </a:r>
            <a:endParaRPr b="0" i="0" sz="1000" u="none" cap="none" strike="noStrike">
              <a:solidFill>
                <a:schemeClr val="lt1"/>
              </a:solidFill>
              <a:latin typeface="Work Sans"/>
              <a:ea typeface="Work Sans"/>
              <a:cs typeface="Work Sans"/>
              <a:sym typeface="Work Sans"/>
            </a:endParaRPr>
          </a:p>
        </p:txBody>
      </p:sp>
      <p:sp>
        <p:nvSpPr>
          <p:cNvPr id="864" name="Google Shape;864;p43"/>
          <p:cNvSpPr txBox="1"/>
          <p:nvPr/>
        </p:nvSpPr>
        <p:spPr>
          <a:xfrm>
            <a:off x="7436600" y="3937229"/>
            <a:ext cx="1368000" cy="292327"/>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100"/>
              <a:buFont typeface="Arial"/>
              <a:buNone/>
            </a:pPr>
            <a:r>
              <a:rPr b="1" i="0" lang="pt-BR" sz="1000" u="none" cap="none" strike="noStrike">
                <a:solidFill>
                  <a:schemeClr val="lt1"/>
                </a:solidFill>
                <a:latin typeface="Work Sans"/>
                <a:ea typeface="Work Sans"/>
                <a:cs typeface="Work Sans"/>
                <a:sym typeface="Work Sans"/>
              </a:rPr>
              <a:t>AB, BC e CA</a:t>
            </a: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p:txBody>
      </p:sp>
      <p:sp>
        <p:nvSpPr>
          <p:cNvPr id="865" name="Google Shape;865;p43"/>
          <p:cNvSpPr txBox="1"/>
          <p:nvPr/>
        </p:nvSpPr>
        <p:spPr>
          <a:xfrm>
            <a:off x="6392600" y="3794023"/>
            <a:ext cx="1044000" cy="600104"/>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400"/>
              <a:buFont typeface="Arial"/>
              <a:buNone/>
            </a:pPr>
            <a:r>
              <a:rPr b="0" i="0" lang="pt-BR" sz="1000" u="none" cap="none" strike="noStrike">
                <a:solidFill>
                  <a:schemeClr val="lt1"/>
                </a:solidFill>
                <a:latin typeface="Work Sans"/>
                <a:ea typeface="Work Sans"/>
                <a:cs typeface="Work Sans"/>
                <a:sym typeface="Work Sans"/>
              </a:rPr>
              <a:t>Ordem</a:t>
            </a:r>
            <a:endParaRPr b="0" i="0" sz="1000" u="none" cap="none" strike="noStrike">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não importa!</a:t>
            </a:r>
            <a:endParaRPr b="1" i="0" sz="1000" u="none" cap="none" strike="noStrike">
              <a:solidFill>
                <a:schemeClr val="lt1"/>
              </a:solidFill>
              <a:latin typeface="Work Sans"/>
              <a:ea typeface="Work Sans"/>
              <a:cs typeface="Work Sans"/>
              <a:sym typeface="Work Sans"/>
            </a:endParaRPr>
          </a:p>
        </p:txBody>
      </p:sp>
      <p:cxnSp>
        <p:nvCxnSpPr>
          <p:cNvPr id="866" name="Google Shape;866;p43"/>
          <p:cNvCxnSpPr/>
          <p:nvPr/>
        </p:nvCxnSpPr>
        <p:spPr>
          <a:xfrm>
            <a:off x="462817" y="2131905"/>
            <a:ext cx="7927264" cy="0"/>
          </a:xfrm>
          <a:prstGeom prst="straightConnector1">
            <a:avLst/>
          </a:prstGeom>
          <a:noFill/>
          <a:ln cap="flat" cmpd="sng" w="19050">
            <a:solidFill>
              <a:srgbClr val="C0504D"/>
            </a:solidFill>
            <a:prstDash val="dash"/>
            <a:round/>
            <a:headEnd len="sm" w="sm" type="none"/>
            <a:tailEnd len="sm" w="sm" type="none"/>
          </a:ln>
        </p:spPr>
      </p:cxnSp>
      <p:grpSp>
        <p:nvGrpSpPr>
          <p:cNvPr id="867" name="Google Shape;867;p43"/>
          <p:cNvGrpSpPr/>
          <p:nvPr/>
        </p:nvGrpSpPr>
        <p:grpSpPr>
          <a:xfrm>
            <a:off x="512637" y="3874140"/>
            <a:ext cx="4320000" cy="883962"/>
            <a:chOff x="1584000" y="4788000"/>
            <a:chExt cx="4320000" cy="883962"/>
          </a:xfrm>
        </p:grpSpPr>
        <p:sp>
          <p:nvSpPr>
            <p:cNvPr id="868" name="Google Shape;868;p43"/>
            <p:cNvSpPr txBox="1"/>
            <p:nvPr/>
          </p:nvSpPr>
          <p:spPr>
            <a:xfrm>
              <a:off x="1584000" y="4788000"/>
              <a:ext cx="4320000" cy="446215"/>
            </a:xfrm>
            <a:prstGeom prst="rect">
              <a:avLst/>
            </a:prstGeom>
            <a:noFill/>
            <a:ln>
              <a:noFill/>
            </a:ln>
          </p:spPr>
          <p:txBody>
            <a:bodyPr anchorCtr="0" anchor="t" bIns="68550" lIns="137125" spcFirstLastPara="1" rIns="137125" wrap="square" tIns="68550">
              <a:spAutoFit/>
            </a:bodyPr>
            <a:lstStyle/>
            <a:p>
              <a:pPr indent="0" lvl="0" marL="0" marR="0" rtl="0" algn="just">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Combinação: </a:t>
              </a:r>
              <a:r>
                <a:rPr b="0" i="0" lang="pt-BR" sz="1000" u="none" cap="none" strike="noStrike">
                  <a:solidFill>
                    <a:schemeClr val="lt1"/>
                  </a:solidFill>
                  <a:latin typeface="Work Sans"/>
                  <a:ea typeface="Work Sans"/>
                  <a:cs typeface="Work Sans"/>
                  <a:sym typeface="Work Sans"/>
                </a:rPr>
                <a:t>é o número de maneiras de selecionar </a:t>
              </a:r>
              <a:r>
                <a:rPr b="0" i="1" lang="pt-BR" sz="1000" u="none" cap="none" strike="noStrike">
                  <a:solidFill>
                    <a:schemeClr val="lt1"/>
                  </a:solidFill>
                  <a:latin typeface="Work Sans"/>
                  <a:ea typeface="Work Sans"/>
                  <a:cs typeface="Work Sans"/>
                  <a:sym typeface="Work Sans"/>
                </a:rPr>
                <a:t>k </a:t>
              </a:r>
              <a:r>
                <a:rPr b="0" i="0" lang="pt-BR" sz="1000" u="none" cap="none" strike="noStrike">
                  <a:solidFill>
                    <a:schemeClr val="lt1"/>
                  </a:solidFill>
                  <a:latin typeface="Work Sans"/>
                  <a:ea typeface="Work Sans"/>
                  <a:cs typeface="Work Sans"/>
                  <a:sym typeface="Work Sans"/>
                </a:rPr>
                <a:t>elementos de um total de </a:t>
              </a:r>
              <a:r>
                <a:rPr b="0" i="1" lang="pt-BR" sz="1000" u="none" cap="none" strike="noStrike">
                  <a:solidFill>
                    <a:schemeClr val="lt1"/>
                  </a:solidFill>
                  <a:latin typeface="Work Sans"/>
                  <a:ea typeface="Work Sans"/>
                  <a:cs typeface="Work Sans"/>
                  <a:sym typeface="Work Sans"/>
                </a:rPr>
                <a:t>n, </a:t>
              </a:r>
              <a:r>
                <a:rPr b="0" i="0" lang="pt-BR" sz="1000" u="none" cap="none" strike="noStrike">
                  <a:solidFill>
                    <a:schemeClr val="lt1"/>
                  </a:solidFill>
                  <a:latin typeface="Work Sans"/>
                  <a:ea typeface="Work Sans"/>
                  <a:cs typeface="Work Sans"/>
                  <a:sym typeface="Work Sans"/>
                </a:rPr>
                <a:t>independente da ordem.</a:t>
              </a:r>
              <a:endParaRPr b="0" i="0" sz="1000" u="none" cap="none" strike="noStrike">
                <a:solidFill>
                  <a:schemeClr val="lt1"/>
                </a:solidFill>
                <a:latin typeface="Work Sans"/>
                <a:ea typeface="Work Sans"/>
                <a:cs typeface="Work Sans"/>
                <a:sym typeface="Work Sans"/>
              </a:endParaRPr>
            </a:p>
          </p:txBody>
        </p:sp>
        <p:pic>
          <p:nvPicPr>
            <p:cNvPr id="869" name="Google Shape;869;p43"/>
            <p:cNvPicPr preferRelativeResize="0"/>
            <p:nvPr/>
          </p:nvPicPr>
          <p:blipFill rotWithShape="1">
            <a:blip r:embed="rId4">
              <a:alphaModFix/>
            </a:blip>
            <a:srcRect b="0" l="0" r="0" t="0"/>
            <a:stretch/>
          </p:blipFill>
          <p:spPr>
            <a:xfrm>
              <a:off x="3364983" y="5379634"/>
              <a:ext cx="996681" cy="292328"/>
            </a:xfrm>
            <a:prstGeom prst="rect">
              <a:avLst/>
            </a:prstGeom>
            <a:noFill/>
            <a:ln>
              <a:noFill/>
            </a:ln>
          </p:spPr>
        </p:pic>
      </p:grpSp>
      <p:sp>
        <p:nvSpPr>
          <p:cNvPr id="870" name="Google Shape;870;p43"/>
          <p:cNvSpPr txBox="1"/>
          <p:nvPr/>
        </p:nvSpPr>
        <p:spPr>
          <a:xfrm>
            <a:off x="742120" y="4336417"/>
            <a:ext cx="1260000" cy="446215"/>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rgbClr val="C1272D"/>
                </a:solidFill>
                <a:latin typeface="Work Sans"/>
                <a:ea typeface="Work Sans"/>
                <a:cs typeface="Work Sans"/>
                <a:sym typeface="Work Sans"/>
              </a:rPr>
              <a:t>Sorteio de viagem</a:t>
            </a:r>
            <a:endParaRPr b="1" i="0" sz="1000" u="none" cap="none" strike="noStrike">
              <a:solidFill>
                <a:srgbClr val="C1272D"/>
              </a:solidFill>
              <a:latin typeface="Work Sans"/>
              <a:ea typeface="Work Sans"/>
              <a:cs typeface="Work Sans"/>
              <a:sym typeface="Work Sans"/>
            </a:endParaRPr>
          </a:p>
        </p:txBody>
      </p:sp>
      <p:pic>
        <p:nvPicPr>
          <p:cNvPr id="871" name="Google Shape;871;p43"/>
          <p:cNvPicPr preferRelativeResize="0"/>
          <p:nvPr/>
        </p:nvPicPr>
        <p:blipFill rotWithShape="1">
          <a:blip r:embed="rId5">
            <a:alphaModFix/>
          </a:blip>
          <a:srcRect b="0" l="0" r="0" t="0"/>
          <a:stretch/>
        </p:blipFill>
        <p:spPr>
          <a:xfrm>
            <a:off x="5250468" y="2872826"/>
            <a:ext cx="921138" cy="297819"/>
          </a:xfrm>
          <a:prstGeom prst="rect">
            <a:avLst/>
          </a:prstGeom>
          <a:noFill/>
          <a:ln>
            <a:noFill/>
          </a:ln>
        </p:spPr>
      </p:pic>
      <p:pic>
        <p:nvPicPr>
          <p:cNvPr id="872" name="Google Shape;872;p43"/>
          <p:cNvPicPr preferRelativeResize="0"/>
          <p:nvPr/>
        </p:nvPicPr>
        <p:blipFill rotWithShape="1">
          <a:blip r:embed="rId6">
            <a:alphaModFix/>
          </a:blip>
          <a:srcRect b="0" l="0" r="0" t="0"/>
          <a:stretch/>
        </p:blipFill>
        <p:spPr>
          <a:xfrm>
            <a:off x="5250468" y="3925381"/>
            <a:ext cx="1004162" cy="294126"/>
          </a:xfrm>
          <a:prstGeom prst="rect">
            <a:avLst/>
          </a:prstGeom>
          <a:noFill/>
          <a:ln>
            <a:noFill/>
          </a:ln>
        </p:spPr>
      </p:pic>
      <p:sp>
        <p:nvSpPr>
          <p:cNvPr id="873" name="Google Shape;873;p43"/>
          <p:cNvSpPr txBox="1"/>
          <p:nvPr/>
        </p:nvSpPr>
        <p:spPr>
          <a:xfrm>
            <a:off x="4348072" y="3258864"/>
            <a:ext cx="5040000" cy="292327"/>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400"/>
              <a:buFont typeface="Arial"/>
              <a:buNone/>
            </a:pPr>
            <a:r>
              <a:rPr b="0" i="0" lang="pt-BR" sz="1000" u="none" cap="none" strike="noStrike">
                <a:solidFill>
                  <a:schemeClr val="lt1"/>
                </a:solidFill>
                <a:latin typeface="Work Sans"/>
                <a:ea typeface="Work Sans"/>
                <a:cs typeface="Work Sans"/>
                <a:sym typeface="Work Sans"/>
              </a:rPr>
              <a:t>O primeiro snack é meu e o segundo é do meu colega.</a:t>
            </a:r>
            <a:endParaRPr b="0" i="0" sz="1000" u="none" cap="none" strike="noStrike">
              <a:solidFill>
                <a:schemeClr val="lt1"/>
              </a:solidFill>
              <a:latin typeface="Work Sans"/>
              <a:ea typeface="Work Sans"/>
              <a:cs typeface="Work Sans"/>
              <a:sym typeface="Work Sans"/>
            </a:endParaRPr>
          </a:p>
        </p:txBody>
      </p:sp>
      <p:sp>
        <p:nvSpPr>
          <p:cNvPr id="874" name="Google Shape;874;p43"/>
          <p:cNvSpPr txBox="1"/>
          <p:nvPr/>
        </p:nvSpPr>
        <p:spPr>
          <a:xfrm>
            <a:off x="4568032" y="4473114"/>
            <a:ext cx="5040000" cy="292327"/>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400"/>
              <a:buFont typeface="Arial"/>
              <a:buNone/>
            </a:pPr>
            <a:r>
              <a:rPr b="0" i="0" lang="pt-BR" sz="1000" u="none" cap="none" strike="noStrike">
                <a:solidFill>
                  <a:schemeClr val="lt1"/>
                </a:solidFill>
                <a:latin typeface="Work Sans"/>
                <a:ea typeface="Work Sans"/>
                <a:cs typeface="Work Sans"/>
                <a:sym typeface="Work Sans"/>
              </a:rPr>
              <a:t>Vou comer ambos os snacks agora.</a:t>
            </a:r>
            <a:endParaRPr b="0" i="0" sz="1000" u="none" cap="none" strike="noStrike">
              <a:solidFill>
                <a:schemeClr val="lt1"/>
              </a:solidFill>
              <a:latin typeface="Work Sans"/>
              <a:ea typeface="Work Sans"/>
              <a:cs typeface="Work Sans"/>
              <a:sym typeface="Work Sans"/>
            </a:endParaRPr>
          </a:p>
        </p:txBody>
      </p:sp>
      <p:grpSp>
        <p:nvGrpSpPr>
          <p:cNvPr id="875" name="Google Shape;875;p43"/>
          <p:cNvGrpSpPr/>
          <p:nvPr/>
        </p:nvGrpSpPr>
        <p:grpSpPr>
          <a:xfrm>
            <a:off x="529538" y="2288888"/>
            <a:ext cx="4164922" cy="916221"/>
            <a:chOff x="1966663" y="2942835"/>
            <a:chExt cx="4164922" cy="916221"/>
          </a:xfrm>
        </p:grpSpPr>
        <p:sp>
          <p:nvSpPr>
            <p:cNvPr id="876" name="Google Shape;876;p43"/>
            <p:cNvSpPr txBox="1"/>
            <p:nvPr/>
          </p:nvSpPr>
          <p:spPr>
            <a:xfrm>
              <a:off x="1966663" y="2942835"/>
              <a:ext cx="4164922" cy="446215"/>
            </a:xfrm>
            <a:prstGeom prst="rect">
              <a:avLst/>
            </a:prstGeom>
            <a:noFill/>
            <a:ln>
              <a:noFill/>
            </a:ln>
          </p:spPr>
          <p:txBody>
            <a:bodyPr anchorCtr="0" anchor="t" bIns="68550" lIns="137125" spcFirstLastPara="1" rIns="137125" wrap="square" tIns="68550">
              <a:spAutoFit/>
            </a:bodyPr>
            <a:lstStyle/>
            <a:p>
              <a:pPr indent="0" lvl="0" marL="0" marR="0" rtl="0" algn="just">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Arranjos: </a:t>
              </a:r>
              <a:r>
                <a:rPr b="0" i="0" lang="pt-BR" sz="1000" u="none" cap="none" strike="noStrike">
                  <a:solidFill>
                    <a:schemeClr val="lt1"/>
                  </a:solidFill>
                  <a:latin typeface="Work Sans"/>
                  <a:ea typeface="Work Sans"/>
                  <a:cs typeface="Work Sans"/>
                  <a:sym typeface="Work Sans"/>
                </a:rPr>
                <a:t>são agrupamentos formados com </a:t>
              </a:r>
              <a:r>
                <a:rPr b="0" i="1" lang="pt-BR" sz="1000" u="none" cap="none" strike="noStrike">
                  <a:solidFill>
                    <a:schemeClr val="lt1"/>
                  </a:solidFill>
                  <a:latin typeface="Work Sans"/>
                  <a:ea typeface="Work Sans"/>
                  <a:cs typeface="Work Sans"/>
                  <a:sym typeface="Work Sans"/>
                </a:rPr>
                <a:t>p</a:t>
              </a:r>
              <a:r>
                <a:rPr b="0" i="0" lang="pt-BR" sz="1000" u="none" cap="none" strike="noStrike">
                  <a:solidFill>
                    <a:schemeClr val="lt1"/>
                  </a:solidFill>
                  <a:latin typeface="Work Sans"/>
                  <a:ea typeface="Work Sans"/>
                  <a:cs typeface="Work Sans"/>
                  <a:sym typeface="Work Sans"/>
                </a:rPr>
                <a:t> elementos de um conjunto de </a:t>
              </a:r>
              <a:r>
                <a:rPr b="0" i="1" lang="pt-BR" sz="1000" u="none" cap="none" strike="noStrike">
                  <a:solidFill>
                    <a:schemeClr val="lt1"/>
                  </a:solidFill>
                  <a:latin typeface="Work Sans"/>
                  <a:ea typeface="Work Sans"/>
                  <a:cs typeface="Work Sans"/>
                  <a:sym typeface="Work Sans"/>
                </a:rPr>
                <a:t>n</a:t>
              </a:r>
              <a:r>
                <a:rPr b="0" i="0" lang="pt-BR" sz="1000" u="none" cap="none" strike="noStrike">
                  <a:solidFill>
                    <a:schemeClr val="lt1"/>
                  </a:solidFill>
                  <a:latin typeface="Work Sans"/>
                  <a:ea typeface="Work Sans"/>
                  <a:cs typeface="Work Sans"/>
                  <a:sym typeface="Work Sans"/>
                </a:rPr>
                <a:t> elementos.</a:t>
              </a:r>
              <a:endParaRPr b="0" i="0" sz="1000" u="none" cap="none" strike="noStrike">
                <a:solidFill>
                  <a:schemeClr val="lt1"/>
                </a:solidFill>
                <a:latin typeface="Work Sans"/>
                <a:ea typeface="Work Sans"/>
                <a:cs typeface="Work Sans"/>
                <a:sym typeface="Work Sans"/>
              </a:endParaRPr>
            </a:p>
          </p:txBody>
        </p:sp>
        <p:sp>
          <p:nvSpPr>
            <p:cNvPr id="877" name="Google Shape;877;p43"/>
            <p:cNvSpPr txBox="1"/>
            <p:nvPr/>
          </p:nvSpPr>
          <p:spPr>
            <a:xfrm>
              <a:off x="2154053" y="3412841"/>
              <a:ext cx="1260000" cy="446215"/>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rgbClr val="C1272D"/>
                  </a:solidFill>
                  <a:latin typeface="Work Sans"/>
                  <a:ea typeface="Work Sans"/>
                  <a:cs typeface="Work Sans"/>
                  <a:sym typeface="Work Sans"/>
                </a:rPr>
                <a:t>Pódio ou ranking</a:t>
              </a:r>
              <a:endParaRPr b="1" i="0" sz="1000" u="none" cap="none" strike="noStrike">
                <a:solidFill>
                  <a:srgbClr val="C1272D"/>
                </a:solidFill>
                <a:latin typeface="Work Sans"/>
                <a:ea typeface="Work Sans"/>
                <a:cs typeface="Work Sans"/>
                <a:sym typeface="Work Sans"/>
              </a:endParaRPr>
            </a:p>
          </p:txBody>
        </p:sp>
        <p:pic>
          <p:nvPicPr>
            <p:cNvPr descr="Análise Combinatória - Permutação, Arranjo e Combinação." id="878" name="Google Shape;878;p43"/>
            <p:cNvPicPr preferRelativeResize="0"/>
            <p:nvPr/>
          </p:nvPicPr>
          <p:blipFill rotWithShape="1">
            <a:blip r:embed="rId7">
              <a:alphaModFix/>
            </a:blip>
            <a:srcRect b="0" l="0" r="0" t="0"/>
            <a:stretch/>
          </p:blipFill>
          <p:spPr>
            <a:xfrm>
              <a:off x="3730745" y="3429970"/>
              <a:ext cx="921138" cy="389500"/>
            </a:xfrm>
            <a:prstGeom prst="rect">
              <a:avLst/>
            </a:prstGeom>
            <a:noFill/>
            <a:ln>
              <a:noFill/>
            </a:ln>
          </p:spPr>
        </p:pic>
      </p:grpSp>
      <p:cxnSp>
        <p:nvCxnSpPr>
          <p:cNvPr id="879" name="Google Shape;879;p43"/>
          <p:cNvCxnSpPr/>
          <p:nvPr/>
        </p:nvCxnSpPr>
        <p:spPr>
          <a:xfrm>
            <a:off x="500774" y="3724485"/>
            <a:ext cx="7927264" cy="0"/>
          </a:xfrm>
          <a:prstGeom prst="straightConnector1">
            <a:avLst/>
          </a:prstGeom>
          <a:noFill/>
          <a:ln cap="flat" cmpd="sng" w="19050">
            <a:solidFill>
              <a:srgbClr val="C0504D"/>
            </a:solidFill>
            <a:prstDash val="dash"/>
            <a:round/>
            <a:headEnd len="sm" w="sm" type="none"/>
            <a:tailEnd len="sm" w="sm" type="none"/>
          </a:ln>
        </p:spPr>
      </p:cxnSp>
      <p:sp>
        <p:nvSpPr>
          <p:cNvPr id="880" name="Google Shape;880;p43"/>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44"/>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886" name="Google Shape;886;p44"/>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887" name="Google Shape;887;p44"/>
          <p:cNvGrpSpPr/>
          <p:nvPr/>
        </p:nvGrpSpPr>
        <p:grpSpPr>
          <a:xfrm>
            <a:off x="339712" y="888243"/>
            <a:ext cx="3874148" cy="397001"/>
            <a:chOff x="938974" y="1053283"/>
            <a:chExt cx="5761641" cy="575247"/>
          </a:xfrm>
        </p:grpSpPr>
        <p:sp>
          <p:nvSpPr>
            <p:cNvPr id="888" name="Google Shape;888;p44"/>
            <p:cNvSpPr txBox="1"/>
            <p:nvPr/>
          </p:nvSpPr>
          <p:spPr>
            <a:xfrm>
              <a:off x="1526530" y="1053283"/>
              <a:ext cx="5174085"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Probabilidade discreta/conjuntos</a:t>
              </a:r>
              <a:endParaRPr b="1" i="0" sz="1200" u="none" cap="none" strike="noStrike">
                <a:solidFill>
                  <a:schemeClr val="lt1"/>
                </a:solidFill>
                <a:latin typeface="Work Sans"/>
                <a:ea typeface="Work Sans"/>
                <a:cs typeface="Work Sans"/>
                <a:sym typeface="Work Sans"/>
              </a:endParaRPr>
            </a:p>
          </p:txBody>
        </p:sp>
        <p:pic>
          <p:nvPicPr>
            <p:cNvPr descr="Tally outline" id="889" name="Google Shape;889;p44"/>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890" name="Google Shape;890;p44"/>
          <p:cNvSpPr txBox="1"/>
          <p:nvPr/>
        </p:nvSpPr>
        <p:spPr>
          <a:xfrm>
            <a:off x="384968" y="2666635"/>
            <a:ext cx="8507572" cy="492382"/>
          </a:xfrm>
          <a:prstGeom prst="rect">
            <a:avLst/>
          </a:prstGeom>
          <a:noFill/>
          <a:ln>
            <a:noFill/>
          </a:ln>
        </p:spPr>
        <p:txBody>
          <a:bodyPr anchorCtr="0" anchor="ctr" bIns="68550" lIns="137125" spcFirstLastPara="1" rIns="137125" wrap="square" tIns="68550">
            <a:spAutoFit/>
          </a:bodyPr>
          <a:lstStyle/>
          <a:p>
            <a:pPr indent="0" lvl="0" marL="0" marR="0" rtl="0" algn="l">
              <a:lnSpc>
                <a:spcPct val="115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Probabilidade Condicional:</a:t>
            </a:r>
            <a:r>
              <a:rPr b="0" i="0" lang="pt-BR" sz="1000" u="none" cap="none" strike="noStrike">
                <a:solidFill>
                  <a:schemeClr val="lt1"/>
                </a:solidFill>
                <a:latin typeface="Work Sans"/>
                <a:ea typeface="Work Sans"/>
                <a:cs typeface="Work Sans"/>
                <a:sym typeface="Work Sans"/>
              </a:rPr>
              <a:t> um evento de probabilidade anterior causa a modificação do espaço amostral, tornando os eventos </a:t>
            </a:r>
            <a:r>
              <a:rPr b="1" i="0" lang="pt-BR" sz="1000" u="none" cap="none" strike="noStrike">
                <a:solidFill>
                  <a:schemeClr val="lt1"/>
                </a:solidFill>
                <a:latin typeface="Work Sans"/>
                <a:ea typeface="Work Sans"/>
                <a:cs typeface="Work Sans"/>
                <a:sym typeface="Work Sans"/>
              </a:rPr>
              <a:t>dependentes</a:t>
            </a: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p:txBody>
      </p:sp>
      <p:sp>
        <p:nvSpPr>
          <p:cNvPr id="891" name="Google Shape;891;p44"/>
          <p:cNvSpPr txBox="1"/>
          <p:nvPr/>
        </p:nvSpPr>
        <p:spPr>
          <a:xfrm>
            <a:off x="407288" y="3160546"/>
            <a:ext cx="8237602" cy="538579"/>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BA0E02"/>
              </a:buClr>
              <a:buSzPts val="1300"/>
              <a:buFont typeface="Arial"/>
              <a:buNone/>
            </a:pPr>
            <a:r>
              <a:rPr b="1" i="0" lang="pt-BR" sz="1000" u="none" cap="none" strike="noStrike">
                <a:solidFill>
                  <a:schemeClr val="lt1"/>
                </a:solidFill>
                <a:latin typeface="Work Sans"/>
                <a:ea typeface="Work Sans"/>
                <a:cs typeface="Work Sans"/>
                <a:sym typeface="Work Sans"/>
              </a:rPr>
              <a:t>Exemplo de exercício:</a:t>
            </a:r>
            <a:r>
              <a:rPr b="0" i="0" lang="pt-BR" sz="1000" u="none" cap="none" strike="noStrike">
                <a:solidFill>
                  <a:schemeClr val="lt1"/>
                </a:solidFill>
                <a:latin typeface="Work Sans"/>
                <a:ea typeface="Work Sans"/>
                <a:cs typeface="Work Sans"/>
                <a:sym typeface="Work Sans"/>
              </a:rPr>
              <a:t> Uma urna tem 30 bolas, sendo 10 vermelhas e 20 azuis. Se ocorrer um sorteio de 2 bolas, uma de cada vez e sem reposição, qual será a probabilidade de a primeira ser vermelha e a segunda ser azul?</a:t>
            </a:r>
            <a:endParaRPr b="0" i="0" sz="1000" u="none" cap="none" strike="noStrike">
              <a:solidFill>
                <a:schemeClr val="lt1"/>
              </a:solidFill>
              <a:latin typeface="Work Sans"/>
              <a:ea typeface="Work Sans"/>
              <a:cs typeface="Work Sans"/>
              <a:sym typeface="Work Sans"/>
            </a:endParaRPr>
          </a:p>
        </p:txBody>
      </p:sp>
      <p:sp>
        <p:nvSpPr>
          <p:cNvPr id="892" name="Google Shape;892;p44"/>
          <p:cNvSpPr txBox="1"/>
          <p:nvPr/>
        </p:nvSpPr>
        <p:spPr>
          <a:xfrm>
            <a:off x="3084968" y="3614563"/>
            <a:ext cx="4500000" cy="646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E</a:t>
            </a:r>
            <a:r>
              <a:rPr b="1" baseline="-25000" i="0" lang="pt-BR" sz="1000" u="none" cap="none" strike="noStrike">
                <a:solidFill>
                  <a:schemeClr val="lt1"/>
                </a:solidFill>
                <a:latin typeface="Work Sans"/>
                <a:ea typeface="Work Sans"/>
                <a:cs typeface="Work Sans"/>
                <a:sym typeface="Work Sans"/>
              </a:rPr>
              <a:t>1</a:t>
            </a:r>
            <a:r>
              <a:rPr b="1" i="0" lang="pt-BR" sz="1000" u="none" cap="none" strike="noStrike">
                <a:solidFill>
                  <a:schemeClr val="lt1"/>
                </a:solidFill>
                <a:latin typeface="Work Sans"/>
                <a:ea typeface="Work Sans"/>
                <a:cs typeface="Work Sans"/>
                <a:sym typeface="Work Sans"/>
              </a:rPr>
              <a:t> = </a:t>
            </a:r>
            <a:r>
              <a:rPr b="0" i="0" lang="pt-BR" sz="1000" u="none" cap="none" strike="noStrike">
                <a:solidFill>
                  <a:schemeClr val="lt1"/>
                </a:solidFill>
                <a:latin typeface="Work Sans"/>
                <a:ea typeface="Work Sans"/>
                <a:cs typeface="Work Sans"/>
                <a:sym typeface="Work Sans"/>
              </a:rPr>
              <a:t>evento de sorteio da </a:t>
            </a:r>
            <a:r>
              <a:rPr b="1" i="0" lang="pt-BR" sz="1000" u="none" cap="none" strike="noStrike">
                <a:solidFill>
                  <a:schemeClr val="lt1"/>
                </a:solidFill>
                <a:latin typeface="Work Sans"/>
                <a:ea typeface="Work Sans"/>
                <a:cs typeface="Work Sans"/>
                <a:sym typeface="Work Sans"/>
              </a:rPr>
              <a:t>primeira </a:t>
            </a:r>
            <a:r>
              <a:rPr b="0" i="0" lang="pt-BR" sz="1000" u="none" cap="none" strike="noStrike">
                <a:solidFill>
                  <a:schemeClr val="lt1"/>
                </a:solidFill>
                <a:latin typeface="Work Sans"/>
                <a:ea typeface="Work Sans"/>
                <a:cs typeface="Work Sans"/>
                <a:sym typeface="Work Sans"/>
              </a:rPr>
              <a:t>bola (</a:t>
            </a:r>
            <a:r>
              <a:rPr b="1" i="0" lang="pt-BR" sz="1000" u="none" cap="none" strike="noStrike">
                <a:solidFill>
                  <a:schemeClr val="lt1"/>
                </a:solidFill>
                <a:latin typeface="Work Sans"/>
                <a:ea typeface="Work Sans"/>
                <a:cs typeface="Work Sans"/>
                <a:sym typeface="Work Sans"/>
              </a:rPr>
              <a:t>vermelha</a:t>
            </a: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a:p>
            <a:pPr indent="0" lvl="0" marL="0" marR="0" rtl="0" algn="l">
              <a:lnSpc>
                <a:spcPct val="150000"/>
              </a:lnSpc>
              <a:spcBef>
                <a:spcPts val="0"/>
              </a:spcBef>
              <a:spcAft>
                <a:spcPts val="0"/>
              </a:spcAft>
              <a:buClr>
                <a:schemeClr val="dk1"/>
              </a:buClr>
              <a:buSzPts val="1100"/>
              <a:buFont typeface="Arial"/>
              <a:buNone/>
            </a:pPr>
            <a:r>
              <a:rPr b="1" i="0" lang="pt-BR" sz="1000" u="none" cap="none" strike="noStrike">
                <a:solidFill>
                  <a:schemeClr val="lt1"/>
                </a:solidFill>
                <a:latin typeface="Work Sans"/>
                <a:ea typeface="Work Sans"/>
                <a:cs typeface="Work Sans"/>
                <a:sym typeface="Work Sans"/>
              </a:rPr>
              <a:t>E</a:t>
            </a:r>
            <a:r>
              <a:rPr b="1" baseline="-25000" i="0" lang="pt-BR" sz="1000" u="none" cap="none" strike="noStrike">
                <a:solidFill>
                  <a:schemeClr val="lt1"/>
                </a:solidFill>
                <a:latin typeface="Work Sans"/>
                <a:ea typeface="Work Sans"/>
                <a:cs typeface="Work Sans"/>
                <a:sym typeface="Work Sans"/>
              </a:rPr>
              <a:t>2</a:t>
            </a:r>
            <a:r>
              <a:rPr b="1" i="0" lang="pt-BR" sz="1000" u="none" cap="none" strike="noStrike">
                <a:solidFill>
                  <a:schemeClr val="lt1"/>
                </a:solidFill>
                <a:latin typeface="Work Sans"/>
                <a:ea typeface="Work Sans"/>
                <a:cs typeface="Work Sans"/>
                <a:sym typeface="Work Sans"/>
              </a:rPr>
              <a:t> = </a:t>
            </a:r>
            <a:r>
              <a:rPr b="0" i="0" lang="pt-BR" sz="1000" u="none" cap="none" strike="noStrike">
                <a:solidFill>
                  <a:schemeClr val="lt1"/>
                </a:solidFill>
                <a:latin typeface="Work Sans"/>
                <a:ea typeface="Work Sans"/>
                <a:cs typeface="Work Sans"/>
                <a:sym typeface="Work Sans"/>
              </a:rPr>
              <a:t>evento de sorteio da </a:t>
            </a:r>
            <a:r>
              <a:rPr b="1" i="0" lang="pt-BR" sz="1000" u="none" cap="none" strike="noStrike">
                <a:solidFill>
                  <a:schemeClr val="lt1"/>
                </a:solidFill>
                <a:latin typeface="Work Sans"/>
                <a:ea typeface="Work Sans"/>
                <a:cs typeface="Work Sans"/>
                <a:sym typeface="Work Sans"/>
              </a:rPr>
              <a:t>segunda </a:t>
            </a:r>
            <a:r>
              <a:rPr b="0" i="0" lang="pt-BR" sz="1000" u="none" cap="none" strike="noStrike">
                <a:solidFill>
                  <a:schemeClr val="lt1"/>
                </a:solidFill>
                <a:latin typeface="Work Sans"/>
                <a:ea typeface="Work Sans"/>
                <a:cs typeface="Work Sans"/>
                <a:sym typeface="Work Sans"/>
              </a:rPr>
              <a:t>bola (</a:t>
            </a:r>
            <a:r>
              <a:rPr b="1" i="0" lang="pt-BR" sz="1000" u="none" cap="none" strike="noStrike">
                <a:solidFill>
                  <a:schemeClr val="lt1"/>
                </a:solidFill>
                <a:latin typeface="Work Sans"/>
                <a:ea typeface="Work Sans"/>
                <a:cs typeface="Work Sans"/>
                <a:sym typeface="Work Sans"/>
              </a:rPr>
              <a:t>azul</a:t>
            </a: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p:txBody>
      </p:sp>
      <p:pic>
        <p:nvPicPr>
          <p:cNvPr id="893" name="Google Shape;893;p44"/>
          <p:cNvPicPr preferRelativeResize="0"/>
          <p:nvPr/>
        </p:nvPicPr>
        <p:blipFill rotWithShape="1">
          <a:blip r:embed="rId4">
            <a:alphaModFix/>
          </a:blip>
          <a:srcRect b="0" l="0" r="0" t="0"/>
          <a:stretch/>
        </p:blipFill>
        <p:spPr>
          <a:xfrm>
            <a:off x="1097280" y="4370082"/>
            <a:ext cx="2395500" cy="189757"/>
          </a:xfrm>
          <a:prstGeom prst="rect">
            <a:avLst/>
          </a:prstGeom>
          <a:noFill/>
          <a:ln>
            <a:noFill/>
          </a:ln>
        </p:spPr>
      </p:pic>
      <p:cxnSp>
        <p:nvCxnSpPr>
          <p:cNvPr id="894" name="Google Shape;894;p44"/>
          <p:cNvCxnSpPr>
            <a:endCxn id="895" idx="1"/>
          </p:cNvCxnSpPr>
          <p:nvPr/>
        </p:nvCxnSpPr>
        <p:spPr>
          <a:xfrm flipH="1" rot="10800000">
            <a:off x="2726460" y="4458050"/>
            <a:ext cx="1284000" cy="160200"/>
          </a:xfrm>
          <a:prstGeom prst="bentConnector3">
            <a:avLst>
              <a:gd fmla="val 69589" name="adj1"/>
            </a:avLst>
          </a:prstGeom>
          <a:noFill/>
          <a:ln cap="flat" cmpd="sng" w="19050">
            <a:solidFill>
              <a:srgbClr val="BA0E02"/>
            </a:solidFill>
            <a:prstDash val="solid"/>
            <a:round/>
            <a:headEnd len="sm" w="sm" type="none"/>
            <a:tailEnd len="med" w="med" type="stealth"/>
          </a:ln>
        </p:spPr>
      </p:cxnSp>
      <p:sp>
        <p:nvSpPr>
          <p:cNvPr id="895" name="Google Shape;895;p44"/>
          <p:cNvSpPr txBox="1"/>
          <p:nvPr/>
        </p:nvSpPr>
        <p:spPr>
          <a:xfrm>
            <a:off x="4010460" y="4250316"/>
            <a:ext cx="4320000" cy="41546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Probabilidade do evento 2 após o evento 1 ocorrer</a:t>
            </a:r>
            <a:endParaRPr b="0" i="0" sz="1000" u="none" cap="none" strike="noStrike">
              <a:solidFill>
                <a:schemeClr val="lt1"/>
              </a:solidFill>
              <a:latin typeface="Work Sans"/>
              <a:ea typeface="Work Sans"/>
              <a:cs typeface="Work Sans"/>
              <a:sym typeface="Work Sans"/>
            </a:endParaRPr>
          </a:p>
        </p:txBody>
      </p:sp>
      <p:sp>
        <p:nvSpPr>
          <p:cNvPr id="896" name="Google Shape;896;p44"/>
          <p:cNvSpPr txBox="1"/>
          <p:nvPr/>
        </p:nvSpPr>
        <p:spPr>
          <a:xfrm>
            <a:off x="384968" y="1327425"/>
            <a:ext cx="5112000" cy="292327"/>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2400"/>
              <a:buFont typeface="Arial"/>
              <a:buNone/>
            </a:pPr>
            <a:r>
              <a:rPr b="0" i="0" lang="pt-BR" sz="1000" u="none" cap="none" strike="noStrike">
                <a:solidFill>
                  <a:schemeClr val="lt1"/>
                </a:solidFill>
                <a:latin typeface="Work Sans"/>
                <a:ea typeface="Work Sans"/>
                <a:cs typeface="Work Sans"/>
                <a:sym typeface="Work Sans"/>
              </a:rPr>
              <a:t>A probabilidade de um evento acontecer é definida como:  </a:t>
            </a:r>
            <a:endParaRPr b="0" i="0" sz="1000" u="none" cap="none" strike="noStrike">
              <a:solidFill>
                <a:schemeClr val="lt1"/>
              </a:solidFill>
              <a:latin typeface="Work Sans"/>
              <a:ea typeface="Work Sans"/>
              <a:cs typeface="Work Sans"/>
              <a:sym typeface="Work Sans"/>
            </a:endParaRPr>
          </a:p>
        </p:txBody>
      </p:sp>
      <p:pic>
        <p:nvPicPr>
          <p:cNvPr id="897" name="Google Shape;897;p44"/>
          <p:cNvPicPr preferRelativeResize="0"/>
          <p:nvPr/>
        </p:nvPicPr>
        <p:blipFill rotWithShape="1">
          <a:blip r:embed="rId5">
            <a:alphaModFix/>
          </a:blip>
          <a:srcRect b="0" l="0" r="0" t="0"/>
          <a:stretch/>
        </p:blipFill>
        <p:spPr>
          <a:xfrm>
            <a:off x="4318190" y="1231690"/>
            <a:ext cx="1777809" cy="452155"/>
          </a:xfrm>
          <a:prstGeom prst="rect">
            <a:avLst/>
          </a:prstGeom>
          <a:noFill/>
          <a:ln>
            <a:noFill/>
          </a:ln>
        </p:spPr>
      </p:pic>
      <p:sp>
        <p:nvSpPr>
          <p:cNvPr id="898" name="Google Shape;898;p44"/>
          <p:cNvSpPr txBox="1"/>
          <p:nvPr/>
        </p:nvSpPr>
        <p:spPr>
          <a:xfrm>
            <a:off x="384968" y="1694800"/>
            <a:ext cx="9900000" cy="292327"/>
          </a:xfrm>
          <a:prstGeom prst="rect">
            <a:avLst/>
          </a:prstGeom>
          <a:noFill/>
          <a:ln>
            <a:noFill/>
          </a:ln>
        </p:spPr>
        <p:txBody>
          <a:bodyPr anchorCtr="0" anchor="ctr"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Espaço amostral:</a:t>
            </a:r>
            <a:r>
              <a:rPr b="0" i="0" lang="pt-BR" sz="1000" u="none" cap="none" strike="noStrike">
                <a:solidFill>
                  <a:schemeClr val="lt1"/>
                </a:solidFill>
                <a:latin typeface="Work Sans"/>
                <a:ea typeface="Work Sans"/>
                <a:cs typeface="Work Sans"/>
                <a:sym typeface="Work Sans"/>
              </a:rPr>
              <a:t> conjunto de todos os resultados possíveis de um experimento aleatório.</a:t>
            </a:r>
            <a:endParaRPr b="0" i="0" sz="1000" u="none" cap="none" strike="noStrike">
              <a:solidFill>
                <a:schemeClr val="lt1"/>
              </a:solidFill>
              <a:latin typeface="Work Sans"/>
              <a:ea typeface="Work Sans"/>
              <a:cs typeface="Work Sans"/>
              <a:sym typeface="Work Sans"/>
            </a:endParaRPr>
          </a:p>
        </p:txBody>
      </p:sp>
      <p:sp>
        <p:nvSpPr>
          <p:cNvPr id="899" name="Google Shape;899;p44"/>
          <p:cNvSpPr txBox="1"/>
          <p:nvPr/>
        </p:nvSpPr>
        <p:spPr>
          <a:xfrm>
            <a:off x="384968" y="2048057"/>
            <a:ext cx="9900000" cy="315410"/>
          </a:xfrm>
          <a:prstGeom prst="rect">
            <a:avLst/>
          </a:prstGeom>
          <a:noFill/>
          <a:ln>
            <a:noFill/>
          </a:ln>
        </p:spPr>
        <p:txBody>
          <a:bodyPr anchorCtr="0" anchor="ctr" bIns="68550" lIns="137125" spcFirstLastPara="1" rIns="137125" wrap="square" tIns="68550">
            <a:spAutoFit/>
          </a:bodyPr>
          <a:lstStyle/>
          <a:p>
            <a:pPr indent="0" lvl="0" marL="0" marR="0" rtl="0" algn="l">
              <a:lnSpc>
                <a:spcPct val="115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Evento da probabilidade:</a:t>
            </a:r>
            <a:r>
              <a:rPr b="0" i="0" lang="pt-BR" sz="1000" u="none" cap="none" strike="noStrike">
                <a:solidFill>
                  <a:schemeClr val="lt1"/>
                </a:solidFill>
                <a:latin typeface="Work Sans"/>
                <a:ea typeface="Work Sans"/>
                <a:cs typeface="Work Sans"/>
                <a:sym typeface="Work Sans"/>
              </a:rPr>
              <a:t> conjunto qualquer de resultados de um experimento aleatório, sendo um subconjunto do espaço amostral.</a:t>
            </a:r>
            <a:endParaRPr b="0" i="0" sz="1000" u="none" cap="none" strike="noStrike">
              <a:solidFill>
                <a:schemeClr val="lt1"/>
              </a:solidFill>
              <a:latin typeface="Work Sans"/>
              <a:ea typeface="Work Sans"/>
              <a:cs typeface="Work Sans"/>
              <a:sym typeface="Work Sans"/>
            </a:endParaRPr>
          </a:p>
        </p:txBody>
      </p:sp>
      <p:cxnSp>
        <p:nvCxnSpPr>
          <p:cNvPr id="900" name="Google Shape;900;p44"/>
          <p:cNvCxnSpPr/>
          <p:nvPr/>
        </p:nvCxnSpPr>
        <p:spPr>
          <a:xfrm>
            <a:off x="499110" y="2517482"/>
            <a:ext cx="8145780" cy="0"/>
          </a:xfrm>
          <a:prstGeom prst="straightConnector1">
            <a:avLst/>
          </a:prstGeom>
          <a:noFill/>
          <a:ln cap="flat" cmpd="sng" w="19050">
            <a:solidFill>
              <a:srgbClr val="C72D33"/>
            </a:solidFill>
            <a:prstDash val="dash"/>
            <a:round/>
            <a:headEnd len="sm" w="sm" type="none"/>
            <a:tailEnd len="sm" w="sm" type="none"/>
          </a:ln>
        </p:spPr>
      </p:cxnSp>
      <p:sp>
        <p:nvSpPr>
          <p:cNvPr id="901" name="Google Shape;901;p44"/>
          <p:cNvSpPr txBox="1"/>
          <p:nvPr/>
        </p:nvSpPr>
        <p:spPr>
          <a:xfrm>
            <a:off x="4167592" y="4458050"/>
            <a:ext cx="3240000" cy="415468"/>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P(E</a:t>
            </a:r>
            <a:r>
              <a:rPr b="0" baseline="-25000" i="0" lang="pt-BR" sz="1000" u="none" cap="none" strike="noStrike">
                <a:solidFill>
                  <a:schemeClr val="lt1"/>
                </a:solidFill>
                <a:latin typeface="Work Sans"/>
                <a:ea typeface="Work Sans"/>
                <a:cs typeface="Work Sans"/>
                <a:sym typeface="Work Sans"/>
              </a:rPr>
              <a:t>1</a:t>
            </a:r>
            <a:r>
              <a:rPr b="0" i="0" lang="pt-BR" sz="1000" u="none" cap="none" strike="noStrike">
                <a:solidFill>
                  <a:schemeClr val="lt1"/>
                </a:solidFill>
                <a:latin typeface="Work Sans"/>
                <a:ea typeface="Work Sans"/>
                <a:cs typeface="Work Sans"/>
                <a:sym typeface="Work Sans"/>
              </a:rPr>
              <a:t> e E</a:t>
            </a:r>
            <a:r>
              <a:rPr b="0" baseline="-25000" i="0" lang="pt-BR" sz="1000" u="none" cap="none" strike="noStrike">
                <a:solidFill>
                  <a:schemeClr val="lt1"/>
                </a:solidFill>
                <a:latin typeface="Work Sans"/>
                <a:ea typeface="Work Sans"/>
                <a:cs typeface="Work Sans"/>
                <a:sym typeface="Work Sans"/>
              </a:rPr>
              <a:t>2</a:t>
            </a:r>
            <a:r>
              <a:rPr b="0" i="0" lang="pt-BR" sz="1000" u="none" cap="none" strike="noStrike">
                <a:solidFill>
                  <a:schemeClr val="lt1"/>
                </a:solidFill>
                <a:latin typeface="Work Sans"/>
                <a:ea typeface="Work Sans"/>
                <a:cs typeface="Work Sans"/>
                <a:sym typeface="Work Sans"/>
              </a:rPr>
              <a:t> ) = ( 10/30 ) x ( 20/29 ) = 20/87</a:t>
            </a:r>
            <a:endParaRPr b="0" i="0" sz="1000" u="none" cap="none" strike="noStrike">
              <a:solidFill>
                <a:schemeClr val="lt1"/>
              </a:solidFill>
              <a:latin typeface="Work Sans"/>
              <a:ea typeface="Work Sans"/>
              <a:cs typeface="Work Sans"/>
              <a:sym typeface="Work Sans"/>
            </a:endParaRPr>
          </a:p>
        </p:txBody>
      </p:sp>
      <p:sp>
        <p:nvSpPr>
          <p:cNvPr id="902" name="Google Shape;902;p44"/>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1000"/>
                                        <p:tgtEl>
                                          <p:spTgt spid="8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1000"/>
                                        <p:tgtEl>
                                          <p:spTgt spid="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1000"/>
                                        <p:tgtEl>
                                          <p:spTgt spid="8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1000"/>
                                        <p:tgtEl>
                                          <p:spTgt spid="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1000"/>
                                        <p:tgtEl>
                                          <p:spTgt spid="894"/>
                                        </p:tgtEl>
                                      </p:cBhvr>
                                    </p:animEffect>
                                  </p:childTnLst>
                                </p:cTn>
                              </p:par>
                              <p:par>
                                <p:cTn fill="hold" nodeType="with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1000"/>
                                        <p:tgtEl>
                                          <p:spTgt spid="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1000"/>
                                        <p:tgtEl>
                                          <p:spTgt spid="9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45"/>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908" name="Google Shape;908;p45"/>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909" name="Google Shape;909;p45"/>
          <p:cNvGrpSpPr/>
          <p:nvPr/>
        </p:nvGrpSpPr>
        <p:grpSpPr>
          <a:xfrm>
            <a:off x="339712" y="888243"/>
            <a:ext cx="3874148" cy="397001"/>
            <a:chOff x="938974" y="1053283"/>
            <a:chExt cx="5761641" cy="575247"/>
          </a:xfrm>
        </p:grpSpPr>
        <p:sp>
          <p:nvSpPr>
            <p:cNvPr id="910" name="Google Shape;910;p45"/>
            <p:cNvSpPr txBox="1"/>
            <p:nvPr/>
          </p:nvSpPr>
          <p:spPr>
            <a:xfrm>
              <a:off x="1526530" y="1053283"/>
              <a:ext cx="5174085"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Probabilidade discreta/conjuntos</a:t>
              </a:r>
              <a:endParaRPr b="1" i="0" sz="1200" u="none" cap="none" strike="noStrike">
                <a:solidFill>
                  <a:schemeClr val="lt1"/>
                </a:solidFill>
                <a:latin typeface="Work Sans"/>
                <a:ea typeface="Work Sans"/>
                <a:cs typeface="Work Sans"/>
                <a:sym typeface="Work Sans"/>
              </a:endParaRPr>
            </a:p>
          </p:txBody>
        </p:sp>
        <p:pic>
          <p:nvPicPr>
            <p:cNvPr descr="Tally outline" id="911" name="Google Shape;911;p45"/>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912" name="Google Shape;912;p45"/>
          <p:cNvSpPr txBox="1"/>
          <p:nvPr/>
        </p:nvSpPr>
        <p:spPr>
          <a:xfrm>
            <a:off x="384968" y="1327425"/>
            <a:ext cx="5112000" cy="292327"/>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2400"/>
              <a:buFont typeface="Arial"/>
              <a:buNone/>
            </a:pPr>
            <a:r>
              <a:rPr b="0" i="0" lang="pt-BR" sz="1000" u="none" cap="none" strike="noStrike">
                <a:solidFill>
                  <a:schemeClr val="lt1"/>
                </a:solidFill>
                <a:latin typeface="Work Sans"/>
                <a:ea typeface="Work Sans"/>
                <a:cs typeface="Work Sans"/>
                <a:sym typeface="Work Sans"/>
              </a:rPr>
              <a:t>A probabilidade de um evento acontecer é definida como:  </a:t>
            </a:r>
            <a:endParaRPr b="0" i="0" sz="1000" u="none" cap="none" strike="noStrike">
              <a:solidFill>
                <a:schemeClr val="lt1"/>
              </a:solidFill>
              <a:latin typeface="Work Sans"/>
              <a:ea typeface="Work Sans"/>
              <a:cs typeface="Work Sans"/>
              <a:sym typeface="Work Sans"/>
            </a:endParaRPr>
          </a:p>
        </p:txBody>
      </p:sp>
      <p:pic>
        <p:nvPicPr>
          <p:cNvPr id="913" name="Google Shape;913;p45"/>
          <p:cNvPicPr preferRelativeResize="0"/>
          <p:nvPr/>
        </p:nvPicPr>
        <p:blipFill rotWithShape="1">
          <a:blip r:embed="rId4">
            <a:alphaModFix/>
          </a:blip>
          <a:srcRect b="0" l="0" r="0" t="0"/>
          <a:stretch/>
        </p:blipFill>
        <p:spPr>
          <a:xfrm>
            <a:off x="4318190" y="1231690"/>
            <a:ext cx="1777809" cy="452155"/>
          </a:xfrm>
          <a:prstGeom prst="rect">
            <a:avLst/>
          </a:prstGeom>
          <a:noFill/>
          <a:ln>
            <a:noFill/>
          </a:ln>
        </p:spPr>
      </p:pic>
      <p:sp>
        <p:nvSpPr>
          <p:cNvPr id="914" name="Google Shape;914;p45"/>
          <p:cNvSpPr txBox="1"/>
          <p:nvPr/>
        </p:nvSpPr>
        <p:spPr>
          <a:xfrm>
            <a:off x="384968" y="1694800"/>
            <a:ext cx="9900000" cy="292327"/>
          </a:xfrm>
          <a:prstGeom prst="rect">
            <a:avLst/>
          </a:prstGeom>
          <a:noFill/>
          <a:ln>
            <a:noFill/>
          </a:ln>
        </p:spPr>
        <p:txBody>
          <a:bodyPr anchorCtr="0" anchor="ctr"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Espaço amostral:</a:t>
            </a:r>
            <a:r>
              <a:rPr b="0" i="0" lang="pt-BR" sz="1000" u="none" cap="none" strike="noStrike">
                <a:solidFill>
                  <a:schemeClr val="lt1"/>
                </a:solidFill>
                <a:latin typeface="Work Sans"/>
                <a:ea typeface="Work Sans"/>
                <a:cs typeface="Work Sans"/>
                <a:sym typeface="Work Sans"/>
              </a:rPr>
              <a:t> conjunto de todos os resultados possíveis de um experimento aleatório.</a:t>
            </a:r>
            <a:endParaRPr b="0" i="0" sz="1000" u="none" cap="none" strike="noStrike">
              <a:solidFill>
                <a:schemeClr val="lt1"/>
              </a:solidFill>
              <a:latin typeface="Work Sans"/>
              <a:ea typeface="Work Sans"/>
              <a:cs typeface="Work Sans"/>
              <a:sym typeface="Work Sans"/>
            </a:endParaRPr>
          </a:p>
        </p:txBody>
      </p:sp>
      <p:sp>
        <p:nvSpPr>
          <p:cNvPr id="915" name="Google Shape;915;p45"/>
          <p:cNvSpPr txBox="1"/>
          <p:nvPr/>
        </p:nvSpPr>
        <p:spPr>
          <a:xfrm>
            <a:off x="384968" y="2048057"/>
            <a:ext cx="9900000" cy="315410"/>
          </a:xfrm>
          <a:prstGeom prst="rect">
            <a:avLst/>
          </a:prstGeom>
          <a:noFill/>
          <a:ln>
            <a:noFill/>
          </a:ln>
        </p:spPr>
        <p:txBody>
          <a:bodyPr anchorCtr="0" anchor="ctr" bIns="68550" lIns="137125" spcFirstLastPara="1" rIns="137125" wrap="square" tIns="68550">
            <a:spAutoFit/>
          </a:bodyPr>
          <a:lstStyle/>
          <a:p>
            <a:pPr indent="0" lvl="0" marL="0" marR="0" rtl="0" algn="l">
              <a:lnSpc>
                <a:spcPct val="115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Evento da probabilidade:</a:t>
            </a:r>
            <a:r>
              <a:rPr b="0" i="0" lang="pt-BR" sz="1000" u="none" cap="none" strike="noStrike">
                <a:solidFill>
                  <a:schemeClr val="lt1"/>
                </a:solidFill>
                <a:latin typeface="Work Sans"/>
                <a:ea typeface="Work Sans"/>
                <a:cs typeface="Work Sans"/>
                <a:sym typeface="Work Sans"/>
              </a:rPr>
              <a:t> conjunto qualquer de resultados de um experimento aleatório, sendo um subconjunto do espaço amostral.</a:t>
            </a:r>
            <a:endParaRPr b="0" i="0" sz="1000" u="none" cap="none" strike="noStrike">
              <a:solidFill>
                <a:schemeClr val="lt1"/>
              </a:solidFill>
              <a:latin typeface="Work Sans"/>
              <a:ea typeface="Work Sans"/>
              <a:cs typeface="Work Sans"/>
              <a:sym typeface="Work Sans"/>
            </a:endParaRPr>
          </a:p>
        </p:txBody>
      </p:sp>
      <p:cxnSp>
        <p:nvCxnSpPr>
          <p:cNvPr id="916" name="Google Shape;916;p45"/>
          <p:cNvCxnSpPr/>
          <p:nvPr/>
        </p:nvCxnSpPr>
        <p:spPr>
          <a:xfrm>
            <a:off x="499110" y="2517482"/>
            <a:ext cx="8111490" cy="0"/>
          </a:xfrm>
          <a:prstGeom prst="straightConnector1">
            <a:avLst/>
          </a:prstGeom>
          <a:noFill/>
          <a:ln cap="flat" cmpd="sng" w="19050">
            <a:solidFill>
              <a:srgbClr val="C72D33"/>
            </a:solidFill>
            <a:prstDash val="dash"/>
            <a:round/>
            <a:headEnd len="sm" w="sm" type="none"/>
            <a:tailEnd len="sm" w="sm" type="none"/>
          </a:ln>
        </p:spPr>
      </p:cxnSp>
      <p:sp>
        <p:nvSpPr>
          <p:cNvPr id="917" name="Google Shape;917;p45"/>
          <p:cNvSpPr txBox="1"/>
          <p:nvPr/>
        </p:nvSpPr>
        <p:spPr>
          <a:xfrm>
            <a:off x="430350" y="3636716"/>
            <a:ext cx="3362017" cy="1177185"/>
          </a:xfrm>
          <a:prstGeom prst="rect">
            <a:avLst/>
          </a:prstGeom>
          <a:noFill/>
          <a:ln>
            <a:noFill/>
          </a:ln>
        </p:spPr>
        <p:txBody>
          <a:bodyPr anchorCtr="0" anchor="ctr" bIns="68550" lIns="137125" spcFirstLastPara="1" rIns="137125" wrap="square" tIns="68550">
            <a:spAutoFit/>
          </a:bodyPr>
          <a:lstStyle/>
          <a:p>
            <a:pPr indent="0" lvl="0" marL="0" marR="0" rtl="0" algn="l">
              <a:lnSpc>
                <a:spcPct val="150000"/>
              </a:lnSpc>
              <a:spcBef>
                <a:spcPts val="0"/>
              </a:spcBef>
              <a:spcAft>
                <a:spcPts val="0"/>
              </a:spcAft>
              <a:buClr>
                <a:schemeClr val="dk1"/>
              </a:buClr>
              <a:buSzPts val="2400"/>
              <a:buFont typeface="Arial"/>
              <a:buNone/>
            </a:pPr>
            <a:r>
              <a:rPr b="0" i="0" lang="pt-BR" sz="900" u="none" cap="none" strike="noStrike">
                <a:solidFill>
                  <a:schemeClr val="lt1"/>
                </a:solidFill>
                <a:latin typeface="Work Sans"/>
                <a:ea typeface="Work Sans"/>
                <a:cs typeface="Work Sans"/>
                <a:sym typeface="Work Sans"/>
              </a:rPr>
              <a:t>Espaço amostral = 10</a:t>
            </a:r>
            <a:endParaRPr b="0" i="0" sz="900" u="none" cap="none" strike="noStrike">
              <a:solidFill>
                <a:schemeClr val="lt1"/>
              </a:solidFill>
              <a:latin typeface="Work Sans"/>
              <a:ea typeface="Work Sans"/>
              <a:cs typeface="Work Sans"/>
              <a:sym typeface="Work Sans"/>
            </a:endParaRPr>
          </a:p>
          <a:p>
            <a:pPr indent="0" lvl="0" marL="0" marR="0" rtl="0" algn="l">
              <a:lnSpc>
                <a:spcPct val="150000"/>
              </a:lnSpc>
              <a:spcBef>
                <a:spcPts val="0"/>
              </a:spcBef>
              <a:spcAft>
                <a:spcPts val="0"/>
              </a:spcAft>
              <a:buClr>
                <a:schemeClr val="dk1"/>
              </a:buClr>
              <a:buSzPts val="2400"/>
              <a:buFont typeface="Arial"/>
              <a:buNone/>
            </a:pPr>
            <a:r>
              <a:rPr b="0" i="0" lang="pt-BR" sz="900" u="none" cap="none" strike="noStrike">
                <a:solidFill>
                  <a:schemeClr val="lt1"/>
                </a:solidFill>
                <a:latin typeface="Work Sans"/>
                <a:ea typeface="Work Sans"/>
                <a:cs typeface="Work Sans"/>
                <a:sym typeface="Work Sans"/>
              </a:rPr>
              <a:t>Números múltiplos de 2 = 5 (2, 4, 6, 8, 10)</a:t>
            </a:r>
            <a:endParaRPr b="0" i="0" sz="900" u="none" cap="none" strike="noStrike">
              <a:solidFill>
                <a:schemeClr val="lt1"/>
              </a:solidFill>
              <a:latin typeface="Work Sans"/>
              <a:ea typeface="Work Sans"/>
              <a:cs typeface="Work Sans"/>
              <a:sym typeface="Work Sans"/>
            </a:endParaRPr>
          </a:p>
          <a:p>
            <a:pPr indent="0" lvl="0" marL="0" marR="0" rtl="0" algn="l">
              <a:lnSpc>
                <a:spcPct val="150000"/>
              </a:lnSpc>
              <a:spcBef>
                <a:spcPts val="0"/>
              </a:spcBef>
              <a:spcAft>
                <a:spcPts val="0"/>
              </a:spcAft>
              <a:buClr>
                <a:schemeClr val="dk1"/>
              </a:buClr>
              <a:buSzPts val="2400"/>
              <a:buFont typeface="Arial"/>
              <a:buNone/>
            </a:pPr>
            <a:r>
              <a:rPr b="0" i="0" lang="pt-BR" sz="900" u="none" cap="none" strike="noStrike">
                <a:solidFill>
                  <a:schemeClr val="lt1"/>
                </a:solidFill>
                <a:latin typeface="Work Sans"/>
                <a:ea typeface="Work Sans"/>
                <a:cs typeface="Work Sans"/>
                <a:sym typeface="Work Sans"/>
              </a:rPr>
              <a:t>Números múltiplos de 3 = 3 (3, 6, 9)</a:t>
            </a:r>
            <a:endParaRPr b="0" i="0" sz="900" u="none" cap="none" strike="noStrike">
              <a:solidFill>
                <a:schemeClr val="lt1"/>
              </a:solidFill>
              <a:latin typeface="Work Sans"/>
              <a:ea typeface="Work Sans"/>
              <a:cs typeface="Work Sans"/>
              <a:sym typeface="Work Sans"/>
            </a:endParaRPr>
          </a:p>
          <a:p>
            <a:pPr indent="0" lvl="0" marL="0" marR="0" rtl="0" algn="l">
              <a:lnSpc>
                <a:spcPct val="150000"/>
              </a:lnSpc>
              <a:spcBef>
                <a:spcPts val="0"/>
              </a:spcBef>
              <a:spcAft>
                <a:spcPts val="0"/>
              </a:spcAft>
              <a:buClr>
                <a:schemeClr val="dk1"/>
              </a:buClr>
              <a:buSzPts val="2400"/>
              <a:buFont typeface="Arial"/>
              <a:buNone/>
            </a:pPr>
            <a:r>
              <a:rPr b="0" i="0" lang="pt-BR" sz="900" u="none" cap="none" strike="noStrike">
                <a:solidFill>
                  <a:schemeClr val="lt1"/>
                </a:solidFill>
                <a:latin typeface="Work Sans"/>
                <a:ea typeface="Work Sans"/>
                <a:cs typeface="Work Sans"/>
                <a:sym typeface="Work Sans"/>
              </a:rPr>
              <a:t>Números múltiplos de 2 e 3 = 1 (6)</a:t>
            </a:r>
            <a:endParaRPr b="0" i="0" sz="900" u="none" cap="none" strike="noStrike">
              <a:solidFill>
                <a:schemeClr val="lt1"/>
              </a:solidFill>
              <a:latin typeface="Work Sans"/>
              <a:ea typeface="Work Sans"/>
              <a:cs typeface="Work Sans"/>
              <a:sym typeface="Work Sans"/>
            </a:endParaRPr>
          </a:p>
          <a:p>
            <a:pPr indent="0" lvl="0" marL="0" marR="0" rtl="0" algn="l">
              <a:lnSpc>
                <a:spcPct val="150000"/>
              </a:lnSpc>
              <a:spcBef>
                <a:spcPts val="0"/>
              </a:spcBef>
              <a:spcAft>
                <a:spcPts val="0"/>
              </a:spcAft>
              <a:buClr>
                <a:schemeClr val="dk1"/>
              </a:buClr>
              <a:buSzPts val="2400"/>
              <a:buFont typeface="Arial"/>
              <a:buNone/>
            </a:pPr>
            <a:r>
              <a:rPr b="0" i="0" lang="pt-BR" sz="900" u="none" cap="none" strike="noStrike">
                <a:solidFill>
                  <a:schemeClr val="lt1"/>
                </a:solidFill>
                <a:latin typeface="Work Sans"/>
                <a:ea typeface="Work Sans"/>
                <a:cs typeface="Work Sans"/>
                <a:sym typeface="Work Sans"/>
              </a:rPr>
              <a:t>Números não múltiplos de 2 ou 3 = 3 (1, 5, 7)</a:t>
            </a:r>
            <a:endParaRPr b="0" i="0" sz="900" u="none" cap="none" strike="noStrike">
              <a:solidFill>
                <a:schemeClr val="lt1"/>
              </a:solidFill>
              <a:latin typeface="Work Sans"/>
              <a:ea typeface="Work Sans"/>
              <a:cs typeface="Work Sans"/>
              <a:sym typeface="Work Sans"/>
            </a:endParaRPr>
          </a:p>
        </p:txBody>
      </p:sp>
      <p:sp>
        <p:nvSpPr>
          <p:cNvPr id="918" name="Google Shape;918;p45"/>
          <p:cNvSpPr txBox="1"/>
          <p:nvPr/>
        </p:nvSpPr>
        <p:spPr>
          <a:xfrm>
            <a:off x="430350" y="2626018"/>
            <a:ext cx="8279310" cy="538579"/>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BA0E02"/>
              </a:buClr>
              <a:buSzPts val="1300"/>
              <a:buFont typeface="Arial"/>
              <a:buNone/>
            </a:pPr>
            <a:r>
              <a:rPr b="1" i="0" lang="pt-BR" sz="1000" u="none" cap="none" strike="noStrike">
                <a:solidFill>
                  <a:schemeClr val="lt1"/>
                </a:solidFill>
                <a:latin typeface="Work Sans"/>
                <a:ea typeface="Work Sans"/>
                <a:cs typeface="Work Sans"/>
                <a:sym typeface="Work Sans"/>
              </a:rPr>
              <a:t>Exemplo de exercício:</a:t>
            </a:r>
            <a:r>
              <a:rPr b="0" i="0" lang="pt-BR" sz="1000" u="none" cap="none" strike="noStrike">
                <a:solidFill>
                  <a:schemeClr val="lt1"/>
                </a:solidFill>
                <a:latin typeface="Work Sans"/>
                <a:ea typeface="Work Sans"/>
                <a:cs typeface="Work Sans"/>
                <a:sym typeface="Work Sans"/>
              </a:rPr>
              <a:t> Numa urna existem 10 bolas numeradas de 1 a 10. Retirando uma bola ao acaso, qual a probabilidade de ocorrer múltiplos de 2 ou múltiplos de 3?</a:t>
            </a:r>
            <a:endParaRPr b="0" i="0" sz="1000" u="none" cap="none" strike="noStrike">
              <a:solidFill>
                <a:schemeClr val="lt1"/>
              </a:solidFill>
              <a:latin typeface="Work Sans"/>
              <a:ea typeface="Work Sans"/>
              <a:cs typeface="Work Sans"/>
              <a:sym typeface="Work Sans"/>
            </a:endParaRPr>
          </a:p>
        </p:txBody>
      </p:sp>
      <p:sp>
        <p:nvSpPr>
          <p:cNvPr id="919" name="Google Shape;919;p45"/>
          <p:cNvSpPr txBox="1"/>
          <p:nvPr/>
        </p:nvSpPr>
        <p:spPr>
          <a:xfrm>
            <a:off x="398173" y="3098137"/>
            <a:ext cx="3056379" cy="600104"/>
          </a:xfrm>
          <a:prstGeom prst="rect">
            <a:avLst/>
          </a:prstGeom>
          <a:noFill/>
          <a:ln>
            <a:noFill/>
          </a:ln>
        </p:spPr>
        <p:txBody>
          <a:bodyPr anchorCtr="0" anchor="ctr" bIns="68550" lIns="137125" spcFirstLastPara="1" rIns="137125" wrap="square" tIns="68550">
            <a:spAutoFit/>
          </a:bodyPr>
          <a:lstStyle/>
          <a:p>
            <a:pPr indent="0" lvl="0" marL="0" marR="0" rtl="0" algn="l">
              <a:lnSpc>
                <a:spcPct val="150000"/>
              </a:lnSpc>
              <a:spcBef>
                <a:spcPts val="0"/>
              </a:spcBef>
              <a:spcAft>
                <a:spcPts val="0"/>
              </a:spcAft>
              <a:buClr>
                <a:schemeClr val="dk1"/>
              </a:buClr>
              <a:buSzPts val="2400"/>
              <a:buFont typeface="Arial"/>
              <a:buNone/>
            </a:pPr>
            <a:r>
              <a:rPr b="1" i="0" lang="pt-BR" sz="1000" u="none" cap="none" strike="noStrike">
                <a:solidFill>
                  <a:schemeClr val="lt1"/>
                </a:solidFill>
                <a:latin typeface="Work Sans"/>
                <a:ea typeface="Work Sans"/>
                <a:cs typeface="Work Sans"/>
                <a:sym typeface="Work Sans"/>
              </a:rPr>
              <a:t>EVENTO A = </a:t>
            </a:r>
            <a:r>
              <a:rPr b="0" i="0" lang="pt-BR" sz="1000" u="none" cap="none" strike="noStrike">
                <a:solidFill>
                  <a:schemeClr val="lt1"/>
                </a:solidFill>
                <a:latin typeface="Work Sans"/>
                <a:ea typeface="Work Sans"/>
                <a:cs typeface="Work Sans"/>
                <a:sym typeface="Work Sans"/>
              </a:rPr>
              <a:t>retirar bola múltiplo de </a:t>
            </a:r>
            <a:r>
              <a:rPr b="1" i="0" lang="pt-BR" sz="1000" u="none" cap="none" strike="noStrike">
                <a:solidFill>
                  <a:schemeClr val="lt1"/>
                </a:solidFill>
                <a:latin typeface="Work Sans"/>
                <a:ea typeface="Work Sans"/>
                <a:cs typeface="Work Sans"/>
                <a:sym typeface="Work Sans"/>
              </a:rPr>
              <a:t>2</a:t>
            </a:r>
            <a:endParaRPr b="1" i="0" sz="1000" u="none" cap="none" strike="noStrike">
              <a:solidFill>
                <a:schemeClr val="lt1"/>
              </a:solidFill>
              <a:latin typeface="Work Sans"/>
              <a:ea typeface="Work Sans"/>
              <a:cs typeface="Work Sans"/>
              <a:sym typeface="Work Sans"/>
            </a:endParaRPr>
          </a:p>
          <a:p>
            <a:pPr indent="0" lvl="0" marL="0" marR="0" rtl="0" algn="l">
              <a:lnSpc>
                <a:spcPct val="150000"/>
              </a:lnSpc>
              <a:spcBef>
                <a:spcPts val="0"/>
              </a:spcBef>
              <a:spcAft>
                <a:spcPts val="0"/>
              </a:spcAft>
              <a:buClr>
                <a:schemeClr val="dk1"/>
              </a:buClr>
              <a:buSzPts val="2400"/>
              <a:buFont typeface="Arial"/>
              <a:buNone/>
            </a:pPr>
            <a:r>
              <a:rPr b="1" i="0" lang="pt-BR" sz="1000" u="none" cap="none" strike="noStrike">
                <a:solidFill>
                  <a:schemeClr val="lt1"/>
                </a:solidFill>
                <a:latin typeface="Work Sans"/>
                <a:ea typeface="Work Sans"/>
                <a:cs typeface="Work Sans"/>
                <a:sym typeface="Work Sans"/>
              </a:rPr>
              <a:t>EVENTO B = </a:t>
            </a:r>
            <a:r>
              <a:rPr b="0" i="0" lang="pt-BR" sz="1000" u="none" cap="none" strike="noStrike">
                <a:solidFill>
                  <a:schemeClr val="lt1"/>
                </a:solidFill>
                <a:latin typeface="Work Sans"/>
                <a:ea typeface="Work Sans"/>
                <a:cs typeface="Work Sans"/>
                <a:sym typeface="Work Sans"/>
              </a:rPr>
              <a:t>retirar bola múltiplo de </a:t>
            </a:r>
            <a:r>
              <a:rPr b="1" i="0" lang="pt-BR" sz="1000" u="none" cap="none" strike="noStrike">
                <a:solidFill>
                  <a:schemeClr val="lt1"/>
                </a:solidFill>
                <a:latin typeface="Work Sans"/>
                <a:ea typeface="Work Sans"/>
                <a:cs typeface="Work Sans"/>
                <a:sym typeface="Work Sans"/>
              </a:rPr>
              <a:t>3</a:t>
            </a:r>
            <a:endParaRPr b="1" i="0" sz="1000" u="none" cap="none" strike="noStrike">
              <a:solidFill>
                <a:schemeClr val="lt1"/>
              </a:solidFill>
              <a:latin typeface="Work Sans"/>
              <a:ea typeface="Work Sans"/>
              <a:cs typeface="Work Sans"/>
              <a:sym typeface="Work Sans"/>
            </a:endParaRPr>
          </a:p>
        </p:txBody>
      </p:sp>
      <p:pic>
        <p:nvPicPr>
          <p:cNvPr id="920" name="Google Shape;920;p45"/>
          <p:cNvPicPr preferRelativeResize="0"/>
          <p:nvPr/>
        </p:nvPicPr>
        <p:blipFill rotWithShape="1">
          <a:blip r:embed="rId5">
            <a:alphaModFix/>
          </a:blip>
          <a:srcRect b="0" l="0" r="0" t="0"/>
          <a:stretch/>
        </p:blipFill>
        <p:spPr>
          <a:xfrm>
            <a:off x="4159157" y="3312613"/>
            <a:ext cx="2019984" cy="1357809"/>
          </a:xfrm>
          <a:prstGeom prst="rect">
            <a:avLst/>
          </a:prstGeom>
          <a:noFill/>
          <a:ln>
            <a:noFill/>
          </a:ln>
        </p:spPr>
      </p:pic>
      <p:sp>
        <p:nvSpPr>
          <p:cNvPr id="921" name="Google Shape;921;p45"/>
          <p:cNvSpPr txBox="1"/>
          <p:nvPr/>
        </p:nvSpPr>
        <p:spPr>
          <a:xfrm>
            <a:off x="6478754" y="2979439"/>
            <a:ext cx="2139466" cy="830936"/>
          </a:xfrm>
          <a:prstGeom prst="rect">
            <a:avLst/>
          </a:prstGeom>
          <a:noFill/>
          <a:ln>
            <a:noFill/>
          </a:ln>
        </p:spPr>
        <p:txBody>
          <a:bodyPr anchorCtr="0" anchor="ctr" bIns="68550" lIns="137125" spcFirstLastPara="1" rIns="137125" wrap="square" tIns="68550">
            <a:spAutoFit/>
          </a:bodyPr>
          <a:lstStyle/>
          <a:p>
            <a:pPr indent="0" lvl="0" marL="0" marR="0" rtl="0" algn="ctr">
              <a:lnSpc>
                <a:spcPct val="150000"/>
              </a:lnSpc>
              <a:spcBef>
                <a:spcPts val="0"/>
              </a:spcBef>
              <a:spcAft>
                <a:spcPts val="0"/>
              </a:spcAft>
              <a:buClr>
                <a:schemeClr val="dk1"/>
              </a:buClr>
              <a:buSzPts val="2400"/>
              <a:buFont typeface="Arial"/>
              <a:buNone/>
            </a:pPr>
            <a:r>
              <a:rPr b="0" i="0" lang="pt-BR" sz="1000" u="none" cap="none" strike="noStrike">
                <a:solidFill>
                  <a:schemeClr val="lt1"/>
                </a:solidFill>
                <a:latin typeface="Work Sans"/>
                <a:ea typeface="Work Sans"/>
                <a:cs typeface="Work Sans"/>
                <a:sym typeface="Work Sans"/>
              </a:rPr>
              <a:t>P(A) = 5/10</a:t>
            </a:r>
            <a:endParaRPr b="0" i="0" sz="1000" u="none" cap="none" strike="noStrike">
              <a:solidFill>
                <a:schemeClr val="lt1"/>
              </a:solidFill>
              <a:latin typeface="Work Sans"/>
              <a:ea typeface="Work Sans"/>
              <a:cs typeface="Work Sans"/>
              <a:sym typeface="Work Sans"/>
            </a:endParaRPr>
          </a:p>
          <a:p>
            <a:pPr indent="0" lvl="0" marL="0" marR="0" rtl="0" algn="ctr">
              <a:lnSpc>
                <a:spcPct val="150000"/>
              </a:lnSpc>
              <a:spcBef>
                <a:spcPts val="0"/>
              </a:spcBef>
              <a:spcAft>
                <a:spcPts val="0"/>
              </a:spcAft>
              <a:buClr>
                <a:schemeClr val="dk1"/>
              </a:buClr>
              <a:buSzPts val="2400"/>
              <a:buFont typeface="Arial"/>
              <a:buNone/>
            </a:pPr>
            <a:r>
              <a:rPr b="0" i="0" lang="pt-BR" sz="1000" u="none" cap="none" strike="noStrike">
                <a:solidFill>
                  <a:schemeClr val="lt1"/>
                </a:solidFill>
                <a:latin typeface="Work Sans"/>
                <a:ea typeface="Work Sans"/>
                <a:cs typeface="Work Sans"/>
                <a:sym typeface="Work Sans"/>
              </a:rPr>
              <a:t>P(B) = 3/10</a:t>
            </a:r>
            <a:endParaRPr b="0" i="0" sz="1000" u="none" cap="none" strike="noStrike">
              <a:solidFill>
                <a:schemeClr val="lt1"/>
              </a:solidFill>
              <a:latin typeface="Work Sans"/>
              <a:ea typeface="Work Sans"/>
              <a:cs typeface="Work Sans"/>
              <a:sym typeface="Work Sans"/>
            </a:endParaRPr>
          </a:p>
          <a:p>
            <a:pPr indent="0" lvl="0" marL="0" marR="0" rtl="0" algn="ctr">
              <a:lnSpc>
                <a:spcPct val="150000"/>
              </a:lnSpc>
              <a:spcBef>
                <a:spcPts val="0"/>
              </a:spcBef>
              <a:spcAft>
                <a:spcPts val="0"/>
              </a:spcAft>
              <a:buClr>
                <a:schemeClr val="dk1"/>
              </a:buClr>
              <a:buSzPts val="2400"/>
              <a:buFont typeface="Arial"/>
              <a:buNone/>
            </a:pPr>
            <a:r>
              <a:rPr b="0" i="0" lang="pt-BR" sz="1000" u="none" cap="none" strike="noStrike">
                <a:solidFill>
                  <a:schemeClr val="lt1"/>
                </a:solidFill>
                <a:latin typeface="Work Sans"/>
                <a:ea typeface="Work Sans"/>
                <a:cs typeface="Work Sans"/>
                <a:sym typeface="Work Sans"/>
              </a:rPr>
              <a:t>P(A e B) = 1/10 (intersecção)</a:t>
            </a:r>
            <a:endParaRPr b="0" i="0" sz="1000" u="none" cap="none" strike="noStrike">
              <a:solidFill>
                <a:schemeClr val="lt1"/>
              </a:solidFill>
              <a:latin typeface="Work Sans"/>
              <a:ea typeface="Work Sans"/>
              <a:cs typeface="Work Sans"/>
              <a:sym typeface="Work Sans"/>
            </a:endParaRPr>
          </a:p>
        </p:txBody>
      </p:sp>
      <p:sp>
        <p:nvSpPr>
          <p:cNvPr id="922" name="Google Shape;922;p45"/>
          <p:cNvSpPr txBox="1"/>
          <p:nvPr/>
        </p:nvSpPr>
        <p:spPr>
          <a:xfrm>
            <a:off x="6471134" y="3991517"/>
            <a:ext cx="2139466" cy="600104"/>
          </a:xfrm>
          <a:prstGeom prst="rect">
            <a:avLst/>
          </a:prstGeom>
          <a:noFill/>
          <a:ln cap="flat" cmpd="sng" w="19050">
            <a:solidFill>
              <a:schemeClr val="dk1"/>
            </a:solidFill>
            <a:prstDash val="solid"/>
            <a:round/>
            <a:headEnd len="sm" w="sm" type="none"/>
            <a:tailEnd len="sm" w="sm" type="none"/>
          </a:ln>
        </p:spPr>
        <p:txBody>
          <a:bodyPr anchorCtr="0" anchor="ctr" bIns="68550" lIns="137125" spcFirstLastPara="1" rIns="137125" wrap="square" tIns="68550">
            <a:spAutoFit/>
          </a:bodyPr>
          <a:lstStyle/>
          <a:p>
            <a:pPr indent="0" lvl="0" marL="0" marR="0" rtl="0" algn="ctr">
              <a:lnSpc>
                <a:spcPct val="150000"/>
              </a:lnSpc>
              <a:spcBef>
                <a:spcPts val="0"/>
              </a:spcBef>
              <a:spcAft>
                <a:spcPts val="0"/>
              </a:spcAft>
              <a:buClr>
                <a:schemeClr val="dk1"/>
              </a:buClr>
              <a:buSzPts val="2400"/>
              <a:buFont typeface="Arial"/>
              <a:buNone/>
            </a:pPr>
            <a:r>
              <a:rPr b="0" i="0" lang="pt-BR" sz="1000" u="none" cap="none" strike="noStrike">
                <a:solidFill>
                  <a:schemeClr val="lt1"/>
                </a:solidFill>
                <a:latin typeface="Work Sans"/>
                <a:ea typeface="Work Sans"/>
                <a:cs typeface="Work Sans"/>
                <a:sym typeface="Work Sans"/>
              </a:rPr>
              <a:t>P(A ou B) = (5 + 3 - 1) / 10 = 7/10 = 70%</a:t>
            </a:r>
            <a:endParaRPr b="0" i="0" sz="1000" u="none" cap="none" strike="noStrike">
              <a:solidFill>
                <a:schemeClr val="lt1"/>
              </a:solidFill>
              <a:latin typeface="Work Sans"/>
              <a:ea typeface="Work Sans"/>
              <a:cs typeface="Work Sans"/>
              <a:sym typeface="Work Sans"/>
            </a:endParaRPr>
          </a:p>
        </p:txBody>
      </p:sp>
      <p:pic>
        <p:nvPicPr>
          <p:cNvPr id="923" name="Google Shape;923;p45"/>
          <p:cNvPicPr preferRelativeResize="0"/>
          <p:nvPr/>
        </p:nvPicPr>
        <p:blipFill rotWithShape="1">
          <a:blip r:embed="rId6">
            <a:alphaModFix/>
          </a:blip>
          <a:srcRect b="0" l="0" r="0" t="0"/>
          <a:stretch/>
        </p:blipFill>
        <p:spPr>
          <a:xfrm>
            <a:off x="4040206" y="3024692"/>
            <a:ext cx="2139467" cy="146891"/>
          </a:xfrm>
          <a:prstGeom prst="rect">
            <a:avLst/>
          </a:prstGeom>
          <a:noFill/>
          <a:ln>
            <a:noFill/>
          </a:ln>
        </p:spPr>
      </p:pic>
      <p:sp>
        <p:nvSpPr>
          <p:cNvPr id="924" name="Google Shape;924;p45"/>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1000"/>
                                        <p:tgtEl>
                                          <p:spTgt spid="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1000"/>
                                        <p:tgtEl>
                                          <p:spTgt spid="917"/>
                                        </p:tgtEl>
                                      </p:cBhvr>
                                    </p:animEffect>
                                  </p:childTnLst>
                                </p:cTn>
                              </p:par>
                              <p:par>
                                <p:cTn fill="hold" nodeType="withEffect" presetClass="entr" presetID="10" presetSubtype="0">
                                  <p:stCondLst>
                                    <p:cond delay="0"/>
                                  </p:stCondLst>
                                  <p:childTnLst>
                                    <p:set>
                                      <p:cBhvr>
                                        <p:cTn dur="1" fill="hold">
                                          <p:stCondLst>
                                            <p:cond delay="0"/>
                                          </p:stCondLst>
                                        </p:cTn>
                                        <p:tgtEl>
                                          <p:spTgt spid="920"/>
                                        </p:tgtEl>
                                        <p:attrNameLst>
                                          <p:attrName>style.visibility</p:attrName>
                                        </p:attrNameLst>
                                      </p:cBhvr>
                                      <p:to>
                                        <p:strVal val="visible"/>
                                      </p:to>
                                    </p:set>
                                    <p:animEffect filter="fade" transition="in">
                                      <p:cBhvr>
                                        <p:cTn dur="1000"/>
                                        <p:tgtEl>
                                          <p:spTgt spid="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1000"/>
                                        <p:tgtEl>
                                          <p:spTgt spid="9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gtEl>
                                        <p:attrNameLst>
                                          <p:attrName>style.visibility</p:attrName>
                                        </p:attrNameLst>
                                      </p:cBhvr>
                                      <p:to>
                                        <p:strVal val="visible"/>
                                      </p:to>
                                    </p:set>
                                    <p:animEffect filter="fade" transition="in">
                                      <p:cBhvr>
                                        <p:cTn dur="1000"/>
                                        <p:tgtEl>
                                          <p:spTgt spid="9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46"/>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930" name="Google Shape;930;p46"/>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pic>
        <p:nvPicPr>
          <p:cNvPr descr="Abacus outline" id="931" name="Google Shape;931;p46"/>
          <p:cNvPicPr preferRelativeResize="0"/>
          <p:nvPr/>
        </p:nvPicPr>
        <p:blipFill rotWithShape="1">
          <a:blip r:embed="rId3">
            <a:alphaModFix/>
          </a:blip>
          <a:srcRect b="0" l="0" r="0" t="0"/>
          <a:stretch/>
        </p:blipFill>
        <p:spPr>
          <a:xfrm>
            <a:off x="3557840" y="1188424"/>
            <a:ext cx="524922" cy="524922"/>
          </a:xfrm>
          <a:prstGeom prst="rect">
            <a:avLst/>
          </a:prstGeom>
          <a:noFill/>
          <a:ln>
            <a:noFill/>
          </a:ln>
        </p:spPr>
      </p:pic>
      <p:pic>
        <p:nvPicPr>
          <p:cNvPr descr="Puzzle outline" id="932" name="Google Shape;932;p46"/>
          <p:cNvPicPr preferRelativeResize="0"/>
          <p:nvPr/>
        </p:nvPicPr>
        <p:blipFill rotWithShape="1">
          <a:blip r:embed="rId4">
            <a:alphaModFix/>
          </a:blip>
          <a:srcRect b="0" l="0" r="0" t="0"/>
          <a:stretch/>
        </p:blipFill>
        <p:spPr>
          <a:xfrm>
            <a:off x="2682995" y="4128681"/>
            <a:ext cx="587556" cy="587556"/>
          </a:xfrm>
          <a:prstGeom prst="rect">
            <a:avLst/>
          </a:prstGeom>
          <a:noFill/>
          <a:ln>
            <a:noFill/>
          </a:ln>
        </p:spPr>
      </p:pic>
      <p:sp>
        <p:nvSpPr>
          <p:cNvPr id="933" name="Google Shape;933;p46"/>
          <p:cNvSpPr txBox="1"/>
          <p:nvPr/>
        </p:nvSpPr>
        <p:spPr>
          <a:xfrm>
            <a:off x="1710004" y="2134184"/>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Expoentes</a:t>
            </a:r>
            <a:endParaRPr b="0" i="0" sz="1400" u="none" cap="none" strike="noStrike">
              <a:solidFill>
                <a:schemeClr val="lt1"/>
              </a:solidFill>
              <a:latin typeface="Work Sans"/>
              <a:ea typeface="Work Sans"/>
              <a:cs typeface="Work Sans"/>
              <a:sym typeface="Work Sans"/>
            </a:endParaRPr>
          </a:p>
        </p:txBody>
      </p:sp>
      <p:sp>
        <p:nvSpPr>
          <p:cNvPr id="934" name="Google Shape;934;p46"/>
          <p:cNvSpPr txBox="1"/>
          <p:nvPr/>
        </p:nvSpPr>
        <p:spPr>
          <a:xfrm>
            <a:off x="1710004" y="4154261"/>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Funções</a:t>
            </a:r>
            <a:endParaRPr b="0" i="0" sz="1400" u="none" cap="none" strike="noStrike">
              <a:solidFill>
                <a:schemeClr val="lt1"/>
              </a:solidFill>
              <a:latin typeface="Work Sans"/>
              <a:ea typeface="Work Sans"/>
              <a:cs typeface="Work Sans"/>
              <a:sym typeface="Work Sans"/>
            </a:endParaRPr>
          </a:p>
        </p:txBody>
      </p:sp>
      <p:sp>
        <p:nvSpPr>
          <p:cNvPr id="935" name="Google Shape;935;p46"/>
          <p:cNvSpPr txBox="1"/>
          <p:nvPr/>
        </p:nvSpPr>
        <p:spPr>
          <a:xfrm>
            <a:off x="5628236" y="2126790"/>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Valor absoluto</a:t>
            </a:r>
            <a:endParaRPr b="0" i="0" sz="1400" u="none" cap="none" strike="noStrike">
              <a:solidFill>
                <a:schemeClr val="lt1"/>
              </a:solidFill>
              <a:latin typeface="Work Sans"/>
              <a:ea typeface="Work Sans"/>
              <a:cs typeface="Work Sans"/>
              <a:sym typeface="Work Sans"/>
            </a:endParaRPr>
          </a:p>
        </p:txBody>
      </p:sp>
      <p:sp>
        <p:nvSpPr>
          <p:cNvPr id="936" name="Google Shape;936;p46"/>
          <p:cNvSpPr txBox="1"/>
          <p:nvPr/>
        </p:nvSpPr>
        <p:spPr>
          <a:xfrm>
            <a:off x="5628236" y="3117087"/>
            <a:ext cx="3476894"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Desigualdades</a:t>
            </a:r>
            <a:endParaRPr b="0" i="0" sz="1400" u="none" cap="none" strike="noStrike">
              <a:solidFill>
                <a:schemeClr val="lt1"/>
              </a:solidFill>
              <a:latin typeface="Work Sans"/>
              <a:ea typeface="Work Sans"/>
              <a:cs typeface="Work Sans"/>
              <a:sym typeface="Work Sans"/>
            </a:endParaRPr>
          </a:p>
        </p:txBody>
      </p:sp>
      <p:sp>
        <p:nvSpPr>
          <p:cNvPr id="937" name="Google Shape;937;p46"/>
          <p:cNvSpPr txBox="1"/>
          <p:nvPr/>
        </p:nvSpPr>
        <p:spPr>
          <a:xfrm>
            <a:off x="1710004" y="3145235"/>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Equações</a:t>
            </a:r>
            <a:endParaRPr b="0" i="0" sz="1400" u="none" cap="none" strike="noStrike">
              <a:solidFill>
                <a:schemeClr val="lt1"/>
              </a:solidFill>
              <a:latin typeface="Work Sans"/>
              <a:ea typeface="Work Sans"/>
              <a:cs typeface="Work Sans"/>
              <a:sym typeface="Work Sans"/>
            </a:endParaRPr>
          </a:p>
        </p:txBody>
      </p:sp>
      <p:grpSp>
        <p:nvGrpSpPr>
          <p:cNvPr id="938" name="Google Shape;938;p46"/>
          <p:cNvGrpSpPr/>
          <p:nvPr/>
        </p:nvGrpSpPr>
        <p:grpSpPr>
          <a:xfrm>
            <a:off x="4449395" y="1009233"/>
            <a:ext cx="1620000" cy="720000"/>
            <a:chOff x="5220000" y="5040000"/>
            <a:chExt cx="1620000" cy="720000"/>
          </a:xfrm>
        </p:grpSpPr>
        <p:sp>
          <p:nvSpPr>
            <p:cNvPr id="939" name="Google Shape;939;p46"/>
            <p:cNvSpPr txBox="1"/>
            <p:nvPr/>
          </p:nvSpPr>
          <p:spPr>
            <a:xfrm>
              <a:off x="5220000" y="5040000"/>
              <a:ext cx="16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ÁLGEBRA</a:t>
              </a:r>
              <a:endParaRPr b="0" i="0" sz="1600" u="none" cap="none" strike="noStrike">
                <a:solidFill>
                  <a:schemeClr val="lt1"/>
                </a:solidFill>
                <a:latin typeface="Arial"/>
                <a:ea typeface="Arial"/>
                <a:cs typeface="Arial"/>
                <a:sym typeface="Arial"/>
              </a:endParaRPr>
            </a:p>
          </p:txBody>
        </p:sp>
        <p:sp>
          <p:nvSpPr>
            <p:cNvPr id="940" name="Google Shape;940;p46"/>
            <p:cNvSpPr txBox="1"/>
            <p:nvPr/>
          </p:nvSpPr>
          <p:spPr>
            <a:xfrm>
              <a:off x="5220000" y="5400000"/>
              <a:ext cx="16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1" lang="pt-BR" sz="1800" u="none" cap="none" strike="noStrike">
                  <a:solidFill>
                    <a:schemeClr val="dk1"/>
                  </a:solidFill>
                  <a:latin typeface="Arial"/>
                  <a:ea typeface="Arial"/>
                  <a:cs typeface="Arial"/>
                  <a:sym typeface="Arial"/>
                </a:rPr>
                <a:t>algebra</a:t>
              </a:r>
              <a:endParaRPr b="0" i="1" sz="1800" u="none" cap="none" strike="noStrike">
                <a:solidFill>
                  <a:srgbClr val="000000"/>
                </a:solidFill>
                <a:latin typeface="Arial"/>
                <a:ea typeface="Arial"/>
                <a:cs typeface="Arial"/>
                <a:sym typeface="Arial"/>
              </a:endParaRPr>
            </a:p>
          </p:txBody>
        </p:sp>
      </p:grpSp>
      <p:sp>
        <p:nvSpPr>
          <p:cNvPr id="941" name="Google Shape;941;p46"/>
          <p:cNvSpPr txBox="1"/>
          <p:nvPr/>
        </p:nvSpPr>
        <p:spPr>
          <a:xfrm>
            <a:off x="3816804" y="1143519"/>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Mathematics outline" id="942" name="Google Shape;942;p46"/>
          <p:cNvPicPr preferRelativeResize="0"/>
          <p:nvPr/>
        </p:nvPicPr>
        <p:blipFill rotWithShape="1">
          <a:blip r:embed="rId5">
            <a:alphaModFix/>
          </a:blip>
          <a:srcRect b="0" l="0" r="0" t="0"/>
          <a:stretch/>
        </p:blipFill>
        <p:spPr>
          <a:xfrm>
            <a:off x="3816804" y="1144620"/>
            <a:ext cx="587556" cy="587556"/>
          </a:xfrm>
          <a:prstGeom prst="rect">
            <a:avLst/>
          </a:prstGeom>
          <a:noFill/>
          <a:ln>
            <a:noFill/>
          </a:ln>
        </p:spPr>
      </p:pic>
      <p:sp>
        <p:nvSpPr>
          <p:cNvPr id="943" name="Google Shape;943;p46"/>
          <p:cNvSpPr txBox="1"/>
          <p:nvPr/>
        </p:nvSpPr>
        <p:spPr>
          <a:xfrm>
            <a:off x="5628236" y="4165552"/>
            <a:ext cx="3476894"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Simplificar Expressões Algébricas</a:t>
            </a:r>
            <a:endParaRPr b="0" i="0" sz="1400" u="none" cap="none" strike="noStrike">
              <a:solidFill>
                <a:schemeClr val="lt1"/>
              </a:solidFill>
              <a:latin typeface="Work Sans"/>
              <a:ea typeface="Work Sans"/>
              <a:cs typeface="Work Sans"/>
              <a:sym typeface="Work Sans"/>
            </a:endParaRPr>
          </a:p>
        </p:txBody>
      </p:sp>
      <p:pic>
        <p:nvPicPr>
          <p:cNvPr descr="Golden Ratio outline" id="944" name="Google Shape;944;p46"/>
          <p:cNvPicPr preferRelativeResize="0"/>
          <p:nvPr/>
        </p:nvPicPr>
        <p:blipFill rotWithShape="1">
          <a:blip r:embed="rId6">
            <a:alphaModFix/>
          </a:blip>
          <a:srcRect b="0" l="0" r="0" t="0"/>
          <a:stretch/>
        </p:blipFill>
        <p:spPr>
          <a:xfrm>
            <a:off x="1009938" y="4056242"/>
            <a:ext cx="524922" cy="524922"/>
          </a:xfrm>
          <a:prstGeom prst="rect">
            <a:avLst/>
          </a:prstGeom>
          <a:noFill/>
          <a:ln>
            <a:noFill/>
          </a:ln>
        </p:spPr>
      </p:pic>
      <p:pic>
        <p:nvPicPr>
          <p:cNvPr descr="Ruler outline" id="945" name="Google Shape;945;p46"/>
          <p:cNvPicPr preferRelativeResize="0"/>
          <p:nvPr/>
        </p:nvPicPr>
        <p:blipFill rotWithShape="1">
          <a:blip r:embed="rId7">
            <a:alphaModFix/>
          </a:blip>
          <a:srcRect b="0" l="0" r="0" t="0"/>
          <a:stretch/>
        </p:blipFill>
        <p:spPr>
          <a:xfrm>
            <a:off x="4992339" y="2107873"/>
            <a:ext cx="490094" cy="490094"/>
          </a:xfrm>
          <a:prstGeom prst="rect">
            <a:avLst/>
          </a:prstGeom>
          <a:noFill/>
          <a:ln>
            <a:noFill/>
          </a:ln>
        </p:spPr>
      </p:pic>
      <p:sp>
        <p:nvSpPr>
          <p:cNvPr id="946" name="Google Shape;946;p46"/>
          <p:cNvSpPr txBox="1"/>
          <p:nvPr/>
        </p:nvSpPr>
        <p:spPr>
          <a:xfrm>
            <a:off x="996448" y="206099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947" name="Google Shape;947;p46"/>
          <p:cNvSpPr txBox="1"/>
          <p:nvPr/>
        </p:nvSpPr>
        <p:spPr>
          <a:xfrm>
            <a:off x="996448" y="3070110"/>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948" name="Google Shape;948;p46"/>
          <p:cNvSpPr txBox="1"/>
          <p:nvPr/>
        </p:nvSpPr>
        <p:spPr>
          <a:xfrm>
            <a:off x="996448" y="407922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949" name="Google Shape;949;p46"/>
          <p:cNvSpPr txBox="1"/>
          <p:nvPr/>
        </p:nvSpPr>
        <p:spPr>
          <a:xfrm>
            <a:off x="4894877" y="206099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950" name="Google Shape;950;p46"/>
          <p:cNvSpPr txBox="1"/>
          <p:nvPr/>
        </p:nvSpPr>
        <p:spPr>
          <a:xfrm>
            <a:off x="4894877" y="3070109"/>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951" name="Google Shape;951;p46"/>
          <p:cNvSpPr txBox="1"/>
          <p:nvPr/>
        </p:nvSpPr>
        <p:spPr>
          <a:xfrm>
            <a:off x="4887512" y="4077968"/>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id="952" name="Google Shape;952;p46"/>
          <p:cNvPicPr preferRelativeResize="0"/>
          <p:nvPr/>
        </p:nvPicPr>
        <p:blipFill rotWithShape="1">
          <a:blip r:embed="rId8">
            <a:alphaModFix/>
          </a:blip>
          <a:srcRect b="0" l="0" r="0" t="0"/>
          <a:stretch/>
        </p:blipFill>
        <p:spPr>
          <a:xfrm>
            <a:off x="1097915" y="2192604"/>
            <a:ext cx="399648" cy="351342"/>
          </a:xfrm>
          <a:prstGeom prst="rect">
            <a:avLst/>
          </a:prstGeom>
          <a:noFill/>
          <a:ln>
            <a:noFill/>
          </a:ln>
        </p:spPr>
      </p:pic>
      <p:pic>
        <p:nvPicPr>
          <p:cNvPr id="953" name="Google Shape;953;p46"/>
          <p:cNvPicPr preferRelativeResize="0"/>
          <p:nvPr/>
        </p:nvPicPr>
        <p:blipFill rotWithShape="1">
          <a:blip r:embed="rId9">
            <a:alphaModFix/>
          </a:blip>
          <a:srcRect b="0" l="0" r="0" t="0"/>
          <a:stretch/>
        </p:blipFill>
        <p:spPr>
          <a:xfrm>
            <a:off x="1097915" y="3190747"/>
            <a:ext cx="384621" cy="358736"/>
          </a:xfrm>
          <a:prstGeom prst="rect">
            <a:avLst/>
          </a:prstGeom>
          <a:noFill/>
          <a:ln>
            <a:noFill/>
          </a:ln>
        </p:spPr>
      </p:pic>
      <p:pic>
        <p:nvPicPr>
          <p:cNvPr id="954" name="Google Shape;954;p46"/>
          <p:cNvPicPr preferRelativeResize="0"/>
          <p:nvPr/>
        </p:nvPicPr>
        <p:blipFill rotWithShape="1">
          <a:blip r:embed="rId10">
            <a:alphaModFix/>
          </a:blip>
          <a:srcRect b="0" l="0" r="0" t="0"/>
          <a:stretch/>
        </p:blipFill>
        <p:spPr>
          <a:xfrm>
            <a:off x="1074598" y="4194679"/>
            <a:ext cx="422965" cy="391978"/>
          </a:xfrm>
          <a:prstGeom prst="rect">
            <a:avLst/>
          </a:prstGeom>
          <a:noFill/>
          <a:ln>
            <a:noFill/>
          </a:ln>
        </p:spPr>
      </p:pic>
      <p:pic>
        <p:nvPicPr>
          <p:cNvPr id="955" name="Google Shape;955;p46"/>
          <p:cNvPicPr preferRelativeResize="0"/>
          <p:nvPr/>
        </p:nvPicPr>
        <p:blipFill rotWithShape="1">
          <a:blip r:embed="rId11">
            <a:alphaModFix/>
          </a:blip>
          <a:srcRect b="0" l="0" r="0" t="0"/>
          <a:stretch/>
        </p:blipFill>
        <p:spPr>
          <a:xfrm>
            <a:off x="5004922" y="3162615"/>
            <a:ext cx="367465" cy="396165"/>
          </a:xfrm>
          <a:prstGeom prst="rect">
            <a:avLst/>
          </a:prstGeom>
          <a:noFill/>
          <a:ln>
            <a:noFill/>
          </a:ln>
        </p:spPr>
      </p:pic>
      <p:pic>
        <p:nvPicPr>
          <p:cNvPr id="956" name="Google Shape;956;p46"/>
          <p:cNvPicPr preferRelativeResize="0"/>
          <p:nvPr/>
        </p:nvPicPr>
        <p:blipFill rotWithShape="1">
          <a:blip r:embed="rId12">
            <a:alphaModFix/>
          </a:blip>
          <a:srcRect b="0" l="0" r="0" t="0"/>
          <a:stretch/>
        </p:blipFill>
        <p:spPr>
          <a:xfrm>
            <a:off x="4954868" y="4141376"/>
            <a:ext cx="443616" cy="480747"/>
          </a:xfrm>
          <a:prstGeom prst="rect">
            <a:avLst/>
          </a:prstGeom>
          <a:noFill/>
          <a:ln>
            <a:noFill/>
          </a:ln>
        </p:spPr>
      </p:pic>
      <p:pic>
        <p:nvPicPr>
          <p:cNvPr id="957" name="Google Shape;957;p46"/>
          <p:cNvPicPr preferRelativeResize="0"/>
          <p:nvPr/>
        </p:nvPicPr>
        <p:blipFill rotWithShape="1">
          <a:blip r:embed="rId13">
            <a:alphaModFix/>
          </a:blip>
          <a:srcRect b="0" l="0" r="0" t="0"/>
          <a:stretch/>
        </p:blipFill>
        <p:spPr>
          <a:xfrm>
            <a:off x="4906676" y="2093600"/>
            <a:ext cx="540000" cy="540000"/>
          </a:xfrm>
          <a:prstGeom prst="rect">
            <a:avLst/>
          </a:prstGeom>
          <a:noFill/>
          <a:ln>
            <a:noFill/>
          </a:ln>
        </p:spPr>
      </p:pic>
      <p:sp>
        <p:nvSpPr>
          <p:cNvPr id="958" name="Google Shape;958;p46"/>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47"/>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964" name="Google Shape;964;p47"/>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965" name="Google Shape;965;p47"/>
          <p:cNvGrpSpPr/>
          <p:nvPr/>
        </p:nvGrpSpPr>
        <p:grpSpPr>
          <a:xfrm>
            <a:off x="339712" y="888243"/>
            <a:ext cx="3874148" cy="397001"/>
            <a:chOff x="938974" y="1053283"/>
            <a:chExt cx="5761641" cy="575247"/>
          </a:xfrm>
        </p:grpSpPr>
        <p:sp>
          <p:nvSpPr>
            <p:cNvPr id="966" name="Google Shape;966;p47"/>
            <p:cNvSpPr txBox="1"/>
            <p:nvPr/>
          </p:nvSpPr>
          <p:spPr>
            <a:xfrm>
              <a:off x="1526530" y="1053283"/>
              <a:ext cx="5174085"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Expoente</a:t>
              </a:r>
              <a:endParaRPr b="1" i="0" sz="1200" u="none" cap="none" strike="noStrike">
                <a:solidFill>
                  <a:schemeClr val="lt1"/>
                </a:solidFill>
                <a:latin typeface="Work Sans"/>
                <a:ea typeface="Work Sans"/>
                <a:cs typeface="Work Sans"/>
                <a:sym typeface="Work Sans"/>
              </a:endParaRPr>
            </a:p>
          </p:txBody>
        </p:sp>
        <p:pic>
          <p:nvPicPr>
            <p:cNvPr descr="Tally outline" id="967" name="Google Shape;967;p47"/>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pic>
        <p:nvPicPr>
          <p:cNvPr id="968" name="Google Shape;968;p47"/>
          <p:cNvPicPr preferRelativeResize="0"/>
          <p:nvPr/>
        </p:nvPicPr>
        <p:blipFill rotWithShape="1">
          <a:blip r:embed="rId4">
            <a:alphaModFix/>
          </a:blip>
          <a:srcRect b="0" l="0" r="0" t="0"/>
          <a:stretch/>
        </p:blipFill>
        <p:spPr>
          <a:xfrm>
            <a:off x="5267013" y="1683184"/>
            <a:ext cx="971790" cy="238969"/>
          </a:xfrm>
          <a:prstGeom prst="rect">
            <a:avLst/>
          </a:prstGeom>
          <a:noFill/>
          <a:ln>
            <a:noFill/>
          </a:ln>
        </p:spPr>
      </p:pic>
      <p:pic>
        <p:nvPicPr>
          <p:cNvPr id="969" name="Google Shape;969;p47"/>
          <p:cNvPicPr preferRelativeResize="0"/>
          <p:nvPr/>
        </p:nvPicPr>
        <p:blipFill rotWithShape="1">
          <a:blip r:embed="rId5">
            <a:alphaModFix/>
          </a:blip>
          <a:srcRect b="0" l="0" r="0" t="0"/>
          <a:stretch/>
        </p:blipFill>
        <p:spPr>
          <a:xfrm>
            <a:off x="5267013" y="2253540"/>
            <a:ext cx="583074" cy="159470"/>
          </a:xfrm>
          <a:prstGeom prst="rect">
            <a:avLst/>
          </a:prstGeom>
          <a:noFill/>
          <a:ln>
            <a:noFill/>
          </a:ln>
        </p:spPr>
      </p:pic>
      <p:pic>
        <p:nvPicPr>
          <p:cNvPr id="970" name="Google Shape;970;p47"/>
          <p:cNvPicPr preferRelativeResize="0"/>
          <p:nvPr/>
        </p:nvPicPr>
        <p:blipFill rotWithShape="1">
          <a:blip r:embed="rId6">
            <a:alphaModFix/>
          </a:blip>
          <a:srcRect b="0" l="0" r="0" t="0"/>
          <a:stretch/>
        </p:blipFill>
        <p:spPr>
          <a:xfrm>
            <a:off x="5267013" y="2813409"/>
            <a:ext cx="802349" cy="341255"/>
          </a:xfrm>
          <a:prstGeom prst="rect">
            <a:avLst/>
          </a:prstGeom>
          <a:noFill/>
          <a:ln>
            <a:noFill/>
          </a:ln>
        </p:spPr>
      </p:pic>
      <p:pic>
        <p:nvPicPr>
          <p:cNvPr id="971" name="Google Shape;971;p47"/>
          <p:cNvPicPr preferRelativeResize="0"/>
          <p:nvPr/>
        </p:nvPicPr>
        <p:blipFill rotWithShape="1">
          <a:blip r:embed="rId7">
            <a:alphaModFix/>
          </a:blip>
          <a:srcRect b="0" l="0" r="0" t="0"/>
          <a:stretch/>
        </p:blipFill>
        <p:spPr>
          <a:xfrm>
            <a:off x="5267013" y="3458855"/>
            <a:ext cx="777432" cy="345024"/>
          </a:xfrm>
          <a:prstGeom prst="rect">
            <a:avLst/>
          </a:prstGeom>
          <a:noFill/>
          <a:ln>
            <a:noFill/>
          </a:ln>
        </p:spPr>
      </p:pic>
      <p:pic>
        <p:nvPicPr>
          <p:cNvPr id="972" name="Google Shape;972;p47"/>
          <p:cNvPicPr preferRelativeResize="0"/>
          <p:nvPr/>
        </p:nvPicPr>
        <p:blipFill rotWithShape="1">
          <a:blip r:embed="rId8">
            <a:alphaModFix/>
          </a:blip>
          <a:srcRect b="0" l="0" r="0" t="0"/>
          <a:stretch/>
        </p:blipFill>
        <p:spPr>
          <a:xfrm>
            <a:off x="2235528" y="4078212"/>
            <a:ext cx="1328113" cy="169457"/>
          </a:xfrm>
          <a:prstGeom prst="rect">
            <a:avLst/>
          </a:prstGeom>
          <a:noFill/>
          <a:ln>
            <a:noFill/>
          </a:ln>
        </p:spPr>
      </p:pic>
      <p:pic>
        <p:nvPicPr>
          <p:cNvPr id="973" name="Google Shape;973;p47"/>
          <p:cNvPicPr preferRelativeResize="0"/>
          <p:nvPr/>
        </p:nvPicPr>
        <p:blipFill rotWithShape="1">
          <a:blip r:embed="rId9">
            <a:alphaModFix/>
          </a:blip>
          <a:srcRect b="0" l="0" r="0" t="0"/>
          <a:stretch/>
        </p:blipFill>
        <p:spPr>
          <a:xfrm>
            <a:off x="2235528" y="1361341"/>
            <a:ext cx="1457685" cy="240772"/>
          </a:xfrm>
          <a:prstGeom prst="rect">
            <a:avLst/>
          </a:prstGeom>
          <a:noFill/>
          <a:ln>
            <a:noFill/>
          </a:ln>
        </p:spPr>
      </p:pic>
      <p:pic>
        <p:nvPicPr>
          <p:cNvPr id="974" name="Google Shape;974;p47"/>
          <p:cNvPicPr preferRelativeResize="0"/>
          <p:nvPr/>
        </p:nvPicPr>
        <p:blipFill rotWithShape="1">
          <a:blip r:embed="rId10">
            <a:alphaModFix/>
          </a:blip>
          <a:srcRect b="0" l="0" r="0" t="0"/>
          <a:stretch/>
        </p:blipFill>
        <p:spPr>
          <a:xfrm>
            <a:off x="2280925" y="2000982"/>
            <a:ext cx="1295720" cy="178887"/>
          </a:xfrm>
          <a:prstGeom prst="rect">
            <a:avLst/>
          </a:prstGeom>
          <a:noFill/>
          <a:ln>
            <a:noFill/>
          </a:ln>
        </p:spPr>
      </p:pic>
      <p:pic>
        <p:nvPicPr>
          <p:cNvPr id="975" name="Google Shape;975;p47"/>
          <p:cNvPicPr preferRelativeResize="0"/>
          <p:nvPr/>
        </p:nvPicPr>
        <p:blipFill rotWithShape="1">
          <a:blip r:embed="rId11">
            <a:alphaModFix/>
          </a:blip>
          <a:srcRect b="0" l="0" r="0" t="0"/>
          <a:stretch/>
        </p:blipFill>
        <p:spPr>
          <a:xfrm>
            <a:off x="2280925" y="2581987"/>
            <a:ext cx="907004" cy="342904"/>
          </a:xfrm>
          <a:prstGeom prst="rect">
            <a:avLst/>
          </a:prstGeom>
          <a:noFill/>
          <a:ln>
            <a:noFill/>
          </a:ln>
        </p:spPr>
      </p:pic>
      <p:pic>
        <p:nvPicPr>
          <p:cNvPr id="976" name="Google Shape;976;p47"/>
          <p:cNvPicPr preferRelativeResize="0"/>
          <p:nvPr/>
        </p:nvPicPr>
        <p:blipFill rotWithShape="1">
          <a:blip r:embed="rId12">
            <a:alphaModFix/>
          </a:blip>
          <a:srcRect b="0" l="0" r="0" t="0"/>
          <a:stretch/>
        </p:blipFill>
        <p:spPr>
          <a:xfrm>
            <a:off x="2200589" y="3128290"/>
            <a:ext cx="1067676" cy="711099"/>
          </a:xfrm>
          <a:prstGeom prst="rect">
            <a:avLst/>
          </a:prstGeom>
          <a:noFill/>
          <a:ln>
            <a:noFill/>
          </a:ln>
        </p:spPr>
      </p:pic>
      <p:sp>
        <p:nvSpPr>
          <p:cNvPr id="977" name="Google Shape;977;p47"/>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1000"/>
                                        <p:tgtEl>
                                          <p:spTgt spid="9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1000"/>
                                        <p:tgtEl>
                                          <p:spTgt spid="9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1000"/>
                                        <p:tgtEl>
                                          <p:spTgt spid="9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500"/>
                                        <p:tgtEl>
                                          <p:spTgt spid="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1000"/>
                                        <p:tgtEl>
                                          <p:spTgt spid="9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1000"/>
                                        <p:tgtEl>
                                          <p:spTgt spid="9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1000"/>
                                        <p:tgtEl>
                                          <p:spTgt spid="9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1000"/>
                                        <p:tgtEl>
                                          <p:spTgt spid="9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1000"/>
                                        <p:tgtEl>
                                          <p:spTgt spid="9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48"/>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983" name="Google Shape;983;p48"/>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984" name="Google Shape;984;p48"/>
          <p:cNvGrpSpPr/>
          <p:nvPr/>
        </p:nvGrpSpPr>
        <p:grpSpPr>
          <a:xfrm>
            <a:off x="339712" y="888243"/>
            <a:ext cx="3874148" cy="397001"/>
            <a:chOff x="938974" y="1053283"/>
            <a:chExt cx="5761641" cy="575247"/>
          </a:xfrm>
        </p:grpSpPr>
        <p:sp>
          <p:nvSpPr>
            <p:cNvPr id="985" name="Google Shape;985;p48"/>
            <p:cNvSpPr txBox="1"/>
            <p:nvPr/>
          </p:nvSpPr>
          <p:spPr>
            <a:xfrm>
              <a:off x="1526530" y="1053283"/>
              <a:ext cx="5174085"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Expoente</a:t>
              </a:r>
              <a:endParaRPr b="1" i="0" sz="1200" u="none" cap="none" strike="noStrike">
                <a:solidFill>
                  <a:schemeClr val="lt1"/>
                </a:solidFill>
                <a:latin typeface="Work Sans"/>
                <a:ea typeface="Work Sans"/>
                <a:cs typeface="Work Sans"/>
                <a:sym typeface="Work Sans"/>
              </a:endParaRPr>
            </a:p>
          </p:txBody>
        </p:sp>
        <p:pic>
          <p:nvPicPr>
            <p:cNvPr descr="Tally outline" id="986" name="Google Shape;986;p48"/>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987" name="Google Shape;987;p48"/>
          <p:cNvSpPr txBox="1"/>
          <p:nvPr/>
        </p:nvSpPr>
        <p:spPr>
          <a:xfrm>
            <a:off x="734787" y="1238472"/>
            <a:ext cx="1332000" cy="379304"/>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100" u="none" cap="none" strike="noStrike">
                <a:solidFill>
                  <a:schemeClr val="lt1"/>
                </a:solidFill>
                <a:latin typeface="Work Sans"/>
                <a:ea typeface="Work Sans"/>
                <a:cs typeface="Work Sans"/>
                <a:sym typeface="Work Sans"/>
              </a:rPr>
              <a:t>Exemplo 5</a:t>
            </a:r>
            <a:endParaRPr b="0" i="0" sz="1100" u="none" cap="none" strike="noStrike">
              <a:solidFill>
                <a:schemeClr val="lt1"/>
              </a:solidFill>
              <a:latin typeface="Work Sans"/>
              <a:ea typeface="Work Sans"/>
              <a:cs typeface="Work Sans"/>
              <a:sym typeface="Work Sans"/>
            </a:endParaRPr>
          </a:p>
        </p:txBody>
      </p:sp>
      <p:sp>
        <p:nvSpPr>
          <p:cNvPr id="988" name="Google Shape;988;p48"/>
          <p:cNvSpPr txBox="1"/>
          <p:nvPr/>
        </p:nvSpPr>
        <p:spPr>
          <a:xfrm>
            <a:off x="483306" y="1617780"/>
            <a:ext cx="9720000" cy="187740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400"/>
              <a:buFont typeface="Arial"/>
              <a:buNone/>
            </a:pPr>
            <a:r>
              <a:rPr b="0" i="0" lang="pt-BR" sz="1000" u="none" cap="none" strike="noStrike">
                <a:solidFill>
                  <a:schemeClr val="lt1"/>
                </a:solidFill>
                <a:latin typeface="Work Sans"/>
                <a:ea typeface="Work Sans"/>
                <a:cs typeface="Work Sans"/>
                <a:sym typeface="Work Sans"/>
              </a:rPr>
              <a:t>If x is a positive integer and </a:t>
            </a:r>
            <a:r>
              <a:rPr b="1" i="0" lang="pt-BR" sz="1000" u="none" cap="none" strike="noStrike">
                <a:solidFill>
                  <a:schemeClr val="lt1"/>
                </a:solidFill>
                <a:latin typeface="Work Sans"/>
                <a:ea typeface="Work Sans"/>
                <a:cs typeface="Work Sans"/>
                <a:sym typeface="Work Sans"/>
              </a:rPr>
              <a:t>4</a:t>
            </a:r>
            <a:r>
              <a:rPr b="1" baseline="30000" i="0" lang="pt-BR" sz="1000" u="none" cap="none" strike="noStrike">
                <a:solidFill>
                  <a:schemeClr val="lt1"/>
                </a:solidFill>
                <a:latin typeface="Work Sans"/>
                <a:ea typeface="Work Sans"/>
                <a:cs typeface="Work Sans"/>
                <a:sym typeface="Work Sans"/>
              </a:rPr>
              <a:t>x  </a:t>
            </a:r>
            <a:r>
              <a:rPr b="1" i="0" lang="pt-BR" sz="1000" u="none" cap="none" strike="noStrike">
                <a:solidFill>
                  <a:schemeClr val="lt1"/>
                </a:solidFill>
                <a:latin typeface="Work Sans"/>
                <a:ea typeface="Work Sans"/>
                <a:cs typeface="Work Sans"/>
                <a:sym typeface="Work Sans"/>
              </a:rPr>
              <a:t>- 3 = y</a:t>
            </a:r>
            <a:r>
              <a:rPr b="0" i="0" lang="pt-BR" sz="1000" u="none" cap="none" strike="noStrike">
                <a:solidFill>
                  <a:schemeClr val="lt1"/>
                </a:solidFill>
                <a:latin typeface="Work Sans"/>
                <a:ea typeface="Work Sans"/>
                <a:cs typeface="Work Sans"/>
                <a:sym typeface="Work Sans"/>
              </a:rPr>
              <a:t>, which of the following CANNOT be a value of y?</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(A) 1</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(B) 7</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(C) 13</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(D) 61</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1000"/>
              </a:spcAft>
              <a:buClr>
                <a:srgbClr val="000000"/>
              </a:buClr>
              <a:buSzPts val="1300"/>
              <a:buFont typeface="Arial"/>
              <a:buNone/>
            </a:pPr>
            <a:r>
              <a:rPr b="0" i="0" lang="pt-BR" sz="1000" u="none" cap="none" strike="noStrike">
                <a:solidFill>
                  <a:schemeClr val="lt1"/>
                </a:solidFill>
                <a:latin typeface="Work Sans"/>
                <a:ea typeface="Work Sans"/>
                <a:cs typeface="Work Sans"/>
                <a:sym typeface="Work Sans"/>
              </a:rPr>
              <a:t>(E) 256</a:t>
            </a:r>
            <a:endParaRPr b="0" i="0" sz="1000" u="none" cap="none" strike="noStrike">
              <a:solidFill>
                <a:schemeClr val="lt1"/>
              </a:solidFill>
              <a:latin typeface="Work Sans"/>
              <a:ea typeface="Work Sans"/>
              <a:cs typeface="Work Sans"/>
              <a:sym typeface="Work Sans"/>
            </a:endParaRPr>
          </a:p>
        </p:txBody>
      </p:sp>
      <p:sp>
        <p:nvSpPr>
          <p:cNvPr id="989" name="Google Shape;989;p48"/>
          <p:cNvSpPr txBox="1"/>
          <p:nvPr/>
        </p:nvSpPr>
        <p:spPr>
          <a:xfrm>
            <a:off x="1821234" y="1874858"/>
            <a:ext cx="72000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Opção 1:</a:t>
            </a:r>
            <a:r>
              <a:rPr b="0" i="0" lang="pt-BR" sz="1000" u="none" cap="none" strike="noStrike">
                <a:solidFill>
                  <a:schemeClr val="lt1"/>
                </a:solidFill>
                <a:latin typeface="Work Sans"/>
                <a:ea typeface="Work Sans"/>
                <a:cs typeface="Work Sans"/>
                <a:sym typeface="Work Sans"/>
              </a:rPr>
              <a:t> testar valores de </a:t>
            </a:r>
            <a:r>
              <a:rPr b="1" i="0" lang="pt-BR" sz="1000" u="none" cap="none" strike="noStrike">
                <a:solidFill>
                  <a:schemeClr val="lt1"/>
                </a:solidFill>
                <a:latin typeface="Work Sans"/>
                <a:ea typeface="Work Sans"/>
                <a:cs typeface="Work Sans"/>
                <a:sym typeface="Work Sans"/>
              </a:rPr>
              <a:t>x</a:t>
            </a:r>
            <a:r>
              <a:rPr b="0" i="0" lang="pt-BR" sz="1000" u="none" cap="none" strike="noStrike">
                <a:solidFill>
                  <a:schemeClr val="lt1"/>
                </a:solidFill>
                <a:latin typeface="Work Sans"/>
                <a:ea typeface="Work Sans"/>
                <a:cs typeface="Work Sans"/>
                <a:sym typeface="Work Sans"/>
              </a:rPr>
              <a:t> e verificar com os valores de </a:t>
            </a:r>
            <a:r>
              <a:rPr b="1" i="0" lang="pt-BR" sz="1000" u="none" cap="none" strike="noStrike">
                <a:solidFill>
                  <a:schemeClr val="lt1"/>
                </a:solidFill>
                <a:latin typeface="Work Sans"/>
                <a:ea typeface="Work Sans"/>
                <a:cs typeface="Work Sans"/>
                <a:sym typeface="Work Sans"/>
              </a:rPr>
              <a:t>y das alternativas</a:t>
            </a: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p:txBody>
      </p:sp>
      <p:sp>
        <p:nvSpPr>
          <p:cNvPr id="990" name="Google Shape;990;p48"/>
          <p:cNvSpPr txBox="1"/>
          <p:nvPr/>
        </p:nvSpPr>
        <p:spPr>
          <a:xfrm>
            <a:off x="1926660" y="2280917"/>
            <a:ext cx="72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0" lang="pt-BR" sz="1000" u="none" cap="none" strike="noStrike">
                <a:solidFill>
                  <a:schemeClr val="lt1"/>
                </a:solidFill>
                <a:latin typeface="Work Sans"/>
                <a:ea typeface="Work Sans"/>
                <a:cs typeface="Work Sans"/>
                <a:sym typeface="Work Sans"/>
              </a:rPr>
              <a:t>x = 1</a:t>
            </a:r>
            <a:endParaRPr b="1" i="0" sz="1000" u="none" cap="none" strike="noStrike">
              <a:solidFill>
                <a:schemeClr val="lt1"/>
              </a:solidFill>
              <a:latin typeface="Work Sans"/>
              <a:ea typeface="Work Sans"/>
              <a:cs typeface="Work Sans"/>
              <a:sym typeface="Work Sans"/>
            </a:endParaRPr>
          </a:p>
        </p:txBody>
      </p:sp>
      <p:sp>
        <p:nvSpPr>
          <p:cNvPr id="991" name="Google Shape;991;p48"/>
          <p:cNvSpPr txBox="1"/>
          <p:nvPr/>
        </p:nvSpPr>
        <p:spPr>
          <a:xfrm>
            <a:off x="1926661" y="2604722"/>
            <a:ext cx="72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x = 2</a:t>
            </a:r>
            <a:endParaRPr b="1" i="0" sz="1000" u="none" cap="none" strike="noStrike">
              <a:solidFill>
                <a:schemeClr val="lt1"/>
              </a:solidFill>
              <a:latin typeface="Work Sans"/>
              <a:ea typeface="Work Sans"/>
              <a:cs typeface="Work Sans"/>
              <a:sym typeface="Work Sans"/>
            </a:endParaRPr>
          </a:p>
        </p:txBody>
      </p:sp>
      <p:sp>
        <p:nvSpPr>
          <p:cNvPr id="992" name="Google Shape;992;p48"/>
          <p:cNvSpPr txBox="1"/>
          <p:nvPr/>
        </p:nvSpPr>
        <p:spPr>
          <a:xfrm>
            <a:off x="5142570" y="2604722"/>
            <a:ext cx="1484827"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y = 16 - 3 = 13</a:t>
            </a:r>
            <a:endParaRPr b="1" i="0" sz="1000" u="none" cap="none" strike="noStrike">
              <a:solidFill>
                <a:schemeClr val="lt1"/>
              </a:solidFill>
              <a:latin typeface="Work Sans"/>
              <a:ea typeface="Work Sans"/>
              <a:cs typeface="Work Sans"/>
              <a:sym typeface="Work Sans"/>
            </a:endParaRPr>
          </a:p>
        </p:txBody>
      </p:sp>
      <p:sp>
        <p:nvSpPr>
          <p:cNvPr id="993" name="Google Shape;993;p48"/>
          <p:cNvSpPr txBox="1"/>
          <p:nvPr/>
        </p:nvSpPr>
        <p:spPr>
          <a:xfrm>
            <a:off x="5166660" y="2280917"/>
            <a:ext cx="126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y = 4 - 3 = 1</a:t>
            </a:r>
            <a:endParaRPr b="1" i="0" sz="1000" u="none" cap="none" strike="noStrike">
              <a:solidFill>
                <a:schemeClr val="lt1"/>
              </a:solidFill>
              <a:latin typeface="Work Sans"/>
              <a:ea typeface="Work Sans"/>
              <a:cs typeface="Work Sans"/>
              <a:sym typeface="Work Sans"/>
            </a:endParaRPr>
          </a:p>
        </p:txBody>
      </p:sp>
      <p:sp>
        <p:nvSpPr>
          <p:cNvPr id="994" name="Google Shape;994;p48"/>
          <p:cNvSpPr txBox="1"/>
          <p:nvPr/>
        </p:nvSpPr>
        <p:spPr>
          <a:xfrm>
            <a:off x="1815306" y="2844378"/>
            <a:ext cx="72000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Opção 2:</a:t>
            </a:r>
            <a:r>
              <a:rPr b="0" i="0" lang="pt-BR" sz="1000" u="none" cap="none" strike="noStrike">
                <a:solidFill>
                  <a:schemeClr val="lt1"/>
                </a:solidFill>
                <a:latin typeface="Work Sans"/>
                <a:ea typeface="Work Sans"/>
                <a:cs typeface="Work Sans"/>
                <a:sym typeface="Work Sans"/>
              </a:rPr>
              <a:t> adicionar 3 aos valores de </a:t>
            </a:r>
            <a:r>
              <a:rPr b="1" i="0" lang="pt-BR" sz="1000" u="none" cap="none" strike="noStrike">
                <a:solidFill>
                  <a:schemeClr val="lt1"/>
                </a:solidFill>
                <a:latin typeface="Work Sans"/>
                <a:ea typeface="Work Sans"/>
                <a:cs typeface="Work Sans"/>
                <a:sym typeface="Work Sans"/>
              </a:rPr>
              <a:t>y das alternativas</a:t>
            </a:r>
            <a:r>
              <a:rPr b="0" i="0" lang="pt-BR" sz="1000" u="none" cap="none" strike="noStrike">
                <a:solidFill>
                  <a:schemeClr val="lt1"/>
                </a:solidFill>
                <a:latin typeface="Work Sans"/>
                <a:ea typeface="Work Sans"/>
                <a:cs typeface="Work Sans"/>
                <a:sym typeface="Work Sans"/>
              </a:rPr>
              <a:t> e verificar se é múltiplo de 4.</a:t>
            </a:r>
            <a:endParaRPr b="0" i="0" sz="1000" u="none" cap="none" strike="noStrike">
              <a:solidFill>
                <a:schemeClr val="lt1"/>
              </a:solidFill>
              <a:latin typeface="Work Sans"/>
              <a:ea typeface="Work Sans"/>
              <a:cs typeface="Work Sans"/>
              <a:sym typeface="Work Sans"/>
            </a:endParaRPr>
          </a:p>
        </p:txBody>
      </p:sp>
      <p:sp>
        <p:nvSpPr>
          <p:cNvPr id="995" name="Google Shape;995;p48"/>
          <p:cNvSpPr txBox="1"/>
          <p:nvPr/>
        </p:nvSpPr>
        <p:spPr>
          <a:xfrm>
            <a:off x="3366660" y="2280917"/>
            <a:ext cx="90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4</a:t>
            </a:r>
            <a:r>
              <a:rPr b="1" baseline="30000" i="0" lang="pt-BR" sz="1000" u="none" cap="none" strike="noStrike">
                <a:solidFill>
                  <a:schemeClr val="lt1"/>
                </a:solidFill>
                <a:latin typeface="Work Sans"/>
                <a:ea typeface="Work Sans"/>
                <a:cs typeface="Work Sans"/>
                <a:sym typeface="Work Sans"/>
              </a:rPr>
              <a:t>x </a:t>
            </a:r>
            <a:r>
              <a:rPr b="1" i="0" lang="pt-BR" sz="1000" u="none" cap="none" strike="noStrike">
                <a:solidFill>
                  <a:schemeClr val="lt1"/>
                </a:solidFill>
                <a:latin typeface="Work Sans"/>
                <a:ea typeface="Work Sans"/>
                <a:cs typeface="Work Sans"/>
                <a:sym typeface="Work Sans"/>
              </a:rPr>
              <a:t> = 4</a:t>
            </a:r>
            <a:endParaRPr b="1" i="0" sz="1000" u="none" cap="none" strike="noStrike">
              <a:solidFill>
                <a:schemeClr val="lt1"/>
              </a:solidFill>
              <a:latin typeface="Work Sans"/>
              <a:ea typeface="Work Sans"/>
              <a:cs typeface="Work Sans"/>
              <a:sym typeface="Work Sans"/>
            </a:endParaRPr>
          </a:p>
        </p:txBody>
      </p:sp>
      <p:sp>
        <p:nvSpPr>
          <p:cNvPr id="996" name="Google Shape;996;p48"/>
          <p:cNvSpPr txBox="1"/>
          <p:nvPr/>
        </p:nvSpPr>
        <p:spPr>
          <a:xfrm>
            <a:off x="3366661" y="2604722"/>
            <a:ext cx="90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4</a:t>
            </a:r>
            <a:r>
              <a:rPr b="1" baseline="30000" i="0" lang="pt-BR" sz="1000" u="none" cap="none" strike="noStrike">
                <a:solidFill>
                  <a:schemeClr val="lt1"/>
                </a:solidFill>
                <a:latin typeface="Work Sans"/>
                <a:ea typeface="Work Sans"/>
                <a:cs typeface="Work Sans"/>
                <a:sym typeface="Work Sans"/>
              </a:rPr>
              <a:t>x </a:t>
            </a:r>
            <a:r>
              <a:rPr b="1" i="0" lang="pt-BR" sz="1000" u="none" cap="none" strike="noStrike">
                <a:solidFill>
                  <a:schemeClr val="lt1"/>
                </a:solidFill>
                <a:latin typeface="Work Sans"/>
                <a:ea typeface="Work Sans"/>
                <a:cs typeface="Work Sans"/>
                <a:sym typeface="Work Sans"/>
              </a:rPr>
              <a:t> = 16</a:t>
            </a:r>
            <a:endParaRPr b="1" i="0" sz="1000" u="none" cap="none" strike="noStrike">
              <a:solidFill>
                <a:schemeClr val="lt1"/>
              </a:solidFill>
              <a:latin typeface="Work Sans"/>
              <a:ea typeface="Work Sans"/>
              <a:cs typeface="Work Sans"/>
              <a:sym typeface="Work Sans"/>
            </a:endParaRPr>
          </a:p>
        </p:txBody>
      </p:sp>
      <p:cxnSp>
        <p:nvCxnSpPr>
          <p:cNvPr id="997" name="Google Shape;997;p48"/>
          <p:cNvCxnSpPr>
            <a:stCxn id="990" idx="3"/>
            <a:endCxn id="995" idx="1"/>
          </p:cNvCxnSpPr>
          <p:nvPr/>
        </p:nvCxnSpPr>
        <p:spPr>
          <a:xfrm>
            <a:off x="2646660" y="2450179"/>
            <a:ext cx="720000" cy="0"/>
          </a:xfrm>
          <a:prstGeom prst="straightConnector1">
            <a:avLst/>
          </a:prstGeom>
          <a:noFill/>
          <a:ln cap="flat" cmpd="sng" w="19050">
            <a:solidFill>
              <a:schemeClr val="dk1"/>
            </a:solidFill>
            <a:prstDash val="solid"/>
            <a:round/>
            <a:headEnd len="sm" w="sm" type="none"/>
            <a:tailEnd len="med" w="med" type="triangle"/>
          </a:ln>
        </p:spPr>
      </p:cxnSp>
      <p:cxnSp>
        <p:nvCxnSpPr>
          <p:cNvPr id="998" name="Google Shape;998;p48"/>
          <p:cNvCxnSpPr>
            <a:stCxn id="995" idx="3"/>
            <a:endCxn id="993" idx="1"/>
          </p:cNvCxnSpPr>
          <p:nvPr/>
        </p:nvCxnSpPr>
        <p:spPr>
          <a:xfrm>
            <a:off x="4266660" y="2450179"/>
            <a:ext cx="900000" cy="0"/>
          </a:xfrm>
          <a:prstGeom prst="straightConnector1">
            <a:avLst/>
          </a:prstGeom>
          <a:noFill/>
          <a:ln cap="flat" cmpd="sng" w="19050">
            <a:solidFill>
              <a:schemeClr val="dk1"/>
            </a:solidFill>
            <a:prstDash val="solid"/>
            <a:round/>
            <a:headEnd len="sm" w="sm" type="none"/>
            <a:tailEnd len="med" w="med" type="triangle"/>
          </a:ln>
        </p:spPr>
      </p:cxnSp>
      <p:cxnSp>
        <p:nvCxnSpPr>
          <p:cNvPr id="999" name="Google Shape;999;p48"/>
          <p:cNvCxnSpPr>
            <a:stCxn id="996" idx="3"/>
          </p:cNvCxnSpPr>
          <p:nvPr/>
        </p:nvCxnSpPr>
        <p:spPr>
          <a:xfrm>
            <a:off x="4266661" y="2773984"/>
            <a:ext cx="900000" cy="10800"/>
          </a:xfrm>
          <a:prstGeom prst="straightConnector1">
            <a:avLst/>
          </a:prstGeom>
          <a:noFill/>
          <a:ln cap="flat" cmpd="sng" w="19050">
            <a:solidFill>
              <a:schemeClr val="dk1"/>
            </a:solidFill>
            <a:prstDash val="solid"/>
            <a:round/>
            <a:headEnd len="sm" w="sm" type="none"/>
            <a:tailEnd len="med" w="med" type="triangle"/>
          </a:ln>
        </p:spPr>
      </p:cxnSp>
      <p:cxnSp>
        <p:nvCxnSpPr>
          <p:cNvPr id="1000" name="Google Shape;1000;p48"/>
          <p:cNvCxnSpPr>
            <a:stCxn id="991" idx="3"/>
            <a:endCxn id="996" idx="1"/>
          </p:cNvCxnSpPr>
          <p:nvPr/>
        </p:nvCxnSpPr>
        <p:spPr>
          <a:xfrm>
            <a:off x="2646661" y="2773984"/>
            <a:ext cx="720000" cy="0"/>
          </a:xfrm>
          <a:prstGeom prst="straightConnector1">
            <a:avLst/>
          </a:prstGeom>
          <a:noFill/>
          <a:ln cap="flat" cmpd="sng" w="19050">
            <a:solidFill>
              <a:schemeClr val="dk1"/>
            </a:solidFill>
            <a:prstDash val="solid"/>
            <a:round/>
            <a:headEnd len="sm" w="sm" type="none"/>
            <a:tailEnd len="med" w="med" type="triangle"/>
          </a:ln>
        </p:spPr>
      </p:cxnSp>
      <p:sp>
        <p:nvSpPr>
          <p:cNvPr id="1001" name="Google Shape;1001;p48"/>
          <p:cNvSpPr txBox="1"/>
          <p:nvPr/>
        </p:nvSpPr>
        <p:spPr>
          <a:xfrm>
            <a:off x="2093217" y="3138951"/>
            <a:ext cx="828000" cy="1723518"/>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(A) 1</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(B) 7</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(C) 13</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(D) 61</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100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(E) 253</a:t>
            </a:r>
            <a:endParaRPr b="0" i="0" sz="1000" u="none" cap="none" strike="noStrike">
              <a:solidFill>
                <a:schemeClr val="lt1"/>
              </a:solidFill>
              <a:latin typeface="Work Sans"/>
              <a:ea typeface="Work Sans"/>
              <a:cs typeface="Work Sans"/>
              <a:sym typeface="Work Sans"/>
            </a:endParaRPr>
          </a:p>
        </p:txBody>
      </p:sp>
      <p:sp>
        <p:nvSpPr>
          <p:cNvPr id="1002" name="Google Shape;1002;p48"/>
          <p:cNvSpPr txBox="1"/>
          <p:nvPr/>
        </p:nvSpPr>
        <p:spPr>
          <a:xfrm>
            <a:off x="5470983" y="3127419"/>
            <a:ext cx="828000" cy="1723518"/>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4</a:t>
            </a:r>
            <a:endParaRPr b="1"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rgbClr val="BA0E02"/>
              </a:buClr>
              <a:buSzPts val="1300"/>
              <a:buFont typeface="Arial"/>
              <a:buNone/>
            </a:pPr>
            <a:r>
              <a:rPr b="1" i="0" lang="pt-BR" sz="1000" u="none" cap="none" strike="noStrike">
                <a:solidFill>
                  <a:schemeClr val="lt1"/>
                </a:solidFill>
                <a:latin typeface="Work Sans"/>
                <a:ea typeface="Work Sans"/>
                <a:cs typeface="Work Sans"/>
                <a:sym typeface="Work Sans"/>
              </a:rPr>
              <a:t>10</a:t>
            </a:r>
            <a:endParaRPr b="1"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16</a:t>
            </a:r>
            <a:endParaRPr b="1"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64</a:t>
            </a:r>
            <a:endParaRPr b="1"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100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256</a:t>
            </a:r>
            <a:endParaRPr b="1" i="0" sz="1000" u="none" cap="none" strike="noStrike">
              <a:solidFill>
                <a:schemeClr val="lt1"/>
              </a:solidFill>
              <a:latin typeface="Work Sans"/>
              <a:ea typeface="Work Sans"/>
              <a:cs typeface="Work Sans"/>
              <a:sym typeface="Work Sans"/>
            </a:endParaRPr>
          </a:p>
        </p:txBody>
      </p:sp>
      <p:grpSp>
        <p:nvGrpSpPr>
          <p:cNvPr id="1003" name="Google Shape;1003;p48"/>
          <p:cNvGrpSpPr/>
          <p:nvPr/>
        </p:nvGrpSpPr>
        <p:grpSpPr>
          <a:xfrm>
            <a:off x="136615" y="2218358"/>
            <a:ext cx="849237" cy="276901"/>
            <a:chOff x="271410" y="3520307"/>
            <a:chExt cx="917862" cy="241200"/>
          </a:xfrm>
        </p:grpSpPr>
        <p:sp>
          <p:nvSpPr>
            <p:cNvPr id="1004" name="Google Shape;1004;p48"/>
            <p:cNvSpPr/>
            <p:nvPr/>
          </p:nvSpPr>
          <p:spPr>
            <a:xfrm>
              <a:off x="619572" y="3520307"/>
              <a:ext cx="569700" cy="241200"/>
            </a:xfrm>
            <a:prstGeom prst="roundRect">
              <a:avLst>
                <a:gd fmla="val 16667" name="adj"/>
              </a:avLst>
            </a:prstGeom>
            <a:noFill/>
            <a:ln cap="flat" cmpd="sng" w="19050">
              <a:solidFill>
                <a:srgbClr val="00DF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000" u="none" cap="none" strike="noStrike">
                <a:solidFill>
                  <a:schemeClr val="lt1"/>
                </a:solidFill>
                <a:latin typeface="Work Sans"/>
                <a:ea typeface="Work Sans"/>
                <a:cs typeface="Work Sans"/>
                <a:sym typeface="Work Sans"/>
              </a:endParaRPr>
            </a:p>
          </p:txBody>
        </p:sp>
        <p:pic>
          <p:nvPicPr>
            <p:cNvPr id="1005" name="Google Shape;1005;p48"/>
            <p:cNvPicPr preferRelativeResize="0"/>
            <p:nvPr/>
          </p:nvPicPr>
          <p:blipFill rotWithShape="1">
            <a:blip r:embed="rId4">
              <a:alphaModFix/>
            </a:blip>
            <a:srcRect b="0" l="0" r="0" t="0"/>
            <a:stretch/>
          </p:blipFill>
          <p:spPr>
            <a:xfrm>
              <a:off x="271410" y="3547160"/>
              <a:ext cx="256540" cy="187485"/>
            </a:xfrm>
            <a:prstGeom prst="rect">
              <a:avLst/>
            </a:prstGeom>
            <a:noFill/>
            <a:ln>
              <a:noFill/>
            </a:ln>
          </p:spPr>
        </p:pic>
      </p:grpSp>
      <p:sp>
        <p:nvSpPr>
          <p:cNvPr id="1006" name="Google Shape;1006;p48"/>
          <p:cNvSpPr txBox="1"/>
          <p:nvPr/>
        </p:nvSpPr>
        <p:spPr>
          <a:xfrm>
            <a:off x="3422100" y="3746575"/>
            <a:ext cx="108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4</a:t>
            </a:r>
            <a:r>
              <a:rPr b="1" baseline="30000" i="0" lang="pt-BR" sz="1000" u="none" cap="none" strike="noStrike">
                <a:solidFill>
                  <a:schemeClr val="lt1"/>
                </a:solidFill>
                <a:latin typeface="Work Sans"/>
                <a:ea typeface="Work Sans"/>
                <a:cs typeface="Work Sans"/>
                <a:sym typeface="Work Sans"/>
              </a:rPr>
              <a:t>x </a:t>
            </a:r>
            <a:r>
              <a:rPr b="1" i="0" lang="pt-BR" sz="1000" u="none" cap="none" strike="noStrike">
                <a:solidFill>
                  <a:schemeClr val="lt1"/>
                </a:solidFill>
                <a:latin typeface="Work Sans"/>
                <a:ea typeface="Work Sans"/>
                <a:cs typeface="Work Sans"/>
                <a:sym typeface="Work Sans"/>
              </a:rPr>
              <a:t> = y + 3</a:t>
            </a:r>
            <a:endParaRPr b="1" i="0" sz="1000" u="none" cap="none" strike="noStrike">
              <a:solidFill>
                <a:schemeClr val="lt1"/>
              </a:solidFill>
              <a:latin typeface="Work Sans"/>
              <a:ea typeface="Work Sans"/>
              <a:cs typeface="Work Sans"/>
              <a:sym typeface="Work Sans"/>
            </a:endParaRPr>
          </a:p>
        </p:txBody>
      </p:sp>
      <p:cxnSp>
        <p:nvCxnSpPr>
          <p:cNvPr id="1007" name="Google Shape;1007;p48"/>
          <p:cNvCxnSpPr/>
          <p:nvPr/>
        </p:nvCxnSpPr>
        <p:spPr>
          <a:xfrm>
            <a:off x="2702100" y="3926575"/>
            <a:ext cx="720000" cy="0"/>
          </a:xfrm>
          <a:prstGeom prst="straightConnector1">
            <a:avLst/>
          </a:prstGeom>
          <a:noFill/>
          <a:ln cap="flat" cmpd="sng" w="19050">
            <a:solidFill>
              <a:schemeClr val="dk1"/>
            </a:solidFill>
            <a:prstDash val="solid"/>
            <a:round/>
            <a:headEnd len="sm" w="sm" type="none"/>
            <a:tailEnd len="med" w="med" type="triangle"/>
          </a:ln>
        </p:spPr>
      </p:cxnSp>
      <p:cxnSp>
        <p:nvCxnSpPr>
          <p:cNvPr id="1008" name="Google Shape;1008;p48"/>
          <p:cNvCxnSpPr/>
          <p:nvPr/>
        </p:nvCxnSpPr>
        <p:spPr>
          <a:xfrm>
            <a:off x="4542600" y="3926575"/>
            <a:ext cx="720000" cy="0"/>
          </a:xfrm>
          <a:prstGeom prst="straightConnector1">
            <a:avLst/>
          </a:prstGeom>
          <a:noFill/>
          <a:ln cap="flat" cmpd="sng" w="19050">
            <a:solidFill>
              <a:schemeClr val="dk1"/>
            </a:solidFill>
            <a:prstDash val="solid"/>
            <a:round/>
            <a:headEnd len="sm" w="sm" type="none"/>
            <a:tailEnd len="med" w="med" type="triangle"/>
          </a:ln>
        </p:spPr>
      </p:cxnSp>
      <p:sp>
        <p:nvSpPr>
          <p:cNvPr id="1009" name="Google Shape;1009;p48"/>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10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1000"/>
                                        <p:tgtEl>
                                          <p:spTgt spid="9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1000"/>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1000"/>
                                        <p:tgtEl>
                                          <p:spTgt spid="9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1000"/>
                                        <p:tgtEl>
                                          <p:spTgt spid="998"/>
                                        </p:tgtEl>
                                      </p:cBhvr>
                                    </p:animEffect>
                                  </p:childTnLst>
                                </p:cTn>
                              </p:par>
                              <p:par>
                                <p:cTn fill="hold" nodeType="with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1000"/>
                                        <p:tgtEl>
                                          <p:spTgt spid="9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1000"/>
                                        <p:tgtEl>
                                          <p:spTgt spid="9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1000"/>
                                        <p:tgtEl>
                                          <p:spTgt spid="1000"/>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1000"/>
                                        <p:tgtEl>
                                          <p:spTgt spid="9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1000"/>
                                        <p:tgtEl>
                                          <p:spTgt spid="999"/>
                                        </p:tgtEl>
                                      </p:cBhvr>
                                    </p:animEffect>
                                  </p:childTnLst>
                                </p:cTn>
                              </p:par>
                              <p:par>
                                <p:cTn fill="hold" nodeType="with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1000"/>
                                        <p:tgtEl>
                                          <p:spTgt spid="9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1000"/>
                                        <p:tgtEl>
                                          <p:spTgt spid="10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1000"/>
                                        <p:tgtEl>
                                          <p:spTgt spid="9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1000"/>
                                        <p:tgtEl>
                                          <p:spTgt spid="10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1000"/>
                                        <p:tgtEl>
                                          <p:spTgt spid="1007"/>
                                        </p:tgtEl>
                                      </p:cBhvr>
                                    </p:animEffect>
                                  </p:childTnLst>
                                </p:cTn>
                              </p:par>
                              <p:par>
                                <p:cTn fill="hold" nodeType="with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1000"/>
                                        <p:tgtEl>
                                          <p:spTgt spid="10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1000"/>
                                        <p:tgtEl>
                                          <p:spTgt spid="1002"/>
                                        </p:tgtEl>
                                      </p:cBhvr>
                                    </p:animEffect>
                                  </p:childTnLst>
                                </p:cTn>
                              </p:par>
                              <p:par>
                                <p:cTn fill="hold" nodeType="withEffect" presetClass="entr" presetID="10" presetSubtype="0">
                                  <p:stCondLst>
                                    <p:cond delay="0"/>
                                  </p:stCondLst>
                                  <p:childTnLst>
                                    <p:set>
                                      <p:cBhvr>
                                        <p:cTn dur="1" fill="hold">
                                          <p:stCondLst>
                                            <p:cond delay="0"/>
                                          </p:stCondLst>
                                        </p:cTn>
                                        <p:tgtEl>
                                          <p:spTgt spid="1008"/>
                                        </p:tgtEl>
                                        <p:attrNameLst>
                                          <p:attrName>style.visibility</p:attrName>
                                        </p:attrNameLst>
                                      </p:cBhvr>
                                      <p:to>
                                        <p:strVal val="visible"/>
                                      </p:to>
                                    </p:set>
                                    <p:animEffect filter="fade" transition="in">
                                      <p:cBhvr>
                                        <p:cTn dur="1000"/>
                                        <p:tgtEl>
                                          <p:spTgt spid="10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49"/>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1015" name="Google Shape;1015;p49"/>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1016" name="Google Shape;1016;p49"/>
          <p:cNvGrpSpPr/>
          <p:nvPr/>
        </p:nvGrpSpPr>
        <p:grpSpPr>
          <a:xfrm>
            <a:off x="339712" y="888243"/>
            <a:ext cx="3874148" cy="397001"/>
            <a:chOff x="938974" y="1053283"/>
            <a:chExt cx="5761641" cy="575247"/>
          </a:xfrm>
        </p:grpSpPr>
        <p:sp>
          <p:nvSpPr>
            <p:cNvPr id="1017" name="Google Shape;1017;p49"/>
            <p:cNvSpPr txBox="1"/>
            <p:nvPr/>
          </p:nvSpPr>
          <p:spPr>
            <a:xfrm>
              <a:off x="1526530" y="1053283"/>
              <a:ext cx="5174085"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Equações</a:t>
              </a:r>
              <a:endParaRPr b="1" i="0" sz="1200" u="none" cap="none" strike="noStrike">
                <a:solidFill>
                  <a:schemeClr val="lt1"/>
                </a:solidFill>
                <a:latin typeface="Work Sans"/>
                <a:ea typeface="Work Sans"/>
                <a:cs typeface="Work Sans"/>
                <a:sym typeface="Work Sans"/>
              </a:endParaRPr>
            </a:p>
          </p:txBody>
        </p:sp>
        <p:pic>
          <p:nvPicPr>
            <p:cNvPr descr="Tally outline" id="1018" name="Google Shape;1018;p49"/>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1019" name="Google Shape;1019;p49"/>
          <p:cNvSpPr/>
          <p:nvPr/>
        </p:nvSpPr>
        <p:spPr>
          <a:xfrm>
            <a:off x="741653" y="2745145"/>
            <a:ext cx="1689397" cy="629616"/>
          </a:xfrm>
          <a:prstGeom prst="rect">
            <a:avLst/>
          </a:prstGeom>
          <a:solidFill>
            <a:srgbClr val="FFFFFF"/>
          </a:solidFill>
          <a:ln cap="flat" cmpd="sng" w="57150">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1000" u="none" cap="none" strike="noStrike">
                <a:solidFill>
                  <a:srgbClr val="000000"/>
                </a:solidFill>
                <a:latin typeface="Work Sans"/>
                <a:ea typeface="Work Sans"/>
                <a:cs typeface="Work Sans"/>
                <a:sym typeface="Work Sans"/>
              </a:rPr>
              <a:t>Equações</a:t>
            </a:r>
            <a:r>
              <a:rPr b="0" i="0" lang="pt-BR" sz="1000" u="none" cap="none" strike="noStrike">
                <a:solidFill>
                  <a:schemeClr val="lt1"/>
                </a:solidFill>
                <a:latin typeface="Work Sans"/>
                <a:ea typeface="Work Sans"/>
                <a:cs typeface="Work Sans"/>
                <a:sym typeface="Work Sans"/>
              </a:rPr>
              <a:t> Exponenciais</a:t>
            </a:r>
            <a:endParaRPr b="0" i="0" sz="1000" u="none" cap="none" strike="noStrike">
              <a:solidFill>
                <a:schemeClr val="lt1"/>
              </a:solidFill>
              <a:latin typeface="Work Sans"/>
              <a:ea typeface="Work Sans"/>
              <a:cs typeface="Work Sans"/>
              <a:sym typeface="Work Sans"/>
            </a:endParaRPr>
          </a:p>
        </p:txBody>
      </p:sp>
      <p:sp>
        <p:nvSpPr>
          <p:cNvPr id="1020" name="Google Shape;1020;p49"/>
          <p:cNvSpPr/>
          <p:nvPr/>
        </p:nvSpPr>
        <p:spPr>
          <a:xfrm>
            <a:off x="741653" y="3760780"/>
            <a:ext cx="1689397" cy="629616"/>
          </a:xfrm>
          <a:prstGeom prst="rect">
            <a:avLst/>
          </a:prstGeom>
          <a:solidFill>
            <a:srgbClr val="FFFFFF"/>
          </a:solidFill>
          <a:ln cap="flat" cmpd="sng" w="57150">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1000" u="none" cap="none" strike="noStrike">
                <a:solidFill>
                  <a:srgbClr val="000000"/>
                </a:solidFill>
                <a:latin typeface="Work Sans"/>
                <a:ea typeface="Work Sans"/>
                <a:cs typeface="Work Sans"/>
                <a:sym typeface="Work Sans"/>
              </a:rPr>
              <a:t>Equações com </a:t>
            </a:r>
            <a:endParaRPr b="0" i="0" sz="10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2800"/>
              <a:buFont typeface="Arial"/>
              <a:buNone/>
            </a:pPr>
            <a:r>
              <a:rPr b="0" i="0" lang="pt-BR" sz="1000" u="none" cap="none" strike="noStrike">
                <a:solidFill>
                  <a:srgbClr val="000000"/>
                </a:solidFill>
                <a:latin typeface="Work Sans"/>
                <a:ea typeface="Work Sans"/>
                <a:cs typeface="Work Sans"/>
                <a:sym typeface="Work Sans"/>
              </a:rPr>
              <a:t>1 ou 2  Variáveis</a:t>
            </a:r>
            <a:endParaRPr b="0" i="0" sz="1000" u="none" cap="none" strike="noStrike">
              <a:solidFill>
                <a:srgbClr val="000000"/>
              </a:solidFill>
              <a:latin typeface="Work Sans"/>
              <a:ea typeface="Work Sans"/>
              <a:cs typeface="Work Sans"/>
              <a:sym typeface="Work Sans"/>
            </a:endParaRPr>
          </a:p>
        </p:txBody>
      </p:sp>
      <p:sp>
        <p:nvSpPr>
          <p:cNvPr id="1021" name="Google Shape;1021;p49"/>
          <p:cNvSpPr/>
          <p:nvPr/>
        </p:nvSpPr>
        <p:spPr>
          <a:xfrm>
            <a:off x="741653" y="1785716"/>
            <a:ext cx="1689397" cy="629616"/>
          </a:xfrm>
          <a:prstGeom prst="rect">
            <a:avLst/>
          </a:prstGeom>
          <a:solidFill>
            <a:srgbClr val="FFFFFF"/>
          </a:solidFill>
          <a:ln cap="flat" cmpd="sng" w="57150">
            <a:solidFill>
              <a:srgbClr val="C12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1000" u="none" cap="none" strike="noStrike">
                <a:solidFill>
                  <a:srgbClr val="000000"/>
                </a:solidFill>
                <a:latin typeface="Work Sans"/>
                <a:ea typeface="Work Sans"/>
                <a:cs typeface="Work Sans"/>
                <a:sym typeface="Work Sans"/>
              </a:rPr>
              <a:t>Equações do 2º Grau</a:t>
            </a:r>
            <a:endParaRPr b="0" i="0" sz="1000" u="none" cap="none" strike="noStrike">
              <a:solidFill>
                <a:srgbClr val="000000"/>
              </a:solidFill>
              <a:latin typeface="Work Sans"/>
              <a:ea typeface="Work Sans"/>
              <a:cs typeface="Work Sans"/>
              <a:sym typeface="Work Sans"/>
            </a:endParaRPr>
          </a:p>
        </p:txBody>
      </p:sp>
      <p:sp>
        <p:nvSpPr>
          <p:cNvPr id="1022" name="Google Shape;1022;p49"/>
          <p:cNvSpPr txBox="1"/>
          <p:nvPr/>
        </p:nvSpPr>
        <p:spPr>
          <a:xfrm>
            <a:off x="734787" y="1341152"/>
            <a:ext cx="1689397" cy="246181"/>
          </a:xfrm>
          <a:prstGeom prst="rect">
            <a:avLst/>
          </a:prstGeom>
          <a:noFill/>
          <a:ln>
            <a:noFill/>
          </a:ln>
        </p:spPr>
        <p:txBody>
          <a:bodyPr anchorCtr="0" anchor="ctr" bIns="45700" lIns="91450" spcFirstLastPara="1" rIns="91450"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rgbClr val="000000"/>
                </a:solidFill>
                <a:latin typeface="Work Sans"/>
                <a:ea typeface="Work Sans"/>
                <a:cs typeface="Work Sans"/>
                <a:sym typeface="Work Sans"/>
              </a:rPr>
              <a:t>O que é cobrado?  </a:t>
            </a:r>
            <a:endParaRPr b="1" i="0" sz="1000" u="none" cap="none" strike="noStrike">
              <a:solidFill>
                <a:srgbClr val="000000"/>
              </a:solidFill>
              <a:latin typeface="Work Sans"/>
              <a:ea typeface="Work Sans"/>
              <a:cs typeface="Work Sans"/>
              <a:sym typeface="Work Sans"/>
            </a:endParaRPr>
          </a:p>
        </p:txBody>
      </p:sp>
      <p:sp>
        <p:nvSpPr>
          <p:cNvPr id="1023" name="Google Shape;1023;p49"/>
          <p:cNvSpPr txBox="1"/>
          <p:nvPr/>
        </p:nvSpPr>
        <p:spPr>
          <a:xfrm>
            <a:off x="2858547" y="1967424"/>
            <a:ext cx="6081828" cy="170521"/>
          </a:xfrm>
          <a:prstGeom prst="rect">
            <a:avLst/>
          </a:prstGeom>
          <a:noFill/>
          <a:ln>
            <a:noFill/>
          </a:ln>
        </p:spPr>
        <p:txBody>
          <a:bodyPr anchorCtr="0" anchor="ctr" bIns="45700" lIns="91450" spcFirstLastPara="1" rIns="91450"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pt-BR" sz="1000" u="none" cap="none" strike="noStrike">
                <a:solidFill>
                  <a:srgbClr val="000000"/>
                </a:solidFill>
                <a:latin typeface="Work Sans"/>
                <a:ea typeface="Work Sans"/>
                <a:cs typeface="Work Sans"/>
                <a:sym typeface="Work Sans"/>
              </a:rPr>
              <a:t>Leia com atenção e anote os valores dados no problema usando incógnitas.</a:t>
            </a:r>
            <a:endParaRPr b="0" i="1" sz="1000" u="none" cap="none" strike="noStrike">
              <a:solidFill>
                <a:srgbClr val="000000"/>
              </a:solidFill>
              <a:latin typeface="Work Sans"/>
              <a:ea typeface="Work Sans"/>
              <a:cs typeface="Work Sans"/>
              <a:sym typeface="Work Sans"/>
            </a:endParaRPr>
          </a:p>
        </p:txBody>
      </p:sp>
      <p:sp>
        <p:nvSpPr>
          <p:cNvPr id="1024" name="Google Shape;1024;p49"/>
          <p:cNvSpPr txBox="1"/>
          <p:nvPr/>
        </p:nvSpPr>
        <p:spPr>
          <a:xfrm>
            <a:off x="2734361" y="1378476"/>
            <a:ext cx="6081828" cy="170521"/>
          </a:xfrm>
          <a:prstGeom prst="rect">
            <a:avLst/>
          </a:prstGeom>
          <a:noFill/>
          <a:ln>
            <a:noFill/>
          </a:ln>
        </p:spPr>
        <p:txBody>
          <a:bodyPr anchorCtr="0" anchor="ctr" bIns="45700" lIns="91450" spcFirstLastPara="1" rIns="91450"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pt-BR" sz="1000" u="none" cap="none" strike="noStrike">
                <a:solidFill>
                  <a:srgbClr val="000000"/>
                </a:solidFill>
                <a:latin typeface="Work Sans"/>
                <a:ea typeface="Work Sans"/>
                <a:cs typeface="Work Sans"/>
                <a:sym typeface="Work Sans"/>
              </a:rPr>
              <a:t> Principais dicas</a:t>
            </a:r>
            <a:endParaRPr b="1" i="0" sz="1000" u="none" cap="none" strike="noStrike">
              <a:solidFill>
                <a:srgbClr val="000000"/>
              </a:solidFill>
              <a:latin typeface="Work Sans"/>
              <a:ea typeface="Work Sans"/>
              <a:cs typeface="Work Sans"/>
              <a:sym typeface="Work Sans"/>
            </a:endParaRPr>
          </a:p>
        </p:txBody>
      </p:sp>
      <p:sp>
        <p:nvSpPr>
          <p:cNvPr id="1025" name="Google Shape;1025;p49"/>
          <p:cNvSpPr txBox="1"/>
          <p:nvPr/>
        </p:nvSpPr>
        <p:spPr>
          <a:xfrm>
            <a:off x="2858547" y="2974692"/>
            <a:ext cx="6081828" cy="170521"/>
          </a:xfrm>
          <a:prstGeom prst="rect">
            <a:avLst/>
          </a:prstGeom>
          <a:noFill/>
          <a:ln>
            <a:noFill/>
          </a:ln>
        </p:spPr>
        <p:txBody>
          <a:bodyPr anchorCtr="0" anchor="ctr" bIns="45700" lIns="91450" spcFirstLastPara="1" rIns="91450"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pt-BR" sz="1000" u="none" cap="none" strike="noStrike">
                <a:solidFill>
                  <a:srgbClr val="000000"/>
                </a:solidFill>
                <a:latin typeface="Work Sans"/>
                <a:ea typeface="Work Sans"/>
                <a:cs typeface="Work Sans"/>
                <a:sym typeface="Work Sans"/>
              </a:rPr>
              <a:t>Algumas fórmulas  de problemas recorrentes são usadas para facilitar.</a:t>
            </a:r>
            <a:endParaRPr b="0" i="1" sz="1000" u="none" cap="none" strike="noStrike">
              <a:solidFill>
                <a:srgbClr val="000000"/>
              </a:solidFill>
              <a:latin typeface="Work Sans"/>
              <a:ea typeface="Work Sans"/>
              <a:cs typeface="Work Sans"/>
              <a:sym typeface="Work Sans"/>
            </a:endParaRPr>
          </a:p>
        </p:txBody>
      </p:sp>
      <p:sp>
        <p:nvSpPr>
          <p:cNvPr id="1026" name="Google Shape;1026;p49"/>
          <p:cNvSpPr txBox="1"/>
          <p:nvPr/>
        </p:nvSpPr>
        <p:spPr>
          <a:xfrm>
            <a:off x="2858547" y="4010283"/>
            <a:ext cx="6081828" cy="170521"/>
          </a:xfrm>
          <a:prstGeom prst="rect">
            <a:avLst/>
          </a:prstGeom>
          <a:noFill/>
          <a:ln>
            <a:noFill/>
          </a:ln>
        </p:spPr>
        <p:txBody>
          <a:bodyPr anchorCtr="0" anchor="ctr" bIns="45700" lIns="91450" spcFirstLastPara="1" rIns="91450"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pt-BR" sz="1000" u="none" cap="none" strike="noStrike">
                <a:solidFill>
                  <a:srgbClr val="000000"/>
                </a:solidFill>
                <a:latin typeface="Work Sans"/>
                <a:ea typeface="Work Sans"/>
                <a:cs typeface="Work Sans"/>
                <a:sym typeface="Work Sans"/>
              </a:rPr>
              <a:t>Não é necessário calcular o resultado final de todas as questões.</a:t>
            </a:r>
            <a:endParaRPr b="0" i="1" sz="1000" u="none" cap="none" strike="noStrike">
              <a:solidFill>
                <a:srgbClr val="000000"/>
              </a:solidFill>
              <a:latin typeface="Work Sans"/>
              <a:ea typeface="Work Sans"/>
              <a:cs typeface="Work Sans"/>
              <a:sym typeface="Work Sans"/>
            </a:endParaRPr>
          </a:p>
        </p:txBody>
      </p:sp>
      <p:sp>
        <p:nvSpPr>
          <p:cNvPr id="1027" name="Google Shape;1027;p49"/>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gtEl>
                                        <p:attrNameLst>
                                          <p:attrName>style.visibility</p:attrName>
                                        </p:attrNameLst>
                                      </p:cBhvr>
                                      <p:to>
                                        <p:strVal val="visible"/>
                                      </p:to>
                                    </p:set>
                                    <p:animEffect filter="fade" transition="in">
                                      <p:cBhvr>
                                        <p:cTn dur="1000"/>
                                        <p:tgtEl>
                                          <p:spTgt spid="10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1000"/>
                                        <p:tgtEl>
                                          <p:spTgt spid="1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gtEl>
                                        <p:attrNameLst>
                                          <p:attrName>style.visibility</p:attrName>
                                        </p:attrNameLst>
                                      </p:cBhvr>
                                      <p:to>
                                        <p:strVal val="visible"/>
                                      </p:to>
                                    </p:set>
                                    <p:animEffect filter="fade" transition="in">
                                      <p:cBhvr>
                                        <p:cTn dur="1000"/>
                                        <p:tgtEl>
                                          <p:spTgt spid="10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0"/>
                                        </p:tgtEl>
                                        <p:attrNameLst>
                                          <p:attrName>style.visibility</p:attrName>
                                        </p:attrNameLst>
                                      </p:cBhvr>
                                      <p:to>
                                        <p:strVal val="visible"/>
                                      </p:to>
                                    </p:set>
                                    <p:animEffect filter="fade" transition="in">
                                      <p:cBhvr>
                                        <p:cTn dur="1000"/>
                                        <p:tgtEl>
                                          <p:spTgt spid="10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1000"/>
                                        <p:tgtEl>
                                          <p:spTgt spid="10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1000"/>
                                        <p:tgtEl>
                                          <p:spTgt spid="10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1000"/>
                                        <p:tgtEl>
                                          <p:spTgt spid="10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6"/>
                                        </p:tgtEl>
                                        <p:attrNameLst>
                                          <p:attrName>style.visibility</p:attrName>
                                        </p:attrNameLst>
                                      </p:cBhvr>
                                      <p:to>
                                        <p:strVal val="visible"/>
                                      </p:to>
                                    </p:set>
                                    <p:animEffect filter="fade" transition="in">
                                      <p:cBhvr>
                                        <p:cTn dur="1000"/>
                                        <p:tgtEl>
                                          <p:spTgt spid="10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50"/>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1033" name="Google Shape;1033;p50"/>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1034" name="Google Shape;1034;p50"/>
          <p:cNvGrpSpPr/>
          <p:nvPr/>
        </p:nvGrpSpPr>
        <p:grpSpPr>
          <a:xfrm>
            <a:off x="339712" y="888243"/>
            <a:ext cx="3874148" cy="397001"/>
            <a:chOff x="938974" y="1053283"/>
            <a:chExt cx="5761641" cy="575247"/>
          </a:xfrm>
        </p:grpSpPr>
        <p:sp>
          <p:nvSpPr>
            <p:cNvPr id="1035" name="Google Shape;1035;p50"/>
            <p:cNvSpPr txBox="1"/>
            <p:nvPr/>
          </p:nvSpPr>
          <p:spPr>
            <a:xfrm>
              <a:off x="1526530" y="1053283"/>
              <a:ext cx="5174085"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Equações</a:t>
              </a:r>
              <a:endParaRPr b="1" i="0" sz="1200" u="none" cap="none" strike="noStrike">
                <a:solidFill>
                  <a:schemeClr val="lt1"/>
                </a:solidFill>
                <a:latin typeface="Work Sans"/>
                <a:ea typeface="Work Sans"/>
                <a:cs typeface="Work Sans"/>
                <a:sym typeface="Work Sans"/>
              </a:endParaRPr>
            </a:p>
          </p:txBody>
        </p:sp>
        <p:pic>
          <p:nvPicPr>
            <p:cNvPr descr="Tally outline" id="1036" name="Google Shape;1036;p50"/>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1037" name="Google Shape;1037;p50"/>
          <p:cNvSpPr txBox="1"/>
          <p:nvPr/>
        </p:nvSpPr>
        <p:spPr>
          <a:xfrm>
            <a:off x="722375" y="1237167"/>
            <a:ext cx="1332000" cy="36160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000" u="none" cap="none" strike="noStrike">
                <a:solidFill>
                  <a:schemeClr val="lt1"/>
                </a:solidFill>
                <a:latin typeface="Work Sans"/>
                <a:ea typeface="Work Sans"/>
                <a:cs typeface="Work Sans"/>
                <a:sym typeface="Work Sans"/>
              </a:rPr>
              <a:t>Exemplo 6</a:t>
            </a:r>
            <a:endParaRPr b="0" i="0" sz="1000" u="none" cap="none" strike="noStrike">
              <a:solidFill>
                <a:schemeClr val="lt1"/>
              </a:solidFill>
              <a:latin typeface="Work Sans"/>
              <a:ea typeface="Work Sans"/>
              <a:cs typeface="Work Sans"/>
              <a:sym typeface="Work Sans"/>
            </a:endParaRPr>
          </a:p>
        </p:txBody>
      </p:sp>
      <p:sp>
        <p:nvSpPr>
          <p:cNvPr id="1038" name="Google Shape;1038;p50"/>
          <p:cNvSpPr txBox="1"/>
          <p:nvPr/>
        </p:nvSpPr>
        <p:spPr>
          <a:xfrm>
            <a:off x="722375" y="1504809"/>
            <a:ext cx="2880000" cy="1877407"/>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2400"/>
              <a:buFont typeface="Arial"/>
              <a:buNone/>
            </a:pPr>
            <a:r>
              <a:rPr b="0" i="0" lang="pt-BR" sz="1000" u="none" cap="none" strike="noStrike">
                <a:solidFill>
                  <a:schemeClr val="lt1"/>
                </a:solidFill>
                <a:latin typeface="Work Sans"/>
                <a:ea typeface="Work Sans"/>
                <a:cs typeface="Work Sans"/>
                <a:sym typeface="Work Sans"/>
              </a:rPr>
              <a:t>If 9</a:t>
            </a:r>
            <a:r>
              <a:rPr b="0" baseline="30000" i="0" lang="pt-BR" sz="1000" u="none" cap="none" strike="noStrike">
                <a:solidFill>
                  <a:schemeClr val="lt1"/>
                </a:solidFill>
                <a:latin typeface="Work Sans"/>
                <a:ea typeface="Work Sans"/>
                <a:cs typeface="Work Sans"/>
                <a:sym typeface="Work Sans"/>
              </a:rPr>
              <a:t>x</a:t>
            </a:r>
            <a:r>
              <a:rPr b="0" i="0" lang="pt-BR" sz="1000" u="none" cap="none" strike="noStrike">
                <a:solidFill>
                  <a:schemeClr val="lt1"/>
                </a:solidFill>
                <a:latin typeface="Work Sans"/>
                <a:ea typeface="Work Sans"/>
                <a:cs typeface="Work Sans"/>
                <a:sym typeface="Work Sans"/>
              </a:rPr>
              <a:t> - 9</a:t>
            </a:r>
            <a:r>
              <a:rPr b="0" baseline="30000" i="0" lang="pt-BR" sz="1000" u="none" cap="none" strike="noStrike">
                <a:solidFill>
                  <a:schemeClr val="lt1"/>
                </a:solidFill>
                <a:latin typeface="Work Sans"/>
                <a:ea typeface="Work Sans"/>
                <a:cs typeface="Work Sans"/>
                <a:sym typeface="Work Sans"/>
              </a:rPr>
              <a:t>x-2</a:t>
            </a:r>
            <a:r>
              <a:rPr b="0" i="0" lang="pt-BR" sz="1000" u="none" cap="none" strike="noStrike">
                <a:solidFill>
                  <a:schemeClr val="lt1"/>
                </a:solidFill>
                <a:latin typeface="Work Sans"/>
                <a:ea typeface="Work Sans"/>
                <a:cs typeface="Work Sans"/>
                <a:sym typeface="Work Sans"/>
              </a:rPr>
              <a:t> = 240, then x(x-½) is?</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(A) 5/2</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(B) 4</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(C) 5</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(D) 3</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1000"/>
              </a:spcAft>
              <a:buClr>
                <a:srgbClr val="000000"/>
              </a:buClr>
              <a:buSzPts val="1300"/>
              <a:buFont typeface="Arial"/>
              <a:buNone/>
            </a:pPr>
            <a:r>
              <a:rPr b="0" i="0" lang="pt-BR" sz="1000" u="none" cap="none" strike="noStrike">
                <a:solidFill>
                  <a:schemeClr val="lt1"/>
                </a:solidFill>
                <a:latin typeface="Work Sans"/>
                <a:ea typeface="Work Sans"/>
                <a:cs typeface="Work Sans"/>
                <a:sym typeface="Work Sans"/>
              </a:rPr>
              <a:t>(E) 9</a:t>
            </a:r>
            <a:endParaRPr b="0" i="0" sz="1000" u="none" cap="none" strike="noStrike">
              <a:solidFill>
                <a:schemeClr val="lt1"/>
              </a:solidFill>
              <a:latin typeface="Work Sans"/>
              <a:ea typeface="Work Sans"/>
              <a:cs typeface="Work Sans"/>
              <a:sym typeface="Work Sans"/>
            </a:endParaRPr>
          </a:p>
        </p:txBody>
      </p:sp>
      <p:pic>
        <p:nvPicPr>
          <p:cNvPr id="1039" name="Google Shape;1039;p50"/>
          <p:cNvPicPr preferRelativeResize="0"/>
          <p:nvPr/>
        </p:nvPicPr>
        <p:blipFill rotWithShape="1">
          <a:blip r:embed="rId4">
            <a:alphaModFix/>
          </a:blip>
          <a:srcRect b="0" l="32505" r="0" t="0"/>
          <a:stretch/>
        </p:blipFill>
        <p:spPr>
          <a:xfrm>
            <a:off x="3752391" y="2332774"/>
            <a:ext cx="1423458" cy="244871"/>
          </a:xfrm>
          <a:prstGeom prst="rect">
            <a:avLst/>
          </a:prstGeom>
          <a:noFill/>
          <a:ln>
            <a:noFill/>
          </a:ln>
        </p:spPr>
      </p:pic>
      <p:pic>
        <p:nvPicPr>
          <p:cNvPr id="1040" name="Google Shape;1040;p50"/>
          <p:cNvPicPr preferRelativeResize="0"/>
          <p:nvPr/>
        </p:nvPicPr>
        <p:blipFill rotWithShape="1">
          <a:blip r:embed="rId5">
            <a:alphaModFix/>
          </a:blip>
          <a:srcRect b="0" l="0" r="0" t="0"/>
          <a:stretch/>
        </p:blipFill>
        <p:spPr>
          <a:xfrm>
            <a:off x="6843339" y="2442692"/>
            <a:ext cx="597052" cy="122436"/>
          </a:xfrm>
          <a:prstGeom prst="rect">
            <a:avLst/>
          </a:prstGeom>
          <a:noFill/>
          <a:ln>
            <a:noFill/>
          </a:ln>
        </p:spPr>
      </p:pic>
      <p:pic>
        <p:nvPicPr>
          <p:cNvPr id="1041" name="Google Shape;1041;p50"/>
          <p:cNvPicPr preferRelativeResize="0"/>
          <p:nvPr/>
        </p:nvPicPr>
        <p:blipFill rotWithShape="1">
          <a:blip r:embed="rId6">
            <a:alphaModFix/>
          </a:blip>
          <a:srcRect b="0" l="0" r="0" t="0"/>
          <a:stretch/>
        </p:blipFill>
        <p:spPr>
          <a:xfrm>
            <a:off x="6729236" y="2751391"/>
            <a:ext cx="870700" cy="155827"/>
          </a:xfrm>
          <a:prstGeom prst="rect">
            <a:avLst/>
          </a:prstGeom>
          <a:noFill/>
          <a:ln>
            <a:noFill/>
          </a:ln>
        </p:spPr>
      </p:pic>
      <p:pic>
        <p:nvPicPr>
          <p:cNvPr id="1042" name="Google Shape;1042;p50"/>
          <p:cNvPicPr preferRelativeResize="0"/>
          <p:nvPr/>
        </p:nvPicPr>
        <p:blipFill rotWithShape="1">
          <a:blip r:embed="rId7">
            <a:alphaModFix/>
          </a:blip>
          <a:srcRect b="0" l="0" r="0" t="0"/>
          <a:stretch/>
        </p:blipFill>
        <p:spPr>
          <a:xfrm>
            <a:off x="6629530" y="3063362"/>
            <a:ext cx="1024670" cy="122436"/>
          </a:xfrm>
          <a:prstGeom prst="rect">
            <a:avLst/>
          </a:prstGeom>
          <a:noFill/>
          <a:ln>
            <a:noFill/>
          </a:ln>
        </p:spPr>
      </p:pic>
      <p:pic>
        <p:nvPicPr>
          <p:cNvPr id="1043" name="Google Shape;1043;p50"/>
          <p:cNvPicPr preferRelativeResize="0"/>
          <p:nvPr/>
        </p:nvPicPr>
        <p:blipFill rotWithShape="1">
          <a:blip r:embed="rId8">
            <a:alphaModFix/>
          </a:blip>
          <a:srcRect b="0" l="0" r="0" t="0"/>
          <a:stretch/>
        </p:blipFill>
        <p:spPr>
          <a:xfrm>
            <a:off x="3526770" y="3983445"/>
            <a:ext cx="1893709" cy="222610"/>
          </a:xfrm>
          <a:prstGeom prst="rect">
            <a:avLst/>
          </a:prstGeom>
          <a:noFill/>
          <a:ln>
            <a:noFill/>
          </a:ln>
        </p:spPr>
      </p:pic>
      <p:sp>
        <p:nvSpPr>
          <p:cNvPr id="1044" name="Google Shape;1044;p50"/>
          <p:cNvSpPr txBox="1"/>
          <p:nvPr/>
        </p:nvSpPr>
        <p:spPr>
          <a:xfrm>
            <a:off x="2930577" y="1369996"/>
            <a:ext cx="300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BA0E02"/>
              </a:buClr>
              <a:buSzPts val="1500"/>
              <a:buFont typeface="Arial"/>
              <a:buNone/>
            </a:pPr>
            <a:r>
              <a:rPr b="1" i="0" lang="pt-BR" sz="1000" u="none" cap="none" strike="noStrike">
                <a:solidFill>
                  <a:schemeClr val="lt1"/>
                </a:solidFill>
                <a:latin typeface="Work Sans"/>
                <a:ea typeface="Work Sans"/>
                <a:cs typeface="Work Sans"/>
                <a:sym typeface="Work Sans"/>
              </a:rPr>
              <a:t>TERMO DA ESQUERDA</a:t>
            </a:r>
            <a:endParaRPr b="0" i="0" sz="1000" u="none" cap="none" strike="noStrike">
              <a:solidFill>
                <a:schemeClr val="lt1"/>
              </a:solidFill>
              <a:latin typeface="Work Sans"/>
              <a:ea typeface="Work Sans"/>
              <a:cs typeface="Work Sans"/>
              <a:sym typeface="Work Sans"/>
            </a:endParaRPr>
          </a:p>
        </p:txBody>
      </p:sp>
      <p:sp>
        <p:nvSpPr>
          <p:cNvPr id="1045" name="Google Shape;1045;p50"/>
          <p:cNvSpPr txBox="1"/>
          <p:nvPr/>
        </p:nvSpPr>
        <p:spPr>
          <a:xfrm>
            <a:off x="5586778" y="1369996"/>
            <a:ext cx="300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BA0E02"/>
              </a:buClr>
              <a:buSzPts val="1500"/>
              <a:buFont typeface="Arial"/>
              <a:buNone/>
            </a:pPr>
            <a:r>
              <a:rPr b="1" i="0" lang="pt-BR" sz="1000" u="none" cap="none" strike="noStrike">
                <a:solidFill>
                  <a:schemeClr val="lt1"/>
                </a:solidFill>
                <a:latin typeface="Work Sans"/>
                <a:ea typeface="Work Sans"/>
                <a:cs typeface="Work Sans"/>
                <a:sym typeface="Work Sans"/>
              </a:rPr>
              <a:t>VOLTANDO À IGUALDADE</a:t>
            </a:r>
            <a:endParaRPr b="0" i="0" sz="1000" u="none" cap="none" strike="noStrike">
              <a:solidFill>
                <a:schemeClr val="lt1"/>
              </a:solidFill>
              <a:latin typeface="Work Sans"/>
              <a:ea typeface="Work Sans"/>
              <a:cs typeface="Work Sans"/>
              <a:sym typeface="Work Sans"/>
            </a:endParaRPr>
          </a:p>
        </p:txBody>
      </p:sp>
      <p:sp>
        <p:nvSpPr>
          <p:cNvPr id="1046" name="Google Shape;1046;p50"/>
          <p:cNvSpPr/>
          <p:nvPr/>
        </p:nvSpPr>
        <p:spPr>
          <a:xfrm>
            <a:off x="4532156" y="2283995"/>
            <a:ext cx="713394" cy="338524"/>
          </a:xfrm>
          <a:prstGeom prst="rect">
            <a:avLst/>
          </a:prstGeom>
          <a:noFill/>
          <a:ln cap="flat" cmpd="sng" w="19050">
            <a:solidFill>
              <a:srgbClr val="BA0E0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000" u="none" cap="none" strike="noStrike">
              <a:solidFill>
                <a:schemeClr val="lt1"/>
              </a:solidFill>
              <a:latin typeface="Work Sans"/>
              <a:ea typeface="Work Sans"/>
              <a:cs typeface="Work Sans"/>
              <a:sym typeface="Work Sans"/>
            </a:endParaRPr>
          </a:p>
        </p:txBody>
      </p:sp>
      <p:pic>
        <p:nvPicPr>
          <p:cNvPr id="1047" name="Google Shape;1047;p50"/>
          <p:cNvPicPr preferRelativeResize="0"/>
          <p:nvPr/>
        </p:nvPicPr>
        <p:blipFill rotWithShape="1">
          <a:blip r:embed="rId9">
            <a:alphaModFix/>
          </a:blip>
          <a:srcRect b="0" l="0" r="0" t="0"/>
          <a:stretch/>
        </p:blipFill>
        <p:spPr>
          <a:xfrm>
            <a:off x="6467210" y="2048703"/>
            <a:ext cx="1239135" cy="222610"/>
          </a:xfrm>
          <a:prstGeom prst="rect">
            <a:avLst/>
          </a:prstGeom>
          <a:noFill/>
          <a:ln>
            <a:noFill/>
          </a:ln>
        </p:spPr>
      </p:pic>
      <p:pic>
        <p:nvPicPr>
          <p:cNvPr id="1048" name="Google Shape;1048;p50"/>
          <p:cNvPicPr preferRelativeResize="0"/>
          <p:nvPr/>
        </p:nvPicPr>
        <p:blipFill rotWithShape="1">
          <a:blip r:embed="rId10">
            <a:alphaModFix/>
          </a:blip>
          <a:srcRect b="0" l="0" r="0" t="0"/>
          <a:stretch/>
        </p:blipFill>
        <p:spPr>
          <a:xfrm>
            <a:off x="6687625" y="1727139"/>
            <a:ext cx="798307" cy="222610"/>
          </a:xfrm>
          <a:prstGeom prst="rect">
            <a:avLst/>
          </a:prstGeom>
          <a:noFill/>
          <a:ln>
            <a:noFill/>
          </a:ln>
        </p:spPr>
      </p:pic>
      <p:grpSp>
        <p:nvGrpSpPr>
          <p:cNvPr id="1049" name="Google Shape;1049;p50"/>
          <p:cNvGrpSpPr/>
          <p:nvPr/>
        </p:nvGrpSpPr>
        <p:grpSpPr>
          <a:xfrm>
            <a:off x="6944542" y="3341942"/>
            <a:ext cx="440087" cy="289393"/>
            <a:chOff x="6333100" y="4887150"/>
            <a:chExt cx="648000" cy="468000"/>
          </a:xfrm>
        </p:grpSpPr>
        <p:pic>
          <p:nvPicPr>
            <p:cNvPr id="1050" name="Google Shape;1050;p50"/>
            <p:cNvPicPr preferRelativeResize="0"/>
            <p:nvPr/>
          </p:nvPicPr>
          <p:blipFill rotWithShape="1">
            <a:blip r:embed="rId11">
              <a:alphaModFix/>
            </a:blip>
            <a:srcRect b="0" l="0" r="0" t="0"/>
            <a:stretch/>
          </p:blipFill>
          <p:spPr>
            <a:xfrm>
              <a:off x="6403963" y="4941150"/>
              <a:ext cx="461455" cy="360000"/>
            </a:xfrm>
            <a:prstGeom prst="rect">
              <a:avLst/>
            </a:prstGeom>
            <a:noFill/>
            <a:ln>
              <a:noFill/>
            </a:ln>
          </p:spPr>
        </p:pic>
        <p:sp>
          <p:nvSpPr>
            <p:cNvPr id="1051" name="Google Shape;1051;p50"/>
            <p:cNvSpPr/>
            <p:nvPr/>
          </p:nvSpPr>
          <p:spPr>
            <a:xfrm>
              <a:off x="6333100" y="4887150"/>
              <a:ext cx="648000" cy="468000"/>
            </a:xfrm>
            <a:prstGeom prst="rect">
              <a:avLst/>
            </a:prstGeom>
            <a:noFill/>
            <a:ln cap="flat" cmpd="sng" w="19050">
              <a:solidFill>
                <a:srgbClr val="BA0E0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000" u="none" cap="none" strike="noStrike">
                <a:solidFill>
                  <a:schemeClr val="lt1"/>
                </a:solidFill>
                <a:latin typeface="Work Sans"/>
                <a:ea typeface="Work Sans"/>
                <a:cs typeface="Work Sans"/>
                <a:sym typeface="Work Sans"/>
              </a:endParaRPr>
            </a:p>
          </p:txBody>
        </p:sp>
      </p:grpSp>
      <p:grpSp>
        <p:nvGrpSpPr>
          <p:cNvPr id="1052" name="Google Shape;1052;p50"/>
          <p:cNvGrpSpPr/>
          <p:nvPr/>
        </p:nvGrpSpPr>
        <p:grpSpPr>
          <a:xfrm>
            <a:off x="339712" y="2353316"/>
            <a:ext cx="852127" cy="324197"/>
            <a:chOff x="271410" y="3520307"/>
            <a:chExt cx="898962" cy="241200"/>
          </a:xfrm>
        </p:grpSpPr>
        <p:sp>
          <p:nvSpPr>
            <p:cNvPr id="1053" name="Google Shape;1053;p50"/>
            <p:cNvSpPr/>
            <p:nvPr/>
          </p:nvSpPr>
          <p:spPr>
            <a:xfrm>
              <a:off x="619572" y="3520307"/>
              <a:ext cx="550800" cy="241200"/>
            </a:xfrm>
            <a:prstGeom prst="roundRect">
              <a:avLst>
                <a:gd fmla="val 16667" name="adj"/>
              </a:avLst>
            </a:prstGeom>
            <a:noFill/>
            <a:ln cap="flat" cmpd="sng" w="19050">
              <a:solidFill>
                <a:srgbClr val="00DF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000" u="none" cap="none" strike="noStrike">
                <a:solidFill>
                  <a:schemeClr val="lt1"/>
                </a:solidFill>
                <a:latin typeface="Work Sans"/>
                <a:ea typeface="Work Sans"/>
                <a:cs typeface="Work Sans"/>
                <a:sym typeface="Work Sans"/>
              </a:endParaRPr>
            </a:p>
          </p:txBody>
        </p:sp>
        <p:pic>
          <p:nvPicPr>
            <p:cNvPr id="1054" name="Google Shape;1054;p50"/>
            <p:cNvPicPr preferRelativeResize="0"/>
            <p:nvPr/>
          </p:nvPicPr>
          <p:blipFill rotWithShape="1">
            <a:blip r:embed="rId12">
              <a:alphaModFix/>
            </a:blip>
            <a:srcRect b="0" l="0" r="0" t="0"/>
            <a:stretch/>
          </p:blipFill>
          <p:spPr>
            <a:xfrm>
              <a:off x="271410" y="3547160"/>
              <a:ext cx="256540" cy="187485"/>
            </a:xfrm>
            <a:prstGeom prst="rect">
              <a:avLst/>
            </a:prstGeom>
            <a:noFill/>
            <a:ln>
              <a:noFill/>
            </a:ln>
          </p:spPr>
        </p:pic>
      </p:grpSp>
      <p:sp>
        <p:nvSpPr>
          <p:cNvPr id="1055" name="Google Shape;1055;p50"/>
          <p:cNvSpPr txBox="1"/>
          <p:nvPr/>
        </p:nvSpPr>
        <p:spPr>
          <a:xfrm>
            <a:off x="3132476" y="3471076"/>
            <a:ext cx="3000000" cy="3385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BA0E02"/>
              </a:buClr>
              <a:buSzPts val="1500"/>
              <a:buFont typeface="Arial"/>
              <a:buNone/>
            </a:pPr>
            <a:r>
              <a:rPr b="1" i="0" lang="pt-BR" sz="1000" u="none" cap="none" strike="noStrike">
                <a:solidFill>
                  <a:schemeClr val="lt1"/>
                </a:solidFill>
                <a:latin typeface="Work Sans"/>
                <a:ea typeface="Work Sans"/>
                <a:cs typeface="Work Sans"/>
                <a:sym typeface="Work Sans"/>
              </a:rPr>
              <a:t>EXPRESSÃO FINAL</a:t>
            </a:r>
            <a:endParaRPr b="0" i="0" sz="1000" u="none" cap="none" strike="noStrike">
              <a:solidFill>
                <a:schemeClr val="lt1"/>
              </a:solidFill>
              <a:latin typeface="Work Sans"/>
              <a:ea typeface="Work Sans"/>
              <a:cs typeface="Work Sans"/>
              <a:sym typeface="Work Sans"/>
            </a:endParaRPr>
          </a:p>
        </p:txBody>
      </p:sp>
      <p:sp>
        <p:nvSpPr>
          <p:cNvPr id="1056" name="Google Shape;1056;p50"/>
          <p:cNvSpPr/>
          <p:nvPr/>
        </p:nvSpPr>
        <p:spPr>
          <a:xfrm>
            <a:off x="5276479" y="3956300"/>
            <a:ext cx="288000" cy="276900"/>
          </a:xfrm>
          <a:prstGeom prst="rect">
            <a:avLst/>
          </a:prstGeom>
          <a:noFill/>
          <a:ln cap="flat" cmpd="sng" w="19050">
            <a:solidFill>
              <a:srgbClr val="BA0E0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000" u="none" cap="none" strike="noStrike">
              <a:solidFill>
                <a:schemeClr val="lt1"/>
              </a:solidFill>
              <a:latin typeface="Work Sans"/>
              <a:ea typeface="Work Sans"/>
              <a:cs typeface="Work Sans"/>
              <a:sym typeface="Work Sans"/>
            </a:endParaRPr>
          </a:p>
        </p:txBody>
      </p:sp>
      <p:pic>
        <p:nvPicPr>
          <p:cNvPr id="1057" name="Google Shape;1057;p50"/>
          <p:cNvPicPr preferRelativeResize="0"/>
          <p:nvPr/>
        </p:nvPicPr>
        <p:blipFill rotWithShape="1">
          <a:blip r:embed="rId13">
            <a:alphaModFix/>
          </a:blip>
          <a:srcRect b="0" l="48822" r="0" t="0"/>
          <a:stretch/>
        </p:blipFill>
        <p:spPr>
          <a:xfrm>
            <a:off x="4093620" y="2059784"/>
            <a:ext cx="713393" cy="144697"/>
          </a:xfrm>
          <a:prstGeom prst="rect">
            <a:avLst/>
          </a:prstGeom>
          <a:noFill/>
          <a:ln>
            <a:noFill/>
          </a:ln>
        </p:spPr>
      </p:pic>
      <p:pic>
        <p:nvPicPr>
          <p:cNvPr id="1058" name="Google Shape;1058;p50"/>
          <p:cNvPicPr preferRelativeResize="0"/>
          <p:nvPr/>
        </p:nvPicPr>
        <p:blipFill rotWithShape="1">
          <a:blip r:embed="rId14">
            <a:alphaModFix/>
          </a:blip>
          <a:srcRect b="0" l="0" r="0" t="0"/>
          <a:stretch/>
        </p:blipFill>
        <p:spPr>
          <a:xfrm>
            <a:off x="3752391" y="1759682"/>
            <a:ext cx="1356372" cy="133566"/>
          </a:xfrm>
          <a:prstGeom prst="rect">
            <a:avLst/>
          </a:prstGeom>
          <a:noFill/>
          <a:ln>
            <a:noFill/>
          </a:ln>
        </p:spPr>
      </p:pic>
      <p:cxnSp>
        <p:nvCxnSpPr>
          <p:cNvPr id="1059" name="Google Shape;1059;p50"/>
          <p:cNvCxnSpPr/>
          <p:nvPr/>
        </p:nvCxnSpPr>
        <p:spPr>
          <a:xfrm>
            <a:off x="2226788" y="1826140"/>
            <a:ext cx="609000" cy="0"/>
          </a:xfrm>
          <a:prstGeom prst="straightConnector1">
            <a:avLst/>
          </a:prstGeom>
          <a:noFill/>
          <a:ln cap="flat" cmpd="sng" w="28575">
            <a:solidFill>
              <a:srgbClr val="BA0E02"/>
            </a:solidFill>
            <a:prstDash val="solid"/>
            <a:round/>
            <a:headEnd len="sm" w="sm" type="none"/>
            <a:tailEnd len="sm" w="sm" type="none"/>
          </a:ln>
        </p:spPr>
      </p:cxnSp>
      <p:sp>
        <p:nvSpPr>
          <p:cNvPr id="1060" name="Google Shape;1060;p50"/>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1000"/>
                                        <p:tgtEl>
                                          <p:spTgt spid="10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1000"/>
                                        <p:tgtEl>
                                          <p:spTgt spid="10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gtEl>
                                        <p:attrNameLst>
                                          <p:attrName>style.visibility</p:attrName>
                                        </p:attrNameLst>
                                      </p:cBhvr>
                                      <p:to>
                                        <p:strVal val="visible"/>
                                      </p:to>
                                    </p:set>
                                    <p:animEffect filter="fade" transition="in">
                                      <p:cBhvr>
                                        <p:cTn dur="1000"/>
                                        <p:tgtEl>
                                          <p:spTgt spid="1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1000"/>
                                        <p:tgtEl>
                                          <p:spTgt spid="10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1000"/>
                                        <p:tgtEl>
                                          <p:spTgt spid="10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1000"/>
                                        <p:tgtEl>
                                          <p:spTgt spid="10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1000"/>
                                        <p:tgtEl>
                                          <p:spTgt spid="1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1000"/>
                                        <p:tgtEl>
                                          <p:spTgt spid="10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1000"/>
                                        <p:tgtEl>
                                          <p:spTgt spid="10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1000"/>
                                        <p:tgtEl>
                                          <p:spTgt spid="10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1000"/>
                                        <p:tgtEl>
                                          <p:spTgt spid="1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9"/>
                                        </p:tgtEl>
                                        <p:attrNameLst>
                                          <p:attrName>style.visibility</p:attrName>
                                        </p:attrNameLst>
                                      </p:cBhvr>
                                      <p:to>
                                        <p:strVal val="visible"/>
                                      </p:to>
                                    </p:set>
                                    <p:animEffect filter="fade" transition="in">
                                      <p:cBhvr>
                                        <p:cTn dur="1000"/>
                                        <p:tgtEl>
                                          <p:spTgt spid="1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5"/>
                                        </p:tgtEl>
                                        <p:attrNameLst>
                                          <p:attrName>style.visibility</p:attrName>
                                        </p:attrNameLst>
                                      </p:cBhvr>
                                      <p:to>
                                        <p:strVal val="visible"/>
                                      </p:to>
                                    </p:set>
                                    <p:animEffect filter="fade" transition="in">
                                      <p:cBhvr>
                                        <p:cTn dur="1000"/>
                                        <p:tgtEl>
                                          <p:spTgt spid="10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gtEl>
                                        <p:attrNameLst>
                                          <p:attrName>style.visibility</p:attrName>
                                        </p:attrNameLst>
                                      </p:cBhvr>
                                      <p:to>
                                        <p:strVal val="visible"/>
                                      </p:to>
                                    </p:set>
                                    <p:animEffect filter="fade" transition="in">
                                      <p:cBhvr>
                                        <p:cTn dur="1000"/>
                                        <p:tgtEl>
                                          <p:spTgt spid="10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1000"/>
                                        <p:tgtEl>
                                          <p:spTgt spid="10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51"/>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1066" name="Google Shape;1066;p51"/>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pic>
        <p:nvPicPr>
          <p:cNvPr descr="Abacus outline" id="1067" name="Google Shape;1067;p51"/>
          <p:cNvPicPr preferRelativeResize="0"/>
          <p:nvPr/>
        </p:nvPicPr>
        <p:blipFill rotWithShape="1">
          <a:blip r:embed="rId3">
            <a:alphaModFix/>
          </a:blip>
          <a:srcRect b="0" l="0" r="0" t="0"/>
          <a:stretch/>
        </p:blipFill>
        <p:spPr>
          <a:xfrm>
            <a:off x="3557840" y="1188424"/>
            <a:ext cx="524922" cy="524922"/>
          </a:xfrm>
          <a:prstGeom prst="rect">
            <a:avLst/>
          </a:prstGeom>
          <a:noFill/>
          <a:ln>
            <a:noFill/>
          </a:ln>
        </p:spPr>
      </p:pic>
      <p:pic>
        <p:nvPicPr>
          <p:cNvPr descr="Puzzle outline" id="1068" name="Google Shape;1068;p51"/>
          <p:cNvPicPr preferRelativeResize="0"/>
          <p:nvPr/>
        </p:nvPicPr>
        <p:blipFill rotWithShape="1">
          <a:blip r:embed="rId4">
            <a:alphaModFix/>
          </a:blip>
          <a:srcRect b="0" l="0" r="0" t="0"/>
          <a:stretch/>
        </p:blipFill>
        <p:spPr>
          <a:xfrm>
            <a:off x="2682995" y="4128681"/>
            <a:ext cx="587556" cy="587556"/>
          </a:xfrm>
          <a:prstGeom prst="rect">
            <a:avLst/>
          </a:prstGeom>
          <a:noFill/>
          <a:ln>
            <a:noFill/>
          </a:ln>
        </p:spPr>
      </p:pic>
      <p:sp>
        <p:nvSpPr>
          <p:cNvPr id="1069" name="Google Shape;1069;p51"/>
          <p:cNvSpPr txBox="1"/>
          <p:nvPr/>
        </p:nvSpPr>
        <p:spPr>
          <a:xfrm>
            <a:off x="1710004" y="2134184"/>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Polígonos Convexos</a:t>
            </a:r>
            <a:endParaRPr b="0" i="0" sz="1400" u="none" cap="none" strike="noStrike">
              <a:solidFill>
                <a:schemeClr val="lt1"/>
              </a:solidFill>
              <a:latin typeface="Work Sans"/>
              <a:ea typeface="Work Sans"/>
              <a:cs typeface="Work Sans"/>
              <a:sym typeface="Work Sans"/>
            </a:endParaRPr>
          </a:p>
        </p:txBody>
      </p:sp>
      <p:sp>
        <p:nvSpPr>
          <p:cNvPr id="1070" name="Google Shape;1070;p51"/>
          <p:cNvSpPr txBox="1"/>
          <p:nvPr/>
        </p:nvSpPr>
        <p:spPr>
          <a:xfrm>
            <a:off x="1710004" y="4154261"/>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Sólidos</a:t>
            </a:r>
            <a:endParaRPr b="0" i="0" sz="1400" u="none" cap="none" strike="noStrike">
              <a:solidFill>
                <a:schemeClr val="lt1"/>
              </a:solidFill>
              <a:latin typeface="Work Sans"/>
              <a:ea typeface="Work Sans"/>
              <a:cs typeface="Work Sans"/>
              <a:sym typeface="Work Sans"/>
            </a:endParaRPr>
          </a:p>
        </p:txBody>
      </p:sp>
      <p:sp>
        <p:nvSpPr>
          <p:cNvPr id="1071" name="Google Shape;1071;p51"/>
          <p:cNvSpPr txBox="1"/>
          <p:nvPr/>
        </p:nvSpPr>
        <p:spPr>
          <a:xfrm>
            <a:off x="5628236" y="2126790"/>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Linhas</a:t>
            </a:r>
            <a:endParaRPr b="0" i="0" sz="1400" u="none" cap="none" strike="noStrike">
              <a:solidFill>
                <a:schemeClr val="lt1"/>
              </a:solidFill>
              <a:latin typeface="Work Sans"/>
              <a:ea typeface="Work Sans"/>
              <a:cs typeface="Work Sans"/>
              <a:sym typeface="Work Sans"/>
            </a:endParaRPr>
          </a:p>
        </p:txBody>
      </p:sp>
      <p:sp>
        <p:nvSpPr>
          <p:cNvPr id="1072" name="Google Shape;1072;p51"/>
          <p:cNvSpPr txBox="1"/>
          <p:nvPr/>
        </p:nvSpPr>
        <p:spPr>
          <a:xfrm>
            <a:off x="5628236" y="3117087"/>
            <a:ext cx="3476894"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Geometria Analítica</a:t>
            </a:r>
            <a:endParaRPr b="0" i="0" sz="1400" u="none" cap="none" strike="noStrike">
              <a:solidFill>
                <a:schemeClr val="lt1"/>
              </a:solidFill>
              <a:latin typeface="Work Sans"/>
              <a:ea typeface="Work Sans"/>
              <a:cs typeface="Work Sans"/>
              <a:sym typeface="Work Sans"/>
            </a:endParaRPr>
          </a:p>
        </p:txBody>
      </p:sp>
      <p:sp>
        <p:nvSpPr>
          <p:cNvPr id="1073" name="Google Shape;1073;p51"/>
          <p:cNvSpPr txBox="1"/>
          <p:nvPr/>
        </p:nvSpPr>
        <p:spPr>
          <a:xfrm>
            <a:off x="1710004" y="3145235"/>
            <a:ext cx="2880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pt-BR" sz="1400" u="none" cap="none" strike="noStrike">
                <a:solidFill>
                  <a:schemeClr val="lt1"/>
                </a:solidFill>
                <a:latin typeface="Work Sans"/>
                <a:ea typeface="Work Sans"/>
                <a:cs typeface="Work Sans"/>
                <a:sym typeface="Work Sans"/>
              </a:rPr>
              <a:t>Círculos</a:t>
            </a:r>
            <a:endParaRPr b="0" i="0" sz="1400" u="none" cap="none" strike="noStrike">
              <a:solidFill>
                <a:schemeClr val="lt1"/>
              </a:solidFill>
              <a:latin typeface="Work Sans"/>
              <a:ea typeface="Work Sans"/>
              <a:cs typeface="Work Sans"/>
              <a:sym typeface="Work Sans"/>
            </a:endParaRPr>
          </a:p>
        </p:txBody>
      </p:sp>
      <p:pic>
        <p:nvPicPr>
          <p:cNvPr descr="Golden Ratio outline" id="1074" name="Google Shape;1074;p51"/>
          <p:cNvPicPr preferRelativeResize="0"/>
          <p:nvPr/>
        </p:nvPicPr>
        <p:blipFill rotWithShape="1">
          <a:blip r:embed="rId5">
            <a:alphaModFix/>
          </a:blip>
          <a:srcRect b="0" l="0" r="0" t="0"/>
          <a:stretch/>
        </p:blipFill>
        <p:spPr>
          <a:xfrm>
            <a:off x="1009938" y="4056242"/>
            <a:ext cx="524922" cy="524922"/>
          </a:xfrm>
          <a:prstGeom prst="rect">
            <a:avLst/>
          </a:prstGeom>
          <a:noFill/>
          <a:ln>
            <a:noFill/>
          </a:ln>
        </p:spPr>
      </p:pic>
      <p:pic>
        <p:nvPicPr>
          <p:cNvPr descr="Ruler outline" id="1075" name="Google Shape;1075;p51"/>
          <p:cNvPicPr preferRelativeResize="0"/>
          <p:nvPr/>
        </p:nvPicPr>
        <p:blipFill rotWithShape="1">
          <a:blip r:embed="rId6">
            <a:alphaModFix/>
          </a:blip>
          <a:srcRect b="0" l="0" r="0" t="0"/>
          <a:stretch/>
        </p:blipFill>
        <p:spPr>
          <a:xfrm>
            <a:off x="4992339" y="2107873"/>
            <a:ext cx="490094" cy="490094"/>
          </a:xfrm>
          <a:prstGeom prst="rect">
            <a:avLst/>
          </a:prstGeom>
          <a:noFill/>
          <a:ln>
            <a:noFill/>
          </a:ln>
        </p:spPr>
      </p:pic>
      <p:sp>
        <p:nvSpPr>
          <p:cNvPr id="1076" name="Google Shape;1076;p51"/>
          <p:cNvSpPr txBox="1"/>
          <p:nvPr/>
        </p:nvSpPr>
        <p:spPr>
          <a:xfrm>
            <a:off x="996448" y="206099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077" name="Google Shape;1077;p51"/>
          <p:cNvSpPr txBox="1"/>
          <p:nvPr/>
        </p:nvSpPr>
        <p:spPr>
          <a:xfrm>
            <a:off x="996448" y="3070110"/>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078" name="Google Shape;1078;p51"/>
          <p:cNvSpPr txBox="1"/>
          <p:nvPr/>
        </p:nvSpPr>
        <p:spPr>
          <a:xfrm>
            <a:off x="996448" y="407922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079" name="Google Shape;1079;p51"/>
          <p:cNvSpPr txBox="1"/>
          <p:nvPr/>
        </p:nvSpPr>
        <p:spPr>
          <a:xfrm>
            <a:off x="4894877" y="2060995"/>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sp>
        <p:nvSpPr>
          <p:cNvPr id="1080" name="Google Shape;1080;p51"/>
          <p:cNvSpPr txBox="1"/>
          <p:nvPr/>
        </p:nvSpPr>
        <p:spPr>
          <a:xfrm>
            <a:off x="4894877" y="3070109"/>
            <a:ext cx="587556" cy="576001"/>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grpSp>
        <p:nvGrpSpPr>
          <p:cNvPr id="1081" name="Google Shape;1081;p51"/>
          <p:cNvGrpSpPr/>
          <p:nvPr/>
        </p:nvGrpSpPr>
        <p:grpSpPr>
          <a:xfrm>
            <a:off x="4182339" y="1052209"/>
            <a:ext cx="1620000" cy="720000"/>
            <a:chOff x="5220000" y="5040000"/>
            <a:chExt cx="1620000" cy="720000"/>
          </a:xfrm>
        </p:grpSpPr>
        <p:sp>
          <p:nvSpPr>
            <p:cNvPr id="1082" name="Google Shape;1082;p51"/>
            <p:cNvSpPr txBox="1"/>
            <p:nvPr/>
          </p:nvSpPr>
          <p:spPr>
            <a:xfrm>
              <a:off x="5220000" y="5040000"/>
              <a:ext cx="16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GEOMETRIA</a:t>
              </a:r>
              <a:endParaRPr b="0" i="0" sz="1600" u="none" cap="none" strike="noStrike">
                <a:solidFill>
                  <a:schemeClr val="lt1"/>
                </a:solidFill>
                <a:latin typeface="Arial"/>
                <a:ea typeface="Arial"/>
                <a:cs typeface="Arial"/>
                <a:sym typeface="Arial"/>
              </a:endParaRPr>
            </a:p>
          </p:txBody>
        </p:sp>
        <p:sp>
          <p:nvSpPr>
            <p:cNvPr id="1083" name="Google Shape;1083;p51"/>
            <p:cNvSpPr txBox="1"/>
            <p:nvPr/>
          </p:nvSpPr>
          <p:spPr>
            <a:xfrm>
              <a:off x="5220000" y="5400000"/>
              <a:ext cx="16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1" lang="pt-BR" sz="1800" u="none" cap="none" strike="noStrike">
                  <a:solidFill>
                    <a:schemeClr val="dk1"/>
                  </a:solidFill>
                  <a:latin typeface="Arial"/>
                  <a:ea typeface="Arial"/>
                  <a:cs typeface="Arial"/>
                  <a:sym typeface="Arial"/>
                </a:rPr>
                <a:t>geometry</a:t>
              </a:r>
              <a:endParaRPr b="0" i="1" sz="1800" u="none" cap="none" strike="noStrike">
                <a:solidFill>
                  <a:srgbClr val="000000"/>
                </a:solidFill>
                <a:latin typeface="Arial"/>
                <a:ea typeface="Arial"/>
                <a:cs typeface="Arial"/>
                <a:sym typeface="Arial"/>
              </a:endParaRPr>
            </a:p>
          </p:txBody>
        </p:sp>
      </p:grpSp>
      <p:sp>
        <p:nvSpPr>
          <p:cNvPr id="1084" name="Google Shape;1084;p51"/>
          <p:cNvSpPr txBox="1"/>
          <p:nvPr/>
        </p:nvSpPr>
        <p:spPr>
          <a:xfrm>
            <a:off x="3553587" y="1136923"/>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Cube outline" id="1085" name="Google Shape;1085;p51"/>
          <p:cNvPicPr preferRelativeResize="0"/>
          <p:nvPr/>
        </p:nvPicPr>
        <p:blipFill rotWithShape="1">
          <a:blip r:embed="rId7">
            <a:alphaModFix/>
          </a:blip>
          <a:srcRect b="0" l="0" r="0" t="0"/>
          <a:stretch/>
        </p:blipFill>
        <p:spPr>
          <a:xfrm>
            <a:off x="3553587" y="1135053"/>
            <a:ext cx="609517" cy="609517"/>
          </a:xfrm>
          <a:prstGeom prst="rect">
            <a:avLst/>
          </a:prstGeom>
          <a:noFill/>
          <a:ln>
            <a:noFill/>
          </a:ln>
        </p:spPr>
      </p:pic>
      <p:pic>
        <p:nvPicPr>
          <p:cNvPr id="1086" name="Google Shape;1086;p51"/>
          <p:cNvPicPr preferRelativeResize="0"/>
          <p:nvPr/>
        </p:nvPicPr>
        <p:blipFill rotWithShape="1">
          <a:blip r:embed="rId8">
            <a:alphaModFix/>
          </a:blip>
          <a:srcRect b="0" l="0" r="0" t="0"/>
          <a:stretch/>
        </p:blipFill>
        <p:spPr>
          <a:xfrm>
            <a:off x="1125791" y="3155569"/>
            <a:ext cx="407100" cy="405080"/>
          </a:xfrm>
          <a:prstGeom prst="rect">
            <a:avLst/>
          </a:prstGeom>
          <a:noFill/>
          <a:ln>
            <a:noFill/>
          </a:ln>
        </p:spPr>
      </p:pic>
      <p:pic>
        <p:nvPicPr>
          <p:cNvPr id="1087" name="Google Shape;1087;p51"/>
          <p:cNvPicPr preferRelativeResize="0"/>
          <p:nvPr/>
        </p:nvPicPr>
        <p:blipFill rotWithShape="1">
          <a:blip r:embed="rId9">
            <a:alphaModFix/>
          </a:blip>
          <a:srcRect b="0" l="0" r="0" t="0"/>
          <a:stretch/>
        </p:blipFill>
        <p:spPr>
          <a:xfrm>
            <a:off x="1101916" y="2161500"/>
            <a:ext cx="394844" cy="405080"/>
          </a:xfrm>
          <a:prstGeom prst="rect">
            <a:avLst/>
          </a:prstGeom>
          <a:noFill/>
          <a:ln>
            <a:noFill/>
          </a:ln>
        </p:spPr>
      </p:pic>
      <p:pic>
        <p:nvPicPr>
          <p:cNvPr id="1088" name="Google Shape;1088;p51"/>
          <p:cNvPicPr preferRelativeResize="0"/>
          <p:nvPr/>
        </p:nvPicPr>
        <p:blipFill rotWithShape="1">
          <a:blip r:embed="rId10">
            <a:alphaModFix/>
          </a:blip>
          <a:srcRect b="0" l="0" r="0" t="0"/>
          <a:stretch/>
        </p:blipFill>
        <p:spPr>
          <a:xfrm>
            <a:off x="1086676" y="4176084"/>
            <a:ext cx="407100" cy="405080"/>
          </a:xfrm>
          <a:prstGeom prst="rect">
            <a:avLst/>
          </a:prstGeom>
          <a:noFill/>
          <a:ln>
            <a:noFill/>
          </a:ln>
        </p:spPr>
      </p:pic>
      <p:pic>
        <p:nvPicPr>
          <p:cNvPr id="1089" name="Google Shape;1089;p51"/>
          <p:cNvPicPr preferRelativeResize="0"/>
          <p:nvPr/>
        </p:nvPicPr>
        <p:blipFill rotWithShape="1">
          <a:blip r:embed="rId11">
            <a:alphaModFix/>
          </a:blip>
          <a:srcRect b="0" l="0" r="0" t="0"/>
          <a:stretch/>
        </p:blipFill>
        <p:spPr>
          <a:xfrm>
            <a:off x="4985105" y="3172551"/>
            <a:ext cx="407100" cy="405080"/>
          </a:xfrm>
          <a:prstGeom prst="rect">
            <a:avLst/>
          </a:prstGeom>
          <a:noFill/>
          <a:ln>
            <a:noFill/>
          </a:ln>
        </p:spPr>
      </p:pic>
      <p:pic>
        <p:nvPicPr>
          <p:cNvPr id="1090" name="Google Shape;1090;p51"/>
          <p:cNvPicPr preferRelativeResize="0"/>
          <p:nvPr/>
        </p:nvPicPr>
        <p:blipFill rotWithShape="1">
          <a:blip r:embed="rId12">
            <a:alphaModFix/>
          </a:blip>
          <a:srcRect b="0" l="0" r="0" t="0"/>
          <a:stretch/>
        </p:blipFill>
        <p:spPr>
          <a:xfrm>
            <a:off x="4992339" y="2147842"/>
            <a:ext cx="407100" cy="405080"/>
          </a:xfrm>
          <a:prstGeom prst="rect">
            <a:avLst/>
          </a:prstGeom>
          <a:noFill/>
          <a:ln>
            <a:noFill/>
          </a:ln>
        </p:spPr>
      </p:pic>
      <p:sp>
        <p:nvSpPr>
          <p:cNvPr id="1091" name="Google Shape;1091;p51"/>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52"/>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1097" name="Google Shape;1097;p52"/>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grpSp>
        <p:nvGrpSpPr>
          <p:cNvPr id="1098" name="Google Shape;1098;p52"/>
          <p:cNvGrpSpPr/>
          <p:nvPr/>
        </p:nvGrpSpPr>
        <p:grpSpPr>
          <a:xfrm>
            <a:off x="339712" y="888243"/>
            <a:ext cx="3874148" cy="397001"/>
            <a:chOff x="938974" y="1053283"/>
            <a:chExt cx="5761641" cy="575247"/>
          </a:xfrm>
        </p:grpSpPr>
        <p:sp>
          <p:nvSpPr>
            <p:cNvPr id="1099" name="Google Shape;1099;p52"/>
            <p:cNvSpPr txBox="1"/>
            <p:nvPr/>
          </p:nvSpPr>
          <p:spPr>
            <a:xfrm>
              <a:off x="1526530" y="1053283"/>
              <a:ext cx="5174085" cy="57524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Polígonos Convexos</a:t>
              </a:r>
              <a:endParaRPr b="1" i="0" sz="1200" u="none" cap="none" strike="noStrike">
                <a:solidFill>
                  <a:schemeClr val="lt1"/>
                </a:solidFill>
                <a:latin typeface="Work Sans"/>
                <a:ea typeface="Work Sans"/>
                <a:cs typeface="Work Sans"/>
                <a:sym typeface="Work Sans"/>
              </a:endParaRPr>
            </a:p>
          </p:txBody>
        </p:sp>
        <p:pic>
          <p:nvPicPr>
            <p:cNvPr descr="Tally outline" id="1100" name="Google Shape;1100;p52"/>
            <p:cNvPicPr preferRelativeResize="0"/>
            <p:nvPr/>
          </p:nvPicPr>
          <p:blipFill rotWithShape="1">
            <a:blip r:embed="rId3">
              <a:alphaModFix/>
            </a:blip>
            <a:srcRect b="0" l="0" r="0" t="0"/>
            <a:stretch/>
          </p:blipFill>
          <p:spPr>
            <a:xfrm>
              <a:off x="938974" y="1126471"/>
              <a:ext cx="432397" cy="432397"/>
            </a:xfrm>
            <a:prstGeom prst="rect">
              <a:avLst/>
            </a:prstGeom>
            <a:noFill/>
            <a:ln>
              <a:noFill/>
            </a:ln>
          </p:spPr>
        </p:pic>
      </p:grpSp>
      <p:sp>
        <p:nvSpPr>
          <p:cNvPr id="1101" name="Google Shape;1101;p52"/>
          <p:cNvSpPr txBox="1"/>
          <p:nvPr/>
        </p:nvSpPr>
        <p:spPr>
          <a:xfrm>
            <a:off x="714633" y="1166595"/>
            <a:ext cx="1307912"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Definição:</a:t>
            </a:r>
            <a:endParaRPr b="0" i="0" sz="1000" u="none" cap="none" strike="noStrike">
              <a:solidFill>
                <a:schemeClr val="lt1"/>
              </a:solidFill>
              <a:latin typeface="Work Sans"/>
              <a:ea typeface="Work Sans"/>
              <a:cs typeface="Work Sans"/>
              <a:sym typeface="Work Sans"/>
            </a:endParaRPr>
          </a:p>
        </p:txBody>
      </p:sp>
      <p:sp>
        <p:nvSpPr>
          <p:cNvPr id="1102" name="Google Shape;1102;p52"/>
          <p:cNvSpPr txBox="1"/>
          <p:nvPr/>
        </p:nvSpPr>
        <p:spPr>
          <a:xfrm>
            <a:off x="712914" y="1650490"/>
            <a:ext cx="21600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Principais Equações:</a:t>
            </a:r>
            <a:endParaRPr b="0" i="0" sz="1000" u="none" cap="none" strike="noStrike">
              <a:solidFill>
                <a:schemeClr val="lt1"/>
              </a:solidFill>
              <a:latin typeface="Work Sans"/>
              <a:ea typeface="Work Sans"/>
              <a:cs typeface="Work Sans"/>
              <a:sym typeface="Work Sans"/>
            </a:endParaRPr>
          </a:p>
        </p:txBody>
      </p:sp>
      <p:pic>
        <p:nvPicPr>
          <p:cNvPr id="1103" name="Google Shape;1103;p52"/>
          <p:cNvPicPr preferRelativeResize="0"/>
          <p:nvPr/>
        </p:nvPicPr>
        <p:blipFill rotWithShape="1">
          <a:blip r:embed="rId4">
            <a:alphaModFix/>
          </a:blip>
          <a:srcRect b="0" l="0" r="0" t="0"/>
          <a:stretch/>
        </p:blipFill>
        <p:spPr>
          <a:xfrm>
            <a:off x="2119892" y="3669768"/>
            <a:ext cx="2342542" cy="882022"/>
          </a:xfrm>
          <a:prstGeom prst="rect">
            <a:avLst/>
          </a:prstGeom>
          <a:noFill/>
          <a:ln>
            <a:noFill/>
          </a:ln>
        </p:spPr>
      </p:pic>
      <p:pic>
        <p:nvPicPr>
          <p:cNvPr descr="Resultado de imagem para triangulo retangulo" id="1104" name="Google Shape;1104;p52"/>
          <p:cNvPicPr preferRelativeResize="0"/>
          <p:nvPr/>
        </p:nvPicPr>
        <p:blipFill rotWithShape="1">
          <a:blip r:embed="rId5">
            <a:alphaModFix/>
          </a:blip>
          <a:srcRect b="0" l="0" r="0" t="0"/>
          <a:stretch/>
        </p:blipFill>
        <p:spPr>
          <a:xfrm>
            <a:off x="4819105" y="3689807"/>
            <a:ext cx="1407704" cy="735681"/>
          </a:xfrm>
          <a:prstGeom prst="rect">
            <a:avLst/>
          </a:prstGeom>
          <a:noFill/>
          <a:ln>
            <a:noFill/>
          </a:ln>
        </p:spPr>
      </p:pic>
      <p:sp>
        <p:nvSpPr>
          <p:cNvPr id="1105" name="Google Shape;1105;p52"/>
          <p:cNvSpPr txBox="1"/>
          <p:nvPr/>
        </p:nvSpPr>
        <p:spPr>
          <a:xfrm>
            <a:off x="2119892" y="1500050"/>
            <a:ext cx="3600000" cy="877133"/>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Soma dos ângulos externos = 360</a:t>
            </a:r>
            <a:endParaRPr b="0" i="0" sz="1000" u="none" cap="none" strike="noStrike">
              <a:solidFill>
                <a:schemeClr val="lt1"/>
              </a:solidFill>
              <a:latin typeface="Work Sans"/>
              <a:ea typeface="Work Sans"/>
              <a:cs typeface="Work Sans"/>
              <a:sym typeface="Work Sans"/>
            </a:endParaRPr>
          </a:p>
          <a:p>
            <a:pPr indent="0" lvl="0" marL="0" marR="0" rtl="0" algn="just">
              <a:lnSpc>
                <a:spcPct val="100000"/>
              </a:lnSpc>
              <a:spcBef>
                <a:spcPts val="1000"/>
              </a:spcBef>
              <a:spcAft>
                <a:spcPts val="100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Soma dos ângulos internos = (n - 2) * 180</a:t>
            </a:r>
            <a:endParaRPr b="0" i="0" sz="1000" u="none" cap="none" strike="noStrike">
              <a:solidFill>
                <a:schemeClr val="lt1"/>
              </a:solidFill>
              <a:latin typeface="Work Sans"/>
              <a:ea typeface="Work Sans"/>
              <a:cs typeface="Work Sans"/>
              <a:sym typeface="Work Sans"/>
            </a:endParaRPr>
          </a:p>
        </p:txBody>
      </p:sp>
      <p:sp>
        <p:nvSpPr>
          <p:cNvPr id="1106" name="Google Shape;1106;p52"/>
          <p:cNvSpPr txBox="1"/>
          <p:nvPr/>
        </p:nvSpPr>
        <p:spPr>
          <a:xfrm>
            <a:off x="1368589" y="1156897"/>
            <a:ext cx="50400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Figuras planas formadas por 3 segmentos de reta ou mais.</a:t>
            </a:r>
            <a:endParaRPr b="0" i="0" sz="1000" u="none" cap="none" strike="noStrike">
              <a:solidFill>
                <a:schemeClr val="lt1"/>
              </a:solidFill>
              <a:latin typeface="Work Sans"/>
              <a:ea typeface="Work Sans"/>
              <a:cs typeface="Work Sans"/>
              <a:sym typeface="Work Sans"/>
            </a:endParaRPr>
          </a:p>
        </p:txBody>
      </p:sp>
      <p:sp>
        <p:nvSpPr>
          <p:cNvPr id="1107" name="Google Shape;1107;p52"/>
          <p:cNvSpPr txBox="1"/>
          <p:nvPr/>
        </p:nvSpPr>
        <p:spPr>
          <a:xfrm>
            <a:off x="714633" y="2414649"/>
            <a:ext cx="14400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Triângulos:</a:t>
            </a:r>
            <a:endParaRPr b="0" i="0" sz="1000" u="none" cap="none" strike="noStrike">
              <a:solidFill>
                <a:schemeClr val="lt1"/>
              </a:solidFill>
              <a:latin typeface="Work Sans"/>
              <a:ea typeface="Work Sans"/>
              <a:cs typeface="Work Sans"/>
              <a:sym typeface="Work Sans"/>
            </a:endParaRPr>
          </a:p>
        </p:txBody>
      </p:sp>
      <p:sp>
        <p:nvSpPr>
          <p:cNvPr id="1108" name="Google Shape;1108;p52"/>
          <p:cNvSpPr txBox="1"/>
          <p:nvPr/>
        </p:nvSpPr>
        <p:spPr>
          <a:xfrm>
            <a:off x="1545115" y="2423352"/>
            <a:ext cx="50400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Polígonos formados por </a:t>
            </a:r>
            <a:r>
              <a:rPr b="1" i="0" lang="pt-BR" sz="1000" u="none" cap="none" strike="noStrike">
                <a:solidFill>
                  <a:schemeClr val="lt1"/>
                </a:solidFill>
                <a:latin typeface="Work Sans"/>
                <a:ea typeface="Work Sans"/>
                <a:cs typeface="Work Sans"/>
                <a:sym typeface="Work Sans"/>
              </a:rPr>
              <a:t>3 </a:t>
            </a:r>
            <a:r>
              <a:rPr b="0" i="0" lang="pt-BR" sz="1000" u="none" cap="none" strike="noStrike">
                <a:solidFill>
                  <a:schemeClr val="lt1"/>
                </a:solidFill>
                <a:latin typeface="Work Sans"/>
                <a:ea typeface="Work Sans"/>
                <a:cs typeface="Work Sans"/>
                <a:sym typeface="Work Sans"/>
              </a:rPr>
              <a:t>segmentos de reta.</a:t>
            </a:r>
            <a:endParaRPr b="0" i="0" sz="1000" u="none" cap="none" strike="noStrike">
              <a:solidFill>
                <a:schemeClr val="lt1"/>
              </a:solidFill>
              <a:latin typeface="Work Sans"/>
              <a:ea typeface="Work Sans"/>
              <a:cs typeface="Work Sans"/>
              <a:sym typeface="Work Sans"/>
            </a:endParaRPr>
          </a:p>
        </p:txBody>
      </p:sp>
      <p:sp>
        <p:nvSpPr>
          <p:cNvPr id="1109" name="Google Shape;1109;p52"/>
          <p:cNvSpPr txBox="1"/>
          <p:nvPr/>
        </p:nvSpPr>
        <p:spPr>
          <a:xfrm>
            <a:off x="712914" y="2965212"/>
            <a:ext cx="21600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Principais Equações:</a:t>
            </a:r>
            <a:endParaRPr b="0" i="0" sz="1000" u="none" cap="none" strike="noStrike">
              <a:solidFill>
                <a:schemeClr val="lt1"/>
              </a:solidFill>
              <a:latin typeface="Work Sans"/>
              <a:ea typeface="Work Sans"/>
              <a:cs typeface="Work Sans"/>
              <a:sym typeface="Work Sans"/>
            </a:endParaRPr>
          </a:p>
        </p:txBody>
      </p:sp>
      <p:sp>
        <p:nvSpPr>
          <p:cNvPr id="1110" name="Google Shape;1110;p52"/>
          <p:cNvSpPr txBox="1"/>
          <p:nvPr/>
        </p:nvSpPr>
        <p:spPr>
          <a:xfrm>
            <a:off x="805898" y="2854180"/>
            <a:ext cx="4651119" cy="757934"/>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latin typeface="Arial"/>
                <a:ea typeface="Arial"/>
                <a:cs typeface="Arial"/>
                <a:sym typeface="Arial"/>
              </a:rPr>
              <a:t> </a:t>
            </a:r>
            <a:endParaRPr/>
          </a:p>
        </p:txBody>
      </p:sp>
      <p:sp>
        <p:nvSpPr>
          <p:cNvPr id="1111" name="Google Shape;1111;p52"/>
          <p:cNvSpPr/>
          <p:nvPr/>
        </p:nvSpPr>
        <p:spPr>
          <a:xfrm>
            <a:off x="6941786" y="2770376"/>
            <a:ext cx="1407705" cy="1683475"/>
          </a:xfrm>
          <a:prstGeom prst="roundRect">
            <a:avLst>
              <a:gd fmla="val 8069"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800"/>
              <a:buFont typeface="Arial"/>
              <a:buNone/>
            </a:pPr>
            <a:r>
              <a:rPr b="1" i="0" lang="pt-BR" sz="1000" u="none" cap="none" strike="noStrike">
                <a:solidFill>
                  <a:schemeClr val="lt1"/>
                </a:solidFill>
                <a:latin typeface="Work Sans"/>
                <a:ea typeface="Work Sans"/>
                <a:cs typeface="Work Sans"/>
                <a:sym typeface="Work Sans"/>
              </a:rPr>
              <a:t>DICA</a:t>
            </a:r>
            <a:endParaRPr b="0" i="0" sz="1000" u="none" cap="none" strike="noStrike">
              <a:solidFill>
                <a:schemeClr val="lt1"/>
              </a:solidFill>
              <a:latin typeface="Work Sans"/>
              <a:ea typeface="Work Sans"/>
              <a:cs typeface="Work Sans"/>
              <a:sym typeface="Work Sans"/>
            </a:endParaRPr>
          </a:p>
          <a:p>
            <a:pPr indent="0" lvl="0" marL="0" marR="0" rtl="0" algn="ctr">
              <a:lnSpc>
                <a:spcPct val="115000"/>
              </a:lnSpc>
              <a:spcBef>
                <a:spcPts val="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Triângulo - 180º</a:t>
            </a:r>
            <a:endParaRPr b="0" i="0" sz="1000" u="none" cap="none" strike="noStrike">
              <a:solidFill>
                <a:schemeClr val="lt1"/>
              </a:solidFill>
              <a:latin typeface="Work Sans"/>
              <a:ea typeface="Work Sans"/>
              <a:cs typeface="Work Sans"/>
              <a:sym typeface="Work Sans"/>
            </a:endParaRPr>
          </a:p>
          <a:p>
            <a:pPr indent="0" lvl="0" marL="0" marR="0" rtl="0" algn="ctr">
              <a:lnSpc>
                <a:spcPct val="115000"/>
              </a:lnSpc>
              <a:spcBef>
                <a:spcPts val="0"/>
              </a:spcBef>
              <a:spcAft>
                <a:spcPts val="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Quadrado - 360º</a:t>
            </a:r>
            <a:endParaRPr b="0" i="0" sz="1000" u="none" cap="none" strike="noStrike">
              <a:solidFill>
                <a:schemeClr val="lt1"/>
              </a:solidFill>
              <a:latin typeface="Work Sans"/>
              <a:ea typeface="Work Sans"/>
              <a:cs typeface="Work Sans"/>
              <a:sym typeface="Work Sans"/>
            </a:endParaRPr>
          </a:p>
          <a:p>
            <a:pPr indent="0" lvl="0" marL="0" marR="0" rtl="0" algn="ctr">
              <a:lnSpc>
                <a:spcPct val="115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a:p>
            <a:pPr indent="0" lvl="0" marL="0" marR="0" rtl="0" algn="ctr">
              <a:lnSpc>
                <a:spcPct val="115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Aumentou 180º</a:t>
            </a:r>
            <a:endParaRPr b="0" i="0" sz="1000" u="none" cap="none" strike="noStrike">
              <a:solidFill>
                <a:schemeClr val="lt1"/>
              </a:solidFill>
              <a:latin typeface="Work Sans"/>
              <a:ea typeface="Work Sans"/>
              <a:cs typeface="Work Sans"/>
              <a:sym typeface="Work Sans"/>
            </a:endParaRPr>
          </a:p>
          <a:p>
            <a:pPr indent="0" lvl="0" marL="0" marR="0" rtl="0" algn="ctr">
              <a:lnSpc>
                <a:spcPct val="115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a:t>
            </a:r>
            <a:endParaRPr b="0" i="0" sz="1000" u="none" cap="none" strike="noStrike">
              <a:solidFill>
                <a:schemeClr val="lt1"/>
              </a:solidFill>
              <a:latin typeface="Work Sans"/>
              <a:ea typeface="Work Sans"/>
              <a:cs typeface="Work Sans"/>
              <a:sym typeface="Work Sans"/>
            </a:endParaRPr>
          </a:p>
          <a:p>
            <a:pPr indent="0" lvl="0" marL="0" marR="0" rtl="0" algn="ctr">
              <a:lnSpc>
                <a:spcPct val="115000"/>
              </a:lnSpc>
              <a:spcBef>
                <a:spcPts val="0"/>
              </a:spcBef>
              <a:spcAft>
                <a:spcPts val="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Aumenta 180º a cada lado</a:t>
            </a:r>
            <a:endParaRPr b="1" i="0" sz="1000" u="none" cap="none" strike="noStrike">
              <a:solidFill>
                <a:schemeClr val="lt1"/>
              </a:solidFill>
              <a:latin typeface="Work Sans"/>
              <a:ea typeface="Work Sans"/>
              <a:cs typeface="Work Sans"/>
              <a:sym typeface="Work Sans"/>
            </a:endParaRPr>
          </a:p>
        </p:txBody>
      </p:sp>
      <p:pic>
        <p:nvPicPr>
          <p:cNvPr id="1112" name="Google Shape;1112;p52"/>
          <p:cNvPicPr preferRelativeResize="0"/>
          <p:nvPr/>
        </p:nvPicPr>
        <p:blipFill rotWithShape="1">
          <a:blip r:embed="rId7">
            <a:alphaModFix/>
          </a:blip>
          <a:srcRect b="0" l="16866" r="9445" t="0"/>
          <a:stretch/>
        </p:blipFill>
        <p:spPr>
          <a:xfrm>
            <a:off x="6729214" y="938753"/>
            <a:ext cx="1832847" cy="1567926"/>
          </a:xfrm>
          <a:prstGeom prst="rect">
            <a:avLst/>
          </a:prstGeom>
          <a:noFill/>
          <a:ln>
            <a:noFill/>
          </a:ln>
        </p:spPr>
      </p:pic>
      <p:pic>
        <p:nvPicPr>
          <p:cNvPr descr="Triângulo Retângulo - Toda Matéria" id="1113" name="Google Shape;1113;p52"/>
          <p:cNvPicPr preferRelativeResize="0"/>
          <p:nvPr/>
        </p:nvPicPr>
        <p:blipFill rotWithShape="1">
          <a:blip r:embed="rId8">
            <a:alphaModFix/>
          </a:blip>
          <a:srcRect b="0" l="0" r="0" t="0"/>
          <a:stretch/>
        </p:blipFill>
        <p:spPr>
          <a:xfrm>
            <a:off x="485084" y="3560216"/>
            <a:ext cx="1226232" cy="931710"/>
          </a:xfrm>
          <a:prstGeom prst="rect">
            <a:avLst/>
          </a:prstGeom>
          <a:noFill/>
          <a:ln>
            <a:noFill/>
          </a:ln>
        </p:spPr>
      </p:pic>
      <p:sp>
        <p:nvSpPr>
          <p:cNvPr id="1114" name="Google Shape;1114;p52"/>
          <p:cNvSpPr txBox="1"/>
          <p:nvPr/>
        </p:nvSpPr>
        <p:spPr>
          <a:xfrm>
            <a:off x="632890" y="4243111"/>
            <a:ext cx="1169957" cy="610393"/>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Retângulo</a:t>
            </a:r>
            <a:endParaRPr b="0" i="0" sz="1000" u="none" cap="none" strike="noStrike">
              <a:solidFill>
                <a:schemeClr val="lt1"/>
              </a:solidFill>
              <a:latin typeface="Work Sans"/>
              <a:ea typeface="Work Sans"/>
              <a:cs typeface="Work Sans"/>
              <a:sym typeface="Work Sans"/>
            </a:endParaRPr>
          </a:p>
        </p:txBody>
      </p:sp>
      <p:sp>
        <p:nvSpPr>
          <p:cNvPr id="1115" name="Google Shape;1115;p52"/>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1000"/>
                                        <p:tgtEl>
                                          <p:spTgt spid="1102"/>
                                        </p:tgtEl>
                                      </p:cBhvr>
                                    </p:animEffect>
                                  </p:childTnLst>
                                </p:cTn>
                              </p:par>
                              <p:par>
                                <p:cTn fill="hold" nodeType="withEffect" presetClass="entr" presetID="10" presetSubtype="0">
                                  <p:stCondLst>
                                    <p:cond delay="0"/>
                                  </p:stCondLst>
                                  <p:childTnLst>
                                    <p:set>
                                      <p:cBhvr>
                                        <p:cTn dur="1" fill="hold">
                                          <p:stCondLst>
                                            <p:cond delay="0"/>
                                          </p:stCondLst>
                                        </p:cTn>
                                        <p:tgtEl>
                                          <p:spTgt spid="1105"/>
                                        </p:tgtEl>
                                        <p:attrNameLst>
                                          <p:attrName>style.visibility</p:attrName>
                                        </p:attrNameLst>
                                      </p:cBhvr>
                                      <p:to>
                                        <p:strVal val="visible"/>
                                      </p:to>
                                    </p:set>
                                    <p:animEffect filter="fade" transition="in">
                                      <p:cBhvr>
                                        <p:cTn dur="1000"/>
                                        <p:tgtEl>
                                          <p:spTgt spid="1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1000"/>
                                        <p:tgtEl>
                                          <p:spTgt spid="1107"/>
                                        </p:tgtEl>
                                      </p:cBhvr>
                                    </p:animEffect>
                                  </p:childTnLst>
                                </p:cTn>
                              </p:par>
                              <p:par>
                                <p:cTn fill="hold" nodeType="with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1000"/>
                                        <p:tgtEl>
                                          <p:spTgt spid="1108"/>
                                        </p:tgtEl>
                                      </p:cBhvr>
                                    </p:animEffect>
                                  </p:childTnLst>
                                </p:cTn>
                              </p:par>
                              <p:par>
                                <p:cTn fill="hold" nodeType="with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500"/>
                                        <p:tgtEl>
                                          <p:spTgt spid="1113"/>
                                        </p:tgtEl>
                                      </p:cBhvr>
                                    </p:animEffect>
                                  </p:childTnLst>
                                </p:cTn>
                              </p:par>
                              <p:par>
                                <p:cTn fill="hold" nodeType="with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1000"/>
                                        <p:tgtEl>
                                          <p:spTgt spid="1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1000"/>
                                        <p:tgtEl>
                                          <p:spTgt spid="1109"/>
                                        </p:tgtEl>
                                      </p:cBhvr>
                                    </p:animEffect>
                                  </p:childTnLst>
                                </p:cTn>
                              </p:par>
                              <p:par>
                                <p:cTn fill="hold" nodeType="with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1000"/>
                                        <p:tgtEl>
                                          <p:spTgt spid="1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1000"/>
                                        <p:tgtEl>
                                          <p:spTgt spid="1103"/>
                                        </p:tgtEl>
                                      </p:cBhvr>
                                    </p:animEffect>
                                  </p:childTnLst>
                                </p:cTn>
                              </p:par>
                              <p:par>
                                <p:cTn fill="hold" nodeType="with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1000"/>
                                        <p:tgtEl>
                                          <p:spTgt spid="1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1000"/>
                                        <p:tgtEl>
                                          <p:spTgt spid="1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53"/>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1121" name="Google Shape;1121;p53"/>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1122" name="Google Shape;1122;p53"/>
          <p:cNvSpPr txBox="1"/>
          <p:nvPr/>
        </p:nvSpPr>
        <p:spPr>
          <a:xfrm>
            <a:off x="722375" y="1130896"/>
            <a:ext cx="1454400"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Definição:</a:t>
            </a:r>
            <a:endParaRPr b="0" i="0" sz="1000" u="none" cap="none" strike="noStrike">
              <a:solidFill>
                <a:schemeClr val="lt1"/>
              </a:solidFill>
              <a:latin typeface="Work Sans"/>
              <a:ea typeface="Work Sans"/>
              <a:cs typeface="Work Sans"/>
              <a:sym typeface="Work Sans"/>
            </a:endParaRPr>
          </a:p>
        </p:txBody>
      </p:sp>
      <p:sp>
        <p:nvSpPr>
          <p:cNvPr id="1123" name="Google Shape;1123;p53"/>
          <p:cNvSpPr txBox="1"/>
          <p:nvPr/>
        </p:nvSpPr>
        <p:spPr>
          <a:xfrm>
            <a:off x="722375" y="1670896"/>
            <a:ext cx="2504727" cy="595004"/>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Principais Elementos e Equações:</a:t>
            </a:r>
            <a:endParaRPr b="0" i="0" sz="1000" u="none" cap="none" strike="noStrike">
              <a:solidFill>
                <a:schemeClr val="lt1"/>
              </a:solidFill>
              <a:latin typeface="Work Sans"/>
              <a:ea typeface="Work Sans"/>
              <a:cs typeface="Work Sans"/>
              <a:sym typeface="Work Sans"/>
            </a:endParaRPr>
          </a:p>
        </p:txBody>
      </p:sp>
      <p:sp>
        <p:nvSpPr>
          <p:cNvPr id="1124" name="Google Shape;1124;p53"/>
          <p:cNvSpPr txBox="1"/>
          <p:nvPr/>
        </p:nvSpPr>
        <p:spPr>
          <a:xfrm>
            <a:off x="1494695" y="1258268"/>
            <a:ext cx="82800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Conjuntos de pontos de um plano localizados a mesma distância de um ponto comum (centro).</a:t>
            </a:r>
            <a:endParaRPr b="0" i="0" sz="1000" u="none" cap="none" strike="noStrike">
              <a:solidFill>
                <a:schemeClr val="lt1"/>
              </a:solidFill>
              <a:latin typeface="Work Sans"/>
              <a:ea typeface="Work Sans"/>
              <a:cs typeface="Work Sans"/>
              <a:sym typeface="Work Sans"/>
            </a:endParaRPr>
          </a:p>
        </p:txBody>
      </p:sp>
      <p:grpSp>
        <p:nvGrpSpPr>
          <p:cNvPr id="1125" name="Google Shape;1125;p53"/>
          <p:cNvGrpSpPr/>
          <p:nvPr/>
        </p:nvGrpSpPr>
        <p:grpSpPr>
          <a:xfrm>
            <a:off x="271050" y="2340004"/>
            <a:ext cx="2160000" cy="662154"/>
            <a:chOff x="1620000" y="2160000"/>
            <a:chExt cx="2160000" cy="684000"/>
          </a:xfrm>
        </p:grpSpPr>
        <p:pic>
          <p:nvPicPr>
            <p:cNvPr id="1126" name="Google Shape;1126;p53"/>
            <p:cNvPicPr preferRelativeResize="0"/>
            <p:nvPr/>
          </p:nvPicPr>
          <p:blipFill rotWithShape="1">
            <a:blip r:embed="rId3">
              <a:alphaModFix/>
            </a:blip>
            <a:srcRect b="0" l="0" r="0" t="0"/>
            <a:stretch/>
          </p:blipFill>
          <p:spPr>
            <a:xfrm>
              <a:off x="2145600" y="2592000"/>
              <a:ext cx="1108800" cy="252000"/>
            </a:xfrm>
            <a:prstGeom prst="rect">
              <a:avLst/>
            </a:prstGeom>
            <a:noFill/>
            <a:ln>
              <a:noFill/>
            </a:ln>
          </p:spPr>
        </p:pic>
        <p:sp>
          <p:nvSpPr>
            <p:cNvPr id="1127" name="Google Shape;1127;p53"/>
            <p:cNvSpPr txBox="1"/>
            <p:nvPr/>
          </p:nvSpPr>
          <p:spPr>
            <a:xfrm>
              <a:off x="1620000" y="2160000"/>
              <a:ext cx="2160000" cy="384900"/>
            </a:xfrm>
            <a:prstGeom prst="rect">
              <a:avLst/>
            </a:prstGeom>
            <a:noFill/>
            <a:ln>
              <a:noFill/>
            </a:ln>
          </p:spPr>
          <p:txBody>
            <a:bodyPr anchorCtr="0" anchor="ctr" bIns="91450" lIns="91450" spcFirstLastPara="1" rIns="91450" wrap="square" tIns="91450">
              <a:no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Área</a:t>
              </a:r>
              <a:endParaRPr b="1" i="0" sz="1000" u="none" cap="none" strike="noStrike">
                <a:solidFill>
                  <a:schemeClr val="lt1"/>
                </a:solidFill>
                <a:latin typeface="Work Sans"/>
                <a:ea typeface="Work Sans"/>
                <a:cs typeface="Work Sans"/>
                <a:sym typeface="Work Sans"/>
              </a:endParaRPr>
            </a:p>
          </p:txBody>
        </p:sp>
      </p:grpSp>
      <p:grpSp>
        <p:nvGrpSpPr>
          <p:cNvPr id="1128" name="Google Shape;1128;p53"/>
          <p:cNvGrpSpPr/>
          <p:nvPr/>
        </p:nvGrpSpPr>
        <p:grpSpPr>
          <a:xfrm>
            <a:off x="271050" y="3494163"/>
            <a:ext cx="2160000" cy="662154"/>
            <a:chOff x="1620000" y="3420000"/>
            <a:chExt cx="2160000" cy="684000"/>
          </a:xfrm>
        </p:grpSpPr>
        <p:pic>
          <p:nvPicPr>
            <p:cNvPr id="1129" name="Google Shape;1129;p53"/>
            <p:cNvPicPr preferRelativeResize="0"/>
            <p:nvPr/>
          </p:nvPicPr>
          <p:blipFill rotWithShape="1">
            <a:blip r:embed="rId4">
              <a:alphaModFix/>
            </a:blip>
            <a:srcRect b="0" l="0" r="0" t="0"/>
            <a:stretch/>
          </p:blipFill>
          <p:spPr>
            <a:xfrm>
              <a:off x="2135800" y="3852000"/>
              <a:ext cx="1128400" cy="252000"/>
            </a:xfrm>
            <a:prstGeom prst="rect">
              <a:avLst/>
            </a:prstGeom>
            <a:noFill/>
            <a:ln>
              <a:noFill/>
            </a:ln>
          </p:spPr>
        </p:pic>
        <p:sp>
          <p:nvSpPr>
            <p:cNvPr id="1130" name="Google Shape;1130;p53"/>
            <p:cNvSpPr txBox="1"/>
            <p:nvPr/>
          </p:nvSpPr>
          <p:spPr>
            <a:xfrm>
              <a:off x="1620000" y="3420000"/>
              <a:ext cx="2160000" cy="384900"/>
            </a:xfrm>
            <a:prstGeom prst="rect">
              <a:avLst/>
            </a:prstGeom>
            <a:noFill/>
            <a:ln>
              <a:noFill/>
            </a:ln>
          </p:spPr>
          <p:txBody>
            <a:bodyPr anchorCtr="0" anchor="ctr" bIns="91450" lIns="91450" spcFirstLastPara="1" rIns="91450" wrap="square" tIns="91450">
              <a:no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chemeClr val="lt1"/>
                  </a:solidFill>
                  <a:latin typeface="Work Sans"/>
                  <a:ea typeface="Work Sans"/>
                  <a:cs typeface="Work Sans"/>
                  <a:sym typeface="Work Sans"/>
                </a:rPr>
                <a:t>Circunferência</a:t>
              </a:r>
              <a:endParaRPr b="1" i="0" sz="1000" u="none" cap="none" strike="noStrike">
                <a:solidFill>
                  <a:schemeClr val="lt1"/>
                </a:solidFill>
                <a:latin typeface="Work Sans"/>
                <a:ea typeface="Work Sans"/>
                <a:cs typeface="Work Sans"/>
                <a:sym typeface="Work Sans"/>
              </a:endParaRPr>
            </a:p>
          </p:txBody>
        </p:sp>
      </p:grpSp>
      <p:pic>
        <p:nvPicPr>
          <p:cNvPr id="1131" name="Google Shape;1131;p53"/>
          <p:cNvPicPr preferRelativeResize="0"/>
          <p:nvPr/>
        </p:nvPicPr>
        <p:blipFill rotWithShape="1">
          <a:blip r:embed="rId5">
            <a:alphaModFix/>
          </a:blip>
          <a:srcRect b="0" l="0" r="4997" t="10976"/>
          <a:stretch/>
        </p:blipFill>
        <p:spPr>
          <a:xfrm>
            <a:off x="3018540" y="2136792"/>
            <a:ext cx="2616155" cy="2310581"/>
          </a:xfrm>
          <a:prstGeom prst="rect">
            <a:avLst/>
          </a:prstGeom>
          <a:noFill/>
          <a:ln>
            <a:noFill/>
          </a:ln>
        </p:spPr>
      </p:pic>
      <p:grpSp>
        <p:nvGrpSpPr>
          <p:cNvPr id="1132" name="Google Shape;1132;p53"/>
          <p:cNvGrpSpPr/>
          <p:nvPr/>
        </p:nvGrpSpPr>
        <p:grpSpPr>
          <a:xfrm>
            <a:off x="6261625" y="2269317"/>
            <a:ext cx="2160000" cy="871255"/>
            <a:chOff x="1620000" y="4500000"/>
            <a:chExt cx="2160000" cy="900000"/>
          </a:xfrm>
        </p:grpSpPr>
        <p:pic>
          <p:nvPicPr>
            <p:cNvPr id="1133" name="Google Shape;1133;p53"/>
            <p:cNvPicPr preferRelativeResize="0"/>
            <p:nvPr/>
          </p:nvPicPr>
          <p:blipFill rotWithShape="1">
            <a:blip r:embed="rId6">
              <a:alphaModFix/>
            </a:blip>
            <a:srcRect b="0" l="0" r="0" t="0"/>
            <a:stretch/>
          </p:blipFill>
          <p:spPr>
            <a:xfrm>
              <a:off x="1859550" y="4932000"/>
              <a:ext cx="1680900" cy="468000"/>
            </a:xfrm>
            <a:prstGeom prst="rect">
              <a:avLst/>
            </a:prstGeom>
            <a:noFill/>
            <a:ln>
              <a:noFill/>
            </a:ln>
          </p:spPr>
        </p:pic>
        <p:sp>
          <p:nvSpPr>
            <p:cNvPr id="1134" name="Google Shape;1134;p53"/>
            <p:cNvSpPr txBox="1"/>
            <p:nvPr/>
          </p:nvSpPr>
          <p:spPr>
            <a:xfrm>
              <a:off x="1620000" y="4500000"/>
              <a:ext cx="2160000" cy="384900"/>
            </a:xfrm>
            <a:prstGeom prst="rect">
              <a:avLst/>
            </a:prstGeom>
            <a:noFill/>
            <a:ln>
              <a:noFill/>
            </a:ln>
          </p:spPr>
          <p:txBody>
            <a:bodyPr anchorCtr="0" anchor="ctr" bIns="91450" lIns="91450" spcFirstLastPara="1" rIns="91450" wrap="square" tIns="91450">
              <a:noAutofit/>
            </a:bodyPr>
            <a:lstStyle/>
            <a:p>
              <a:pPr indent="0" lvl="0" marL="0" marR="0" rtl="0" algn="ctr">
                <a:lnSpc>
                  <a:spcPct val="100000"/>
                </a:lnSpc>
                <a:spcBef>
                  <a:spcPts val="0"/>
                </a:spcBef>
                <a:spcAft>
                  <a:spcPts val="0"/>
                </a:spcAft>
                <a:buClr>
                  <a:schemeClr val="dk1"/>
                </a:buClr>
                <a:buSzPts val="2400"/>
                <a:buFont typeface="Arial"/>
                <a:buNone/>
              </a:pPr>
              <a:r>
                <a:rPr b="1" i="0" lang="pt-BR" sz="1000" u="none" cap="none" strike="noStrike">
                  <a:solidFill>
                    <a:schemeClr val="lt1"/>
                  </a:solidFill>
                  <a:latin typeface="Work Sans"/>
                  <a:ea typeface="Work Sans"/>
                  <a:cs typeface="Work Sans"/>
                  <a:sym typeface="Work Sans"/>
                </a:rPr>
                <a:t>Arco</a:t>
              </a:r>
              <a:endParaRPr b="1" i="0" sz="1000" u="none" cap="none" strike="noStrike">
                <a:solidFill>
                  <a:schemeClr val="lt1"/>
                </a:solidFill>
                <a:latin typeface="Work Sans"/>
                <a:ea typeface="Work Sans"/>
                <a:cs typeface="Work Sans"/>
                <a:sym typeface="Work Sans"/>
              </a:endParaRPr>
            </a:p>
          </p:txBody>
        </p:sp>
      </p:grpSp>
      <p:grpSp>
        <p:nvGrpSpPr>
          <p:cNvPr id="1135" name="Google Shape;1135;p53"/>
          <p:cNvGrpSpPr/>
          <p:nvPr/>
        </p:nvGrpSpPr>
        <p:grpSpPr>
          <a:xfrm>
            <a:off x="6261625" y="3494163"/>
            <a:ext cx="2160000" cy="871255"/>
            <a:chOff x="8640000" y="3780000"/>
            <a:chExt cx="2160000" cy="900000"/>
          </a:xfrm>
        </p:grpSpPr>
        <p:pic>
          <p:nvPicPr>
            <p:cNvPr id="1136" name="Google Shape;1136;p53"/>
            <p:cNvPicPr preferRelativeResize="0"/>
            <p:nvPr/>
          </p:nvPicPr>
          <p:blipFill rotWithShape="1">
            <a:blip r:embed="rId7">
              <a:alphaModFix/>
            </a:blip>
            <a:srcRect b="0" l="0" r="0" t="0"/>
            <a:stretch/>
          </p:blipFill>
          <p:spPr>
            <a:xfrm>
              <a:off x="8859063" y="4212000"/>
              <a:ext cx="1721887" cy="468000"/>
            </a:xfrm>
            <a:prstGeom prst="rect">
              <a:avLst/>
            </a:prstGeom>
            <a:noFill/>
            <a:ln>
              <a:noFill/>
            </a:ln>
          </p:spPr>
        </p:pic>
        <p:sp>
          <p:nvSpPr>
            <p:cNvPr id="1137" name="Google Shape;1137;p53"/>
            <p:cNvSpPr txBox="1"/>
            <p:nvPr/>
          </p:nvSpPr>
          <p:spPr>
            <a:xfrm>
              <a:off x="8640000" y="3780000"/>
              <a:ext cx="2160000" cy="384900"/>
            </a:xfrm>
            <a:prstGeom prst="rect">
              <a:avLst/>
            </a:prstGeom>
            <a:noFill/>
            <a:ln>
              <a:noFill/>
            </a:ln>
          </p:spPr>
          <p:txBody>
            <a:bodyPr anchorCtr="0" anchor="ctr" bIns="91450" lIns="91450" spcFirstLastPara="1" rIns="91450" wrap="square" tIns="91450">
              <a:noAutofit/>
            </a:bodyPr>
            <a:lstStyle/>
            <a:p>
              <a:pPr indent="0" lvl="0" marL="0" marR="0" rtl="0" algn="ctr">
                <a:lnSpc>
                  <a:spcPct val="100000"/>
                </a:lnSpc>
                <a:spcBef>
                  <a:spcPts val="0"/>
                </a:spcBef>
                <a:spcAft>
                  <a:spcPts val="0"/>
                </a:spcAft>
                <a:buClr>
                  <a:schemeClr val="dk1"/>
                </a:buClr>
                <a:buSzPts val="2400"/>
                <a:buFont typeface="Arial"/>
                <a:buNone/>
              </a:pPr>
              <a:r>
                <a:rPr b="1" i="0" lang="pt-BR" sz="1000" u="none" cap="none" strike="noStrike">
                  <a:solidFill>
                    <a:schemeClr val="lt1"/>
                  </a:solidFill>
                  <a:latin typeface="Work Sans"/>
                  <a:ea typeface="Work Sans"/>
                  <a:cs typeface="Work Sans"/>
                  <a:sym typeface="Work Sans"/>
                </a:rPr>
                <a:t>Setor</a:t>
              </a:r>
              <a:endParaRPr b="1" i="0" sz="1000" u="none" cap="none" strike="noStrike">
                <a:solidFill>
                  <a:schemeClr val="lt1"/>
                </a:solidFill>
                <a:latin typeface="Work Sans"/>
                <a:ea typeface="Work Sans"/>
                <a:cs typeface="Work Sans"/>
                <a:sym typeface="Work Sans"/>
              </a:endParaRPr>
            </a:p>
          </p:txBody>
        </p:sp>
      </p:grpSp>
      <p:sp>
        <p:nvSpPr>
          <p:cNvPr id="1138" name="Google Shape;1138;p53"/>
          <p:cNvSpPr txBox="1"/>
          <p:nvPr/>
        </p:nvSpPr>
        <p:spPr>
          <a:xfrm>
            <a:off x="734787" y="888243"/>
            <a:ext cx="3479073" cy="397001"/>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Círculos e circunferências</a:t>
            </a:r>
            <a:endParaRPr b="1" i="0" sz="1200" u="none" cap="none" strike="noStrike">
              <a:solidFill>
                <a:schemeClr val="lt1"/>
              </a:solidFill>
              <a:latin typeface="Work Sans"/>
              <a:ea typeface="Work Sans"/>
              <a:cs typeface="Work Sans"/>
              <a:sym typeface="Work Sans"/>
            </a:endParaRPr>
          </a:p>
        </p:txBody>
      </p:sp>
      <p:sp>
        <p:nvSpPr>
          <p:cNvPr id="1139" name="Google Shape;1139;p53"/>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1000"/>
                                        <p:tgtEl>
                                          <p:spTgt spid="1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gtEl>
                                        <p:attrNameLst>
                                          <p:attrName>style.visibility</p:attrName>
                                        </p:attrNameLst>
                                      </p:cBhvr>
                                      <p:to>
                                        <p:strVal val="visible"/>
                                      </p:to>
                                    </p:set>
                                    <p:animEffect filter="fade" transition="in">
                                      <p:cBhvr>
                                        <p:cTn dur="1000"/>
                                        <p:tgtEl>
                                          <p:spTgt spid="1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5"/>
                                        </p:tgtEl>
                                        <p:attrNameLst>
                                          <p:attrName>style.visibility</p:attrName>
                                        </p:attrNameLst>
                                      </p:cBhvr>
                                      <p:to>
                                        <p:strVal val="visible"/>
                                      </p:to>
                                    </p:set>
                                    <p:animEffect filter="fade" transition="in">
                                      <p:cBhvr>
                                        <p:cTn dur="1000"/>
                                        <p:tgtEl>
                                          <p:spTgt spid="1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8"/>
                                        </p:tgtEl>
                                        <p:attrNameLst>
                                          <p:attrName>style.visibility</p:attrName>
                                        </p:attrNameLst>
                                      </p:cBhvr>
                                      <p:to>
                                        <p:strVal val="visible"/>
                                      </p:to>
                                    </p:set>
                                    <p:animEffect filter="fade" transition="in">
                                      <p:cBhvr>
                                        <p:cTn dur="1000"/>
                                        <p:tgtEl>
                                          <p:spTgt spid="1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2"/>
                                        </p:tgtEl>
                                        <p:attrNameLst>
                                          <p:attrName>style.visibility</p:attrName>
                                        </p:attrNameLst>
                                      </p:cBhvr>
                                      <p:to>
                                        <p:strVal val="visible"/>
                                      </p:to>
                                    </p:set>
                                    <p:animEffect filter="fade" transition="in">
                                      <p:cBhvr>
                                        <p:cTn dur="1000"/>
                                        <p:tgtEl>
                                          <p:spTgt spid="1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gtEl>
                                        <p:attrNameLst>
                                          <p:attrName>style.visibility</p:attrName>
                                        </p:attrNameLst>
                                      </p:cBhvr>
                                      <p:to>
                                        <p:strVal val="visible"/>
                                      </p:to>
                                    </p:set>
                                    <p:animEffect filter="fade" transition="in">
                                      <p:cBhvr>
                                        <p:cTn dur="1000"/>
                                        <p:tgtEl>
                                          <p:spTgt spid="1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54"/>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1145" name="Google Shape;1145;p54"/>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1146" name="Google Shape;1146;p54"/>
          <p:cNvSpPr txBox="1"/>
          <p:nvPr/>
        </p:nvSpPr>
        <p:spPr>
          <a:xfrm>
            <a:off x="734787" y="888243"/>
            <a:ext cx="3479073" cy="397001"/>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200" u="none" cap="none" strike="noStrike">
                <a:solidFill>
                  <a:schemeClr val="lt1"/>
                </a:solidFill>
                <a:latin typeface="Work Sans"/>
                <a:ea typeface="Work Sans"/>
                <a:cs typeface="Work Sans"/>
                <a:sym typeface="Work Sans"/>
              </a:rPr>
              <a:t>Círculos e circunferências</a:t>
            </a:r>
            <a:endParaRPr b="1" i="0" sz="1200" u="none" cap="none" strike="noStrike">
              <a:solidFill>
                <a:schemeClr val="lt1"/>
              </a:solidFill>
              <a:latin typeface="Work Sans"/>
              <a:ea typeface="Work Sans"/>
              <a:cs typeface="Work Sans"/>
              <a:sym typeface="Work Sans"/>
            </a:endParaRPr>
          </a:p>
        </p:txBody>
      </p:sp>
      <p:sp>
        <p:nvSpPr>
          <p:cNvPr id="1147" name="Google Shape;1147;p54"/>
          <p:cNvSpPr txBox="1"/>
          <p:nvPr/>
        </p:nvSpPr>
        <p:spPr>
          <a:xfrm>
            <a:off x="380445" y="1783833"/>
            <a:ext cx="9720000" cy="209413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latin typeface="Arial"/>
                <a:ea typeface="Arial"/>
                <a:cs typeface="Arial"/>
                <a:sym typeface="Arial"/>
              </a:rPr>
              <a:t> </a:t>
            </a:r>
            <a:endParaRPr/>
          </a:p>
        </p:txBody>
      </p:sp>
      <p:sp>
        <p:nvSpPr>
          <p:cNvPr id="1148" name="Google Shape;1148;p54"/>
          <p:cNvSpPr txBox="1"/>
          <p:nvPr/>
        </p:nvSpPr>
        <p:spPr>
          <a:xfrm>
            <a:off x="734787" y="1285244"/>
            <a:ext cx="1332000" cy="379304"/>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100" u="none" cap="none" strike="noStrike">
                <a:solidFill>
                  <a:schemeClr val="lt1"/>
                </a:solidFill>
                <a:latin typeface="Work Sans"/>
                <a:ea typeface="Work Sans"/>
                <a:cs typeface="Work Sans"/>
                <a:sym typeface="Work Sans"/>
              </a:rPr>
              <a:t>Exemplo 7</a:t>
            </a:r>
            <a:endParaRPr b="0" i="0" sz="1100" u="none" cap="none" strike="noStrike">
              <a:solidFill>
                <a:schemeClr val="lt1"/>
              </a:solidFill>
              <a:latin typeface="Work Sans"/>
              <a:ea typeface="Work Sans"/>
              <a:cs typeface="Work Sans"/>
              <a:sym typeface="Work Sans"/>
            </a:endParaRPr>
          </a:p>
        </p:txBody>
      </p:sp>
      <p:sp>
        <p:nvSpPr>
          <p:cNvPr id="1149" name="Google Shape;1149;p54"/>
          <p:cNvSpPr txBox="1"/>
          <p:nvPr/>
        </p:nvSpPr>
        <p:spPr>
          <a:xfrm>
            <a:off x="1689819" y="2252837"/>
            <a:ext cx="2957694" cy="90278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Considerações do Triângulo</a:t>
            </a:r>
            <a:endParaRPr b="0" i="0" sz="1000" u="none" cap="none" strike="noStrike">
              <a:solidFill>
                <a:schemeClr val="lt1"/>
              </a:solidFill>
              <a:latin typeface="Work Sans"/>
              <a:ea typeface="Work Sans"/>
              <a:cs typeface="Work Sans"/>
              <a:sym typeface="Work Sans"/>
            </a:endParaRPr>
          </a:p>
          <a:p>
            <a:pPr indent="-311150" lvl="0" marL="457200" marR="0" rtl="0" algn="just">
              <a:lnSpc>
                <a:spcPct val="100000"/>
              </a:lnSpc>
              <a:spcBef>
                <a:spcPts val="1000"/>
              </a:spcBef>
              <a:spcAft>
                <a:spcPts val="0"/>
              </a:spcAft>
              <a:buClr>
                <a:schemeClr val="dk1"/>
              </a:buClr>
              <a:buSzPts val="1300"/>
              <a:buFont typeface="Montserrat"/>
              <a:buChar char="●"/>
            </a:pPr>
            <a:r>
              <a:rPr b="0" i="0" lang="pt-BR" sz="1000" u="none" cap="none" strike="noStrike">
                <a:solidFill>
                  <a:schemeClr val="lt1"/>
                </a:solidFill>
                <a:latin typeface="Work Sans"/>
                <a:ea typeface="Work Sans"/>
                <a:cs typeface="Work Sans"/>
                <a:sym typeface="Work Sans"/>
              </a:rPr>
              <a:t>aresta = diâmetro (equilátero)</a:t>
            </a:r>
            <a:endParaRPr b="0" i="0" sz="1000" u="none" cap="none" strike="noStrike">
              <a:solidFill>
                <a:schemeClr val="lt1"/>
              </a:solidFill>
              <a:latin typeface="Work Sans"/>
              <a:ea typeface="Work Sans"/>
              <a:cs typeface="Work Sans"/>
              <a:sym typeface="Work Sans"/>
            </a:endParaRPr>
          </a:p>
          <a:p>
            <a:pPr indent="-311150" lvl="0" marL="457200" marR="0" rtl="0" algn="just">
              <a:lnSpc>
                <a:spcPct val="100000"/>
              </a:lnSpc>
              <a:spcBef>
                <a:spcPts val="0"/>
              </a:spcBef>
              <a:spcAft>
                <a:spcPts val="0"/>
              </a:spcAft>
              <a:buClr>
                <a:schemeClr val="dk1"/>
              </a:buClr>
              <a:buSzPts val="1300"/>
              <a:buFont typeface="Montserrat"/>
              <a:buChar char="●"/>
            </a:pPr>
            <a:r>
              <a:rPr b="0" i="0" lang="pt-BR" sz="1000" u="none" cap="none" strike="noStrike">
                <a:solidFill>
                  <a:schemeClr val="lt1"/>
                </a:solidFill>
                <a:latin typeface="Work Sans"/>
                <a:ea typeface="Work Sans"/>
                <a:cs typeface="Work Sans"/>
                <a:sym typeface="Work Sans"/>
              </a:rPr>
              <a:t>ângulo dos setores circulares = 60º</a:t>
            </a:r>
            <a:endParaRPr b="0" i="0" sz="1000" u="none" cap="none" strike="noStrike">
              <a:solidFill>
                <a:schemeClr val="lt1"/>
              </a:solidFill>
              <a:latin typeface="Work Sans"/>
              <a:ea typeface="Work Sans"/>
              <a:cs typeface="Work Sans"/>
              <a:sym typeface="Work Sans"/>
            </a:endParaRPr>
          </a:p>
        </p:txBody>
      </p:sp>
      <p:sp>
        <p:nvSpPr>
          <p:cNvPr id="1150" name="Google Shape;1150;p54"/>
          <p:cNvSpPr txBox="1"/>
          <p:nvPr/>
        </p:nvSpPr>
        <p:spPr>
          <a:xfrm>
            <a:off x="5163555" y="2200557"/>
            <a:ext cx="3600000" cy="59500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1000"/>
              </a:spcAft>
              <a:buClr>
                <a:schemeClr val="dk1"/>
              </a:buClr>
              <a:buSzPts val="1600"/>
              <a:buFont typeface="Arial"/>
              <a:buNone/>
            </a:pPr>
            <a:r>
              <a:rPr b="1" i="0" lang="pt-BR" sz="1000" u="none" cap="none" strike="noStrike">
                <a:solidFill>
                  <a:schemeClr val="lt1"/>
                </a:solidFill>
                <a:latin typeface="Work Sans"/>
                <a:ea typeface="Work Sans"/>
                <a:cs typeface="Work Sans"/>
                <a:sym typeface="Work Sans"/>
              </a:rPr>
              <a:t>A</a:t>
            </a:r>
            <a:r>
              <a:rPr b="1" baseline="-25000" i="0" lang="pt-BR" sz="1000" u="none" cap="none" strike="noStrike">
                <a:solidFill>
                  <a:schemeClr val="lt1"/>
                </a:solidFill>
                <a:latin typeface="Work Sans"/>
                <a:ea typeface="Work Sans"/>
                <a:cs typeface="Work Sans"/>
                <a:sym typeface="Work Sans"/>
              </a:rPr>
              <a:t>shaded</a:t>
            </a:r>
            <a:r>
              <a:rPr b="1" i="0" lang="pt-BR" sz="1000" u="none" cap="none" strike="noStrike">
                <a:solidFill>
                  <a:schemeClr val="lt1"/>
                </a:solidFill>
                <a:latin typeface="Work Sans"/>
                <a:ea typeface="Work Sans"/>
                <a:cs typeface="Work Sans"/>
                <a:sym typeface="Work Sans"/>
              </a:rPr>
              <a:t> = A</a:t>
            </a:r>
            <a:r>
              <a:rPr b="1" baseline="-25000" i="0" lang="pt-BR" sz="1000" u="none" cap="none" strike="noStrike">
                <a:solidFill>
                  <a:schemeClr val="lt1"/>
                </a:solidFill>
                <a:latin typeface="Work Sans"/>
                <a:ea typeface="Work Sans"/>
                <a:cs typeface="Work Sans"/>
                <a:sym typeface="Work Sans"/>
              </a:rPr>
              <a:t>triangle</a:t>
            </a:r>
            <a:r>
              <a:rPr b="1" i="0" lang="pt-BR" sz="1000" u="none" cap="none" strike="noStrike">
                <a:solidFill>
                  <a:schemeClr val="lt1"/>
                </a:solidFill>
                <a:latin typeface="Work Sans"/>
                <a:ea typeface="Work Sans"/>
                <a:cs typeface="Work Sans"/>
                <a:sym typeface="Work Sans"/>
              </a:rPr>
              <a:t> - A</a:t>
            </a:r>
            <a:r>
              <a:rPr b="1" baseline="-25000" i="0" lang="pt-BR" sz="1000" u="none" cap="none" strike="noStrike">
                <a:solidFill>
                  <a:schemeClr val="lt1"/>
                </a:solidFill>
                <a:latin typeface="Work Sans"/>
                <a:ea typeface="Work Sans"/>
                <a:cs typeface="Work Sans"/>
                <a:sym typeface="Work Sans"/>
              </a:rPr>
              <a:t>circular sectors</a:t>
            </a:r>
            <a:endParaRPr b="1" i="0" sz="1000" u="none" cap="none" strike="noStrike">
              <a:solidFill>
                <a:schemeClr val="lt1"/>
              </a:solidFill>
              <a:latin typeface="Work Sans"/>
              <a:ea typeface="Work Sans"/>
              <a:cs typeface="Work Sans"/>
              <a:sym typeface="Work Sans"/>
            </a:endParaRPr>
          </a:p>
        </p:txBody>
      </p:sp>
      <p:sp>
        <p:nvSpPr>
          <p:cNvPr id="1151" name="Google Shape;1151;p54"/>
          <p:cNvSpPr txBox="1"/>
          <p:nvPr/>
        </p:nvSpPr>
        <p:spPr>
          <a:xfrm>
            <a:off x="4803555" y="2596195"/>
            <a:ext cx="4320000" cy="59500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100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A</a:t>
            </a:r>
            <a:r>
              <a:rPr b="0" baseline="-25000" i="0" lang="pt-BR" sz="1000" u="none" cap="none" strike="noStrike">
                <a:solidFill>
                  <a:schemeClr val="lt1"/>
                </a:solidFill>
                <a:latin typeface="Work Sans"/>
                <a:ea typeface="Work Sans"/>
                <a:cs typeface="Work Sans"/>
                <a:sym typeface="Work Sans"/>
              </a:rPr>
              <a:t>circular sectors</a:t>
            </a:r>
            <a:r>
              <a:rPr b="0" i="0" lang="pt-BR" sz="1000" u="none" cap="none" strike="noStrike">
                <a:solidFill>
                  <a:schemeClr val="lt1"/>
                </a:solidFill>
                <a:latin typeface="Work Sans"/>
                <a:ea typeface="Work Sans"/>
                <a:cs typeface="Work Sans"/>
                <a:sym typeface="Work Sans"/>
              </a:rPr>
              <a:t> = 3 * A</a:t>
            </a:r>
            <a:r>
              <a:rPr b="0" baseline="-25000" i="0" lang="pt-BR" sz="1000" u="none" cap="none" strike="noStrike">
                <a:solidFill>
                  <a:schemeClr val="lt1"/>
                </a:solidFill>
                <a:latin typeface="Work Sans"/>
                <a:ea typeface="Work Sans"/>
                <a:cs typeface="Work Sans"/>
                <a:sym typeface="Work Sans"/>
              </a:rPr>
              <a:t>60º circular sector</a:t>
            </a:r>
            <a:r>
              <a:rPr b="0" i="0" lang="pt-BR" sz="1000" u="none" cap="none" strike="noStrike">
                <a:solidFill>
                  <a:schemeClr val="lt1"/>
                </a:solidFill>
                <a:latin typeface="Work Sans"/>
                <a:ea typeface="Work Sans"/>
                <a:cs typeface="Work Sans"/>
                <a:sym typeface="Work Sans"/>
              </a:rPr>
              <a:t> = 3 (A</a:t>
            </a:r>
            <a:r>
              <a:rPr b="0" baseline="-25000" i="0" lang="pt-BR" sz="1000" u="none" cap="none" strike="noStrike">
                <a:solidFill>
                  <a:schemeClr val="lt1"/>
                </a:solidFill>
                <a:latin typeface="Work Sans"/>
                <a:ea typeface="Work Sans"/>
                <a:cs typeface="Work Sans"/>
                <a:sym typeface="Work Sans"/>
              </a:rPr>
              <a:t>circle</a:t>
            </a:r>
            <a:r>
              <a:rPr b="0" i="0" lang="pt-BR" sz="1000" u="none" cap="none" strike="noStrike">
                <a:solidFill>
                  <a:schemeClr val="lt1"/>
                </a:solidFill>
                <a:latin typeface="Work Sans"/>
                <a:ea typeface="Work Sans"/>
                <a:cs typeface="Work Sans"/>
                <a:sym typeface="Work Sans"/>
              </a:rPr>
              <a:t> * 60/360)</a:t>
            </a:r>
            <a:endParaRPr b="0" i="0" sz="1000" u="none" cap="none" strike="noStrike">
              <a:solidFill>
                <a:schemeClr val="lt1"/>
              </a:solidFill>
              <a:latin typeface="Work Sans"/>
              <a:ea typeface="Work Sans"/>
              <a:cs typeface="Work Sans"/>
              <a:sym typeface="Work Sans"/>
            </a:endParaRPr>
          </a:p>
        </p:txBody>
      </p:sp>
      <p:grpSp>
        <p:nvGrpSpPr>
          <p:cNvPr id="1152" name="Google Shape;1152;p54"/>
          <p:cNvGrpSpPr/>
          <p:nvPr/>
        </p:nvGrpSpPr>
        <p:grpSpPr>
          <a:xfrm>
            <a:off x="2155486" y="3191199"/>
            <a:ext cx="2209196" cy="1072026"/>
            <a:chOff x="3240000" y="4140000"/>
            <a:chExt cx="2718000" cy="1478400"/>
          </a:xfrm>
        </p:grpSpPr>
        <p:pic>
          <p:nvPicPr>
            <p:cNvPr id="1153" name="Google Shape;1153;p54"/>
            <p:cNvPicPr preferRelativeResize="0"/>
            <p:nvPr/>
          </p:nvPicPr>
          <p:blipFill rotWithShape="1">
            <a:blip r:embed="rId4">
              <a:alphaModFix/>
            </a:blip>
            <a:srcRect b="0" l="0" r="0" t="0"/>
            <a:stretch/>
          </p:blipFill>
          <p:spPr>
            <a:xfrm>
              <a:off x="3240000" y="4140000"/>
              <a:ext cx="2519999" cy="1478400"/>
            </a:xfrm>
            <a:prstGeom prst="rect">
              <a:avLst/>
            </a:prstGeom>
            <a:noFill/>
            <a:ln>
              <a:noFill/>
            </a:ln>
          </p:spPr>
        </p:pic>
        <p:sp>
          <p:nvSpPr>
            <p:cNvPr id="1154" name="Google Shape;1154;p54"/>
            <p:cNvSpPr txBox="1"/>
            <p:nvPr/>
          </p:nvSpPr>
          <p:spPr>
            <a:xfrm>
              <a:off x="5418000" y="4482000"/>
              <a:ext cx="540000" cy="61039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1000"/>
                </a:spcAft>
                <a:buClr>
                  <a:schemeClr val="dk1"/>
                </a:buClr>
                <a:buSzPts val="1100"/>
                <a:buFont typeface="Arial"/>
                <a:buNone/>
              </a:pPr>
              <a:r>
                <a:rPr b="0" i="0" lang="pt-BR" sz="1000" u="none" cap="none" strike="noStrike">
                  <a:solidFill>
                    <a:schemeClr val="lt1"/>
                  </a:solidFill>
                  <a:latin typeface="Work Sans"/>
                  <a:ea typeface="Work Sans"/>
                  <a:cs typeface="Work Sans"/>
                  <a:sym typeface="Work Sans"/>
                </a:rPr>
                <a:t>= 2r</a:t>
              </a:r>
              <a:endParaRPr b="0" i="0" sz="1000" u="none" cap="none" strike="noStrike">
                <a:solidFill>
                  <a:schemeClr val="lt1"/>
                </a:solidFill>
                <a:latin typeface="Work Sans"/>
                <a:ea typeface="Work Sans"/>
                <a:cs typeface="Work Sans"/>
                <a:sym typeface="Work Sans"/>
              </a:endParaRPr>
            </a:p>
          </p:txBody>
        </p:sp>
      </p:grpSp>
      <p:pic>
        <p:nvPicPr>
          <p:cNvPr id="1155" name="Google Shape;1155;p54"/>
          <p:cNvPicPr preferRelativeResize="0"/>
          <p:nvPr/>
        </p:nvPicPr>
        <p:blipFill rotWithShape="1">
          <a:blip r:embed="rId5">
            <a:alphaModFix/>
          </a:blip>
          <a:srcRect b="0" l="0" r="0" t="0"/>
          <a:stretch/>
        </p:blipFill>
        <p:spPr>
          <a:xfrm>
            <a:off x="2688801" y="4273907"/>
            <a:ext cx="1336059" cy="197009"/>
          </a:xfrm>
          <a:prstGeom prst="rect">
            <a:avLst/>
          </a:prstGeom>
          <a:noFill/>
          <a:ln>
            <a:noFill/>
          </a:ln>
        </p:spPr>
      </p:pic>
      <p:pic>
        <p:nvPicPr>
          <p:cNvPr id="1156" name="Google Shape;1156;p54"/>
          <p:cNvPicPr preferRelativeResize="0"/>
          <p:nvPr/>
        </p:nvPicPr>
        <p:blipFill rotWithShape="1">
          <a:blip r:embed="rId6">
            <a:alphaModFix/>
          </a:blip>
          <a:srcRect b="0" l="0" r="0" t="0"/>
          <a:stretch/>
        </p:blipFill>
        <p:spPr>
          <a:xfrm>
            <a:off x="3137126" y="4562441"/>
            <a:ext cx="496576" cy="197009"/>
          </a:xfrm>
          <a:prstGeom prst="rect">
            <a:avLst/>
          </a:prstGeom>
          <a:noFill/>
          <a:ln>
            <a:noFill/>
          </a:ln>
        </p:spPr>
      </p:pic>
      <p:pic>
        <p:nvPicPr>
          <p:cNvPr id="1157" name="Google Shape;1157;p54"/>
          <p:cNvPicPr preferRelativeResize="0"/>
          <p:nvPr/>
        </p:nvPicPr>
        <p:blipFill rotWithShape="1">
          <a:blip r:embed="rId7">
            <a:alphaModFix/>
          </a:blip>
          <a:srcRect b="0" l="0" r="0" t="0"/>
          <a:stretch/>
        </p:blipFill>
        <p:spPr>
          <a:xfrm>
            <a:off x="7200247" y="1418903"/>
            <a:ext cx="671400" cy="191867"/>
          </a:xfrm>
          <a:prstGeom prst="rect">
            <a:avLst/>
          </a:prstGeom>
          <a:noFill/>
          <a:ln>
            <a:noFill/>
          </a:ln>
        </p:spPr>
      </p:pic>
      <p:pic>
        <p:nvPicPr>
          <p:cNvPr id="1158" name="Google Shape;1158;p54"/>
          <p:cNvPicPr preferRelativeResize="0"/>
          <p:nvPr/>
        </p:nvPicPr>
        <p:blipFill rotWithShape="1">
          <a:blip r:embed="rId8">
            <a:alphaModFix/>
          </a:blip>
          <a:srcRect b="0" l="0" r="0" t="0"/>
          <a:stretch/>
        </p:blipFill>
        <p:spPr>
          <a:xfrm>
            <a:off x="7189935" y="955400"/>
            <a:ext cx="662671" cy="301536"/>
          </a:xfrm>
          <a:prstGeom prst="rect">
            <a:avLst/>
          </a:prstGeom>
          <a:noFill/>
          <a:ln>
            <a:noFill/>
          </a:ln>
        </p:spPr>
      </p:pic>
      <p:grpSp>
        <p:nvGrpSpPr>
          <p:cNvPr id="1159" name="Google Shape;1159;p54"/>
          <p:cNvGrpSpPr/>
          <p:nvPr/>
        </p:nvGrpSpPr>
        <p:grpSpPr>
          <a:xfrm>
            <a:off x="3534786" y="955400"/>
            <a:ext cx="2111436" cy="803689"/>
            <a:chOff x="4701263" y="1151100"/>
            <a:chExt cx="2692101" cy="1080000"/>
          </a:xfrm>
        </p:grpSpPr>
        <p:pic>
          <p:nvPicPr>
            <p:cNvPr id="1160" name="Google Shape;1160;p54"/>
            <p:cNvPicPr preferRelativeResize="0"/>
            <p:nvPr/>
          </p:nvPicPr>
          <p:blipFill rotWithShape="1">
            <a:blip r:embed="rId9">
              <a:alphaModFix/>
            </a:blip>
            <a:srcRect b="61667" l="7742" r="74560" t="4810"/>
            <a:stretch/>
          </p:blipFill>
          <p:spPr>
            <a:xfrm>
              <a:off x="4701263" y="1151100"/>
              <a:ext cx="1152901" cy="1080000"/>
            </a:xfrm>
            <a:prstGeom prst="rect">
              <a:avLst/>
            </a:prstGeom>
            <a:noFill/>
            <a:ln>
              <a:noFill/>
            </a:ln>
          </p:spPr>
        </p:pic>
        <p:pic>
          <p:nvPicPr>
            <p:cNvPr id="1161" name="Google Shape;1161;p54"/>
            <p:cNvPicPr preferRelativeResize="0"/>
            <p:nvPr/>
          </p:nvPicPr>
          <p:blipFill rotWithShape="1">
            <a:blip r:embed="rId10">
              <a:alphaModFix/>
            </a:blip>
            <a:srcRect b="0" l="0" r="0" t="0"/>
            <a:stretch/>
          </p:blipFill>
          <p:spPr>
            <a:xfrm>
              <a:off x="6120000" y="1548000"/>
              <a:ext cx="1273364" cy="252000"/>
            </a:xfrm>
            <a:prstGeom prst="rect">
              <a:avLst/>
            </a:prstGeom>
            <a:noFill/>
            <a:ln>
              <a:noFill/>
            </a:ln>
          </p:spPr>
        </p:pic>
      </p:grpSp>
      <p:pic>
        <p:nvPicPr>
          <p:cNvPr id="1162" name="Google Shape;1162;p54"/>
          <p:cNvPicPr preferRelativeResize="0"/>
          <p:nvPr/>
        </p:nvPicPr>
        <p:blipFill rotWithShape="1">
          <a:blip r:embed="rId11">
            <a:alphaModFix/>
          </a:blip>
          <a:srcRect b="0" l="0" r="0" t="0"/>
          <a:stretch/>
        </p:blipFill>
        <p:spPr>
          <a:xfrm>
            <a:off x="5881937" y="3739182"/>
            <a:ext cx="2213154" cy="276900"/>
          </a:xfrm>
          <a:prstGeom prst="rect">
            <a:avLst/>
          </a:prstGeom>
          <a:noFill/>
          <a:ln>
            <a:noFill/>
          </a:ln>
        </p:spPr>
      </p:pic>
      <p:sp>
        <p:nvSpPr>
          <p:cNvPr id="1163" name="Google Shape;1163;p54"/>
          <p:cNvSpPr txBox="1"/>
          <p:nvPr/>
        </p:nvSpPr>
        <p:spPr>
          <a:xfrm>
            <a:off x="1240132" y="5599833"/>
            <a:ext cx="1080000" cy="59500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1000"/>
              </a:spcAft>
              <a:buClr>
                <a:schemeClr val="dk1"/>
              </a:buClr>
              <a:buSzPts val="1300"/>
              <a:buFont typeface="Arial"/>
              <a:buNone/>
            </a:pPr>
            <a:r>
              <a:rPr b="1" i="0" lang="pt-BR" sz="1000" u="none" cap="none" strike="noStrike">
                <a:solidFill>
                  <a:schemeClr val="lt1"/>
                </a:solidFill>
                <a:latin typeface="Work Sans"/>
                <a:ea typeface="Work Sans"/>
                <a:cs typeface="Work Sans"/>
                <a:sym typeface="Work Sans"/>
              </a:rPr>
              <a:t>Pitágoras:</a:t>
            </a:r>
            <a:endParaRPr b="0" i="0" sz="1000" u="none" cap="none" strike="noStrike">
              <a:solidFill>
                <a:schemeClr val="lt1"/>
              </a:solidFill>
              <a:latin typeface="Work Sans"/>
              <a:ea typeface="Work Sans"/>
              <a:cs typeface="Work Sans"/>
              <a:sym typeface="Work Sans"/>
            </a:endParaRPr>
          </a:p>
        </p:txBody>
      </p:sp>
      <p:sp>
        <p:nvSpPr>
          <p:cNvPr id="1164" name="Google Shape;1164;p54"/>
          <p:cNvSpPr/>
          <p:nvPr/>
        </p:nvSpPr>
        <p:spPr>
          <a:xfrm flipH="1" rot="10800000">
            <a:off x="3505275" y="3597881"/>
            <a:ext cx="177008" cy="143278"/>
          </a:xfrm>
          <a:prstGeom prst="ellipse">
            <a:avLst/>
          </a:prstGeom>
          <a:noFill/>
          <a:ln cap="flat" cmpd="sng" w="19050">
            <a:solidFill>
              <a:srgbClr val="BA0E0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000" u="none" cap="none" strike="noStrike">
              <a:solidFill>
                <a:schemeClr val="lt1"/>
              </a:solidFill>
              <a:latin typeface="Work Sans"/>
              <a:ea typeface="Work Sans"/>
              <a:cs typeface="Work Sans"/>
              <a:sym typeface="Work Sans"/>
            </a:endParaRPr>
          </a:p>
        </p:txBody>
      </p:sp>
      <p:sp>
        <p:nvSpPr>
          <p:cNvPr id="1165" name="Google Shape;1165;p54"/>
          <p:cNvSpPr txBox="1"/>
          <p:nvPr/>
        </p:nvSpPr>
        <p:spPr>
          <a:xfrm>
            <a:off x="5186745" y="3209392"/>
            <a:ext cx="3600000" cy="59500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1000"/>
              </a:spcAft>
              <a:buClr>
                <a:srgbClr val="000000"/>
              </a:buClr>
              <a:buSzPts val="1300"/>
              <a:buFont typeface="Arial"/>
              <a:buNone/>
            </a:pPr>
            <a:r>
              <a:rPr b="1" i="0" lang="pt-BR" sz="1000" u="none" cap="none" strike="noStrike">
                <a:solidFill>
                  <a:schemeClr val="lt1"/>
                </a:solidFill>
                <a:latin typeface="Work Sans"/>
                <a:ea typeface="Work Sans"/>
                <a:cs typeface="Work Sans"/>
                <a:sym typeface="Work Sans"/>
              </a:rPr>
              <a:t>Substituindo na Equação:</a:t>
            </a:r>
            <a:endParaRPr b="0" i="0" sz="1000" u="none" cap="none" strike="noStrike">
              <a:solidFill>
                <a:schemeClr val="lt1"/>
              </a:solidFill>
              <a:latin typeface="Work Sans"/>
              <a:ea typeface="Work Sans"/>
              <a:cs typeface="Work Sans"/>
              <a:sym typeface="Work Sans"/>
            </a:endParaRPr>
          </a:p>
        </p:txBody>
      </p:sp>
      <p:sp>
        <p:nvSpPr>
          <p:cNvPr id="1166" name="Google Shape;1166;p54"/>
          <p:cNvSpPr/>
          <p:nvPr/>
        </p:nvSpPr>
        <p:spPr>
          <a:xfrm>
            <a:off x="5809937" y="3595181"/>
            <a:ext cx="471120" cy="455847"/>
          </a:xfrm>
          <a:prstGeom prst="ellipse">
            <a:avLst/>
          </a:prstGeom>
          <a:noFill/>
          <a:ln cap="flat" cmpd="sng" w="19050">
            <a:solidFill>
              <a:srgbClr val="BA0E0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000" u="none" cap="none" strike="noStrike">
              <a:solidFill>
                <a:schemeClr val="lt1"/>
              </a:solidFill>
              <a:latin typeface="Work Sans"/>
              <a:ea typeface="Work Sans"/>
              <a:cs typeface="Work Sans"/>
              <a:sym typeface="Work Sans"/>
            </a:endParaRPr>
          </a:p>
        </p:txBody>
      </p:sp>
      <p:sp>
        <p:nvSpPr>
          <p:cNvPr id="1167" name="Google Shape;1167;p54"/>
          <p:cNvSpPr/>
          <p:nvPr/>
        </p:nvSpPr>
        <p:spPr>
          <a:xfrm>
            <a:off x="6827221" y="3663664"/>
            <a:ext cx="471120" cy="427936"/>
          </a:xfrm>
          <a:prstGeom prst="ellipse">
            <a:avLst/>
          </a:prstGeom>
          <a:noFill/>
          <a:ln cap="flat" cmpd="sng" w="19050">
            <a:solidFill>
              <a:srgbClr val="BA0E0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000" u="none" cap="none" strike="noStrike">
              <a:solidFill>
                <a:schemeClr val="lt1"/>
              </a:solidFill>
              <a:latin typeface="Work Sans"/>
              <a:ea typeface="Work Sans"/>
              <a:cs typeface="Work Sans"/>
              <a:sym typeface="Work Sans"/>
            </a:endParaRPr>
          </a:p>
        </p:txBody>
      </p:sp>
      <p:grpSp>
        <p:nvGrpSpPr>
          <p:cNvPr id="1168" name="Google Shape;1168;p54"/>
          <p:cNvGrpSpPr/>
          <p:nvPr/>
        </p:nvGrpSpPr>
        <p:grpSpPr>
          <a:xfrm>
            <a:off x="6344387" y="4388745"/>
            <a:ext cx="1436787" cy="256082"/>
            <a:chOff x="7748700" y="5581225"/>
            <a:chExt cx="2340000" cy="432000"/>
          </a:xfrm>
        </p:grpSpPr>
        <p:sp>
          <p:nvSpPr>
            <p:cNvPr id="1169" name="Google Shape;1169;p54"/>
            <p:cNvSpPr/>
            <p:nvPr/>
          </p:nvSpPr>
          <p:spPr>
            <a:xfrm>
              <a:off x="7748700" y="5581225"/>
              <a:ext cx="2340000" cy="432000"/>
            </a:xfrm>
            <a:prstGeom prst="rect">
              <a:avLst/>
            </a:prstGeom>
            <a:noFill/>
            <a:ln cap="flat" cmpd="sng" w="19050">
              <a:solidFill>
                <a:srgbClr val="BA0E0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000" u="none" cap="none" strike="noStrike">
                <a:solidFill>
                  <a:schemeClr val="lt1"/>
                </a:solidFill>
                <a:latin typeface="Work Sans"/>
                <a:ea typeface="Work Sans"/>
                <a:cs typeface="Work Sans"/>
                <a:sym typeface="Work Sans"/>
              </a:endParaRPr>
            </a:p>
          </p:txBody>
        </p:sp>
        <p:pic>
          <p:nvPicPr>
            <p:cNvPr id="1170" name="Google Shape;1170;p54"/>
            <p:cNvPicPr preferRelativeResize="0"/>
            <p:nvPr/>
          </p:nvPicPr>
          <p:blipFill rotWithShape="1">
            <a:blip r:embed="rId12">
              <a:alphaModFix/>
            </a:blip>
            <a:srcRect b="0" l="0" r="0" t="0"/>
            <a:stretch/>
          </p:blipFill>
          <p:spPr>
            <a:xfrm>
              <a:off x="7906588" y="5688000"/>
              <a:ext cx="2024228" cy="216000"/>
            </a:xfrm>
            <a:prstGeom prst="rect">
              <a:avLst/>
            </a:prstGeom>
            <a:noFill/>
            <a:ln>
              <a:noFill/>
            </a:ln>
          </p:spPr>
        </p:pic>
      </p:grpSp>
      <p:grpSp>
        <p:nvGrpSpPr>
          <p:cNvPr id="1171" name="Google Shape;1171;p54"/>
          <p:cNvGrpSpPr/>
          <p:nvPr/>
        </p:nvGrpSpPr>
        <p:grpSpPr>
          <a:xfrm>
            <a:off x="83820" y="2608169"/>
            <a:ext cx="878612" cy="248800"/>
            <a:chOff x="271410" y="3520307"/>
            <a:chExt cx="993762" cy="241200"/>
          </a:xfrm>
        </p:grpSpPr>
        <p:sp>
          <p:nvSpPr>
            <p:cNvPr id="1172" name="Google Shape;1172;p54"/>
            <p:cNvSpPr/>
            <p:nvPr/>
          </p:nvSpPr>
          <p:spPr>
            <a:xfrm>
              <a:off x="619572" y="3520307"/>
              <a:ext cx="645600" cy="241200"/>
            </a:xfrm>
            <a:prstGeom prst="roundRect">
              <a:avLst>
                <a:gd fmla="val 16667" name="adj"/>
              </a:avLst>
            </a:prstGeom>
            <a:noFill/>
            <a:ln cap="flat" cmpd="sng" w="19050">
              <a:solidFill>
                <a:srgbClr val="00DF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000" u="none" cap="none" strike="noStrike">
                <a:solidFill>
                  <a:schemeClr val="lt1"/>
                </a:solidFill>
                <a:latin typeface="Work Sans"/>
                <a:ea typeface="Work Sans"/>
                <a:cs typeface="Work Sans"/>
                <a:sym typeface="Work Sans"/>
              </a:endParaRPr>
            </a:p>
          </p:txBody>
        </p:sp>
        <p:pic>
          <p:nvPicPr>
            <p:cNvPr id="1173" name="Google Shape;1173;p54"/>
            <p:cNvPicPr preferRelativeResize="0"/>
            <p:nvPr/>
          </p:nvPicPr>
          <p:blipFill rotWithShape="1">
            <a:blip r:embed="rId13">
              <a:alphaModFix/>
            </a:blip>
            <a:srcRect b="0" l="0" r="0" t="0"/>
            <a:stretch/>
          </p:blipFill>
          <p:spPr>
            <a:xfrm>
              <a:off x="271410" y="3547160"/>
              <a:ext cx="256540" cy="187485"/>
            </a:xfrm>
            <a:prstGeom prst="rect">
              <a:avLst/>
            </a:prstGeom>
            <a:noFill/>
            <a:ln>
              <a:noFill/>
            </a:ln>
          </p:spPr>
        </p:pic>
      </p:grpSp>
      <p:sp>
        <p:nvSpPr>
          <p:cNvPr id="1174" name="Google Shape;1174;p54"/>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1000"/>
                                        <p:tgtEl>
                                          <p:spTgt spid="1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gtEl>
                                        <p:attrNameLst>
                                          <p:attrName>style.visibility</p:attrName>
                                        </p:attrNameLst>
                                      </p:cBhvr>
                                      <p:to>
                                        <p:strVal val="visible"/>
                                      </p:to>
                                    </p:set>
                                    <p:animEffect filter="fade" transition="in">
                                      <p:cBhvr>
                                        <p:cTn dur="1000"/>
                                        <p:tgtEl>
                                          <p:spTgt spid="1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1000"/>
                                        <p:tgtEl>
                                          <p:spTgt spid="1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1000"/>
                                        <p:tgtEl>
                                          <p:spTgt spid="1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1000"/>
                                        <p:tgtEl>
                                          <p:spTgt spid="1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1000"/>
                                        <p:tgtEl>
                                          <p:spTgt spid="1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5"/>
                                        </p:tgtEl>
                                        <p:attrNameLst>
                                          <p:attrName>style.visibility</p:attrName>
                                        </p:attrNameLst>
                                      </p:cBhvr>
                                      <p:to>
                                        <p:strVal val="visible"/>
                                      </p:to>
                                    </p:set>
                                    <p:animEffect filter="fade" transition="in">
                                      <p:cBhvr>
                                        <p:cTn dur="1000"/>
                                        <p:tgtEl>
                                          <p:spTgt spid="1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1000"/>
                                        <p:tgtEl>
                                          <p:spTgt spid="1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1000"/>
                                        <p:tgtEl>
                                          <p:spTgt spid="1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1000"/>
                                        <p:tgtEl>
                                          <p:spTgt spid="1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1000"/>
                                        <p:tgtEl>
                                          <p:spTgt spid="1162"/>
                                        </p:tgtEl>
                                      </p:cBhvr>
                                    </p:animEffect>
                                  </p:childTnLst>
                                </p:cTn>
                              </p:par>
                              <p:par>
                                <p:cTn fill="hold" nodeType="with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1000"/>
                                        <p:tgtEl>
                                          <p:spTgt spid="1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1000"/>
                                        <p:tgtEl>
                                          <p:spTgt spid="1166"/>
                                        </p:tgtEl>
                                      </p:cBhvr>
                                    </p:animEffect>
                                  </p:childTnLst>
                                </p:cTn>
                              </p:par>
                              <p:par>
                                <p:cTn fill="hold" nodeType="with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1000"/>
                                        <p:tgtEl>
                                          <p:spTgt spid="1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1000"/>
                                        <p:tgtEl>
                                          <p:spTgt spid="1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1000"/>
                                        <p:tgtEl>
                                          <p:spTgt spid="1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55"/>
          <p:cNvSpPr txBox="1"/>
          <p:nvPr>
            <p:ph idx="4294967295" type="title"/>
          </p:nvPr>
        </p:nvSpPr>
        <p:spPr>
          <a:xfrm>
            <a:off x="722375" y="384050"/>
            <a:ext cx="5052900" cy="57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pt-BR"/>
              <a:t>REVISÃO DE MATEMÁTICA</a:t>
            </a:r>
            <a:endParaRPr/>
          </a:p>
        </p:txBody>
      </p:sp>
      <p:sp>
        <p:nvSpPr>
          <p:cNvPr id="1180" name="Google Shape;1180;p55"/>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000000"/>
                </a:solidFill>
                <a:latin typeface="Arial"/>
                <a:ea typeface="Arial"/>
                <a:cs typeface="Arial"/>
                <a:sym typeface="Arial"/>
              </a:rPr>
              <a:t>Copyright © 2026 Clube de Consultoria Universitário. All rights reserved.</a:t>
            </a:r>
            <a:endParaRPr b="0" i="0" sz="900" u="none" cap="none" strike="noStrike">
              <a:solidFill>
                <a:srgbClr val="000000"/>
              </a:solidFill>
              <a:latin typeface="Arial"/>
              <a:ea typeface="Arial"/>
              <a:cs typeface="Arial"/>
              <a:sym typeface="Arial"/>
            </a:endParaRPr>
          </a:p>
        </p:txBody>
      </p:sp>
      <p:sp>
        <p:nvSpPr>
          <p:cNvPr id="1181" name="Google Shape;1181;p55"/>
          <p:cNvSpPr txBox="1"/>
          <p:nvPr/>
        </p:nvSpPr>
        <p:spPr>
          <a:xfrm>
            <a:off x="44701" y="1851046"/>
            <a:ext cx="2880000" cy="379304"/>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1" i="0" lang="pt-BR" sz="1100" u="none" cap="none" strike="noStrike">
                <a:solidFill>
                  <a:schemeClr val="lt1"/>
                </a:solidFill>
                <a:latin typeface="Work Sans"/>
                <a:ea typeface="Work Sans"/>
                <a:cs typeface="Work Sans"/>
                <a:sym typeface="Work Sans"/>
              </a:rPr>
              <a:t>Assuntos mais cobrados</a:t>
            </a:r>
            <a:endParaRPr b="0" i="0" sz="1100" u="none" cap="none" strike="noStrike">
              <a:solidFill>
                <a:schemeClr val="lt1"/>
              </a:solidFill>
              <a:latin typeface="Work Sans"/>
              <a:ea typeface="Work Sans"/>
              <a:cs typeface="Work Sans"/>
              <a:sym typeface="Work Sans"/>
            </a:endParaRPr>
          </a:p>
        </p:txBody>
      </p:sp>
      <p:sp>
        <p:nvSpPr>
          <p:cNvPr id="1182" name="Google Shape;1182;p55"/>
          <p:cNvSpPr txBox="1"/>
          <p:nvPr/>
        </p:nvSpPr>
        <p:spPr>
          <a:xfrm>
            <a:off x="293452" y="2308149"/>
            <a:ext cx="3239999" cy="1423436"/>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1"/>
              </a:buClr>
              <a:buSzPts val="1400"/>
              <a:buFont typeface="Montserrat"/>
              <a:buChar char="●"/>
            </a:pPr>
            <a:r>
              <a:rPr b="0" i="0" lang="pt-BR" sz="1000" u="none" cap="none" strike="noStrike">
                <a:solidFill>
                  <a:schemeClr val="lt1"/>
                </a:solidFill>
                <a:latin typeface="Work Sans"/>
                <a:ea typeface="Work Sans"/>
                <a:cs typeface="Work Sans"/>
                <a:sym typeface="Work Sans"/>
              </a:rPr>
              <a:t>Interpretação dos Dados</a:t>
            </a:r>
            <a:endParaRPr b="0" i="0" sz="1000" u="none" cap="none" strike="noStrike">
              <a:solidFill>
                <a:schemeClr val="lt1"/>
              </a:solidFill>
              <a:latin typeface="Work Sans"/>
              <a:ea typeface="Work Sans"/>
              <a:cs typeface="Work Sans"/>
              <a:sym typeface="Work Sans"/>
            </a:endParaRPr>
          </a:p>
          <a:p>
            <a:pPr indent="-317500" lvl="0" marL="457200" marR="0" rtl="0" algn="l">
              <a:lnSpc>
                <a:spcPct val="115000"/>
              </a:lnSpc>
              <a:spcBef>
                <a:spcPts val="0"/>
              </a:spcBef>
              <a:spcAft>
                <a:spcPts val="0"/>
              </a:spcAft>
              <a:buClr>
                <a:schemeClr val="dk1"/>
              </a:buClr>
              <a:buSzPts val="1400"/>
              <a:buFont typeface="Montserrat"/>
              <a:buChar char="●"/>
            </a:pPr>
            <a:r>
              <a:rPr b="0" i="0" lang="pt-BR" sz="1000" u="none" cap="none" strike="noStrike">
                <a:solidFill>
                  <a:schemeClr val="lt1"/>
                </a:solidFill>
                <a:latin typeface="Work Sans"/>
                <a:ea typeface="Work Sans"/>
                <a:cs typeface="Work Sans"/>
                <a:sym typeface="Work Sans"/>
              </a:rPr>
              <a:t>Trabalho/Produtividade</a:t>
            </a:r>
            <a:endParaRPr b="0" i="0" sz="1000" u="none" cap="none" strike="noStrike">
              <a:solidFill>
                <a:schemeClr val="lt1"/>
              </a:solidFill>
              <a:latin typeface="Work Sans"/>
              <a:ea typeface="Work Sans"/>
              <a:cs typeface="Work Sans"/>
              <a:sym typeface="Work Sans"/>
            </a:endParaRPr>
          </a:p>
          <a:p>
            <a:pPr indent="-317500" lvl="0" marL="457200" marR="0" rtl="0" algn="l">
              <a:lnSpc>
                <a:spcPct val="115000"/>
              </a:lnSpc>
              <a:spcBef>
                <a:spcPts val="0"/>
              </a:spcBef>
              <a:spcAft>
                <a:spcPts val="0"/>
              </a:spcAft>
              <a:buClr>
                <a:schemeClr val="dk1"/>
              </a:buClr>
              <a:buSzPts val="1400"/>
              <a:buFont typeface="Montserrat"/>
              <a:buChar char="●"/>
            </a:pPr>
            <a:r>
              <a:rPr b="0" i="0" lang="pt-BR" sz="1000" u="none" cap="none" strike="noStrike">
                <a:solidFill>
                  <a:schemeClr val="lt1"/>
                </a:solidFill>
                <a:latin typeface="Work Sans"/>
                <a:ea typeface="Work Sans"/>
                <a:cs typeface="Work Sans"/>
                <a:sym typeface="Work Sans"/>
              </a:rPr>
              <a:t>Misturas</a:t>
            </a:r>
            <a:endParaRPr b="0" i="0" sz="1000" u="none" cap="none" strike="noStrike">
              <a:solidFill>
                <a:schemeClr val="lt1"/>
              </a:solidFill>
              <a:latin typeface="Work Sans"/>
              <a:ea typeface="Work Sans"/>
              <a:cs typeface="Work Sans"/>
              <a:sym typeface="Work Sans"/>
            </a:endParaRPr>
          </a:p>
          <a:p>
            <a:pPr indent="-317500" lvl="0" marL="457200" marR="0" rtl="0" algn="l">
              <a:lnSpc>
                <a:spcPct val="115000"/>
              </a:lnSpc>
              <a:spcBef>
                <a:spcPts val="0"/>
              </a:spcBef>
              <a:spcAft>
                <a:spcPts val="0"/>
              </a:spcAft>
              <a:buClr>
                <a:schemeClr val="dk1"/>
              </a:buClr>
              <a:buSzPts val="1400"/>
              <a:buFont typeface="Montserrat"/>
              <a:buChar char="●"/>
            </a:pPr>
            <a:r>
              <a:rPr b="0" i="0" lang="pt-BR" sz="1000" u="none" cap="none" strike="noStrike">
                <a:solidFill>
                  <a:schemeClr val="lt1"/>
                </a:solidFill>
                <a:latin typeface="Work Sans"/>
                <a:ea typeface="Work Sans"/>
                <a:cs typeface="Work Sans"/>
                <a:sym typeface="Work Sans"/>
              </a:rPr>
              <a:t>Juros (Taxas em Geral)</a:t>
            </a:r>
            <a:endParaRPr b="0" i="0" sz="1000" u="none" cap="none" strike="noStrike">
              <a:solidFill>
                <a:schemeClr val="lt1"/>
              </a:solidFill>
              <a:latin typeface="Work Sans"/>
              <a:ea typeface="Work Sans"/>
              <a:cs typeface="Work Sans"/>
              <a:sym typeface="Work Sans"/>
            </a:endParaRPr>
          </a:p>
          <a:p>
            <a:pPr indent="-317500" lvl="0" marL="457200" marR="0" rtl="0" algn="l">
              <a:lnSpc>
                <a:spcPct val="115000"/>
              </a:lnSpc>
              <a:spcBef>
                <a:spcPts val="0"/>
              </a:spcBef>
              <a:spcAft>
                <a:spcPts val="0"/>
              </a:spcAft>
              <a:buClr>
                <a:schemeClr val="dk1"/>
              </a:buClr>
              <a:buSzPts val="1400"/>
              <a:buFont typeface="Montserrat"/>
              <a:buChar char="●"/>
            </a:pPr>
            <a:r>
              <a:rPr b="0" i="0" lang="pt-BR" sz="1000" u="none" cap="none" strike="noStrike">
                <a:solidFill>
                  <a:schemeClr val="lt1"/>
                </a:solidFill>
                <a:latin typeface="Work Sans"/>
                <a:ea typeface="Work Sans"/>
                <a:cs typeface="Work Sans"/>
                <a:sym typeface="Work Sans"/>
              </a:rPr>
              <a:t>Conjuntos</a:t>
            </a:r>
            <a:endParaRPr b="0" i="0" sz="1000" u="none" cap="none" strike="noStrike">
              <a:solidFill>
                <a:schemeClr val="lt1"/>
              </a:solidFill>
              <a:latin typeface="Work Sans"/>
              <a:ea typeface="Work Sans"/>
              <a:cs typeface="Work Sans"/>
              <a:sym typeface="Work Sans"/>
            </a:endParaRPr>
          </a:p>
          <a:p>
            <a:pPr indent="-317500" lvl="0" marL="457200" marR="0" rtl="0" algn="l">
              <a:lnSpc>
                <a:spcPct val="115000"/>
              </a:lnSpc>
              <a:spcBef>
                <a:spcPts val="0"/>
              </a:spcBef>
              <a:spcAft>
                <a:spcPts val="0"/>
              </a:spcAft>
              <a:buClr>
                <a:schemeClr val="dk1"/>
              </a:buClr>
              <a:buSzPts val="1400"/>
              <a:buFont typeface="Montserrat"/>
              <a:buChar char="●"/>
            </a:pPr>
            <a:r>
              <a:rPr b="0" i="0" lang="pt-BR" sz="1000" u="none" cap="none" strike="noStrike">
                <a:solidFill>
                  <a:schemeClr val="lt1"/>
                </a:solidFill>
                <a:latin typeface="Work Sans"/>
                <a:ea typeface="Work Sans"/>
                <a:cs typeface="Work Sans"/>
                <a:sym typeface="Work Sans"/>
              </a:rPr>
              <a:t>Geometria</a:t>
            </a:r>
            <a:endParaRPr b="0" i="0" sz="1000" u="none" cap="none" strike="noStrike">
              <a:solidFill>
                <a:schemeClr val="lt1"/>
              </a:solidFill>
              <a:latin typeface="Work Sans"/>
              <a:ea typeface="Work Sans"/>
              <a:cs typeface="Work Sans"/>
              <a:sym typeface="Work Sans"/>
            </a:endParaRPr>
          </a:p>
          <a:p>
            <a:pPr indent="-317500" lvl="0" marL="457200" marR="0" rtl="0" algn="l">
              <a:lnSpc>
                <a:spcPct val="115000"/>
              </a:lnSpc>
              <a:spcBef>
                <a:spcPts val="0"/>
              </a:spcBef>
              <a:spcAft>
                <a:spcPts val="0"/>
              </a:spcAft>
              <a:buClr>
                <a:schemeClr val="dk1"/>
              </a:buClr>
              <a:buSzPts val="1400"/>
              <a:buFont typeface="Montserrat"/>
              <a:buChar char="●"/>
            </a:pPr>
            <a:r>
              <a:rPr b="0" i="0" lang="pt-BR" sz="1000" u="none" cap="none" strike="noStrike">
                <a:solidFill>
                  <a:schemeClr val="lt1"/>
                </a:solidFill>
                <a:latin typeface="Work Sans"/>
                <a:ea typeface="Work Sans"/>
                <a:cs typeface="Work Sans"/>
                <a:sym typeface="Work Sans"/>
              </a:rPr>
              <a:t>Mensuração</a:t>
            </a:r>
            <a:endParaRPr b="0" i="0" sz="1000" u="none" cap="none" strike="noStrike">
              <a:solidFill>
                <a:schemeClr val="lt1"/>
              </a:solidFill>
              <a:latin typeface="Work Sans"/>
              <a:ea typeface="Work Sans"/>
              <a:cs typeface="Work Sans"/>
              <a:sym typeface="Work Sans"/>
            </a:endParaRPr>
          </a:p>
        </p:txBody>
      </p:sp>
      <p:sp>
        <p:nvSpPr>
          <p:cNvPr id="1183" name="Google Shape;1183;p55"/>
          <p:cNvSpPr txBox="1"/>
          <p:nvPr/>
        </p:nvSpPr>
        <p:spPr>
          <a:xfrm>
            <a:off x="2204700" y="1905957"/>
            <a:ext cx="6840000" cy="361607"/>
          </a:xfrm>
          <a:prstGeom prst="rect">
            <a:avLst/>
          </a:prstGeom>
          <a:noFill/>
          <a:ln>
            <a:noFill/>
          </a:ln>
        </p:spPr>
        <p:txBody>
          <a:bodyPr anchorCtr="0" anchor="ctr"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1" i="0" lang="pt-BR" sz="1000" u="none" cap="none" strike="noStrike">
                <a:solidFill>
                  <a:schemeClr val="lt1"/>
                </a:solidFill>
                <a:latin typeface="Work Sans"/>
                <a:ea typeface="Work Sans"/>
                <a:cs typeface="Work Sans"/>
                <a:sym typeface="Work Sans"/>
              </a:rPr>
              <a:t>O segredo é traduzir palavras em equações…</a:t>
            </a:r>
            <a:endParaRPr b="0" i="0" sz="1000" u="none" cap="none" strike="noStrike">
              <a:solidFill>
                <a:schemeClr val="lt1"/>
              </a:solidFill>
              <a:latin typeface="Work Sans"/>
              <a:ea typeface="Work Sans"/>
              <a:cs typeface="Work Sans"/>
              <a:sym typeface="Work Sans"/>
            </a:endParaRPr>
          </a:p>
        </p:txBody>
      </p:sp>
      <p:sp>
        <p:nvSpPr>
          <p:cNvPr id="1184" name="Google Shape;1184;p55"/>
          <p:cNvSpPr txBox="1"/>
          <p:nvPr/>
        </p:nvSpPr>
        <p:spPr>
          <a:xfrm>
            <a:off x="2895634" y="2294442"/>
            <a:ext cx="5040000" cy="338574"/>
          </a:xfrm>
          <a:prstGeom prst="rect">
            <a:avLst/>
          </a:prstGeom>
          <a:noFill/>
          <a:ln>
            <a:noFill/>
          </a:ln>
        </p:spPr>
        <p:txBody>
          <a:bodyPr anchorCtr="0" anchor="t" bIns="91450" lIns="91450" spcFirstLastPara="1" rIns="91450" wrap="square" tIns="91450">
            <a:spAutoFit/>
          </a:bodyPr>
          <a:lstStyle/>
          <a:p>
            <a:pPr indent="-311150" lvl="0" marL="457200" marR="0" rtl="0" algn="l">
              <a:lnSpc>
                <a:spcPct val="100000"/>
              </a:lnSpc>
              <a:spcBef>
                <a:spcPts val="0"/>
              </a:spcBef>
              <a:spcAft>
                <a:spcPts val="0"/>
              </a:spcAft>
              <a:buClr>
                <a:srgbClr val="000000"/>
              </a:buClr>
              <a:buSzPts val="1300"/>
              <a:buFont typeface="Montserrat"/>
              <a:buChar char="●"/>
            </a:pPr>
            <a:r>
              <a:rPr b="0" i="0" lang="pt-BR" sz="1000" u="none" cap="none" strike="noStrike">
                <a:solidFill>
                  <a:schemeClr val="lt1"/>
                </a:solidFill>
                <a:latin typeface="Work Sans"/>
                <a:ea typeface="Work Sans"/>
                <a:cs typeface="Work Sans"/>
                <a:sym typeface="Work Sans"/>
              </a:rPr>
              <a:t>John is twice as old as Megan was 4 years ago.</a:t>
            </a:r>
            <a:endParaRPr b="0" i="0" sz="1000" u="none" cap="none" strike="noStrike">
              <a:solidFill>
                <a:schemeClr val="lt1"/>
              </a:solidFill>
              <a:latin typeface="Work Sans"/>
              <a:ea typeface="Work Sans"/>
              <a:cs typeface="Work Sans"/>
              <a:sym typeface="Work Sans"/>
            </a:endParaRPr>
          </a:p>
        </p:txBody>
      </p:sp>
      <p:sp>
        <p:nvSpPr>
          <p:cNvPr id="1185" name="Google Shape;1185;p55"/>
          <p:cNvSpPr txBox="1"/>
          <p:nvPr/>
        </p:nvSpPr>
        <p:spPr>
          <a:xfrm>
            <a:off x="2895634" y="2703609"/>
            <a:ext cx="4152866" cy="492463"/>
          </a:xfrm>
          <a:prstGeom prst="rect">
            <a:avLst/>
          </a:prstGeom>
          <a:noFill/>
          <a:ln>
            <a:noFill/>
          </a:ln>
        </p:spPr>
        <p:txBody>
          <a:bodyPr anchorCtr="0" anchor="t" bIns="91450" lIns="91450" spcFirstLastPara="1" rIns="91450" wrap="square" tIns="91450">
            <a:spAutoFit/>
          </a:bodyPr>
          <a:lstStyle/>
          <a:p>
            <a:pPr indent="-311150" lvl="0" marL="457200" marR="0" rtl="0" algn="just">
              <a:lnSpc>
                <a:spcPct val="100000"/>
              </a:lnSpc>
              <a:spcBef>
                <a:spcPts val="0"/>
              </a:spcBef>
              <a:spcAft>
                <a:spcPts val="0"/>
              </a:spcAft>
              <a:buClr>
                <a:srgbClr val="000000"/>
              </a:buClr>
              <a:buSzPts val="1300"/>
              <a:buFont typeface="Montserrat"/>
              <a:buChar char="●"/>
            </a:pPr>
            <a:r>
              <a:rPr b="0" i="0" lang="pt-BR" sz="1000" u="none" cap="none" strike="noStrike">
                <a:solidFill>
                  <a:schemeClr val="lt1"/>
                </a:solidFill>
                <a:latin typeface="Work Sans"/>
                <a:ea typeface="Work Sans"/>
                <a:cs typeface="Work Sans"/>
                <a:sym typeface="Work Sans"/>
              </a:rPr>
              <a:t>The rate of chemical reaction X is inversely proportional to the square of rate of chemical reaction y.</a:t>
            </a:r>
            <a:endParaRPr b="0" i="0" sz="1000" u="none" cap="none" strike="noStrike">
              <a:solidFill>
                <a:schemeClr val="lt1"/>
              </a:solidFill>
              <a:latin typeface="Work Sans"/>
              <a:ea typeface="Work Sans"/>
              <a:cs typeface="Work Sans"/>
              <a:sym typeface="Work Sans"/>
            </a:endParaRPr>
          </a:p>
        </p:txBody>
      </p:sp>
      <p:sp>
        <p:nvSpPr>
          <p:cNvPr id="1186" name="Google Shape;1186;p55"/>
          <p:cNvSpPr txBox="1"/>
          <p:nvPr/>
        </p:nvSpPr>
        <p:spPr>
          <a:xfrm>
            <a:off x="2895634" y="3782430"/>
            <a:ext cx="5040000" cy="338574"/>
          </a:xfrm>
          <a:prstGeom prst="rect">
            <a:avLst/>
          </a:prstGeom>
          <a:noFill/>
          <a:ln>
            <a:noFill/>
          </a:ln>
        </p:spPr>
        <p:txBody>
          <a:bodyPr anchorCtr="0" anchor="t" bIns="91450" lIns="91450" spcFirstLastPara="1" rIns="91450" wrap="square" tIns="91450">
            <a:spAutoFit/>
          </a:bodyPr>
          <a:lstStyle/>
          <a:p>
            <a:pPr indent="-311150" lvl="0" marL="457200" marR="0" rtl="0" algn="l">
              <a:lnSpc>
                <a:spcPct val="100000"/>
              </a:lnSpc>
              <a:spcBef>
                <a:spcPts val="0"/>
              </a:spcBef>
              <a:spcAft>
                <a:spcPts val="0"/>
              </a:spcAft>
              <a:buClr>
                <a:srgbClr val="000000"/>
              </a:buClr>
              <a:buSzPts val="1300"/>
              <a:buFont typeface="Montserrat"/>
              <a:buChar char="●"/>
            </a:pPr>
            <a:r>
              <a:rPr b="0" i="0" lang="pt-BR" sz="1000" u="none" cap="none" strike="noStrike">
                <a:solidFill>
                  <a:schemeClr val="lt1"/>
                </a:solidFill>
                <a:latin typeface="Work Sans"/>
                <a:ea typeface="Work Sans"/>
                <a:cs typeface="Work Sans"/>
                <a:sym typeface="Work Sans"/>
              </a:rPr>
              <a:t>In 10 years, Bill will be twice as old as Jeffery.</a:t>
            </a:r>
            <a:endParaRPr b="0" i="0" sz="1000" u="none" cap="none" strike="noStrike">
              <a:solidFill>
                <a:schemeClr val="lt1"/>
              </a:solidFill>
              <a:latin typeface="Work Sans"/>
              <a:ea typeface="Work Sans"/>
              <a:cs typeface="Work Sans"/>
              <a:sym typeface="Work Sans"/>
            </a:endParaRPr>
          </a:p>
        </p:txBody>
      </p:sp>
      <p:sp>
        <p:nvSpPr>
          <p:cNvPr id="1187" name="Google Shape;1187;p55"/>
          <p:cNvSpPr txBox="1"/>
          <p:nvPr/>
        </p:nvSpPr>
        <p:spPr>
          <a:xfrm>
            <a:off x="2895634" y="3199521"/>
            <a:ext cx="4123798" cy="646351"/>
          </a:xfrm>
          <a:prstGeom prst="rect">
            <a:avLst/>
          </a:prstGeom>
          <a:noFill/>
          <a:ln>
            <a:noFill/>
          </a:ln>
        </p:spPr>
        <p:txBody>
          <a:bodyPr anchorCtr="0" anchor="t" bIns="91450" lIns="91450" spcFirstLastPara="1" rIns="91450" wrap="square" tIns="91450">
            <a:spAutoFit/>
          </a:bodyPr>
          <a:lstStyle/>
          <a:p>
            <a:pPr indent="-311150" lvl="0" marL="457200" marR="0" rtl="0" algn="just">
              <a:lnSpc>
                <a:spcPct val="100000"/>
              </a:lnSpc>
              <a:spcBef>
                <a:spcPts val="0"/>
              </a:spcBef>
              <a:spcAft>
                <a:spcPts val="0"/>
              </a:spcAft>
              <a:buClr>
                <a:srgbClr val="000000"/>
              </a:buClr>
              <a:buSzPts val="1300"/>
              <a:buFont typeface="Montserrat"/>
              <a:buChar char="●"/>
            </a:pPr>
            <a:r>
              <a:rPr b="0" i="0" lang="pt-BR" sz="1000" u="none" cap="none" strike="noStrike">
                <a:solidFill>
                  <a:schemeClr val="lt1"/>
                </a:solidFill>
                <a:latin typeface="Work Sans"/>
                <a:ea typeface="Work Sans"/>
                <a:cs typeface="Work Sans"/>
                <a:sym typeface="Work Sans"/>
              </a:rPr>
              <a:t>Solution X, which is 50% alcohol, is combined with solution Y, which is 30% alcohol, to form a new solution that is 35% alcohol.</a:t>
            </a:r>
            <a:endParaRPr b="0" i="0" sz="1000" u="none" cap="none" strike="noStrike">
              <a:solidFill>
                <a:schemeClr val="lt1"/>
              </a:solidFill>
              <a:latin typeface="Work Sans"/>
              <a:ea typeface="Work Sans"/>
              <a:cs typeface="Work Sans"/>
              <a:sym typeface="Work Sans"/>
            </a:endParaRPr>
          </a:p>
        </p:txBody>
      </p:sp>
      <p:cxnSp>
        <p:nvCxnSpPr>
          <p:cNvPr id="1188" name="Google Shape;1188;p55"/>
          <p:cNvCxnSpPr/>
          <p:nvPr/>
        </p:nvCxnSpPr>
        <p:spPr>
          <a:xfrm>
            <a:off x="2753525" y="2120201"/>
            <a:ext cx="0" cy="2294234"/>
          </a:xfrm>
          <a:prstGeom prst="straightConnector1">
            <a:avLst/>
          </a:prstGeom>
          <a:noFill/>
          <a:ln cap="flat" cmpd="sng" w="19050">
            <a:solidFill>
              <a:srgbClr val="C00000"/>
            </a:solidFill>
            <a:prstDash val="dash"/>
            <a:round/>
            <a:headEnd len="sm" w="sm" type="none"/>
            <a:tailEnd len="sm" w="sm" type="none"/>
          </a:ln>
        </p:spPr>
      </p:cxnSp>
      <p:sp>
        <p:nvSpPr>
          <p:cNvPr id="1189" name="Google Shape;1189;p55"/>
          <p:cNvSpPr txBox="1"/>
          <p:nvPr/>
        </p:nvSpPr>
        <p:spPr>
          <a:xfrm>
            <a:off x="3104700" y="4204294"/>
            <a:ext cx="5040000" cy="584796"/>
          </a:xfrm>
          <a:prstGeom prst="rect">
            <a:avLst/>
          </a:prstGeom>
          <a:noFill/>
          <a:ln>
            <a:noFill/>
          </a:ln>
        </p:spPr>
        <p:txBody>
          <a:bodyPr anchorCtr="0" anchor="t" bIns="91450" lIns="91450" spcFirstLastPara="1" rIns="91450" wrap="square" tIns="91450">
            <a:spAutoFit/>
          </a:bodyPr>
          <a:lstStyle/>
          <a:p>
            <a:pPr indent="0" lvl="0" marL="0" marR="0" rtl="0" algn="ctr">
              <a:lnSpc>
                <a:spcPct val="130000"/>
              </a:lnSpc>
              <a:spcBef>
                <a:spcPts val="0"/>
              </a:spcBef>
              <a:spcAft>
                <a:spcPts val="0"/>
              </a:spcAft>
              <a:buClr>
                <a:srgbClr val="BA0E02"/>
              </a:buClr>
              <a:buSzPts val="1300"/>
              <a:buFont typeface="Arial"/>
              <a:buNone/>
            </a:pPr>
            <a:r>
              <a:rPr b="1" i="0" lang="pt-BR" sz="1000" u="none" cap="none" strike="noStrike">
                <a:solidFill>
                  <a:schemeClr val="dk1"/>
                </a:solidFill>
                <a:latin typeface="Work Sans"/>
                <a:ea typeface="Work Sans"/>
                <a:cs typeface="Work Sans"/>
                <a:sym typeface="Work Sans"/>
              </a:rPr>
              <a:t>Erro Comum:</a:t>
            </a:r>
            <a:r>
              <a:rPr b="0" i="0" lang="pt-BR" sz="1000" u="none" cap="none" strike="noStrike">
                <a:solidFill>
                  <a:schemeClr val="dk1"/>
                </a:solidFill>
                <a:latin typeface="Work Sans"/>
                <a:ea typeface="Work Sans"/>
                <a:cs typeface="Work Sans"/>
                <a:sym typeface="Work Sans"/>
              </a:rPr>
              <a:t> </a:t>
            </a:r>
            <a:r>
              <a:rPr b="1" i="0" lang="pt-BR" sz="1000" u="none" cap="none" strike="noStrike">
                <a:solidFill>
                  <a:schemeClr val="dk1"/>
                </a:solidFill>
                <a:latin typeface="Work Sans"/>
                <a:ea typeface="Work Sans"/>
                <a:cs typeface="Work Sans"/>
                <a:sym typeface="Work Sans"/>
              </a:rPr>
              <a:t>b + 10 = 2j</a:t>
            </a:r>
            <a:endParaRPr b="1" i="0" sz="1000" u="none" cap="none" strike="noStrike">
              <a:solidFill>
                <a:schemeClr val="dk1"/>
              </a:solidFill>
              <a:latin typeface="Work Sans"/>
              <a:ea typeface="Work Sans"/>
              <a:cs typeface="Work Sans"/>
              <a:sym typeface="Work Sans"/>
            </a:endParaRPr>
          </a:p>
          <a:p>
            <a:pPr indent="0" lvl="0" marL="0" marR="0" rtl="0" algn="ctr">
              <a:lnSpc>
                <a:spcPct val="130000"/>
              </a:lnSpc>
              <a:spcBef>
                <a:spcPts val="0"/>
              </a:spcBef>
              <a:spcAft>
                <a:spcPts val="0"/>
              </a:spcAft>
              <a:buClr>
                <a:schemeClr val="dk1"/>
              </a:buClr>
              <a:buSzPts val="1300"/>
              <a:buFont typeface="Arial"/>
              <a:buNone/>
            </a:pPr>
            <a:r>
              <a:rPr b="0" i="0" lang="pt-BR" sz="1000" u="none" cap="none" strike="noStrike">
                <a:solidFill>
                  <a:schemeClr val="lt1"/>
                </a:solidFill>
                <a:latin typeface="Work Sans"/>
                <a:ea typeface="Work Sans"/>
                <a:cs typeface="Work Sans"/>
                <a:sym typeface="Work Sans"/>
              </a:rPr>
              <a:t>In 10 years, Bill will be twice as old as Jeffery </a:t>
            </a:r>
            <a:r>
              <a:rPr b="1" i="0" lang="pt-BR" sz="1000" u="none" cap="none" strike="noStrike">
                <a:solidFill>
                  <a:schemeClr val="lt1"/>
                </a:solidFill>
                <a:latin typeface="Work Sans"/>
                <a:ea typeface="Work Sans"/>
                <a:cs typeface="Work Sans"/>
                <a:sym typeface="Work Sans"/>
              </a:rPr>
              <a:t>is right now</a:t>
            </a:r>
            <a:r>
              <a:rPr b="0" i="0" lang="pt-BR" sz="1000" u="none" cap="none" strike="noStrike">
                <a:solidFill>
                  <a:schemeClr val="lt1"/>
                </a:solidFill>
                <a:latin typeface="Work Sans"/>
                <a:ea typeface="Work Sans"/>
                <a:cs typeface="Work Sans"/>
                <a:sym typeface="Work Sans"/>
              </a:rPr>
              <a:t>.</a:t>
            </a:r>
            <a:endParaRPr b="1" i="0" sz="1000" u="none" cap="none" strike="noStrike">
              <a:solidFill>
                <a:schemeClr val="lt1"/>
              </a:solidFill>
              <a:latin typeface="Work Sans"/>
              <a:ea typeface="Work Sans"/>
              <a:cs typeface="Work Sans"/>
              <a:sym typeface="Work Sans"/>
            </a:endParaRPr>
          </a:p>
        </p:txBody>
      </p:sp>
      <p:grpSp>
        <p:nvGrpSpPr>
          <p:cNvPr id="1190" name="Google Shape;1190;p55"/>
          <p:cNvGrpSpPr/>
          <p:nvPr/>
        </p:nvGrpSpPr>
        <p:grpSpPr>
          <a:xfrm>
            <a:off x="3959998" y="1019552"/>
            <a:ext cx="2159892" cy="720000"/>
            <a:chOff x="5220000" y="5040000"/>
            <a:chExt cx="2520000" cy="720000"/>
          </a:xfrm>
        </p:grpSpPr>
        <p:sp>
          <p:nvSpPr>
            <p:cNvPr id="1191" name="Google Shape;1191;p55"/>
            <p:cNvSpPr txBox="1"/>
            <p:nvPr/>
          </p:nvSpPr>
          <p:spPr>
            <a:xfrm>
              <a:off x="5220000" y="5040000"/>
              <a:ext cx="252000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pt-BR" sz="1600" u="none" cap="none" strike="noStrike">
                  <a:solidFill>
                    <a:schemeClr val="lt1"/>
                  </a:solidFill>
                  <a:latin typeface="Arial"/>
                  <a:ea typeface="Arial"/>
                  <a:cs typeface="Arial"/>
                  <a:sym typeface="Arial"/>
                </a:rPr>
                <a:t>WORD PROBLEM</a:t>
              </a:r>
              <a:endParaRPr b="0" i="0" sz="1600" u="none" cap="none" strike="noStrike">
                <a:solidFill>
                  <a:schemeClr val="lt1"/>
                </a:solidFill>
                <a:latin typeface="Arial"/>
                <a:ea typeface="Arial"/>
                <a:cs typeface="Arial"/>
                <a:sym typeface="Arial"/>
              </a:endParaRPr>
            </a:p>
          </p:txBody>
        </p:sp>
        <p:sp>
          <p:nvSpPr>
            <p:cNvPr id="1192" name="Google Shape;1192;p55"/>
            <p:cNvSpPr txBox="1"/>
            <p:nvPr/>
          </p:nvSpPr>
          <p:spPr>
            <a:xfrm>
              <a:off x="5220000" y="5400000"/>
              <a:ext cx="2520000" cy="360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1" lang="pt-BR" sz="1800" u="none" cap="none" strike="noStrike">
                  <a:solidFill>
                    <a:schemeClr val="dk1"/>
                  </a:solidFill>
                  <a:latin typeface="Arial"/>
                  <a:ea typeface="Arial"/>
                  <a:cs typeface="Arial"/>
                  <a:sym typeface="Arial"/>
                </a:rPr>
                <a:t>word problem</a:t>
              </a:r>
              <a:endParaRPr b="0" i="1" sz="1800" u="none" cap="none" strike="noStrike">
                <a:solidFill>
                  <a:srgbClr val="000000"/>
                </a:solidFill>
                <a:latin typeface="Arial"/>
                <a:ea typeface="Arial"/>
                <a:cs typeface="Arial"/>
                <a:sym typeface="Arial"/>
              </a:endParaRPr>
            </a:p>
          </p:txBody>
        </p:sp>
      </p:grpSp>
      <p:sp>
        <p:nvSpPr>
          <p:cNvPr id="1193" name="Google Shape;1193;p55"/>
          <p:cNvSpPr txBox="1"/>
          <p:nvPr/>
        </p:nvSpPr>
        <p:spPr>
          <a:xfrm>
            <a:off x="3276990" y="1088509"/>
            <a:ext cx="587556" cy="576001"/>
          </a:xfrm>
          <a:prstGeom prst="rect">
            <a:avLst/>
          </a:prstGeom>
          <a:solidFill>
            <a:schemeClr val="dk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3F3F3"/>
              </a:solidFill>
              <a:latin typeface="Kanit"/>
              <a:ea typeface="Kanit"/>
              <a:cs typeface="Kanit"/>
              <a:sym typeface="Kanit"/>
            </a:endParaRPr>
          </a:p>
        </p:txBody>
      </p:sp>
      <p:pic>
        <p:nvPicPr>
          <p:cNvPr descr="Puzzle outline" id="1194" name="Google Shape;1194;p55"/>
          <p:cNvPicPr preferRelativeResize="0"/>
          <p:nvPr/>
        </p:nvPicPr>
        <p:blipFill rotWithShape="1">
          <a:blip r:embed="rId3">
            <a:alphaModFix/>
          </a:blip>
          <a:srcRect b="0" l="0" r="0" t="0"/>
          <a:stretch/>
        </p:blipFill>
        <p:spPr>
          <a:xfrm>
            <a:off x="3248825" y="1114782"/>
            <a:ext cx="587556" cy="587556"/>
          </a:xfrm>
          <a:prstGeom prst="rect">
            <a:avLst/>
          </a:prstGeom>
          <a:noFill/>
          <a:ln>
            <a:noFill/>
          </a:ln>
        </p:spPr>
      </p:pic>
      <p:sp>
        <p:nvSpPr>
          <p:cNvPr id="1195" name="Google Shape;1195;p55"/>
          <p:cNvSpPr txBox="1"/>
          <p:nvPr/>
        </p:nvSpPr>
        <p:spPr>
          <a:xfrm>
            <a:off x="7125634" y="2802599"/>
            <a:ext cx="1620000" cy="338574"/>
          </a:xfrm>
          <a:prstGeom prst="rect">
            <a:avLst/>
          </a:prstGeom>
          <a:noFill/>
          <a:ln>
            <a:noFill/>
          </a:ln>
        </p:spPr>
        <p:txBody>
          <a:bodyPr anchorCtr="0" anchor="t" bIns="91450" lIns="91450" spcFirstLastPara="1" rIns="91450" wrap="square" tIns="91450">
            <a:sp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rgbClr val="BA0E02"/>
                </a:solidFill>
                <a:latin typeface="Work Sans"/>
                <a:ea typeface="Work Sans"/>
                <a:cs typeface="Work Sans"/>
                <a:sym typeface="Work Sans"/>
              </a:rPr>
              <a:t>x = k / y²</a:t>
            </a:r>
            <a:endParaRPr b="1" i="0" sz="1000" u="none" cap="none" strike="noStrike">
              <a:solidFill>
                <a:srgbClr val="BA0E02"/>
              </a:solidFill>
              <a:latin typeface="Work Sans"/>
              <a:ea typeface="Work Sans"/>
              <a:cs typeface="Work Sans"/>
              <a:sym typeface="Work Sans"/>
            </a:endParaRPr>
          </a:p>
        </p:txBody>
      </p:sp>
      <p:sp>
        <p:nvSpPr>
          <p:cNvPr id="1196" name="Google Shape;1196;p55"/>
          <p:cNvSpPr txBox="1"/>
          <p:nvPr/>
        </p:nvSpPr>
        <p:spPr>
          <a:xfrm>
            <a:off x="7161540" y="3746785"/>
            <a:ext cx="1620000" cy="338574"/>
          </a:xfrm>
          <a:prstGeom prst="rect">
            <a:avLst/>
          </a:prstGeom>
          <a:noFill/>
          <a:ln>
            <a:noFill/>
          </a:ln>
        </p:spPr>
        <p:txBody>
          <a:bodyPr anchorCtr="0" anchor="t" bIns="91450" lIns="91450" spcFirstLastPara="1" rIns="91450" wrap="square" tIns="91450">
            <a:sp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rgbClr val="BA0E02"/>
                </a:solidFill>
                <a:latin typeface="Work Sans"/>
                <a:ea typeface="Work Sans"/>
                <a:cs typeface="Work Sans"/>
                <a:sym typeface="Work Sans"/>
              </a:rPr>
              <a:t>b + 10 = 2 (j + 10)</a:t>
            </a:r>
            <a:endParaRPr b="1" i="0" sz="1000" u="none" cap="none" strike="noStrike">
              <a:solidFill>
                <a:srgbClr val="BA0E02"/>
              </a:solidFill>
              <a:latin typeface="Work Sans"/>
              <a:ea typeface="Work Sans"/>
              <a:cs typeface="Work Sans"/>
              <a:sym typeface="Work Sans"/>
            </a:endParaRPr>
          </a:p>
        </p:txBody>
      </p:sp>
      <p:sp>
        <p:nvSpPr>
          <p:cNvPr id="1197" name="Google Shape;1197;p55"/>
          <p:cNvSpPr txBox="1"/>
          <p:nvPr/>
        </p:nvSpPr>
        <p:spPr>
          <a:xfrm>
            <a:off x="6970243" y="3283961"/>
            <a:ext cx="1930782" cy="361658"/>
          </a:xfrm>
          <a:prstGeom prst="rect">
            <a:avLst/>
          </a:prstGeom>
          <a:noFill/>
          <a:ln>
            <a:noFill/>
          </a:ln>
        </p:spPr>
        <p:txBody>
          <a:bodyPr anchorCtr="0" anchor="t" bIns="91450" lIns="91450" spcFirstLastPara="1" rIns="91450" wrap="square" tIns="91450">
            <a:spAutoFit/>
          </a:bodyPr>
          <a:lstStyle/>
          <a:p>
            <a:pPr indent="0" lvl="0" marL="0" marR="0" rtl="0" algn="ctr">
              <a:lnSpc>
                <a:spcPct val="115000"/>
              </a:lnSpc>
              <a:spcBef>
                <a:spcPts val="0"/>
              </a:spcBef>
              <a:spcAft>
                <a:spcPts val="0"/>
              </a:spcAft>
              <a:buClr>
                <a:srgbClr val="000000"/>
              </a:buClr>
              <a:buSzPts val="2400"/>
              <a:buFont typeface="Arial"/>
              <a:buNone/>
            </a:pPr>
            <a:r>
              <a:rPr b="1" i="0" lang="pt-BR" sz="1000" u="none" cap="none" strike="noStrike">
                <a:solidFill>
                  <a:srgbClr val="BA0E02"/>
                </a:solidFill>
                <a:latin typeface="Work Sans"/>
                <a:ea typeface="Work Sans"/>
                <a:cs typeface="Work Sans"/>
                <a:sym typeface="Work Sans"/>
              </a:rPr>
              <a:t>50x + 30y = 35(x + y)</a:t>
            </a:r>
            <a:endParaRPr b="1" i="0" sz="1000" u="none" cap="none" strike="noStrike">
              <a:solidFill>
                <a:srgbClr val="BA0E02"/>
              </a:solidFill>
              <a:latin typeface="Work Sans"/>
              <a:ea typeface="Work Sans"/>
              <a:cs typeface="Work Sans"/>
              <a:sym typeface="Work Sans"/>
            </a:endParaRPr>
          </a:p>
        </p:txBody>
      </p:sp>
      <p:sp>
        <p:nvSpPr>
          <p:cNvPr id="1198" name="Google Shape;1198;p55"/>
          <p:cNvSpPr txBox="1"/>
          <p:nvPr/>
        </p:nvSpPr>
        <p:spPr>
          <a:xfrm>
            <a:off x="7161540" y="2334213"/>
            <a:ext cx="1620000" cy="338574"/>
          </a:xfrm>
          <a:prstGeom prst="rect">
            <a:avLst/>
          </a:prstGeom>
          <a:noFill/>
          <a:ln>
            <a:noFill/>
          </a:ln>
        </p:spPr>
        <p:txBody>
          <a:bodyPr anchorCtr="0" anchor="t" bIns="91450" lIns="91450" spcFirstLastPara="1" rIns="91450" wrap="square" tIns="91450">
            <a:spAutoFit/>
          </a:bodyPr>
          <a:lstStyle/>
          <a:p>
            <a:pPr indent="0" lvl="0" marL="0" marR="0" rtl="0" algn="ctr">
              <a:lnSpc>
                <a:spcPct val="100000"/>
              </a:lnSpc>
              <a:spcBef>
                <a:spcPts val="0"/>
              </a:spcBef>
              <a:spcAft>
                <a:spcPts val="0"/>
              </a:spcAft>
              <a:buClr>
                <a:srgbClr val="000000"/>
              </a:buClr>
              <a:buSzPts val="2400"/>
              <a:buFont typeface="Arial"/>
              <a:buNone/>
            </a:pPr>
            <a:r>
              <a:rPr b="1" i="0" lang="pt-BR" sz="1000" u="none" cap="none" strike="noStrike">
                <a:solidFill>
                  <a:srgbClr val="BA0E02"/>
                </a:solidFill>
                <a:latin typeface="Work Sans"/>
                <a:ea typeface="Work Sans"/>
                <a:cs typeface="Work Sans"/>
                <a:sym typeface="Work Sans"/>
              </a:rPr>
              <a:t>j = 2 (m - 4)</a:t>
            </a:r>
            <a:endParaRPr b="1" i="0" sz="1000" u="none" cap="none" strike="noStrike">
              <a:solidFill>
                <a:srgbClr val="BA0E02"/>
              </a:solidFill>
              <a:latin typeface="Work Sans"/>
              <a:ea typeface="Work Sans"/>
              <a:cs typeface="Work Sans"/>
              <a:sym typeface="Work Sans"/>
            </a:endParaRPr>
          </a:p>
        </p:txBody>
      </p:sp>
      <p:sp>
        <p:nvSpPr>
          <p:cNvPr id="1199" name="Google Shape;1199;p55"/>
          <p:cNvSpPr txBox="1"/>
          <p:nvPr/>
        </p:nvSpPr>
        <p:spPr>
          <a:xfrm>
            <a:off x="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l">
              <a:lnSpc>
                <a:spcPct val="100000"/>
              </a:lnSpc>
              <a:spcBef>
                <a:spcPts val="0"/>
              </a:spcBef>
              <a:spcAft>
                <a:spcPts val="0"/>
              </a:spcAft>
              <a:buClr>
                <a:srgbClr val="000000"/>
              </a:buClr>
              <a:buSzPts val="900"/>
              <a:buFont typeface="Arial"/>
              <a:buNone/>
            </a:pPr>
            <a:r>
              <a:rPr b="1" i="0" lang="pt-BR" sz="900" u="none" cap="none" strike="noStrike">
                <a:solidFill>
                  <a:srgbClr val="000000"/>
                </a:solidFill>
                <a:latin typeface="Arial"/>
                <a:ea typeface="Arial"/>
                <a:cs typeface="Arial"/>
                <a:sym typeface="Arial"/>
              </a:rPr>
              <a:t>Processo Trainee 2026.2 </a:t>
            </a:r>
            <a:r>
              <a:rPr b="0" i="0" lang="pt-BR" sz="900" u="none" cap="none" strike="noStrike">
                <a:solidFill>
                  <a:srgbClr val="000000"/>
                </a:solidFill>
                <a:latin typeface="Arial"/>
                <a:ea typeface="Arial"/>
                <a:cs typeface="Arial"/>
                <a:sym typeface="Arial"/>
              </a:rPr>
              <a:t>| GMAT: Estrutura da Prova</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56"/>
          <p:cNvSpPr/>
          <p:nvPr/>
        </p:nvSpPr>
        <p:spPr>
          <a:xfrm>
            <a:off x="-64294" y="-57150"/>
            <a:ext cx="9279732" cy="5250656"/>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205" name="Google Shape;1205;p56"/>
          <p:cNvSpPr/>
          <p:nvPr/>
        </p:nvSpPr>
        <p:spPr>
          <a:xfrm>
            <a:off x="4689591" y="3118885"/>
            <a:ext cx="3419100" cy="122158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06" name="Google Shape;1206;p56"/>
          <p:cNvSpPr/>
          <p:nvPr/>
        </p:nvSpPr>
        <p:spPr>
          <a:xfrm>
            <a:off x="4991147" y="1570723"/>
            <a:ext cx="615600" cy="615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56"/>
          <p:cNvSpPr/>
          <p:nvPr/>
        </p:nvSpPr>
        <p:spPr>
          <a:xfrm>
            <a:off x="4991147" y="2320805"/>
            <a:ext cx="615600" cy="615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56"/>
          <p:cNvSpPr txBox="1"/>
          <p:nvPr>
            <p:ph idx="1" type="subTitle"/>
          </p:nvPr>
        </p:nvSpPr>
        <p:spPr>
          <a:xfrm>
            <a:off x="5091888" y="1014630"/>
            <a:ext cx="3655200" cy="361236"/>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lt1"/>
              </a:buClr>
              <a:buSzPts val="1100"/>
              <a:buFont typeface="Arial"/>
              <a:buNone/>
            </a:pPr>
            <a:r>
              <a:rPr b="1" lang="pt-BR">
                <a:solidFill>
                  <a:srgbClr val="FFFFFF"/>
                </a:solidFill>
              </a:rPr>
              <a:t>Ficou com alguma dúvida?</a:t>
            </a:r>
            <a:endParaRPr/>
          </a:p>
          <a:p>
            <a:pPr indent="0" lvl="0" marL="0" rtl="0" algn="r">
              <a:lnSpc>
                <a:spcPct val="100000"/>
              </a:lnSpc>
              <a:spcBef>
                <a:spcPts val="0"/>
              </a:spcBef>
              <a:spcAft>
                <a:spcPts val="0"/>
              </a:spcAft>
              <a:buClr>
                <a:schemeClr val="lt1"/>
              </a:buClr>
              <a:buSzPts val="1100"/>
              <a:buFont typeface="Arial"/>
              <a:buNone/>
            </a:pPr>
            <a:r>
              <a:t/>
            </a:r>
            <a:endParaRPr b="1"/>
          </a:p>
        </p:txBody>
      </p:sp>
      <p:sp>
        <p:nvSpPr>
          <p:cNvPr id="1209" name="Google Shape;1209;p56"/>
          <p:cNvSpPr/>
          <p:nvPr/>
        </p:nvSpPr>
        <p:spPr>
          <a:xfrm>
            <a:off x="4991147" y="3777785"/>
            <a:ext cx="615600" cy="615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56"/>
          <p:cNvSpPr/>
          <p:nvPr/>
        </p:nvSpPr>
        <p:spPr>
          <a:xfrm>
            <a:off x="4991147" y="3027793"/>
            <a:ext cx="615600" cy="615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Ícone&#10;&#10;Descrição gerada automaticamente" id="1211" name="Google Shape;1211;p56"/>
          <p:cNvPicPr preferRelativeResize="0"/>
          <p:nvPr/>
        </p:nvPicPr>
        <p:blipFill rotWithShape="1">
          <a:blip r:embed="rId3">
            <a:alphaModFix/>
          </a:blip>
          <a:srcRect b="0" l="0" r="0" t="0"/>
          <a:stretch/>
        </p:blipFill>
        <p:spPr>
          <a:xfrm>
            <a:off x="5123810" y="1685381"/>
            <a:ext cx="350273" cy="376238"/>
          </a:xfrm>
          <a:prstGeom prst="rect">
            <a:avLst/>
          </a:prstGeom>
          <a:noFill/>
          <a:ln>
            <a:noFill/>
          </a:ln>
        </p:spPr>
      </p:pic>
      <p:pic>
        <p:nvPicPr>
          <p:cNvPr descr="Ícone&#10;&#10;Descrição gerada automaticamente" id="1212" name="Google Shape;1212;p56"/>
          <p:cNvPicPr preferRelativeResize="0"/>
          <p:nvPr/>
        </p:nvPicPr>
        <p:blipFill rotWithShape="1">
          <a:blip r:embed="rId4">
            <a:alphaModFix/>
          </a:blip>
          <a:srcRect b="0" l="0" r="0" t="0"/>
          <a:stretch/>
        </p:blipFill>
        <p:spPr>
          <a:xfrm>
            <a:off x="5123810" y="2441886"/>
            <a:ext cx="339823" cy="365013"/>
          </a:xfrm>
          <a:prstGeom prst="rect">
            <a:avLst/>
          </a:prstGeom>
          <a:noFill/>
          <a:ln>
            <a:noFill/>
          </a:ln>
        </p:spPr>
      </p:pic>
      <p:pic>
        <p:nvPicPr>
          <p:cNvPr descr="Ícone&#10;&#10;Descrição gerada automaticamente" id="1213" name="Google Shape;1213;p56"/>
          <p:cNvPicPr preferRelativeResize="0"/>
          <p:nvPr/>
        </p:nvPicPr>
        <p:blipFill rotWithShape="1">
          <a:blip r:embed="rId5">
            <a:alphaModFix/>
          </a:blip>
          <a:srcRect b="0" l="0" r="0" t="0"/>
          <a:stretch/>
        </p:blipFill>
        <p:spPr>
          <a:xfrm>
            <a:off x="5091888" y="3112827"/>
            <a:ext cx="403666" cy="433588"/>
          </a:xfrm>
          <a:prstGeom prst="rect">
            <a:avLst/>
          </a:prstGeom>
          <a:noFill/>
          <a:ln>
            <a:noFill/>
          </a:ln>
        </p:spPr>
      </p:pic>
      <p:pic>
        <p:nvPicPr>
          <p:cNvPr descr="Ícone&#10;&#10;Descrição gerada automaticamente" id="1214" name="Google Shape;1214;p56"/>
          <p:cNvPicPr preferRelativeResize="0"/>
          <p:nvPr/>
        </p:nvPicPr>
        <p:blipFill rotWithShape="1">
          <a:blip r:embed="rId6">
            <a:alphaModFix/>
          </a:blip>
          <a:srcRect b="0" l="0" r="0" t="0"/>
          <a:stretch/>
        </p:blipFill>
        <p:spPr>
          <a:xfrm>
            <a:off x="5125577" y="3896848"/>
            <a:ext cx="351424" cy="377473"/>
          </a:xfrm>
          <a:prstGeom prst="rect">
            <a:avLst/>
          </a:prstGeom>
          <a:noFill/>
          <a:ln>
            <a:noFill/>
          </a:ln>
        </p:spPr>
      </p:pic>
      <p:sp>
        <p:nvSpPr>
          <p:cNvPr id="1215" name="Google Shape;1215;p56"/>
          <p:cNvSpPr txBox="1"/>
          <p:nvPr/>
        </p:nvSpPr>
        <p:spPr>
          <a:xfrm>
            <a:off x="5606746" y="1670929"/>
            <a:ext cx="3655200" cy="36123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Work Sans"/>
              <a:buNone/>
            </a:pPr>
            <a:r>
              <a:rPr b="0" i="0" lang="pt-BR" sz="1400" u="sng" cap="none" strike="noStrike">
                <a:solidFill>
                  <a:srgbClr val="FFFFFF"/>
                </a:solidFill>
                <a:latin typeface="Work Sans"/>
                <a:ea typeface="Work Sans"/>
                <a:cs typeface="Work Sans"/>
                <a:sym typeface="Work Sans"/>
                <a:hlinkClick r:id="rId7">
                  <a:extLst>
                    <a:ext uri="{A12FA001-AC4F-418D-AE19-62706E023703}">
                      <ahyp:hlinkClr val="tx"/>
                    </a:ext>
                  </a:extLst>
                </a:hlinkClick>
              </a:rPr>
              <a:t>equipeccu@gmail.com</a:t>
            </a:r>
            <a:endParaRPr b="0" i="0" sz="1400" u="none" cap="none" strike="noStrike">
              <a:solidFill>
                <a:srgbClr val="FFFFFF"/>
              </a:solidFill>
              <a:latin typeface="Work Sans"/>
              <a:ea typeface="Work Sans"/>
              <a:cs typeface="Work Sans"/>
              <a:sym typeface="Work Sans"/>
            </a:endParaRPr>
          </a:p>
          <a:p>
            <a:pPr indent="0" lvl="0" marL="0" marR="0" rtl="0" algn="l">
              <a:lnSpc>
                <a:spcPct val="100000"/>
              </a:lnSpc>
              <a:spcBef>
                <a:spcPts val="0"/>
              </a:spcBef>
              <a:spcAft>
                <a:spcPts val="0"/>
              </a:spcAft>
              <a:buClr>
                <a:schemeClr val="lt1"/>
              </a:buClr>
              <a:buSzPts val="1100"/>
              <a:buFont typeface="Arial"/>
              <a:buNone/>
            </a:pPr>
            <a:r>
              <a:t/>
            </a:r>
            <a:endParaRPr b="1" i="0" sz="1400" u="none" cap="none" strike="noStrike">
              <a:solidFill>
                <a:schemeClr val="lt1"/>
              </a:solidFill>
              <a:latin typeface="Work Sans"/>
              <a:ea typeface="Work Sans"/>
              <a:cs typeface="Work Sans"/>
              <a:sym typeface="Work Sans"/>
            </a:endParaRPr>
          </a:p>
        </p:txBody>
      </p:sp>
      <p:sp>
        <p:nvSpPr>
          <p:cNvPr id="1216" name="Google Shape;1216;p56"/>
          <p:cNvSpPr txBox="1"/>
          <p:nvPr/>
        </p:nvSpPr>
        <p:spPr>
          <a:xfrm>
            <a:off x="5606745" y="2400419"/>
            <a:ext cx="3655200" cy="36123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Work Sans"/>
              <a:buNone/>
            </a:pPr>
            <a:r>
              <a:rPr b="0" i="0" lang="pt-BR" sz="1400" u="none" cap="none" strike="noStrike">
                <a:solidFill>
                  <a:srgbClr val="FFFFFF"/>
                </a:solidFill>
                <a:latin typeface="Work Sans"/>
                <a:ea typeface="Work Sans"/>
                <a:cs typeface="Work Sans"/>
                <a:sym typeface="Work Sans"/>
              </a:rPr>
              <a:t>@ccuclubedeconsultoria</a:t>
            </a:r>
            <a:endParaRPr/>
          </a:p>
          <a:p>
            <a:pPr indent="0" lvl="0" marL="0" marR="0" rtl="0" algn="l">
              <a:lnSpc>
                <a:spcPct val="100000"/>
              </a:lnSpc>
              <a:spcBef>
                <a:spcPts val="0"/>
              </a:spcBef>
              <a:spcAft>
                <a:spcPts val="0"/>
              </a:spcAft>
              <a:buClr>
                <a:schemeClr val="lt1"/>
              </a:buClr>
              <a:buSzPts val="1100"/>
              <a:buFont typeface="Arial"/>
              <a:buNone/>
            </a:pPr>
            <a:r>
              <a:t/>
            </a:r>
            <a:endParaRPr b="1" i="0" sz="1400" u="none" cap="none" strike="noStrike">
              <a:solidFill>
                <a:schemeClr val="lt1"/>
              </a:solidFill>
              <a:latin typeface="Work Sans"/>
              <a:ea typeface="Work Sans"/>
              <a:cs typeface="Work Sans"/>
              <a:sym typeface="Work Sans"/>
            </a:endParaRPr>
          </a:p>
        </p:txBody>
      </p:sp>
      <p:sp>
        <p:nvSpPr>
          <p:cNvPr id="1217" name="Google Shape;1217;p56"/>
          <p:cNvSpPr txBox="1"/>
          <p:nvPr/>
        </p:nvSpPr>
        <p:spPr>
          <a:xfrm>
            <a:off x="5606745" y="3124041"/>
            <a:ext cx="3655200" cy="36123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Work Sans"/>
              <a:buNone/>
            </a:pPr>
            <a:r>
              <a:rPr b="0" i="0" lang="pt-BR" sz="1400" u="none" cap="none" strike="noStrike">
                <a:solidFill>
                  <a:srgbClr val="FFFFFF"/>
                </a:solidFill>
                <a:latin typeface="Work Sans"/>
                <a:ea typeface="Work Sans"/>
                <a:cs typeface="Work Sans"/>
                <a:sym typeface="Work Sans"/>
              </a:rPr>
              <a:t>consultoriaunicamp.com</a:t>
            </a:r>
            <a:endParaRPr/>
          </a:p>
          <a:p>
            <a:pPr indent="0" lvl="0" marL="0" marR="0" rtl="0" algn="l">
              <a:lnSpc>
                <a:spcPct val="100000"/>
              </a:lnSpc>
              <a:spcBef>
                <a:spcPts val="0"/>
              </a:spcBef>
              <a:spcAft>
                <a:spcPts val="0"/>
              </a:spcAft>
              <a:buClr>
                <a:schemeClr val="lt1"/>
              </a:buClr>
              <a:buSzPts val="1100"/>
              <a:buFont typeface="Arial"/>
              <a:buNone/>
            </a:pPr>
            <a:r>
              <a:t/>
            </a:r>
            <a:endParaRPr b="1" i="0" sz="1400" u="none" cap="none" strike="noStrike">
              <a:solidFill>
                <a:schemeClr val="lt1"/>
              </a:solidFill>
              <a:latin typeface="Work Sans"/>
              <a:ea typeface="Work Sans"/>
              <a:cs typeface="Work Sans"/>
              <a:sym typeface="Work Sans"/>
            </a:endParaRPr>
          </a:p>
        </p:txBody>
      </p:sp>
      <p:sp>
        <p:nvSpPr>
          <p:cNvPr id="1218" name="Google Shape;1218;p56"/>
          <p:cNvSpPr txBox="1"/>
          <p:nvPr/>
        </p:nvSpPr>
        <p:spPr>
          <a:xfrm>
            <a:off x="5606745" y="3887331"/>
            <a:ext cx="3655200" cy="36123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Work Sans"/>
              <a:buNone/>
            </a:pPr>
            <a:r>
              <a:rPr b="0" i="0" lang="pt-BR" sz="1400" u="none" cap="none" strike="noStrike">
                <a:solidFill>
                  <a:srgbClr val="FFFFFF"/>
                </a:solidFill>
                <a:latin typeface="Work Sans"/>
                <a:ea typeface="Work Sans"/>
                <a:cs typeface="Work Sans"/>
                <a:sym typeface="Work Sans"/>
              </a:rPr>
              <a:t>Clube de Consultoria Universitário</a:t>
            </a:r>
            <a:endParaRPr/>
          </a:p>
          <a:p>
            <a:pPr indent="0" lvl="0" marL="0" marR="0" rtl="0" algn="l">
              <a:lnSpc>
                <a:spcPct val="100000"/>
              </a:lnSpc>
              <a:spcBef>
                <a:spcPts val="0"/>
              </a:spcBef>
              <a:spcAft>
                <a:spcPts val="0"/>
              </a:spcAft>
              <a:buClr>
                <a:schemeClr val="lt1"/>
              </a:buClr>
              <a:buSzPts val="1100"/>
              <a:buFont typeface="Arial"/>
              <a:buNone/>
            </a:pPr>
            <a:r>
              <a:t/>
            </a:r>
            <a:endParaRPr b="1" i="0" sz="1400" u="none" cap="none" strike="noStrike">
              <a:solidFill>
                <a:schemeClr val="lt1"/>
              </a:solidFill>
              <a:latin typeface="Work Sans"/>
              <a:ea typeface="Work Sans"/>
              <a:cs typeface="Work Sans"/>
              <a:sym typeface="Work Sans"/>
            </a:endParaRPr>
          </a:p>
        </p:txBody>
      </p:sp>
      <p:pic>
        <p:nvPicPr>
          <p:cNvPr id="1219" name="Google Shape;1219;p56"/>
          <p:cNvPicPr preferRelativeResize="0"/>
          <p:nvPr/>
        </p:nvPicPr>
        <p:blipFill rotWithShape="1">
          <a:blip r:embed="rId8">
            <a:alphaModFix/>
          </a:blip>
          <a:srcRect b="0" l="0" r="0" t="0"/>
          <a:stretch/>
        </p:blipFill>
        <p:spPr>
          <a:xfrm>
            <a:off x="405981" y="393873"/>
            <a:ext cx="3511815" cy="1671378"/>
          </a:xfrm>
          <a:prstGeom prst="rect">
            <a:avLst/>
          </a:prstGeom>
          <a:noFill/>
          <a:ln>
            <a:noFill/>
          </a:ln>
        </p:spPr>
      </p:pic>
      <p:pic>
        <p:nvPicPr>
          <p:cNvPr id="1220" name="Google Shape;1220;p56"/>
          <p:cNvPicPr preferRelativeResize="0"/>
          <p:nvPr/>
        </p:nvPicPr>
        <p:blipFill rotWithShape="1">
          <a:blip r:embed="rId9">
            <a:alphaModFix/>
          </a:blip>
          <a:srcRect b="0" l="0" r="0" t="0"/>
          <a:stretch/>
        </p:blipFill>
        <p:spPr>
          <a:xfrm>
            <a:off x="405981" y="4550167"/>
            <a:ext cx="2387225" cy="298920"/>
          </a:xfrm>
          <a:prstGeom prst="rect">
            <a:avLst/>
          </a:prstGeom>
          <a:noFill/>
          <a:ln>
            <a:noFill/>
          </a:ln>
        </p:spPr>
      </p:pic>
      <p:sp>
        <p:nvSpPr>
          <p:cNvPr id="1221" name="Google Shape;1221;p56"/>
          <p:cNvSpPr txBox="1"/>
          <p:nvPr>
            <p:ph type="ctrTitle"/>
          </p:nvPr>
        </p:nvSpPr>
        <p:spPr>
          <a:xfrm>
            <a:off x="307141" y="2447943"/>
            <a:ext cx="4784747" cy="1392052"/>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pt-BR" sz="3600">
                <a:solidFill>
                  <a:srgbClr val="C1272D"/>
                </a:solidFill>
              </a:rPr>
              <a:t>AGRADECEMOS SUA PARTICIPAÇÃO!</a:t>
            </a:r>
            <a:br>
              <a:rPr lang="pt-BR" sz="4000"/>
            </a:br>
            <a:r>
              <a:rPr b="0" lang="pt-BR" sz="2000">
                <a:solidFill>
                  <a:schemeClr val="lt2"/>
                </a:solidFill>
              </a:rPr>
              <a:t>Até o próximo módulo!</a:t>
            </a:r>
            <a:endParaRPr b="0" sz="2000">
              <a:solidFill>
                <a:schemeClr val="lt2"/>
              </a:solidFill>
            </a:endParaRPr>
          </a:p>
        </p:txBody>
      </p:sp>
      <p:sp>
        <p:nvSpPr>
          <p:cNvPr id="1222" name="Google Shape;1222;p56"/>
          <p:cNvSpPr txBox="1"/>
          <p:nvPr/>
        </p:nvSpPr>
        <p:spPr>
          <a:xfrm>
            <a:off x="4281900" y="4825425"/>
            <a:ext cx="4862100" cy="276900"/>
          </a:xfrm>
          <a:prstGeom prst="rect">
            <a:avLst/>
          </a:prstGeom>
          <a:noFill/>
          <a:ln>
            <a:noFill/>
          </a:ln>
        </p:spPr>
        <p:txBody>
          <a:bodyPr anchorCtr="0" anchor="t" bIns="68550" lIns="137125" spcFirstLastPara="1" rIns="137125" wrap="square" tIns="68550">
            <a:spAutoFit/>
          </a:bodyPr>
          <a:lstStyle/>
          <a:p>
            <a:pPr indent="0" lvl="0" marL="0" marR="0" rtl="0" algn="r">
              <a:lnSpc>
                <a:spcPct val="100000"/>
              </a:lnSpc>
              <a:spcBef>
                <a:spcPts val="0"/>
              </a:spcBef>
              <a:spcAft>
                <a:spcPts val="0"/>
              </a:spcAft>
              <a:buClr>
                <a:srgbClr val="000000"/>
              </a:buClr>
              <a:buSzPts val="900"/>
              <a:buFont typeface="Arial"/>
              <a:buNone/>
            </a:pPr>
            <a:r>
              <a:rPr b="0" i="0" lang="pt-BR" sz="900" u="none" cap="none" strike="noStrike">
                <a:solidFill>
                  <a:srgbClr val="FFFFFF"/>
                </a:solidFill>
                <a:latin typeface="Arial"/>
                <a:ea typeface="Arial"/>
                <a:cs typeface="Arial"/>
                <a:sym typeface="Arial"/>
              </a:rPr>
              <a:t>Copyright © 2026 Clube de Consultoria Universitário. All rights reserved.</a:t>
            </a:r>
            <a:endParaRPr b="0" i="0" sz="9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ogistic Transport Company Profile by Slidesgo">
  <a:themeElements>
    <a:clrScheme name="Personalizada 2">
      <a:dk1>
        <a:srgbClr val="C1272D"/>
      </a:dk1>
      <a:lt1>
        <a:srgbClr val="161616"/>
      </a:lt1>
      <a:dk2>
        <a:srgbClr val="F3F3F3"/>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Verena</dc:creator>
</cp:coreProperties>
</file>