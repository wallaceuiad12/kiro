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2" r:id="rId8"/>
    <p:sldId id="261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1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23960" y="0"/>
            <a:ext cx="3367735" cy="6858000"/>
          </a:xfrm>
          <a:prstGeom prst="rect">
            <a:avLst/>
          </a:prstGeom>
          <a:solidFill>
            <a:srgbClr val="93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372600" y="868680"/>
            <a:ext cx="214884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372600" y="1124712"/>
            <a:ext cx="1417320" cy="109728"/>
          </a:xfrm>
          <a:prstGeom prst="rect">
            <a:avLst/>
          </a:prstGeom>
          <a:solidFill>
            <a:srgbClr val="EBA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372600" y="2057400"/>
            <a:ext cx="214884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372600" y="2313432"/>
            <a:ext cx="1417320" cy="109728"/>
          </a:xfrm>
          <a:prstGeom prst="rect">
            <a:avLst/>
          </a:prstGeom>
          <a:solidFill>
            <a:srgbClr val="EBA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372600" y="3246120"/>
            <a:ext cx="214884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372600" y="3502152"/>
            <a:ext cx="1417320" cy="109728"/>
          </a:xfrm>
          <a:prstGeom prst="rect">
            <a:avLst/>
          </a:prstGeom>
          <a:solidFill>
            <a:srgbClr val="EBA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372600" y="4434840"/>
            <a:ext cx="214884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372600" y="4690872"/>
            <a:ext cx="1417320" cy="109728"/>
          </a:xfrm>
          <a:prstGeom prst="rect">
            <a:avLst/>
          </a:prstGeom>
          <a:solidFill>
            <a:srgbClr val="EBA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932688"/>
            <a:ext cx="4114800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1" i="0" dirty="0">
                <a:solidFill>
                  <a:srgbClr val="D8D9DB"/>
                </a:solidFill>
                <a:latin typeface="Aptos"/>
              </a:rPr>
              <a:t>BAGHUB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481328"/>
            <a:ext cx="6949440" cy="12344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 i="0" dirty="0" err="1">
                <a:solidFill>
                  <a:srgbClr val="FFFFFF"/>
                </a:solidFill>
                <a:latin typeface="Aptos"/>
              </a:rPr>
              <a:t>Estratégia</a:t>
            </a:r>
            <a:r>
              <a:rPr sz="3100" b="1" i="0" dirty="0">
                <a:solidFill>
                  <a:srgbClr val="FFFFFF"/>
                </a:solidFill>
                <a:latin typeface="Aptos"/>
              </a:rPr>
              <a:t> de </a:t>
            </a:r>
            <a:r>
              <a:rPr sz="3100" b="1" i="0" dirty="0" err="1">
                <a:solidFill>
                  <a:srgbClr val="FFFFFF"/>
                </a:solidFill>
                <a:latin typeface="Aptos"/>
              </a:rPr>
              <a:t>lançamento</a:t>
            </a:r>
            <a:r>
              <a:rPr sz="3100" b="1" i="0" dirty="0">
                <a:solidFill>
                  <a:srgbClr val="FFFFFF"/>
                </a:solidFill>
                <a:latin typeface="Aptos"/>
              </a:rPr>
              <a:t>
</a:t>
            </a:r>
            <a:r>
              <a:rPr sz="3100" b="1" i="0" dirty="0" err="1">
                <a:solidFill>
                  <a:srgbClr val="FFFFFF"/>
                </a:solidFill>
                <a:latin typeface="Aptos"/>
              </a:rPr>
              <a:t>em</a:t>
            </a:r>
            <a:r>
              <a:rPr sz="3100" b="1" i="0" dirty="0">
                <a:solidFill>
                  <a:srgbClr val="FFFFFF"/>
                </a:solidFill>
                <a:latin typeface="Aptos"/>
              </a:rPr>
              <a:t> Porto Claro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9808" y="2926080"/>
            <a:ext cx="1581912" cy="0"/>
          </a:xfrm>
          <a:prstGeom prst="line">
            <a:avLst/>
          </a:prstGeom>
          <a:ln w="38100">
            <a:solidFill>
              <a:srgbClr val="C02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9808" y="3246120"/>
            <a:ext cx="6035040" cy="3840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0" i="0" dirty="0">
                <a:solidFill>
                  <a:srgbClr val="DDDFE2"/>
                </a:solidFill>
                <a:latin typeface="Aptos"/>
              </a:rPr>
              <a:t>Case </a:t>
            </a:r>
            <a:r>
              <a:rPr sz="1400" b="0" i="0" dirty="0" err="1">
                <a:solidFill>
                  <a:srgbClr val="DDDFE2"/>
                </a:solidFill>
                <a:latin typeface="Aptos"/>
              </a:rPr>
              <a:t>estratégico</a:t>
            </a:r>
            <a:r>
              <a:rPr sz="1400" b="0" i="0" dirty="0">
                <a:solidFill>
                  <a:srgbClr val="DDDFE2"/>
                </a:solidFill>
                <a:latin typeface="Aptos"/>
              </a:rPr>
              <a:t> | </a:t>
            </a:r>
            <a:r>
              <a:rPr sz="1400" b="0" i="0" dirty="0" err="1">
                <a:solidFill>
                  <a:srgbClr val="DDDFE2"/>
                </a:solidFill>
                <a:latin typeface="Aptos"/>
              </a:rPr>
              <a:t>abordagem</a:t>
            </a:r>
            <a:r>
              <a:rPr sz="1400" b="0" i="0" dirty="0">
                <a:solidFill>
                  <a:srgbClr val="DDDFE2"/>
                </a:solidFill>
                <a:latin typeface="Aptos"/>
              </a:rPr>
              <a:t> de </a:t>
            </a:r>
            <a:r>
              <a:rPr sz="1400" b="0" i="0" dirty="0" err="1">
                <a:solidFill>
                  <a:srgbClr val="DDDFE2"/>
                </a:solidFill>
                <a:latin typeface="Aptos"/>
              </a:rPr>
              <a:t>consultoria</a:t>
            </a:r>
            <a:endParaRPr sz="1400" b="0" i="0" dirty="0">
              <a:solidFill>
                <a:srgbClr val="DDDFE2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9808" y="3730752"/>
            <a:ext cx="6583680" cy="20313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0" i="0" dirty="0" err="1">
                <a:solidFill>
                  <a:srgbClr val="B0B5BB"/>
                </a:solidFill>
                <a:latin typeface="Aptos"/>
              </a:rPr>
              <a:t>Análise</a:t>
            </a:r>
            <a:r>
              <a:rPr sz="1200" b="0" i="0" dirty="0">
                <a:solidFill>
                  <a:srgbClr val="B0B5BB"/>
                </a:solidFill>
                <a:latin typeface="Aptos"/>
              </a:rPr>
              <a:t> de </a:t>
            </a:r>
            <a:r>
              <a:rPr sz="1200" b="0" i="0" dirty="0" err="1">
                <a:solidFill>
                  <a:srgbClr val="B0B5BB"/>
                </a:solidFill>
                <a:latin typeface="Aptos"/>
              </a:rPr>
              <a:t>atratividade</a:t>
            </a:r>
            <a:r>
              <a:rPr sz="1200" b="0" i="0" dirty="0">
                <a:solidFill>
                  <a:srgbClr val="B0B5BB"/>
                </a:solidFill>
                <a:latin typeface="Aptos"/>
              </a:rPr>
              <a:t>, </a:t>
            </a:r>
            <a:r>
              <a:rPr lang="pt-BR" sz="1200" b="0" i="0" dirty="0" err="1">
                <a:solidFill>
                  <a:srgbClr val="B0B5BB"/>
                </a:solidFill>
                <a:latin typeface="Aptos"/>
              </a:rPr>
              <a:t>economics</a:t>
            </a:r>
            <a:r>
              <a:rPr sz="1200" b="0" i="0" dirty="0">
                <a:solidFill>
                  <a:srgbClr val="B0B5BB"/>
                </a:solidFill>
                <a:latin typeface="Aptos"/>
              </a:rPr>
              <a:t>, </a:t>
            </a:r>
            <a:r>
              <a:rPr sz="1200" b="0" i="0" dirty="0" err="1">
                <a:solidFill>
                  <a:srgbClr val="B0B5BB"/>
                </a:solidFill>
                <a:latin typeface="Aptos"/>
              </a:rPr>
              <a:t>sensibilidade</a:t>
            </a:r>
            <a:r>
              <a:rPr sz="1200" b="0" i="0" dirty="0">
                <a:solidFill>
                  <a:srgbClr val="B0B5BB"/>
                </a:solidFill>
                <a:latin typeface="Aptos"/>
              </a:rPr>
              <a:t> e plano de </a:t>
            </a:r>
            <a:r>
              <a:rPr sz="1200" b="0" i="0" dirty="0" err="1">
                <a:solidFill>
                  <a:srgbClr val="B0B5BB"/>
                </a:solidFill>
                <a:latin typeface="Aptos"/>
              </a:rPr>
              <a:t>escala</a:t>
            </a:r>
            <a:endParaRPr sz="1200" b="0" i="0" dirty="0">
              <a:solidFill>
                <a:srgbClr val="B0B5BB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9808" y="5971032"/>
            <a:ext cx="320040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00" b="1" i="0">
                <a:solidFill>
                  <a:srgbClr val="A9AEB4"/>
                </a:solidFill>
                <a:latin typeface="Aptos"/>
              </a:rPr>
              <a:t>Processo seletivo 2026.2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37113"/>
            <a:ext cx="9875520" cy="43891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300" b="1" i="0" dirty="0" err="1">
                <a:solidFill>
                  <a:srgbClr val="1C1F23"/>
                </a:solidFill>
                <a:latin typeface="Aptos"/>
              </a:rPr>
              <a:t>Recomendação</a:t>
            </a:r>
            <a:endParaRPr sz="2300" b="1" i="0" dirty="0">
              <a:solidFill>
                <a:srgbClr val="1C1F23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01400" y="301752"/>
            <a:ext cx="475488" cy="14157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800" b="1" i="0" dirty="0">
                <a:solidFill>
                  <a:srgbClr val="989EA6"/>
                </a:solidFill>
                <a:latin typeface="Aptos"/>
              </a:rPr>
              <a:t>0</a:t>
            </a:r>
            <a:r>
              <a:rPr lang="pt-BR" sz="800" b="1" i="0" dirty="0">
                <a:solidFill>
                  <a:srgbClr val="989EA6"/>
                </a:solidFill>
                <a:latin typeface="Aptos"/>
              </a:rPr>
              <a:t>1</a:t>
            </a:r>
            <a:endParaRPr sz="800" b="1" i="0" dirty="0">
              <a:solidFill>
                <a:srgbClr val="989EA6"/>
              </a:solidFill>
              <a:latin typeface="Aptos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02920" y="1024128"/>
            <a:ext cx="11183112" cy="0"/>
          </a:xfrm>
          <a:prstGeom prst="line">
            <a:avLst/>
          </a:prstGeom>
          <a:ln w="12700">
            <a:solidFill>
              <a:srgbClr val="E5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77948" y="1293876"/>
            <a:ext cx="10972800" cy="1207008"/>
          </a:xfrm>
          <a:prstGeom prst="round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0022" y="1521012"/>
            <a:ext cx="6327648" cy="38779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400" b="1" i="0" dirty="0">
                <a:solidFill>
                  <a:srgbClr val="C00000"/>
                </a:solidFill>
                <a:latin typeface="Aptos"/>
              </a:rPr>
              <a:t>ESTAÇÃO CENTRAL  +  PONTOS PARCEIROS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3116" y="2139696"/>
            <a:ext cx="438912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 i="0" dirty="0" err="1">
                <a:solidFill>
                  <a:srgbClr val="DCDFE3"/>
                </a:solidFill>
                <a:latin typeface="Aptos"/>
              </a:rPr>
              <a:t>Maior</a:t>
            </a:r>
            <a:r>
              <a:rPr sz="1000" b="1" i="0" dirty="0">
                <a:solidFill>
                  <a:srgbClr val="DCDFE3"/>
                </a:solidFill>
                <a:latin typeface="Aptos"/>
              </a:rPr>
              <a:t> </a:t>
            </a:r>
            <a:r>
              <a:rPr sz="1000" b="1" i="0" dirty="0" err="1">
                <a:solidFill>
                  <a:srgbClr val="DCDFE3"/>
                </a:solidFill>
                <a:latin typeface="Aptos"/>
              </a:rPr>
              <a:t>resultado</a:t>
            </a:r>
            <a:r>
              <a:rPr sz="1000" b="1" i="0" dirty="0">
                <a:solidFill>
                  <a:srgbClr val="DCDFE3"/>
                </a:solidFill>
                <a:latin typeface="Aptos"/>
              </a:rPr>
              <a:t> </a:t>
            </a:r>
            <a:r>
              <a:rPr sz="1000" b="1" i="0" dirty="0" err="1">
                <a:solidFill>
                  <a:srgbClr val="DCDFE3"/>
                </a:solidFill>
                <a:latin typeface="Aptos"/>
              </a:rPr>
              <a:t>operacional</a:t>
            </a:r>
            <a:r>
              <a:rPr sz="1000" b="1" i="0" dirty="0">
                <a:solidFill>
                  <a:srgbClr val="DCDFE3"/>
                </a:solidFill>
                <a:latin typeface="Aptos"/>
              </a:rPr>
              <a:t> </a:t>
            </a:r>
            <a:r>
              <a:rPr sz="1000" b="1" i="0" dirty="0" err="1">
                <a:solidFill>
                  <a:srgbClr val="DCDFE3"/>
                </a:solidFill>
                <a:latin typeface="Aptos"/>
              </a:rPr>
              <a:t>absoluto</a:t>
            </a:r>
            <a:r>
              <a:rPr sz="1000" b="1" i="0" dirty="0">
                <a:solidFill>
                  <a:srgbClr val="DCDFE3"/>
                </a:solidFill>
                <a:latin typeface="Aptos"/>
              </a:rPr>
              <a:t> com </a:t>
            </a:r>
            <a:r>
              <a:rPr sz="1000" b="1" i="0" dirty="0" err="1">
                <a:solidFill>
                  <a:srgbClr val="DCDFE3"/>
                </a:solidFill>
                <a:latin typeface="Aptos"/>
              </a:rPr>
              <a:t>economia</a:t>
            </a:r>
            <a:r>
              <a:rPr sz="1000" b="1" i="0" dirty="0">
                <a:solidFill>
                  <a:srgbClr val="DCDFE3"/>
                </a:solidFill>
                <a:latin typeface="Aptos"/>
              </a:rPr>
              <a:t> de </a:t>
            </a:r>
            <a:r>
              <a:rPr sz="1000" b="1" i="0" dirty="0" err="1">
                <a:solidFill>
                  <a:srgbClr val="DCDFE3"/>
                </a:solidFill>
                <a:latin typeface="Aptos"/>
              </a:rPr>
              <a:t>modelo</a:t>
            </a:r>
            <a:r>
              <a:rPr sz="1000" b="1" i="0" dirty="0">
                <a:solidFill>
                  <a:srgbClr val="DCDFE3"/>
                </a:solidFill>
                <a:latin typeface="Aptos"/>
              </a:rPr>
              <a:t> robusta.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1922" y="3127248"/>
            <a:ext cx="2606040" cy="3291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1110" y="3273552"/>
            <a:ext cx="310896" cy="310896"/>
          </a:xfrm>
          <a:prstGeom prst="ellipse">
            <a:avLst/>
          </a:prstGeom>
          <a:solidFill>
            <a:srgbClr val="C0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0904" y="3355848"/>
            <a:ext cx="371309" cy="14157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00" b="1" i="0" dirty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2002" y="3300984"/>
            <a:ext cx="146304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1" i="0" dirty="0">
                <a:solidFill>
                  <a:srgbClr val="1C1F23"/>
                </a:solidFill>
                <a:latin typeface="Aptos"/>
              </a:rPr>
              <a:t>Caixa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3090" y="3776472"/>
            <a:ext cx="2606040" cy="24929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500" b="1" i="0" dirty="0">
                <a:solidFill>
                  <a:srgbClr val="C0252B"/>
                </a:solidFill>
                <a:latin typeface="Aptos"/>
              </a:rPr>
              <a:t>R$ 27,84 mi/</a:t>
            </a:r>
            <a:r>
              <a:rPr sz="1500" b="1" i="0" dirty="0" err="1">
                <a:solidFill>
                  <a:srgbClr val="C0252B"/>
                </a:solidFill>
                <a:latin typeface="Aptos"/>
              </a:rPr>
              <a:t>ano</a:t>
            </a:r>
            <a:endParaRPr sz="1500" b="1" i="0" dirty="0">
              <a:solidFill>
                <a:srgbClr val="C0252B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63090" y="4251960"/>
            <a:ext cx="2606040" cy="58521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60" b="0" i="0" dirty="0" err="1">
                <a:solidFill>
                  <a:srgbClr val="585D65"/>
                </a:solidFill>
                <a:latin typeface="Aptos"/>
              </a:rPr>
              <a:t>Maximiza</a:t>
            </a:r>
            <a:r>
              <a:rPr sz="860" b="0" i="0" dirty="0">
                <a:solidFill>
                  <a:srgbClr val="585D65"/>
                </a:solidFill>
                <a:latin typeface="Aptos"/>
              </a:rPr>
              <a:t> </a:t>
            </a:r>
            <a:r>
              <a:rPr sz="860" b="0" i="0" dirty="0" err="1">
                <a:solidFill>
                  <a:srgbClr val="585D65"/>
                </a:solidFill>
                <a:latin typeface="Aptos"/>
              </a:rPr>
              <a:t>recursos</a:t>
            </a:r>
            <a:r>
              <a:rPr sz="860" b="0" i="0" dirty="0">
                <a:solidFill>
                  <a:srgbClr val="585D65"/>
                </a:solidFill>
                <a:latin typeface="Aptos"/>
              </a:rPr>
              <a:t> para </a:t>
            </a:r>
            <a:r>
              <a:rPr sz="860" b="0" i="0" dirty="0" err="1">
                <a:solidFill>
                  <a:srgbClr val="585D65"/>
                </a:solidFill>
                <a:latin typeface="Aptos"/>
              </a:rPr>
              <a:t>financiar</a:t>
            </a:r>
            <a:r>
              <a:rPr sz="860" b="0" i="0" dirty="0">
                <a:solidFill>
                  <a:srgbClr val="585D65"/>
                </a:solidFill>
                <a:latin typeface="Aptos"/>
              </a:rPr>
              <a:t> a </a:t>
            </a:r>
            <a:r>
              <a:rPr sz="860" b="0" i="0" dirty="0" err="1">
                <a:solidFill>
                  <a:srgbClr val="585D65"/>
                </a:solidFill>
                <a:latin typeface="Aptos"/>
              </a:rPr>
              <a:t>expansão</a:t>
            </a:r>
            <a:r>
              <a:rPr sz="860" b="0" i="0" dirty="0">
                <a:solidFill>
                  <a:srgbClr val="585D65"/>
                </a:solidFill>
                <a:latin typeface="Aptos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0248" y="3127249"/>
            <a:ext cx="2543517" cy="32918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498848" y="3248271"/>
            <a:ext cx="310896" cy="310896"/>
          </a:xfrm>
          <a:prstGeom prst="ellipse">
            <a:avLst/>
          </a:prstGeom>
          <a:solidFill>
            <a:srgbClr val="C0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4498848" y="3328418"/>
            <a:ext cx="310896" cy="21031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00" b="1" i="0" dirty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3300986"/>
            <a:ext cx="146304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1" i="0">
                <a:solidFill>
                  <a:srgbClr val="1C1F23"/>
                </a:solidFill>
                <a:latin typeface="Aptos"/>
              </a:rPr>
              <a:t>Demanda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1416" y="3776474"/>
            <a:ext cx="1976276" cy="24929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500" b="1" i="0" dirty="0">
                <a:solidFill>
                  <a:srgbClr val="C00000"/>
                </a:solidFill>
                <a:latin typeface="Aptos"/>
              </a:rPr>
              <a:t>24 mil </a:t>
            </a:r>
            <a:r>
              <a:rPr sz="1500" b="1" i="0" dirty="0" err="1">
                <a:solidFill>
                  <a:srgbClr val="C00000"/>
                </a:solidFill>
                <a:latin typeface="Aptos"/>
              </a:rPr>
              <a:t>tx</a:t>
            </a:r>
            <a:r>
              <a:rPr sz="1500" b="1" i="0" dirty="0">
                <a:solidFill>
                  <a:srgbClr val="C00000"/>
                </a:solidFill>
                <a:latin typeface="Aptos"/>
              </a:rPr>
              <a:t>/</a:t>
            </a:r>
            <a:r>
              <a:rPr sz="1500" b="1" i="0" dirty="0" err="1">
                <a:solidFill>
                  <a:srgbClr val="C00000"/>
                </a:solidFill>
                <a:latin typeface="Aptos"/>
              </a:rPr>
              <a:t>sem</a:t>
            </a:r>
            <a:endParaRPr sz="1500" b="1" i="0" dirty="0">
              <a:solidFill>
                <a:srgbClr val="C00000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71416" y="4206241"/>
            <a:ext cx="2342350" cy="15081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60" b="0" i="0" dirty="0" err="1">
                <a:solidFill>
                  <a:srgbClr val="585D65"/>
                </a:solidFill>
                <a:latin typeface="Aptos"/>
              </a:rPr>
              <a:t>Fluxo</a:t>
            </a:r>
            <a:r>
              <a:rPr sz="860" b="0" i="0" dirty="0">
                <a:solidFill>
                  <a:srgbClr val="585D65"/>
                </a:solidFill>
                <a:latin typeface="Aptos"/>
              </a:rPr>
              <a:t> </a:t>
            </a:r>
            <a:r>
              <a:rPr lang="pt-BR" sz="860" b="0" i="0" dirty="0">
                <a:solidFill>
                  <a:srgbClr val="585D65"/>
                </a:solidFill>
                <a:latin typeface="Aptos"/>
              </a:rPr>
              <a:t>menos sazonal e ancorado </a:t>
            </a:r>
            <a:r>
              <a:rPr lang="pt-BR" sz="860" dirty="0">
                <a:solidFill>
                  <a:srgbClr val="585D65"/>
                </a:solidFill>
                <a:latin typeface="Aptos"/>
              </a:rPr>
              <a:t>nos</a:t>
            </a:r>
            <a:r>
              <a:rPr sz="860" b="0" i="0" dirty="0">
                <a:solidFill>
                  <a:srgbClr val="585D65"/>
                </a:solidFill>
                <a:latin typeface="Aptos"/>
              </a:rPr>
              <a:t> termina</a:t>
            </a:r>
            <a:r>
              <a:rPr lang="pt-BR" sz="860" b="0" i="0" dirty="0" err="1">
                <a:solidFill>
                  <a:srgbClr val="585D65"/>
                </a:solidFill>
                <a:latin typeface="Aptos"/>
              </a:rPr>
              <a:t>is</a:t>
            </a:r>
            <a:r>
              <a:rPr lang="pt-BR" sz="860" b="0" i="0" dirty="0">
                <a:solidFill>
                  <a:srgbClr val="585D65"/>
                </a:solidFill>
                <a:latin typeface="Aptos"/>
              </a:rPr>
              <a:t>.</a:t>
            </a:r>
            <a:endParaRPr sz="860" b="0" i="0" dirty="0">
              <a:solidFill>
                <a:srgbClr val="585D65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16051" y="3127248"/>
            <a:ext cx="2543517" cy="3291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913078" y="3255266"/>
            <a:ext cx="310896" cy="310896"/>
          </a:xfrm>
          <a:prstGeom prst="ellipse">
            <a:avLst/>
          </a:prstGeom>
          <a:solidFill>
            <a:srgbClr val="C0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13078" y="3337093"/>
            <a:ext cx="310896" cy="21031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1989" y="3300986"/>
            <a:ext cx="1667333" cy="18004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1" i="0" dirty="0" err="1">
                <a:solidFill>
                  <a:srgbClr val="1C1F23"/>
                </a:solidFill>
                <a:latin typeface="Aptos"/>
              </a:rPr>
              <a:t>Modelo</a:t>
            </a:r>
            <a:r>
              <a:rPr lang="pt-BR" sz="1050" b="1" i="0" dirty="0">
                <a:solidFill>
                  <a:srgbClr val="1C1F23"/>
                </a:solidFill>
                <a:latin typeface="Aptos"/>
              </a:rPr>
              <a:t> – Pontos Parceiros</a:t>
            </a:r>
            <a:endParaRPr sz="1050" b="1" i="0" dirty="0">
              <a:solidFill>
                <a:srgbClr val="1C1F23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913078" y="3776474"/>
            <a:ext cx="260604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500" b="1" i="0">
                <a:solidFill>
                  <a:srgbClr val="C0252B"/>
                </a:solidFill>
                <a:latin typeface="Aptos"/>
              </a:rPr>
              <a:t>R$ 2,76 mi de economia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13078" y="4251962"/>
            <a:ext cx="2606040" cy="58521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60" b="0" i="0" dirty="0" err="1">
                <a:solidFill>
                  <a:srgbClr val="585D65"/>
                </a:solidFill>
                <a:latin typeface="Aptos"/>
              </a:rPr>
              <a:t>Vantagem</a:t>
            </a:r>
            <a:r>
              <a:rPr sz="860" b="0" i="0" dirty="0">
                <a:solidFill>
                  <a:srgbClr val="585D65"/>
                </a:solidFill>
                <a:latin typeface="Aptos"/>
              </a:rPr>
              <a:t> de </a:t>
            </a:r>
            <a:r>
              <a:rPr sz="860" b="0" i="0" dirty="0" err="1">
                <a:solidFill>
                  <a:srgbClr val="585D65"/>
                </a:solidFill>
                <a:latin typeface="Aptos"/>
              </a:rPr>
              <a:t>parceiros</a:t>
            </a:r>
            <a:r>
              <a:rPr sz="860" b="0" i="0" dirty="0">
                <a:solidFill>
                  <a:srgbClr val="585D65"/>
                </a:solidFill>
                <a:latin typeface="Aptos"/>
              </a:rPr>
              <a:t> </a:t>
            </a:r>
            <a:r>
              <a:rPr sz="860" b="0" i="0" dirty="0" err="1">
                <a:solidFill>
                  <a:srgbClr val="585D65"/>
                </a:solidFill>
                <a:latin typeface="Aptos"/>
              </a:rPr>
              <a:t>permanece</a:t>
            </a:r>
            <a:r>
              <a:rPr sz="860" b="0" i="0" dirty="0">
                <a:solidFill>
                  <a:srgbClr val="585D65"/>
                </a:solidFill>
                <a:latin typeface="Aptos"/>
              </a:rPr>
              <a:t> </a:t>
            </a:r>
            <a:r>
              <a:rPr sz="860" b="0" i="0" dirty="0" err="1">
                <a:solidFill>
                  <a:srgbClr val="585D65"/>
                </a:solidFill>
                <a:latin typeface="Aptos"/>
              </a:rPr>
              <a:t>ampla</a:t>
            </a:r>
            <a:r>
              <a:rPr sz="860" b="0" i="0" dirty="0">
                <a:solidFill>
                  <a:srgbClr val="585D65"/>
                </a:solidFill>
                <a:latin typeface="Aptos"/>
              </a:rPr>
              <a:t> </a:t>
            </a:r>
            <a:r>
              <a:rPr sz="860" b="0" i="0" dirty="0" err="1">
                <a:solidFill>
                  <a:srgbClr val="585D65"/>
                </a:solidFill>
                <a:latin typeface="Aptos"/>
              </a:rPr>
              <a:t>na</a:t>
            </a:r>
            <a:r>
              <a:rPr sz="860" b="0" i="0" dirty="0">
                <a:solidFill>
                  <a:srgbClr val="585D65"/>
                </a:solidFill>
                <a:latin typeface="Aptos"/>
              </a:rPr>
              <a:t> </a:t>
            </a:r>
            <a:r>
              <a:rPr sz="860" b="0" i="0" dirty="0" err="1">
                <a:solidFill>
                  <a:srgbClr val="585D65"/>
                </a:solidFill>
                <a:latin typeface="Aptos"/>
              </a:rPr>
              <a:t>sensibilidade</a:t>
            </a:r>
            <a:r>
              <a:rPr sz="860" b="0" i="0" dirty="0">
                <a:solidFill>
                  <a:srgbClr val="585D65"/>
                </a:solidFill>
                <a:latin typeface="Aptos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59568" y="6462932"/>
            <a:ext cx="1307592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650" b="0" i="0">
                <a:solidFill>
                  <a:srgbClr val="989EA6"/>
                </a:solidFill>
                <a:latin typeface="Aptos"/>
              </a:rPr>
              <a:t>BagHub | 2026.2</a:t>
            </a:r>
          </a:p>
        </p:txBody>
      </p:sp>
      <p:pic>
        <p:nvPicPr>
          <p:cNvPr id="1028" name="Picture 4" descr="Um ícone minimalista de arte de: vetor stock (livre de direitos) 2679735011  | Shutterstock">
            <a:extLst>
              <a:ext uri="{FF2B5EF4-FFF2-40B4-BE49-F238E27FC236}">
                <a16:creationId xmlns:a16="http://schemas.microsoft.com/office/drawing/2014/main" id="{73AF811F-B1AD-3015-3823-1305E94E60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8" b="9697"/>
          <a:stretch/>
        </p:blipFill>
        <p:spPr bwMode="auto">
          <a:xfrm>
            <a:off x="1364319" y="4562858"/>
            <a:ext cx="1401246" cy="1368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emand icon outline style thin line creative – Royalty-Free Vector |  VectorStock">
            <a:extLst>
              <a:ext uri="{FF2B5EF4-FFF2-40B4-BE49-F238E27FC236}">
                <a16:creationId xmlns:a16="http://schemas.microsoft.com/office/drawing/2014/main" id="{28FBDD2F-2D97-EF62-7812-DB0AD35C61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144"/>
          <a:stretch/>
        </p:blipFill>
        <p:spPr bwMode="auto">
          <a:xfrm>
            <a:off x="4874924" y="4674995"/>
            <a:ext cx="1334164" cy="1479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inimalista linha arte ilustração retratando uma aperto de mão, a icônico  gesto significando bem sucedido o negócio negócios, parceria, mútuo  confiar, e eficaz colaboração conceitos 73936717 Vetor no Vecteezy">
            <a:extLst>
              <a:ext uri="{FF2B5EF4-FFF2-40B4-BE49-F238E27FC236}">
                <a16:creationId xmlns:a16="http://schemas.microsoft.com/office/drawing/2014/main" id="{B45E2CB3-895B-CCC7-6362-859CC2867A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6"/>
          <a:stretch/>
        </p:blipFill>
        <p:spPr bwMode="auto">
          <a:xfrm>
            <a:off x="8251953" y="4891722"/>
            <a:ext cx="1471711" cy="934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  <p:bldP spid="13" grpId="0"/>
      <p:bldP spid="14" grpId="0"/>
      <p:bldP spid="15" grpId="0"/>
      <p:bldP spid="16" grpId="0" animBg="1"/>
      <p:bldP spid="17" grpId="0" animBg="1"/>
      <p:bldP spid="18" grpId="0"/>
      <p:bldP spid="19" grpId="0"/>
      <p:bldP spid="20" grpId="0"/>
      <p:bldP spid="21" grpId="0"/>
      <p:bldP spid="22" grpId="0" animBg="1"/>
      <p:bldP spid="23" grpId="0" animBg="1"/>
      <p:bldP spid="24" grpId="0"/>
      <p:bldP spid="25" grpId="0"/>
      <p:bldP spid="26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114800" cy="14157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1" i="0" dirty="0">
                <a:solidFill>
                  <a:srgbClr val="C0252B"/>
                </a:solidFill>
                <a:latin typeface="Aptos"/>
              </a:rPr>
              <a:t> ATRATIVIDADE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9875520" cy="43891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300" b="1" i="0">
                <a:solidFill>
                  <a:srgbClr val="1C1F23"/>
                </a:solidFill>
                <a:latin typeface="Aptos"/>
              </a:rPr>
              <a:t>Bairros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01752"/>
            <a:ext cx="475488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800" b="1" i="0">
                <a:solidFill>
                  <a:srgbClr val="989EA6"/>
                </a:solidFill>
                <a:latin typeface="Aptos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24128"/>
            <a:ext cx="11183112" cy="0"/>
          </a:xfrm>
          <a:prstGeom prst="line">
            <a:avLst/>
          </a:prstGeom>
          <a:ln w="12700">
            <a:solidFill>
              <a:srgbClr val="E5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435607"/>
            <a:ext cx="1920240" cy="493776"/>
          </a:xfrm>
          <a:prstGeom prst="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3" y="1481327"/>
            <a:ext cx="1810512" cy="42062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ptos"/>
              </a:rPr>
              <a:t>Bairro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435607"/>
            <a:ext cx="2148840" cy="493776"/>
          </a:xfrm>
          <a:prstGeom prst="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23744" y="1481327"/>
            <a:ext cx="2039112" cy="42062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ptos"/>
              </a:rPr>
              <a:t>Âncora de demanda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435607"/>
            <a:ext cx="1965960" cy="493776"/>
          </a:xfrm>
          <a:prstGeom prst="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72584" y="1481327"/>
            <a:ext cx="1856231" cy="42062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ptos"/>
              </a:rPr>
              <a:t>Comportamento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435607"/>
            <a:ext cx="1417320" cy="493776"/>
          </a:xfrm>
          <a:prstGeom prst="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38544" y="1481327"/>
            <a:ext cx="1307592" cy="42062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ptos"/>
              </a:rPr>
              <a:t>Complexidade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1435607"/>
            <a:ext cx="3218688" cy="493776"/>
          </a:xfrm>
          <a:prstGeom prst="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55864" y="1619375"/>
            <a:ext cx="3108960" cy="14452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819" b="1" i="0" dirty="0" err="1">
                <a:solidFill>
                  <a:srgbClr val="FFFFFF"/>
                </a:solidFill>
                <a:latin typeface="Aptos"/>
              </a:rPr>
              <a:t>Leitura</a:t>
            </a:r>
            <a:r>
              <a:rPr sz="819" b="1" i="0" dirty="0">
                <a:solidFill>
                  <a:srgbClr val="FFFFFF"/>
                </a:solidFill>
                <a:latin typeface="Aptos"/>
              </a:rPr>
              <a:t> </a:t>
            </a:r>
            <a:r>
              <a:rPr lang="pt-BR" sz="819" b="1" dirty="0">
                <a:solidFill>
                  <a:srgbClr val="FFFFFF"/>
                </a:solidFill>
                <a:latin typeface="Aptos"/>
              </a:rPr>
              <a:t>estratégica</a:t>
            </a:r>
            <a:endParaRPr sz="819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1929383"/>
            <a:ext cx="192024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002535"/>
            <a:ext cx="1737360" cy="7955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860" b="1" i="0">
                <a:solidFill>
                  <a:srgbClr val="C0252B"/>
                </a:solidFill>
                <a:latin typeface="Aptos"/>
              </a:rPr>
              <a:t>Estação Central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1929383"/>
            <a:ext cx="214884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60320" y="2324893"/>
            <a:ext cx="1965960" cy="15081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860" b="0" i="0" dirty="0">
                <a:solidFill>
                  <a:srgbClr val="1C1F23"/>
                </a:solidFill>
                <a:latin typeface="Aptos"/>
              </a:rPr>
              <a:t>Terminal ferro</a:t>
            </a:r>
            <a:r>
              <a:rPr lang="pt-BR" sz="860" b="0" i="0" dirty="0">
                <a:solidFill>
                  <a:srgbClr val="1C1F23"/>
                </a:solidFill>
                <a:latin typeface="Aptos"/>
              </a:rPr>
              <a:t>viário</a:t>
            </a:r>
            <a:r>
              <a:rPr sz="860" b="0" i="0" dirty="0">
                <a:solidFill>
                  <a:srgbClr val="1C1F23"/>
                </a:solidFill>
                <a:latin typeface="Aptos"/>
              </a:rPr>
              <a:t>/</a:t>
            </a:r>
            <a:r>
              <a:rPr sz="860" b="0" i="0" dirty="0" err="1">
                <a:solidFill>
                  <a:srgbClr val="1C1F23"/>
                </a:solidFill>
                <a:latin typeface="Aptos"/>
              </a:rPr>
              <a:t>rodoviário</a:t>
            </a:r>
            <a:endParaRPr sz="860" b="0" i="0" dirty="0">
              <a:solidFill>
                <a:srgbClr val="1C1F23"/>
              </a:solidFill>
              <a:latin typeface="Apto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617720" y="1929383"/>
            <a:ext cx="196596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09160" y="2002535"/>
            <a:ext cx="1783080" cy="7955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860" b="0" i="0" dirty="0" err="1">
                <a:solidFill>
                  <a:srgbClr val="1C1F23"/>
                </a:solidFill>
                <a:latin typeface="Aptos"/>
              </a:rPr>
              <a:t>Recorrente</a:t>
            </a:r>
            <a:r>
              <a:rPr sz="860" b="0" i="0" dirty="0">
                <a:solidFill>
                  <a:srgbClr val="1C1F23"/>
                </a:solidFill>
                <a:latin typeface="Aptos"/>
              </a:rPr>
              <a:t> e </a:t>
            </a:r>
            <a:r>
              <a:rPr sz="860" b="0" i="0" dirty="0" err="1">
                <a:solidFill>
                  <a:srgbClr val="1C1F23"/>
                </a:solidFill>
                <a:latin typeface="Aptos"/>
              </a:rPr>
              <a:t>ancorada</a:t>
            </a:r>
            <a:endParaRPr sz="860" b="0" i="0" dirty="0">
              <a:solidFill>
                <a:srgbClr val="1C1F23"/>
              </a:solidFill>
              <a:latin typeface="Apto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583680" y="1929383"/>
            <a:ext cx="141732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2002535"/>
            <a:ext cx="1234440" cy="7955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860" b="0" i="0">
                <a:solidFill>
                  <a:srgbClr val="1C1F23"/>
                </a:solidFill>
                <a:latin typeface="Aptos"/>
              </a:rPr>
              <a:t>Moderada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1929383"/>
            <a:ext cx="3218688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92440" y="2327201"/>
            <a:ext cx="3035808" cy="14619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830" b="0" i="0" dirty="0" err="1">
                <a:solidFill>
                  <a:srgbClr val="1C1F23"/>
                </a:solidFill>
                <a:latin typeface="Aptos"/>
              </a:rPr>
              <a:t>Maior</a:t>
            </a:r>
            <a:r>
              <a:rPr sz="830" b="0" i="0" dirty="0">
                <a:solidFill>
                  <a:srgbClr val="1C1F23"/>
                </a:solidFill>
                <a:latin typeface="Aptos"/>
              </a:rPr>
              <a:t> </a:t>
            </a:r>
            <a:r>
              <a:rPr sz="830" b="0" i="0" dirty="0" err="1">
                <a:solidFill>
                  <a:srgbClr val="1C1F23"/>
                </a:solidFill>
                <a:latin typeface="Aptos"/>
              </a:rPr>
              <a:t>potencial</a:t>
            </a:r>
            <a:r>
              <a:rPr sz="830" b="0" i="0" dirty="0">
                <a:solidFill>
                  <a:srgbClr val="1C1F23"/>
                </a:solidFill>
                <a:latin typeface="Aptos"/>
              </a:rPr>
              <a:t> de </a:t>
            </a:r>
            <a:r>
              <a:rPr sz="830" b="0" i="0" dirty="0" err="1">
                <a:solidFill>
                  <a:srgbClr val="1C1F23"/>
                </a:solidFill>
                <a:latin typeface="Aptos"/>
              </a:rPr>
              <a:t>escala</a:t>
            </a:r>
            <a:r>
              <a:rPr lang="pt-BR" sz="830" dirty="0">
                <a:solidFill>
                  <a:srgbClr val="1C1F23"/>
                </a:solidFill>
                <a:latin typeface="Aptos"/>
              </a:rPr>
              <a:t> e constância na circulação de pessoas.</a:t>
            </a:r>
            <a:endParaRPr sz="830" b="0" i="0" dirty="0">
              <a:solidFill>
                <a:srgbClr val="1C1F23"/>
              </a:solidFill>
              <a:latin typeface="Apto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2871215"/>
            <a:ext cx="1920240" cy="941832"/>
          </a:xfrm>
          <a:prstGeom prst="rect">
            <a:avLst/>
          </a:prstGeom>
          <a:solidFill>
            <a:srgbClr val="F6F7F9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2944367"/>
            <a:ext cx="1737360" cy="7955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860" b="1" i="0">
                <a:solidFill>
                  <a:srgbClr val="1C1F23"/>
                </a:solidFill>
                <a:latin typeface="Aptos"/>
              </a:rPr>
              <a:t>Centro Histórico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0" y="2871215"/>
            <a:ext cx="2148840" cy="941832"/>
          </a:xfrm>
          <a:prstGeom prst="rect">
            <a:avLst/>
          </a:prstGeom>
          <a:solidFill>
            <a:srgbClr val="F6F7F9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560320" y="2944367"/>
            <a:ext cx="1965960" cy="7955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860" b="0" i="0">
                <a:solidFill>
                  <a:srgbClr val="1C1F23"/>
                </a:solidFill>
                <a:latin typeface="Aptos"/>
              </a:rPr>
              <a:t>Hotéis + atrações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17720" y="2871215"/>
            <a:ext cx="1965960" cy="941832"/>
          </a:xfrm>
          <a:prstGeom prst="rect">
            <a:avLst/>
          </a:prstGeom>
          <a:solidFill>
            <a:srgbClr val="F6F7F9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09160" y="2944367"/>
            <a:ext cx="1783080" cy="7955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860" b="0" i="0">
                <a:solidFill>
                  <a:srgbClr val="1C1F23"/>
                </a:solidFill>
                <a:latin typeface="Aptos"/>
              </a:rPr>
              <a:t>Distribuída ao longo do dia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2871215"/>
            <a:ext cx="1417320" cy="941832"/>
          </a:xfrm>
          <a:prstGeom prst="rect">
            <a:avLst/>
          </a:prstGeom>
          <a:solidFill>
            <a:srgbClr val="F6F7F9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75120" y="2944367"/>
            <a:ext cx="1234440" cy="7955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860" b="0" i="0">
                <a:solidFill>
                  <a:srgbClr val="1C1F23"/>
                </a:solidFill>
                <a:latin typeface="Aptos"/>
              </a:rPr>
              <a:t>Baixa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1000" y="2871215"/>
            <a:ext cx="3218688" cy="941832"/>
          </a:xfrm>
          <a:prstGeom prst="rect">
            <a:avLst/>
          </a:prstGeom>
          <a:solidFill>
            <a:srgbClr val="F6F7F9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92440" y="2944367"/>
            <a:ext cx="3035808" cy="7955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830" b="0" i="0">
                <a:solidFill>
                  <a:srgbClr val="1C1F23"/>
                </a:solidFill>
                <a:latin typeface="Aptos"/>
              </a:rPr>
              <a:t>Operação simples e boa diversificação da demanda turística.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813047"/>
            <a:ext cx="192024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3886199"/>
            <a:ext cx="1737360" cy="7955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860" b="1" i="0">
                <a:solidFill>
                  <a:srgbClr val="1C1F23"/>
                </a:solidFill>
                <a:latin typeface="Aptos"/>
              </a:rPr>
              <a:t>Arena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68880" y="3813047"/>
            <a:ext cx="214884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560320" y="3886199"/>
            <a:ext cx="1965960" cy="7955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860" b="0" i="0">
                <a:solidFill>
                  <a:srgbClr val="1C1F23"/>
                </a:solidFill>
                <a:latin typeface="Aptos"/>
              </a:rPr>
              <a:t>Estádio + convenções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7720" y="3813047"/>
            <a:ext cx="196596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09160" y="3886199"/>
            <a:ext cx="1783080" cy="7955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860" b="0" i="0">
                <a:solidFill>
                  <a:srgbClr val="1C1F23"/>
                </a:solidFill>
                <a:latin typeface="Aptos"/>
              </a:rPr>
              <a:t>Concentrada em eventos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3813047"/>
            <a:ext cx="1417320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75120" y="3886199"/>
            <a:ext cx="1234440" cy="7955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860" b="0" i="0">
                <a:solidFill>
                  <a:srgbClr val="1C1F23"/>
                </a:solidFill>
                <a:latin typeface="Aptos"/>
              </a:rPr>
              <a:t>Moderada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01000" y="3813047"/>
            <a:ext cx="3218688" cy="941832"/>
          </a:xfrm>
          <a:prstGeom prst="rect">
            <a:avLst/>
          </a:prstGeom>
          <a:solidFill>
            <a:srgbClr val="FFFFFF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92440" y="4147003"/>
            <a:ext cx="3035808" cy="2739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lang="pt-BR" sz="830" b="0" i="0" dirty="0">
                <a:solidFill>
                  <a:srgbClr val="1C1F23"/>
                </a:solidFill>
                <a:latin typeface="Aptos"/>
              </a:rPr>
              <a:t>Eventual </a:t>
            </a:r>
            <a:r>
              <a:rPr sz="830" b="0" i="0" dirty="0">
                <a:solidFill>
                  <a:srgbClr val="1C1F23"/>
                </a:solidFill>
                <a:latin typeface="Aptos"/>
              </a:rPr>
              <a:t>forte </a:t>
            </a:r>
            <a:r>
              <a:rPr sz="830" b="0" i="0" dirty="0" err="1">
                <a:solidFill>
                  <a:srgbClr val="1C1F23"/>
                </a:solidFill>
                <a:latin typeface="Aptos"/>
              </a:rPr>
              <a:t>pico</a:t>
            </a:r>
            <a:r>
              <a:rPr sz="830" b="0" i="0" dirty="0">
                <a:solidFill>
                  <a:srgbClr val="1C1F23"/>
                </a:solidFill>
                <a:latin typeface="Aptos"/>
              </a:rPr>
              <a:t>, mas </a:t>
            </a:r>
            <a:r>
              <a:rPr sz="830" b="0" i="0" dirty="0" err="1">
                <a:solidFill>
                  <a:srgbClr val="1C1F23"/>
                </a:solidFill>
                <a:latin typeface="Aptos"/>
              </a:rPr>
              <a:t>maior</a:t>
            </a:r>
            <a:r>
              <a:rPr sz="830" b="0" i="0" dirty="0">
                <a:solidFill>
                  <a:srgbClr val="1C1F23"/>
                </a:solidFill>
                <a:latin typeface="Aptos"/>
              </a:rPr>
              <a:t> </a:t>
            </a:r>
            <a:r>
              <a:rPr sz="830" b="0" i="0" dirty="0" err="1">
                <a:solidFill>
                  <a:srgbClr val="1C1F23"/>
                </a:solidFill>
                <a:latin typeface="Aptos"/>
              </a:rPr>
              <a:t>risco</a:t>
            </a:r>
            <a:r>
              <a:rPr sz="830" b="0" i="0" dirty="0">
                <a:solidFill>
                  <a:srgbClr val="1C1F23"/>
                </a:solidFill>
                <a:latin typeface="Aptos"/>
              </a:rPr>
              <a:t> de </a:t>
            </a:r>
            <a:r>
              <a:rPr sz="830" b="0" i="0" dirty="0" err="1">
                <a:solidFill>
                  <a:srgbClr val="1C1F23"/>
                </a:solidFill>
                <a:latin typeface="Aptos"/>
              </a:rPr>
              <a:t>ociosidade</a:t>
            </a:r>
            <a:r>
              <a:rPr sz="830" b="0" i="0" dirty="0">
                <a:solidFill>
                  <a:srgbClr val="1C1F23"/>
                </a:solidFill>
                <a:latin typeface="Aptos"/>
              </a:rPr>
              <a:t> fora do </a:t>
            </a:r>
            <a:r>
              <a:rPr sz="830" b="0" i="0" dirty="0" err="1">
                <a:solidFill>
                  <a:srgbClr val="1C1F23"/>
                </a:solidFill>
                <a:latin typeface="Aptos"/>
              </a:rPr>
              <a:t>calendário</a:t>
            </a:r>
            <a:r>
              <a:rPr sz="830" b="0" i="0" dirty="0">
                <a:solidFill>
                  <a:srgbClr val="1C1F23"/>
                </a:solidFill>
                <a:latin typeface="Aptos"/>
              </a:rPr>
              <a:t>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754879"/>
            <a:ext cx="1920240" cy="941832"/>
          </a:xfrm>
          <a:prstGeom prst="rect">
            <a:avLst/>
          </a:prstGeom>
          <a:solidFill>
            <a:srgbClr val="F6F7F9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0080" y="4828031"/>
            <a:ext cx="1737360" cy="7955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860" b="1" i="0">
                <a:solidFill>
                  <a:srgbClr val="1C1F23"/>
                </a:solidFill>
                <a:latin typeface="Aptos"/>
              </a:rPr>
              <a:t>Noite Alta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68880" y="4754879"/>
            <a:ext cx="2148840" cy="941832"/>
          </a:xfrm>
          <a:prstGeom prst="rect">
            <a:avLst/>
          </a:prstGeom>
          <a:solidFill>
            <a:srgbClr val="F6F7F9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560320" y="4828031"/>
            <a:ext cx="1965960" cy="7955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860" b="0" i="0">
                <a:solidFill>
                  <a:srgbClr val="1C1F23"/>
                </a:solidFill>
                <a:latin typeface="Aptos"/>
              </a:rPr>
              <a:t>Bares + casas de show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17720" y="4754879"/>
            <a:ext cx="1965960" cy="941832"/>
          </a:xfrm>
          <a:prstGeom prst="rect">
            <a:avLst/>
          </a:prstGeom>
          <a:solidFill>
            <a:srgbClr val="F6F7F9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709160" y="4828031"/>
            <a:ext cx="1783080" cy="7955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860" b="0" i="0">
                <a:solidFill>
                  <a:srgbClr val="1C1F23"/>
                </a:solidFill>
                <a:latin typeface="Aptos"/>
              </a:rPr>
              <a:t>Concentrada à noite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0" y="4754879"/>
            <a:ext cx="1417320" cy="941832"/>
          </a:xfrm>
          <a:prstGeom prst="rect">
            <a:avLst/>
          </a:prstGeom>
          <a:solidFill>
            <a:srgbClr val="F6F7F9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675120" y="4828031"/>
            <a:ext cx="1234440" cy="7955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860" b="0" i="0">
                <a:solidFill>
                  <a:srgbClr val="1C1F23"/>
                </a:solidFill>
                <a:latin typeface="Aptos"/>
              </a:rPr>
              <a:t>Alta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01000" y="4754879"/>
            <a:ext cx="3218688" cy="941832"/>
          </a:xfrm>
          <a:prstGeom prst="rect">
            <a:avLst/>
          </a:prstGeom>
          <a:solidFill>
            <a:srgbClr val="F6F7F9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092440" y="4828031"/>
            <a:ext cx="3035808" cy="7955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830" b="0" i="0" dirty="0" err="1">
                <a:solidFill>
                  <a:srgbClr val="1C1F23"/>
                </a:solidFill>
                <a:latin typeface="Aptos"/>
              </a:rPr>
              <a:t>Demanda</a:t>
            </a:r>
            <a:r>
              <a:rPr sz="830" b="0" i="0" dirty="0">
                <a:solidFill>
                  <a:srgbClr val="1C1F23"/>
                </a:solidFill>
                <a:latin typeface="Aptos"/>
              </a:rPr>
              <a:t> </a:t>
            </a:r>
            <a:r>
              <a:rPr sz="830" b="0" i="0" dirty="0" err="1">
                <a:solidFill>
                  <a:srgbClr val="1C1F23"/>
                </a:solidFill>
                <a:latin typeface="Aptos"/>
              </a:rPr>
              <a:t>relevante</a:t>
            </a:r>
            <a:r>
              <a:rPr sz="830" b="0" i="0" dirty="0">
                <a:solidFill>
                  <a:srgbClr val="1C1F23"/>
                </a:solidFill>
                <a:latin typeface="Aptos"/>
              </a:rPr>
              <a:t>, </a:t>
            </a:r>
            <a:r>
              <a:rPr sz="830" b="0" i="0" dirty="0" err="1">
                <a:solidFill>
                  <a:srgbClr val="1C1F23"/>
                </a:solidFill>
                <a:latin typeface="Aptos"/>
              </a:rPr>
              <a:t>porém</a:t>
            </a:r>
            <a:r>
              <a:rPr sz="830" b="0" i="0" dirty="0">
                <a:solidFill>
                  <a:srgbClr val="1C1F23"/>
                </a:solidFill>
                <a:latin typeface="Aptos"/>
              </a:rPr>
              <a:t> com </a:t>
            </a:r>
            <a:r>
              <a:rPr sz="830" b="0" i="0" dirty="0" err="1">
                <a:solidFill>
                  <a:srgbClr val="1C1F23"/>
                </a:solidFill>
                <a:latin typeface="Aptos"/>
              </a:rPr>
              <a:t>maior</a:t>
            </a:r>
            <a:r>
              <a:rPr sz="830" b="0" i="0" dirty="0">
                <a:solidFill>
                  <a:srgbClr val="1C1F23"/>
                </a:solidFill>
                <a:latin typeface="Aptos"/>
              </a:rPr>
              <a:t> </a:t>
            </a:r>
            <a:r>
              <a:rPr sz="830" b="0" i="0" dirty="0" err="1">
                <a:solidFill>
                  <a:srgbClr val="1C1F23"/>
                </a:solidFill>
                <a:latin typeface="Aptos"/>
              </a:rPr>
              <a:t>esforço</a:t>
            </a:r>
            <a:r>
              <a:rPr sz="830" b="0" i="0" dirty="0">
                <a:solidFill>
                  <a:srgbClr val="1C1F23"/>
                </a:solidFill>
                <a:latin typeface="Aptos"/>
              </a:rPr>
              <a:t> de </a:t>
            </a:r>
            <a:r>
              <a:rPr sz="830" b="0" i="0" dirty="0" err="1">
                <a:solidFill>
                  <a:srgbClr val="1C1F23"/>
                </a:solidFill>
                <a:latin typeface="Aptos"/>
              </a:rPr>
              <a:t>segurança</a:t>
            </a:r>
            <a:r>
              <a:rPr sz="830" b="0" i="0" dirty="0">
                <a:solidFill>
                  <a:srgbClr val="1C1F23"/>
                </a:solidFill>
                <a:latin typeface="Aptos"/>
              </a:rPr>
              <a:t> e </a:t>
            </a:r>
            <a:r>
              <a:rPr sz="830" b="0" i="0" dirty="0" err="1">
                <a:solidFill>
                  <a:srgbClr val="1C1F23"/>
                </a:solidFill>
                <a:latin typeface="Aptos"/>
              </a:rPr>
              <a:t>suporte</a:t>
            </a:r>
            <a:r>
              <a:rPr sz="830" b="0" i="0" dirty="0">
                <a:solidFill>
                  <a:srgbClr val="1C1F23"/>
                </a:solidFill>
                <a:latin typeface="Aptos"/>
              </a:rPr>
              <a:t>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78440" y="6537960"/>
            <a:ext cx="1307592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650" b="0" i="0">
                <a:solidFill>
                  <a:srgbClr val="989EA6"/>
                </a:solidFill>
                <a:latin typeface="Aptos"/>
              </a:rPr>
              <a:t>BagHub | 2026.2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114800" cy="14157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1" i="0" dirty="0">
                <a:solidFill>
                  <a:srgbClr val="C0252B"/>
                </a:solidFill>
                <a:latin typeface="Aptos"/>
              </a:rPr>
              <a:t> ATRATIVIDADE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9875520" cy="43891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300" b="1" i="0">
                <a:solidFill>
                  <a:srgbClr val="1C1F23"/>
                </a:solidFill>
                <a:latin typeface="Aptos"/>
              </a:rPr>
              <a:t>Atratividade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01752"/>
            <a:ext cx="475488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800" b="1" i="0">
                <a:solidFill>
                  <a:srgbClr val="989EA6"/>
                </a:solidFill>
                <a:latin typeface="Aptos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24128"/>
            <a:ext cx="11183112" cy="0"/>
          </a:xfrm>
          <a:prstGeom prst="line">
            <a:avLst/>
          </a:prstGeom>
          <a:ln w="12700">
            <a:solidFill>
              <a:srgbClr val="E5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29766" y="1608522"/>
            <a:ext cx="7132320" cy="459192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096510" y="3878679"/>
            <a:ext cx="2880360" cy="1645920"/>
          </a:xfrm>
          <a:prstGeom prst="rect">
            <a:avLst/>
          </a:prstGeom>
          <a:solidFill>
            <a:srgbClr val="F9F6F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4069080" y="2194560"/>
            <a:ext cx="0" cy="3291840"/>
          </a:xfrm>
          <a:prstGeom prst="line">
            <a:avLst/>
          </a:prstGeom>
          <a:ln w="12700">
            <a:solidFill>
              <a:srgbClr val="E5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cxnSpLocks/>
          </p:cNvCxnSpPr>
          <p:nvPr/>
        </p:nvCxnSpPr>
        <p:spPr>
          <a:xfrm>
            <a:off x="1173668" y="3840480"/>
            <a:ext cx="5803202" cy="0"/>
          </a:xfrm>
          <a:prstGeom prst="line">
            <a:avLst/>
          </a:prstGeom>
          <a:ln w="12700">
            <a:solidFill>
              <a:srgbClr val="E5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3872" y="2249424"/>
            <a:ext cx="559886" cy="31854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650" b="1" i="0" dirty="0">
                <a:solidFill>
                  <a:srgbClr val="989EA6"/>
                </a:solidFill>
                <a:latin typeface="Aptos"/>
              </a:rPr>
              <a:t>DEMANDA MAIS CONTÍNUA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155" y="5095625"/>
            <a:ext cx="639134" cy="31854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650" b="1" i="0" dirty="0">
                <a:solidFill>
                  <a:srgbClr val="989EA6"/>
                </a:solidFill>
                <a:latin typeface="Aptos"/>
              </a:rPr>
              <a:t>DEMANDA MAIS CONCENTRADA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4590" y="5661663"/>
            <a:ext cx="737382" cy="1261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00" b="1" i="0" dirty="0">
                <a:solidFill>
                  <a:srgbClr val="989EA6"/>
                </a:solidFill>
                <a:latin typeface="Aptos"/>
              </a:rPr>
              <a:t>COMPLEXIDADE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6576" y="5550225"/>
            <a:ext cx="347472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650" b="1" i="0" dirty="0">
                <a:solidFill>
                  <a:srgbClr val="989EA6"/>
                </a:solidFill>
                <a:latin typeface="Aptos"/>
              </a:rPr>
              <a:t>ALTA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3948" y="5567008"/>
            <a:ext cx="41148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650" b="1" i="0">
                <a:solidFill>
                  <a:srgbClr val="989EA6"/>
                </a:solidFill>
                <a:latin typeface="Aptos"/>
              </a:rPr>
              <a:t>BAIXA</a:t>
            </a:r>
          </a:p>
        </p:txBody>
      </p:sp>
      <p:sp>
        <p:nvSpPr>
          <p:cNvPr id="25" name="Oval 24"/>
          <p:cNvSpPr/>
          <p:nvPr/>
        </p:nvSpPr>
        <p:spPr>
          <a:xfrm>
            <a:off x="6131052" y="4785465"/>
            <a:ext cx="310896" cy="310896"/>
          </a:xfrm>
          <a:prstGeom prst="ellipse">
            <a:avLst/>
          </a:prstGeom>
          <a:solidFill>
            <a:srgbClr val="9A7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79008" y="5104108"/>
            <a:ext cx="1051560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50" b="1" i="0">
                <a:solidFill>
                  <a:srgbClr val="1C1F23"/>
                </a:solidFill>
                <a:latin typeface="Aptos"/>
              </a:rPr>
              <a:t>Noite
Alta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1691640"/>
            <a:ext cx="3767328" cy="4297680"/>
          </a:xfrm>
          <a:prstGeom prst="roundRect">
            <a:avLst/>
          </a:prstGeom>
          <a:solidFill>
            <a:srgbClr val="F6F7F9"/>
          </a:solidFill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0727" y="1975104"/>
            <a:ext cx="292608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1" i="0">
                <a:solidFill>
                  <a:srgbClr val="1C1F23"/>
                </a:solidFill>
                <a:latin typeface="Aptos"/>
              </a:rPr>
              <a:t>Leitura estratégica</a:t>
            </a:r>
          </a:p>
        </p:txBody>
      </p:sp>
      <p:sp>
        <p:nvSpPr>
          <p:cNvPr id="29" name="Oval 28"/>
          <p:cNvSpPr/>
          <p:nvPr/>
        </p:nvSpPr>
        <p:spPr>
          <a:xfrm>
            <a:off x="8138160" y="2551176"/>
            <a:ext cx="109728" cy="109728"/>
          </a:xfrm>
          <a:prstGeom prst="ellipse">
            <a:avLst/>
          </a:prstGeom>
          <a:solidFill>
            <a:srgbClr val="C0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48472" y="2487168"/>
            <a:ext cx="1417320" cy="21031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1" i="0">
                <a:solidFill>
                  <a:srgbClr val="1C1F23"/>
                </a:solidFill>
                <a:latin typeface="Aptos"/>
              </a:rPr>
              <a:t>Estação Central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487168"/>
            <a:ext cx="150876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30" b="0" i="0">
                <a:solidFill>
                  <a:srgbClr val="585D65"/>
                </a:solidFill>
                <a:latin typeface="Aptos"/>
              </a:rPr>
              <a:t>combina escala potencial com complexidade moderada.</a:t>
            </a:r>
          </a:p>
        </p:txBody>
      </p:sp>
      <p:sp>
        <p:nvSpPr>
          <p:cNvPr id="32" name="Oval 31"/>
          <p:cNvSpPr/>
          <p:nvPr/>
        </p:nvSpPr>
        <p:spPr>
          <a:xfrm>
            <a:off x="8138160" y="3328416"/>
            <a:ext cx="109728" cy="109728"/>
          </a:xfrm>
          <a:prstGeom prst="ellipse">
            <a:avLst/>
          </a:prstGeom>
          <a:solidFill>
            <a:srgbClr val="285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48472" y="3264408"/>
            <a:ext cx="1417320" cy="21031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1" i="0">
                <a:solidFill>
                  <a:srgbClr val="1C1F23"/>
                </a:solidFill>
                <a:latin typeface="Aptos"/>
              </a:rPr>
              <a:t>Centro Histórico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37776" y="3264408"/>
            <a:ext cx="150876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30" b="0" i="0">
                <a:solidFill>
                  <a:srgbClr val="585D65"/>
                </a:solidFill>
                <a:latin typeface="Aptos"/>
              </a:rPr>
              <a:t>apresenta o menor risco operacional qualitativo.</a:t>
            </a:r>
          </a:p>
        </p:txBody>
      </p:sp>
      <p:sp>
        <p:nvSpPr>
          <p:cNvPr id="35" name="Oval 34"/>
          <p:cNvSpPr/>
          <p:nvPr/>
        </p:nvSpPr>
        <p:spPr>
          <a:xfrm>
            <a:off x="8138160" y="4105656"/>
            <a:ext cx="109728" cy="109728"/>
          </a:xfrm>
          <a:prstGeom prst="ellipse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48472" y="4041648"/>
            <a:ext cx="1417320" cy="21031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1" i="0">
                <a:solidFill>
                  <a:srgbClr val="1C1F23"/>
                </a:solidFill>
                <a:latin typeface="Aptos"/>
              </a:rPr>
              <a:t>Arena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4041648"/>
            <a:ext cx="150876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30" b="0" i="0" dirty="0" err="1">
                <a:solidFill>
                  <a:srgbClr val="585D65"/>
                </a:solidFill>
                <a:latin typeface="Aptos"/>
              </a:rPr>
              <a:t>depende</a:t>
            </a:r>
            <a:r>
              <a:rPr sz="830" b="0" i="0" dirty="0">
                <a:solidFill>
                  <a:srgbClr val="585D65"/>
                </a:solidFill>
                <a:latin typeface="Aptos"/>
              </a:rPr>
              <a:t> </a:t>
            </a:r>
            <a:r>
              <a:rPr sz="830" b="0" i="0" dirty="0" err="1">
                <a:solidFill>
                  <a:srgbClr val="585D65"/>
                </a:solidFill>
                <a:latin typeface="Aptos"/>
              </a:rPr>
              <a:t>mais</a:t>
            </a:r>
            <a:r>
              <a:rPr sz="830" b="0" i="0" dirty="0">
                <a:solidFill>
                  <a:srgbClr val="585D65"/>
                </a:solidFill>
                <a:latin typeface="Aptos"/>
              </a:rPr>
              <a:t> da </a:t>
            </a:r>
            <a:r>
              <a:rPr sz="830" b="0" i="0" dirty="0" err="1">
                <a:solidFill>
                  <a:srgbClr val="585D65"/>
                </a:solidFill>
                <a:latin typeface="Aptos"/>
              </a:rPr>
              <a:t>intensidade</a:t>
            </a:r>
            <a:r>
              <a:rPr sz="830" b="0" i="0" dirty="0">
                <a:solidFill>
                  <a:srgbClr val="585D65"/>
                </a:solidFill>
                <a:latin typeface="Aptos"/>
              </a:rPr>
              <a:t> dos </a:t>
            </a:r>
            <a:r>
              <a:rPr sz="830" b="0" i="0" dirty="0" err="1">
                <a:solidFill>
                  <a:srgbClr val="585D65"/>
                </a:solidFill>
                <a:latin typeface="Aptos"/>
              </a:rPr>
              <a:t>eventos</a:t>
            </a:r>
            <a:r>
              <a:rPr sz="830" b="0" i="0" dirty="0">
                <a:solidFill>
                  <a:srgbClr val="585D65"/>
                </a:solidFill>
                <a:latin typeface="Aptos"/>
              </a:rPr>
              <a:t> e dos </a:t>
            </a:r>
            <a:r>
              <a:rPr sz="830" b="0" i="0" dirty="0" err="1">
                <a:solidFill>
                  <a:srgbClr val="585D65"/>
                </a:solidFill>
                <a:latin typeface="Aptos"/>
              </a:rPr>
              <a:t>picos</a:t>
            </a:r>
            <a:r>
              <a:rPr lang="pt-BR" sz="830" b="0" i="0" dirty="0">
                <a:solidFill>
                  <a:srgbClr val="585D65"/>
                </a:solidFill>
                <a:latin typeface="Aptos"/>
              </a:rPr>
              <a:t>.</a:t>
            </a:r>
            <a:endParaRPr sz="830" b="0" i="0" dirty="0">
              <a:solidFill>
                <a:srgbClr val="585D65"/>
              </a:solidFill>
              <a:latin typeface="Aptos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8138160" y="4882896"/>
            <a:ext cx="109728" cy="109728"/>
          </a:xfrm>
          <a:prstGeom prst="ellipse">
            <a:avLst/>
          </a:prstGeom>
          <a:solidFill>
            <a:srgbClr val="9A7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48472" y="4818888"/>
            <a:ext cx="1417320" cy="21031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1" i="0">
                <a:solidFill>
                  <a:srgbClr val="1C1F23"/>
                </a:solidFill>
                <a:latin typeface="Aptos"/>
              </a:rPr>
              <a:t>Noite Alta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37776" y="4818888"/>
            <a:ext cx="150876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30" b="0" i="0">
                <a:solidFill>
                  <a:srgbClr val="585D65"/>
                </a:solidFill>
                <a:latin typeface="Aptos"/>
              </a:rPr>
              <a:t>tem custo operacional estruturalmente maior.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78440" y="6537960"/>
            <a:ext cx="1307592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650" b="0" i="0">
                <a:solidFill>
                  <a:srgbClr val="989EA6"/>
                </a:solidFill>
                <a:latin typeface="Aptos"/>
              </a:rPr>
              <a:t>BagHub | 2026.2</a:t>
            </a:r>
          </a:p>
        </p:txBody>
      </p:sp>
      <p:sp>
        <p:nvSpPr>
          <p:cNvPr id="44" name="TextBox 15">
            <a:extLst>
              <a:ext uri="{FF2B5EF4-FFF2-40B4-BE49-F238E27FC236}">
                <a16:creationId xmlns:a16="http://schemas.microsoft.com/office/drawing/2014/main" id="{BFCABED1-2334-003C-3E97-BB443F1BED5C}"/>
              </a:ext>
            </a:extLst>
          </p:cNvPr>
          <p:cNvSpPr txBox="1"/>
          <p:nvPr/>
        </p:nvSpPr>
        <p:spPr>
          <a:xfrm>
            <a:off x="1025769" y="5661663"/>
            <a:ext cx="737382" cy="1261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00" b="1" i="0" dirty="0">
                <a:solidFill>
                  <a:srgbClr val="989EA6"/>
                </a:solidFill>
                <a:latin typeface="Aptos"/>
              </a:rPr>
              <a:t>COMPLEXIDADE</a:t>
            </a:r>
          </a:p>
        </p:txBody>
      </p:sp>
      <p:sp>
        <p:nvSpPr>
          <p:cNvPr id="46" name="Rectangle 10">
            <a:extLst>
              <a:ext uri="{FF2B5EF4-FFF2-40B4-BE49-F238E27FC236}">
                <a16:creationId xmlns:a16="http://schemas.microsoft.com/office/drawing/2014/main" id="{3086EDEA-F714-9D5D-0FEA-0026F80FC0B5}"/>
              </a:ext>
            </a:extLst>
          </p:cNvPr>
          <p:cNvSpPr/>
          <p:nvPr/>
        </p:nvSpPr>
        <p:spPr>
          <a:xfrm rot="10800000">
            <a:off x="1173669" y="3878679"/>
            <a:ext cx="2880360" cy="1645920"/>
          </a:xfrm>
          <a:prstGeom prst="rect">
            <a:avLst/>
          </a:prstGeom>
          <a:solidFill>
            <a:srgbClr val="F9F6F3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10">
            <a:extLst>
              <a:ext uri="{FF2B5EF4-FFF2-40B4-BE49-F238E27FC236}">
                <a16:creationId xmlns:a16="http://schemas.microsoft.com/office/drawing/2014/main" id="{E2F6F257-F60B-10A5-7615-7CCB7271C86B}"/>
              </a:ext>
            </a:extLst>
          </p:cNvPr>
          <p:cNvSpPr/>
          <p:nvPr/>
        </p:nvSpPr>
        <p:spPr>
          <a:xfrm>
            <a:off x="4096510" y="2182582"/>
            <a:ext cx="2880360" cy="1645920"/>
          </a:xfrm>
          <a:prstGeom prst="rect">
            <a:avLst/>
          </a:prstGeom>
          <a:solidFill>
            <a:srgbClr val="F9F6F3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10">
            <a:extLst>
              <a:ext uri="{FF2B5EF4-FFF2-40B4-BE49-F238E27FC236}">
                <a16:creationId xmlns:a16="http://schemas.microsoft.com/office/drawing/2014/main" id="{B8536B12-48FF-A6D4-00A2-34620C525912}"/>
              </a:ext>
            </a:extLst>
          </p:cNvPr>
          <p:cNvSpPr/>
          <p:nvPr/>
        </p:nvSpPr>
        <p:spPr>
          <a:xfrm rot="10800000">
            <a:off x="1161288" y="2181968"/>
            <a:ext cx="2880360" cy="1645920"/>
          </a:xfrm>
          <a:prstGeom prst="rect">
            <a:avLst/>
          </a:prstGeom>
          <a:solidFill>
            <a:srgbClr val="F9F6F3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Oval 18"/>
          <p:cNvSpPr/>
          <p:nvPr/>
        </p:nvSpPr>
        <p:spPr>
          <a:xfrm>
            <a:off x="2105624" y="2738628"/>
            <a:ext cx="310896" cy="310896"/>
          </a:xfrm>
          <a:prstGeom prst="ellipse">
            <a:avLst/>
          </a:prstGeom>
          <a:solidFill>
            <a:srgbClr val="285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723643" y="3049509"/>
            <a:ext cx="1051560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50" b="1" i="0" dirty="0">
                <a:solidFill>
                  <a:srgbClr val="1C1F23"/>
                </a:solidFill>
                <a:latin typeface="Aptos"/>
              </a:rPr>
              <a:t>Centro
</a:t>
            </a:r>
            <a:r>
              <a:rPr sz="750" b="1" i="0" dirty="0" err="1">
                <a:solidFill>
                  <a:srgbClr val="1C1F23"/>
                </a:solidFill>
                <a:latin typeface="Aptos"/>
              </a:rPr>
              <a:t>Histórico</a:t>
            </a:r>
            <a:endParaRPr sz="750" b="1" i="0" dirty="0">
              <a:solidFill>
                <a:srgbClr val="1C1F23"/>
              </a:solidFill>
              <a:latin typeface="Apto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3924925" y="2927820"/>
            <a:ext cx="310896" cy="310896"/>
          </a:xfrm>
          <a:prstGeom prst="ellipse">
            <a:avLst/>
          </a:prstGeom>
          <a:solidFill>
            <a:srgbClr val="C0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45281" y="3246120"/>
            <a:ext cx="1051560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50" b="1" i="0" dirty="0" err="1">
                <a:solidFill>
                  <a:srgbClr val="1C1F23"/>
                </a:solidFill>
                <a:latin typeface="Aptos"/>
              </a:rPr>
              <a:t>Estação</a:t>
            </a:r>
            <a:r>
              <a:rPr sz="750" b="1" i="0" dirty="0">
                <a:solidFill>
                  <a:srgbClr val="1C1F23"/>
                </a:solidFill>
                <a:latin typeface="Aptos"/>
              </a:rPr>
              <a:t>
Central</a:t>
            </a:r>
          </a:p>
        </p:txBody>
      </p:sp>
      <p:sp>
        <p:nvSpPr>
          <p:cNvPr id="23" name="Oval 22"/>
          <p:cNvSpPr/>
          <p:nvPr/>
        </p:nvSpPr>
        <p:spPr>
          <a:xfrm>
            <a:off x="3915613" y="4638663"/>
            <a:ext cx="310896" cy="310896"/>
          </a:xfrm>
          <a:prstGeom prst="ellipse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52211" y="4953393"/>
            <a:ext cx="1051560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50" b="1" i="0" dirty="0">
                <a:solidFill>
                  <a:srgbClr val="1C1F23"/>
                </a:solidFill>
                <a:latin typeface="Aptos"/>
              </a:rPr>
              <a:t>Arena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114800" cy="14157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1" i="0" dirty="0">
                <a:solidFill>
                  <a:srgbClr val="C0252B"/>
                </a:solidFill>
                <a:latin typeface="Aptos"/>
              </a:rPr>
              <a:t> QUANTIFICAÇÃO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9875520" cy="43891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300" b="1" i="0">
                <a:solidFill>
                  <a:srgbClr val="1C1F23"/>
                </a:solidFill>
                <a:latin typeface="Aptos"/>
              </a:rPr>
              <a:t>Demanda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01752"/>
            <a:ext cx="475488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800" b="1" i="0">
                <a:solidFill>
                  <a:srgbClr val="989EA6"/>
                </a:solidFill>
                <a:latin typeface="Aptos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24128"/>
            <a:ext cx="11183112" cy="0"/>
          </a:xfrm>
          <a:prstGeom prst="line">
            <a:avLst/>
          </a:prstGeom>
          <a:ln w="12700">
            <a:solidFill>
              <a:srgbClr val="E5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097280"/>
            <a:ext cx="1088136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 i="1" dirty="0">
                <a:solidFill>
                  <a:srgbClr val="585D65"/>
                </a:solidFill>
                <a:latin typeface="Aptos"/>
              </a:rPr>
              <a:t>Escala e </a:t>
            </a:r>
            <a:r>
              <a:rPr sz="1000" b="0" i="1" dirty="0" err="1">
                <a:solidFill>
                  <a:srgbClr val="585D65"/>
                </a:solidFill>
                <a:latin typeface="Aptos"/>
              </a:rPr>
              <a:t>eficiência</a:t>
            </a:r>
            <a:r>
              <a:rPr sz="1000" b="0" i="1" dirty="0">
                <a:solidFill>
                  <a:srgbClr val="585D65"/>
                </a:solidFill>
                <a:latin typeface="Aptos"/>
              </a:rPr>
              <a:t> de </a:t>
            </a:r>
            <a:r>
              <a:rPr sz="1000" b="0" i="1" dirty="0" err="1">
                <a:solidFill>
                  <a:srgbClr val="585D65"/>
                </a:solidFill>
                <a:latin typeface="Aptos"/>
              </a:rPr>
              <a:t>capacidade</a:t>
            </a:r>
            <a:r>
              <a:rPr sz="1000" b="0" i="1" dirty="0">
                <a:solidFill>
                  <a:srgbClr val="585D65"/>
                </a:solidFill>
                <a:latin typeface="Aptos"/>
              </a:rPr>
              <a:t> </a:t>
            </a:r>
            <a:r>
              <a:rPr sz="1000" b="0" i="1" dirty="0" err="1">
                <a:solidFill>
                  <a:srgbClr val="585D65"/>
                </a:solidFill>
                <a:latin typeface="Aptos"/>
              </a:rPr>
              <a:t>apontam</a:t>
            </a:r>
            <a:r>
              <a:rPr sz="1000" b="0" i="1" dirty="0">
                <a:solidFill>
                  <a:srgbClr val="585D65"/>
                </a:solidFill>
                <a:latin typeface="Aptos"/>
              </a:rPr>
              <a:t> para </a:t>
            </a:r>
            <a:r>
              <a:rPr sz="1000" b="0" i="1" dirty="0" err="1">
                <a:solidFill>
                  <a:srgbClr val="585D65"/>
                </a:solidFill>
                <a:latin typeface="Aptos"/>
              </a:rPr>
              <a:t>papéis</a:t>
            </a:r>
            <a:r>
              <a:rPr sz="1000" b="0" i="1" dirty="0">
                <a:solidFill>
                  <a:srgbClr val="585D65"/>
                </a:solidFill>
                <a:latin typeface="Aptos"/>
              </a:rPr>
              <a:t> </a:t>
            </a:r>
            <a:r>
              <a:rPr sz="1000" b="0" i="1" dirty="0" err="1">
                <a:solidFill>
                  <a:srgbClr val="585D65"/>
                </a:solidFill>
                <a:latin typeface="Aptos"/>
              </a:rPr>
              <a:t>diferentes</a:t>
            </a:r>
            <a:r>
              <a:rPr sz="1000" b="0" i="1" dirty="0">
                <a:solidFill>
                  <a:srgbClr val="585D65"/>
                </a:solidFill>
                <a:latin typeface="Aptos"/>
              </a:rPr>
              <a:t>: </a:t>
            </a:r>
            <a:r>
              <a:rPr sz="1000" b="0" i="1" dirty="0" err="1">
                <a:solidFill>
                  <a:srgbClr val="585D65"/>
                </a:solidFill>
                <a:latin typeface="Aptos"/>
              </a:rPr>
              <a:t>Estação</a:t>
            </a:r>
            <a:r>
              <a:rPr sz="1000" b="0" i="1" dirty="0">
                <a:solidFill>
                  <a:srgbClr val="585D65"/>
                </a:solidFill>
                <a:latin typeface="Aptos"/>
              </a:rPr>
              <a:t> </a:t>
            </a:r>
            <a:r>
              <a:rPr sz="1000" b="0" i="1" dirty="0" err="1">
                <a:solidFill>
                  <a:srgbClr val="585D65"/>
                </a:solidFill>
                <a:latin typeface="Aptos"/>
              </a:rPr>
              <a:t>gera</a:t>
            </a:r>
            <a:r>
              <a:rPr sz="1000" b="0" i="1" dirty="0">
                <a:solidFill>
                  <a:srgbClr val="585D65"/>
                </a:solidFill>
                <a:latin typeface="Aptos"/>
              </a:rPr>
              <a:t> volume; Centro </a:t>
            </a:r>
            <a:r>
              <a:rPr sz="1000" b="0" i="1" dirty="0" err="1">
                <a:solidFill>
                  <a:srgbClr val="585D65"/>
                </a:solidFill>
                <a:latin typeface="Aptos"/>
              </a:rPr>
              <a:t>usa</a:t>
            </a:r>
            <a:r>
              <a:rPr sz="1000" b="0" i="1" dirty="0">
                <a:solidFill>
                  <a:srgbClr val="585D65"/>
                </a:solidFill>
                <a:latin typeface="Aptos"/>
              </a:rPr>
              <a:t> </a:t>
            </a:r>
            <a:r>
              <a:rPr sz="1000" b="0" i="1" dirty="0" err="1">
                <a:solidFill>
                  <a:srgbClr val="585D65"/>
                </a:solidFill>
                <a:latin typeface="Aptos"/>
              </a:rPr>
              <a:t>melhor</a:t>
            </a:r>
            <a:r>
              <a:rPr sz="1000" b="0" i="1" dirty="0">
                <a:solidFill>
                  <a:srgbClr val="585D65"/>
                </a:solidFill>
                <a:latin typeface="Aptos"/>
              </a:rPr>
              <a:t> </a:t>
            </a:r>
            <a:r>
              <a:rPr sz="1000" b="0" i="1" dirty="0" err="1">
                <a:solidFill>
                  <a:srgbClr val="585D65"/>
                </a:solidFill>
                <a:latin typeface="Aptos"/>
              </a:rPr>
              <a:t>cada</a:t>
            </a:r>
            <a:r>
              <a:rPr sz="1000" b="0" i="1" dirty="0">
                <a:solidFill>
                  <a:srgbClr val="585D65"/>
                </a:solidFill>
                <a:latin typeface="Aptos"/>
              </a:rPr>
              <a:t> </a:t>
            </a:r>
            <a:r>
              <a:rPr sz="1000" b="0" i="1" dirty="0" err="1">
                <a:solidFill>
                  <a:srgbClr val="585D65"/>
                </a:solidFill>
                <a:latin typeface="Aptos"/>
              </a:rPr>
              <a:t>posição</a:t>
            </a:r>
            <a:r>
              <a:rPr sz="1000" b="0" i="1" dirty="0">
                <a:solidFill>
                  <a:srgbClr val="585D65"/>
                </a:solidFill>
                <a:latin typeface="Apto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55648"/>
            <a:ext cx="310896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 i="0">
                <a:solidFill>
                  <a:srgbClr val="1C1F23"/>
                </a:solidFill>
                <a:latin typeface="Aptos"/>
              </a:rPr>
              <a:t>Transações semanais × utilização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5404104"/>
            <a:ext cx="6995160" cy="0"/>
          </a:xfrm>
          <a:prstGeom prst="line">
            <a:avLst/>
          </a:prstGeom>
          <a:ln w="10160">
            <a:solidFill>
              <a:srgbClr val="EFF1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9768" y="5312664"/>
            <a:ext cx="36576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700" b="0" i="0">
                <a:solidFill>
                  <a:srgbClr val="989EA6"/>
                </a:solidFill>
                <a:latin typeface="Aptos"/>
              </a:rPr>
              <a:t>30%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4197096"/>
            <a:ext cx="6995160" cy="0"/>
          </a:xfrm>
          <a:prstGeom prst="line">
            <a:avLst/>
          </a:prstGeom>
          <a:ln w="10160">
            <a:solidFill>
              <a:srgbClr val="EFF1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9768" y="4105656"/>
            <a:ext cx="36576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700" b="0" i="0">
                <a:solidFill>
                  <a:srgbClr val="989EA6"/>
                </a:solidFill>
                <a:latin typeface="Aptos"/>
              </a:rPr>
              <a:t>40%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2990088"/>
            <a:ext cx="6995160" cy="0"/>
          </a:xfrm>
          <a:prstGeom prst="line">
            <a:avLst/>
          </a:prstGeom>
          <a:ln w="10160">
            <a:solidFill>
              <a:srgbClr val="EFF1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898648"/>
            <a:ext cx="36576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700" b="0" i="0" dirty="0">
                <a:solidFill>
                  <a:srgbClr val="989EA6"/>
                </a:solidFill>
                <a:latin typeface="Aptos"/>
              </a:rPr>
              <a:t>50%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" y="1783080"/>
            <a:ext cx="6995160" cy="0"/>
          </a:xfrm>
          <a:prstGeom prst="line">
            <a:avLst/>
          </a:prstGeom>
          <a:ln w="10160">
            <a:solidFill>
              <a:srgbClr val="EFF1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29768" y="1691639"/>
            <a:ext cx="36576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700" b="0" i="0">
                <a:solidFill>
                  <a:srgbClr val="989EA6"/>
                </a:solidFill>
                <a:latin typeface="Aptos"/>
              </a:rPr>
              <a:t>60%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743075" y="1783080"/>
            <a:ext cx="0" cy="4224528"/>
          </a:xfrm>
          <a:prstGeom prst="line">
            <a:avLst/>
          </a:prstGeom>
          <a:ln w="7620">
            <a:solidFill>
              <a:srgbClr val="F5F6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541907" y="6071616"/>
            <a:ext cx="41148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00" b="0" i="0">
                <a:solidFill>
                  <a:srgbClr val="989EA6"/>
                </a:solidFill>
                <a:latin typeface="Aptos"/>
              </a:rPr>
              <a:t>12k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491864" y="1783080"/>
            <a:ext cx="0" cy="4224528"/>
          </a:xfrm>
          <a:prstGeom prst="line">
            <a:avLst/>
          </a:prstGeom>
          <a:ln w="7620">
            <a:solidFill>
              <a:srgbClr val="F5F6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290696" y="6071616"/>
            <a:ext cx="41148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00" b="0" i="0">
                <a:solidFill>
                  <a:srgbClr val="989EA6"/>
                </a:solidFill>
                <a:latin typeface="Aptos"/>
              </a:rPr>
              <a:t>16k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240655" y="1783080"/>
            <a:ext cx="0" cy="4224528"/>
          </a:xfrm>
          <a:prstGeom prst="line">
            <a:avLst/>
          </a:prstGeom>
          <a:ln w="7620">
            <a:solidFill>
              <a:srgbClr val="F5F6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39487" y="6071616"/>
            <a:ext cx="41148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00" b="0" i="0">
                <a:solidFill>
                  <a:srgbClr val="989EA6"/>
                </a:solidFill>
                <a:latin typeface="Aptos"/>
              </a:rPr>
              <a:t>20k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89445" y="1783080"/>
            <a:ext cx="0" cy="4224528"/>
          </a:xfrm>
          <a:prstGeom prst="line">
            <a:avLst/>
          </a:prstGeom>
          <a:ln w="7620">
            <a:solidFill>
              <a:srgbClr val="F5F6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788277" y="6071616"/>
            <a:ext cx="41148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00" b="0" i="0">
                <a:solidFill>
                  <a:srgbClr val="989EA6"/>
                </a:solidFill>
                <a:latin typeface="Aptos"/>
              </a:rPr>
              <a:t>24k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8680" y="6007608"/>
            <a:ext cx="6995160" cy="0"/>
          </a:xfrm>
          <a:prstGeom prst="line">
            <a:avLst/>
          </a:prstGeom>
          <a:ln w="12700">
            <a:solidFill>
              <a:srgbClr val="585D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68680" y="1783080"/>
            <a:ext cx="0" cy="4224528"/>
          </a:xfrm>
          <a:prstGeom prst="line">
            <a:avLst/>
          </a:prstGeom>
          <a:ln w="12700">
            <a:solidFill>
              <a:srgbClr val="585D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651117" y="3617366"/>
            <a:ext cx="676656" cy="676656"/>
          </a:xfrm>
          <a:prstGeom prst="ellipse">
            <a:avLst/>
          </a:prstGeom>
          <a:solidFill>
            <a:srgbClr val="C0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50533" y="4367174"/>
            <a:ext cx="877824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50" b="1" i="0">
                <a:solidFill>
                  <a:srgbClr val="1C1F23"/>
                </a:solidFill>
                <a:latin typeface="Aptos"/>
              </a:rPr>
              <a:t>Estação</a:t>
            </a:r>
          </a:p>
        </p:txBody>
      </p:sp>
      <p:sp>
        <p:nvSpPr>
          <p:cNvPr id="29" name="Oval 28"/>
          <p:cNvSpPr/>
          <p:nvPr/>
        </p:nvSpPr>
        <p:spPr>
          <a:xfrm>
            <a:off x="4190085" y="2331110"/>
            <a:ext cx="352348" cy="352348"/>
          </a:xfrm>
          <a:prstGeom prst="ellipse">
            <a:avLst/>
          </a:prstGeom>
          <a:solidFill>
            <a:srgbClr val="285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27348" y="2756611"/>
            <a:ext cx="877824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50" b="1" i="0">
                <a:solidFill>
                  <a:srgbClr val="1C1F23"/>
                </a:solidFill>
                <a:latin typeface="Aptos"/>
              </a:rPr>
              <a:t>Centro</a:t>
            </a:r>
          </a:p>
        </p:txBody>
      </p:sp>
      <p:sp>
        <p:nvSpPr>
          <p:cNvPr id="31" name="Oval 30"/>
          <p:cNvSpPr/>
          <p:nvPr/>
        </p:nvSpPr>
        <p:spPr>
          <a:xfrm>
            <a:off x="1578483" y="5118811"/>
            <a:ext cx="329184" cy="329184"/>
          </a:xfrm>
          <a:prstGeom prst="ellipse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04163" y="5521147"/>
            <a:ext cx="877824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50" b="1" i="0">
                <a:solidFill>
                  <a:srgbClr val="1C1F23"/>
                </a:solidFill>
                <a:latin typeface="Aptos"/>
              </a:rPr>
              <a:t>Arena</a:t>
            </a:r>
          </a:p>
        </p:txBody>
      </p:sp>
      <p:sp>
        <p:nvSpPr>
          <p:cNvPr id="33" name="Oval 32"/>
          <p:cNvSpPr/>
          <p:nvPr/>
        </p:nvSpPr>
        <p:spPr>
          <a:xfrm>
            <a:off x="4971821" y="4773168"/>
            <a:ext cx="537667" cy="537667"/>
          </a:xfrm>
          <a:prstGeom prst="ellipse">
            <a:avLst/>
          </a:prstGeom>
          <a:solidFill>
            <a:srgbClr val="9A7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01743" y="5383987"/>
            <a:ext cx="877824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50" b="1" i="0">
                <a:solidFill>
                  <a:srgbClr val="1C1F23"/>
                </a:solidFill>
                <a:latin typeface="Aptos"/>
              </a:rPr>
              <a:t>Noite Alta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" y="5779008"/>
            <a:ext cx="214884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00" b="0" i="1">
                <a:solidFill>
                  <a:srgbClr val="989EA6"/>
                </a:solidFill>
                <a:latin typeface="Aptos"/>
              </a:rPr>
              <a:t>Tamanho da bolha = posições necessárias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94192" y="2167128"/>
            <a:ext cx="288036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394192" y="2167128"/>
            <a:ext cx="64008" cy="1051560"/>
          </a:xfrm>
          <a:prstGeom prst="rect">
            <a:avLst/>
          </a:prstGeom>
          <a:solidFill>
            <a:srgbClr val="C0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58784" y="2286000"/>
            <a:ext cx="2624328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50" b="1" i="0">
                <a:solidFill>
                  <a:srgbClr val="585D65"/>
                </a:solidFill>
                <a:latin typeface="Aptos"/>
              </a:rPr>
              <a:t>MAIOR DEMANDA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58784" y="2523744"/>
            <a:ext cx="2624328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700" b="1" i="0">
                <a:solidFill>
                  <a:srgbClr val="1C1F23"/>
                </a:solidFill>
                <a:latin typeface="Aptos"/>
              </a:rPr>
              <a:t>24 mil/sem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58784" y="2926080"/>
            <a:ext cx="2624328" cy="24688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0" i="0">
                <a:solidFill>
                  <a:srgbClr val="585D65"/>
                </a:solidFill>
                <a:latin typeface="Aptos"/>
              </a:rPr>
              <a:t>Estação Central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94192" y="3383280"/>
            <a:ext cx="288036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394192" y="3383280"/>
            <a:ext cx="64008" cy="1051560"/>
          </a:xfrm>
          <a:prstGeom prst="rect">
            <a:avLst/>
          </a:prstGeom>
          <a:solidFill>
            <a:srgbClr val="285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58784" y="3502151"/>
            <a:ext cx="2624328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50" b="1" i="0">
                <a:solidFill>
                  <a:srgbClr val="585D65"/>
                </a:solidFill>
                <a:latin typeface="Aptos"/>
              </a:rPr>
              <a:t>MAIOR UTILIZAÇÃO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58784" y="3739896"/>
            <a:ext cx="2624328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700" b="1" i="0">
                <a:solidFill>
                  <a:srgbClr val="1C1F23"/>
                </a:solidFill>
                <a:latin typeface="Aptos"/>
              </a:rPr>
              <a:t>54%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58784" y="4142232"/>
            <a:ext cx="2624328" cy="24688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0" i="0">
                <a:solidFill>
                  <a:srgbClr val="585D65"/>
                </a:solidFill>
                <a:latin typeface="Aptos"/>
              </a:rPr>
              <a:t>Centro Histórico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94192" y="4599432"/>
            <a:ext cx="288036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394192" y="4599432"/>
            <a:ext cx="64008" cy="1051560"/>
          </a:xfrm>
          <a:prstGeom prst="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558784" y="4718304"/>
            <a:ext cx="2624328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50" b="1" i="0">
                <a:solidFill>
                  <a:srgbClr val="585D65"/>
                </a:solidFill>
                <a:latin typeface="Aptos"/>
              </a:rPr>
              <a:t>MENOR UTILIZAÇÃO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58784" y="4956048"/>
            <a:ext cx="2624328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700" b="1" i="0">
                <a:solidFill>
                  <a:srgbClr val="1C1F23"/>
                </a:solidFill>
                <a:latin typeface="Aptos"/>
              </a:rPr>
              <a:t>31%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58784" y="5358384"/>
            <a:ext cx="2624328" cy="24688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0" i="0">
                <a:solidFill>
                  <a:srgbClr val="585D65"/>
                </a:solidFill>
                <a:latin typeface="Aptos"/>
              </a:rPr>
              <a:t>Arena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78440" y="6537960"/>
            <a:ext cx="1307592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650" b="0" i="0">
                <a:solidFill>
                  <a:srgbClr val="989EA6"/>
                </a:solidFill>
                <a:latin typeface="Aptos"/>
              </a:rPr>
              <a:t>BagHub | 2026.2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114800" cy="14157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1" i="0" dirty="0">
                <a:solidFill>
                  <a:srgbClr val="C0252B"/>
                </a:solidFill>
                <a:latin typeface="Aptos"/>
              </a:rPr>
              <a:t> QUANTIFICAÇÃO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9875520" cy="3724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lang="pt-BR" sz="2300" b="1" dirty="0">
                <a:solidFill>
                  <a:srgbClr val="1C1F23"/>
                </a:solidFill>
                <a:latin typeface="Aptos"/>
              </a:rPr>
              <a:t>Custo Anual</a:t>
            </a:r>
            <a:endParaRPr sz="2300" b="1" i="0" dirty="0">
              <a:solidFill>
                <a:srgbClr val="1C1F23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01400" y="301752"/>
            <a:ext cx="475488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800" b="1" i="0">
                <a:solidFill>
                  <a:srgbClr val="989EA6"/>
                </a:solidFill>
                <a:latin typeface="Aptos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24128"/>
            <a:ext cx="11183112" cy="0"/>
          </a:xfrm>
          <a:prstGeom prst="line">
            <a:avLst/>
          </a:prstGeom>
          <a:ln w="12700">
            <a:solidFill>
              <a:srgbClr val="E5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097280"/>
            <a:ext cx="1088136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 i="1">
                <a:solidFill>
                  <a:srgbClr val="585D65"/>
                </a:solidFill>
                <a:latin typeface="Aptos"/>
              </a:rPr>
              <a:t>No cenário-base, pontos parceiros têm menor custo direto nos quatro bairros.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54480"/>
            <a:ext cx="699516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64792"/>
            <a:ext cx="29260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 i="0">
                <a:solidFill>
                  <a:srgbClr val="1C1F23"/>
                </a:solidFill>
                <a:latin typeface="Aptos"/>
              </a:rPr>
              <a:t>Custo anual por modelo (R$ mi)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4648" y="1768035"/>
            <a:ext cx="146304" cy="146304"/>
          </a:xfrm>
          <a:prstGeom prst="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76672" y="1737360"/>
            <a:ext cx="685800" cy="24929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50" b="0" i="0" dirty="0" err="1">
                <a:solidFill>
                  <a:srgbClr val="585D65"/>
                </a:solidFill>
                <a:latin typeface="Aptos"/>
              </a:rPr>
              <a:t>Armários</a:t>
            </a:r>
            <a:endParaRPr lang="pt-BR" sz="750" b="0" i="0" dirty="0">
              <a:solidFill>
                <a:srgbClr val="585D65"/>
              </a:solidFill>
              <a:latin typeface="Aptos"/>
            </a:endParaRPr>
          </a:p>
          <a:p>
            <a:pPr algn="l"/>
            <a:r>
              <a:rPr lang="pt-BR" sz="750" dirty="0">
                <a:solidFill>
                  <a:srgbClr val="585D65"/>
                </a:solidFill>
                <a:latin typeface="Aptos"/>
              </a:rPr>
              <a:t>inteligentes</a:t>
            </a:r>
            <a:endParaRPr sz="750" b="0" i="0" dirty="0">
              <a:solidFill>
                <a:srgbClr val="585D65"/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61104" y="1776755"/>
            <a:ext cx="146304" cy="146304"/>
          </a:xfrm>
          <a:prstGeom prst="rect">
            <a:avLst/>
          </a:prstGeom>
          <a:solidFill>
            <a:srgbClr val="C0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737360"/>
            <a:ext cx="713232" cy="24929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50" b="0" i="0" dirty="0">
                <a:solidFill>
                  <a:srgbClr val="585D65"/>
                </a:solidFill>
                <a:latin typeface="Aptos"/>
              </a:rPr>
              <a:t>P</a:t>
            </a:r>
            <a:r>
              <a:rPr lang="pt-BR" sz="750" b="0" i="0" dirty="0" err="1">
                <a:solidFill>
                  <a:srgbClr val="585D65"/>
                </a:solidFill>
                <a:latin typeface="Aptos"/>
              </a:rPr>
              <a:t>ontos</a:t>
            </a:r>
            <a:endParaRPr lang="pt-BR" sz="750" dirty="0">
              <a:solidFill>
                <a:srgbClr val="585D65"/>
              </a:solidFill>
              <a:latin typeface="Aptos"/>
            </a:endParaRPr>
          </a:p>
          <a:p>
            <a:pPr algn="l"/>
            <a:r>
              <a:rPr lang="pt-BR" sz="750" b="0" i="0" dirty="0">
                <a:solidFill>
                  <a:srgbClr val="585D65"/>
                </a:solidFill>
                <a:latin typeface="Aptos"/>
              </a:rPr>
              <a:t>p</a:t>
            </a:r>
            <a:r>
              <a:rPr sz="750" b="0" i="0" dirty="0" err="1">
                <a:solidFill>
                  <a:srgbClr val="585D65"/>
                </a:solidFill>
                <a:latin typeface="Aptos"/>
              </a:rPr>
              <a:t>arceiros</a:t>
            </a:r>
            <a:endParaRPr sz="750" b="0" i="0" dirty="0">
              <a:solidFill>
                <a:srgbClr val="585D65"/>
              </a:solidFill>
              <a:latin typeface="Aptos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932688" y="5376672"/>
            <a:ext cx="6062472" cy="0"/>
          </a:xfrm>
          <a:prstGeom prst="line">
            <a:avLst/>
          </a:prstGeom>
          <a:ln w="10160">
            <a:solidFill>
              <a:srgbClr val="EFF1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5294376"/>
            <a:ext cx="22860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700" b="0" i="0">
                <a:solidFill>
                  <a:srgbClr val="989EA6"/>
                </a:solidFill>
                <a:latin typeface="Aptos"/>
              </a:rPr>
              <a:t>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2688" y="4416552"/>
            <a:ext cx="6062472" cy="0"/>
          </a:xfrm>
          <a:prstGeom prst="line">
            <a:avLst/>
          </a:prstGeom>
          <a:ln w="10160">
            <a:solidFill>
              <a:srgbClr val="EFF1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4334256"/>
            <a:ext cx="22860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700" b="0" i="0">
                <a:solidFill>
                  <a:srgbClr val="989EA6"/>
                </a:solidFill>
                <a:latin typeface="Aptos"/>
              </a:rPr>
              <a:t>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32688" y="3456432"/>
            <a:ext cx="6062472" cy="0"/>
          </a:xfrm>
          <a:prstGeom prst="line">
            <a:avLst/>
          </a:prstGeom>
          <a:ln w="10160">
            <a:solidFill>
              <a:srgbClr val="EFF1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3374136"/>
            <a:ext cx="22860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700" b="0" i="0">
                <a:solidFill>
                  <a:srgbClr val="989EA6"/>
                </a:solidFill>
                <a:latin typeface="Aptos"/>
              </a:rPr>
              <a:t>8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2688" y="2496312"/>
            <a:ext cx="6062472" cy="0"/>
          </a:xfrm>
          <a:prstGeom prst="line">
            <a:avLst/>
          </a:prstGeom>
          <a:ln w="10160">
            <a:solidFill>
              <a:srgbClr val="EFF1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2414016"/>
            <a:ext cx="22860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700" b="0" i="0">
                <a:solidFill>
                  <a:srgbClr val="989EA6"/>
                </a:solidFill>
                <a:latin typeface="Aptos"/>
              </a:rPr>
              <a:t>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2755544"/>
            <a:ext cx="384048" cy="2621127"/>
          </a:xfrm>
          <a:prstGeom prst="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581912" y="3418027"/>
            <a:ext cx="384048" cy="1958644"/>
          </a:xfrm>
          <a:prstGeom prst="rect">
            <a:avLst/>
          </a:prstGeom>
          <a:solidFill>
            <a:srgbClr val="C0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24712" y="2499512"/>
            <a:ext cx="438912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00" b="1" i="0">
                <a:solidFill>
                  <a:srgbClr val="1C1F23"/>
                </a:solidFill>
                <a:latin typeface="Aptos"/>
              </a:rPr>
              <a:t>10.9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161995"/>
            <a:ext cx="45720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00" b="1" i="0">
                <a:solidFill>
                  <a:srgbClr val="C0252B"/>
                </a:solidFill>
                <a:latin typeface="Aptos"/>
              </a:rPr>
              <a:t>8.2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13832"/>
            <a:ext cx="10515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30" b="1" i="0">
                <a:solidFill>
                  <a:srgbClr val="1C1F23"/>
                </a:solidFill>
                <a:latin typeface="Aptos"/>
              </a:rPr>
              <a:t>Estação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97480" y="4452556"/>
            <a:ext cx="384048" cy="924115"/>
          </a:xfrm>
          <a:prstGeom prst="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136392" y="4776597"/>
            <a:ext cx="384048" cy="600075"/>
          </a:xfrm>
          <a:prstGeom prst="rect">
            <a:avLst/>
          </a:prstGeom>
          <a:solidFill>
            <a:srgbClr val="C0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679192" y="4196524"/>
            <a:ext cx="438912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00" b="1" i="0">
                <a:solidFill>
                  <a:srgbClr val="1C1F23"/>
                </a:solidFill>
                <a:latin typeface="Aptos"/>
              </a:rPr>
              <a:t>3.9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520565"/>
            <a:ext cx="45720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00" b="1" i="0">
                <a:solidFill>
                  <a:srgbClr val="C0252B"/>
                </a:solidFill>
                <a:latin typeface="Aptos"/>
              </a:rPr>
              <a:t>2.5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5513832"/>
            <a:ext cx="10515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30" b="1" i="0">
                <a:solidFill>
                  <a:srgbClr val="1C1F23"/>
                </a:solidFill>
                <a:latin typeface="Aptos"/>
              </a:rPr>
              <a:t>Centro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60" y="4385348"/>
            <a:ext cx="384048" cy="991323"/>
          </a:xfrm>
          <a:prstGeom prst="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690872" y="4642180"/>
            <a:ext cx="384048" cy="734491"/>
          </a:xfrm>
          <a:prstGeom prst="rect">
            <a:avLst/>
          </a:prstGeom>
          <a:solidFill>
            <a:srgbClr val="C0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33672" y="4129316"/>
            <a:ext cx="438912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00" b="1" i="0">
                <a:solidFill>
                  <a:srgbClr val="1C1F23"/>
                </a:solidFill>
                <a:latin typeface="Aptos"/>
              </a:rPr>
              <a:t>4.1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4386148"/>
            <a:ext cx="45720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00" b="1" i="0">
                <a:solidFill>
                  <a:srgbClr val="C0252B"/>
                </a:solidFill>
                <a:latin typeface="Aptos"/>
              </a:rPr>
              <a:t>3.1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5513832"/>
            <a:ext cx="10515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30" b="1" i="0">
                <a:solidFill>
                  <a:srgbClr val="1C1F23"/>
                </a:solidFill>
                <a:latin typeface="Aptos"/>
              </a:rPr>
              <a:t>Arena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06440" y="2633129"/>
            <a:ext cx="384048" cy="2743542"/>
          </a:xfrm>
          <a:prstGeom prst="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45352" y="2784348"/>
            <a:ext cx="384048" cy="2592324"/>
          </a:xfrm>
          <a:prstGeom prst="rect">
            <a:avLst/>
          </a:prstGeom>
          <a:solidFill>
            <a:srgbClr val="C0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88152" y="2377097"/>
            <a:ext cx="438912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00" b="1" i="0">
                <a:solidFill>
                  <a:srgbClr val="1C1F23"/>
                </a:solidFill>
                <a:latin typeface="Aptos"/>
              </a:rPr>
              <a:t>11.4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2528315"/>
            <a:ext cx="45720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00" b="1" i="0">
                <a:solidFill>
                  <a:srgbClr val="C0252B"/>
                </a:solidFill>
                <a:latin typeface="Aptos"/>
              </a:rPr>
              <a:t>10.8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5513832"/>
            <a:ext cx="10515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30" b="1" i="0">
                <a:solidFill>
                  <a:srgbClr val="1C1F23"/>
                </a:solidFill>
                <a:latin typeface="Aptos"/>
              </a:rPr>
              <a:t>Noite Alta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63840" y="1554480"/>
            <a:ext cx="3703320" cy="4480560"/>
          </a:xfrm>
          <a:prstGeom prst="roundRect">
            <a:avLst/>
          </a:prstGeom>
          <a:solidFill>
            <a:srgbClr val="F6F7F9"/>
          </a:solidFill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56448" y="1783080"/>
            <a:ext cx="233172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50" b="1" i="0">
                <a:solidFill>
                  <a:srgbClr val="1C1F23"/>
                </a:solidFill>
                <a:latin typeface="Aptos"/>
              </a:rPr>
              <a:t>Economia na Estação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2139696"/>
            <a:ext cx="2880360" cy="3840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0" i="0">
                <a:solidFill>
                  <a:srgbClr val="585D65"/>
                </a:solidFill>
                <a:latin typeface="Aptos"/>
              </a:rPr>
              <a:t>Por que parceiros ganham mesmo com operação mais cara?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56448" y="2697480"/>
            <a:ext cx="283464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156448" y="2697480"/>
            <a:ext cx="64008" cy="841248"/>
          </a:xfrm>
          <a:prstGeom prst="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21040" y="2816352"/>
            <a:ext cx="2578608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50" b="1" i="0">
                <a:solidFill>
                  <a:srgbClr val="585D65"/>
                </a:solidFill>
                <a:latin typeface="Aptos"/>
              </a:rPr>
              <a:t>CUSTO DOS BANCOS EVITADO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3054096"/>
            <a:ext cx="2578608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700" b="1" i="0">
                <a:solidFill>
                  <a:srgbClr val="1C1F23"/>
                </a:solidFill>
                <a:latin typeface="Aptos"/>
              </a:rPr>
              <a:t>R$ 4,20 mi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56448" y="3639312"/>
            <a:ext cx="283464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56448" y="3639312"/>
            <a:ext cx="64008" cy="841248"/>
          </a:xfrm>
          <a:prstGeom prst="rect">
            <a:avLst/>
          </a:prstGeom>
          <a:solidFill>
            <a:srgbClr val="B9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21040" y="3758184"/>
            <a:ext cx="2578608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50" b="1" i="0">
                <a:solidFill>
                  <a:srgbClr val="585D65"/>
                </a:solidFill>
                <a:latin typeface="Aptos"/>
              </a:rPr>
              <a:t>OPERAÇÃO PARCEIROS A MAIS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3995928"/>
            <a:ext cx="2578608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700" b="1" i="0">
                <a:solidFill>
                  <a:srgbClr val="1C1F23"/>
                </a:solidFill>
                <a:latin typeface="Aptos"/>
              </a:rPr>
              <a:t>- R$ 1,44 mi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56448" y="4581144"/>
            <a:ext cx="283464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156448" y="4581144"/>
            <a:ext cx="64008" cy="841248"/>
          </a:xfrm>
          <a:prstGeom prst="rect">
            <a:avLst/>
          </a:prstGeom>
          <a:solidFill>
            <a:srgbClr val="33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21040" y="4700016"/>
            <a:ext cx="2578608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50" b="1" i="0">
                <a:solidFill>
                  <a:srgbClr val="585D65"/>
                </a:solidFill>
                <a:latin typeface="Aptos"/>
              </a:rPr>
              <a:t>ECONOMIA LÍQUIDA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4937759"/>
            <a:ext cx="2578608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700" b="1" i="0">
                <a:solidFill>
                  <a:srgbClr val="1C1F23"/>
                </a:solidFill>
                <a:latin typeface="Aptos"/>
              </a:rPr>
              <a:t>+ R$ 2,76 mi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78440" y="6537960"/>
            <a:ext cx="1307592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650" b="0" i="0">
                <a:solidFill>
                  <a:srgbClr val="989EA6"/>
                </a:solidFill>
                <a:latin typeface="Aptos"/>
              </a:rPr>
              <a:t>BagHub | 2026.2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/>
      <p:bldP spid="43" grpId="0"/>
      <p:bldP spid="44" grpId="0" animBg="1"/>
      <p:bldP spid="45" grpId="0" animBg="1"/>
      <p:bldP spid="46" grpId="0"/>
      <p:bldP spid="47" grpId="0"/>
      <p:bldP spid="48" grpId="0" animBg="1"/>
      <p:bldP spid="49" grpId="0" animBg="1"/>
      <p:bldP spid="50" grpId="0"/>
      <p:bldP spid="51" grpId="0"/>
      <p:bldP spid="52" grpId="0" animBg="1"/>
      <p:bldP spid="53" grpId="0" animBg="1"/>
      <p:bldP spid="54" grpId="0"/>
      <p:bldP spid="5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114800" cy="14157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1" i="0" dirty="0">
                <a:solidFill>
                  <a:srgbClr val="C0252B"/>
                </a:solidFill>
                <a:latin typeface="Aptos"/>
              </a:rPr>
              <a:t> DECISÃO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9875520" cy="43891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300" b="1" i="0">
                <a:solidFill>
                  <a:srgbClr val="1C1F23"/>
                </a:solidFill>
                <a:latin typeface="Aptos"/>
              </a:rPr>
              <a:t>Sensibilidade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01752"/>
            <a:ext cx="475488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800" b="1" i="0">
                <a:solidFill>
                  <a:srgbClr val="989EA6"/>
                </a:solidFill>
                <a:latin typeface="Aptos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24128"/>
            <a:ext cx="11183112" cy="0"/>
          </a:xfrm>
          <a:prstGeom prst="line">
            <a:avLst/>
          </a:prstGeom>
          <a:ln w="12700">
            <a:solidFill>
              <a:srgbClr val="E5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097280"/>
            <a:ext cx="1088136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 i="1">
                <a:solidFill>
                  <a:srgbClr val="585D65"/>
                </a:solidFill>
                <a:latin typeface="Aptos"/>
              </a:rPr>
              <a:t>Quanto o custo anual do banco teria de cair para armários empatarem com pontos parceiros?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72768"/>
            <a:ext cx="754380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10512"/>
            <a:ext cx="438912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50" b="1" i="0">
                <a:solidFill>
                  <a:srgbClr val="1C1F23"/>
                </a:solidFill>
                <a:latin typeface="Aptos"/>
              </a:rPr>
              <a:t>Redução necessária no custo do banco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21408"/>
            <a:ext cx="530352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0" i="0">
                <a:solidFill>
                  <a:srgbClr val="585D65"/>
                </a:solidFill>
                <a:latin typeface="Aptos"/>
              </a:rPr>
              <a:t>Quanto maior a barra, mais robusta é a vantagem atual de pontos parceiros.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79192"/>
            <a:ext cx="1417320" cy="2286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869" b="1" i="0">
                <a:solidFill>
                  <a:srgbClr val="1C1F23"/>
                </a:solidFill>
                <a:latin typeface="Aptos"/>
              </a:rPr>
              <a:t>Estação Central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2697480"/>
            <a:ext cx="4251960" cy="201168"/>
          </a:xfrm>
          <a:prstGeom prst="roundRect">
            <a:avLst/>
          </a:prstGeom>
          <a:solidFill>
            <a:srgbClr val="E5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468880" y="2697480"/>
            <a:ext cx="3491922" cy="201168"/>
          </a:xfrm>
          <a:prstGeom prst="roundRect">
            <a:avLst/>
          </a:prstGeom>
          <a:solidFill>
            <a:srgbClr val="C0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52242" y="2642616"/>
            <a:ext cx="502920" cy="2743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50" b="1" i="0">
                <a:solidFill>
                  <a:srgbClr val="C0252B"/>
                </a:solidFill>
                <a:latin typeface="Aptos"/>
              </a:rPr>
              <a:t>66%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651760"/>
            <a:ext cx="914400" cy="2560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740" b="1">
                <a:solidFill>
                  <a:srgbClr val="585D65"/>
                </a:solidFill>
                <a:latin typeface="Aptos"/>
              </a:rPr>
              <a:t>BE: R$ 24 mil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410712"/>
            <a:ext cx="1417320" cy="2286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869" b="1" i="0">
                <a:solidFill>
                  <a:srgbClr val="1C1F23"/>
                </a:solidFill>
                <a:latin typeface="Aptos"/>
              </a:rPr>
              <a:t>Centro Histórico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3429000"/>
            <a:ext cx="4251960" cy="201168"/>
          </a:xfrm>
          <a:prstGeom prst="roundRect">
            <a:avLst/>
          </a:prstGeom>
          <a:solidFill>
            <a:srgbClr val="E5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468880" y="3429000"/>
            <a:ext cx="4097826" cy="201168"/>
          </a:xfrm>
          <a:prstGeom prst="roundRect">
            <a:avLst/>
          </a:prstGeom>
          <a:solidFill>
            <a:srgbClr val="285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58146" y="3374136"/>
            <a:ext cx="502920" cy="2743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50" b="1" i="0">
                <a:solidFill>
                  <a:srgbClr val="28525E"/>
                </a:solidFill>
                <a:latin typeface="Aptos"/>
              </a:rPr>
              <a:t>77%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383280"/>
            <a:ext cx="914400" cy="2560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740" b="1">
                <a:solidFill>
                  <a:srgbClr val="585D65"/>
                </a:solidFill>
                <a:latin typeface="Aptos"/>
              </a:rPr>
              <a:t>BE: R$ 16 mil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42232"/>
            <a:ext cx="1417320" cy="2286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869" b="1" i="0">
                <a:solidFill>
                  <a:srgbClr val="1C1F23"/>
                </a:solidFill>
                <a:latin typeface="Aptos"/>
              </a:rPr>
              <a:t>Arena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68880" y="4160520"/>
            <a:ext cx="4251960" cy="201168"/>
          </a:xfrm>
          <a:prstGeom prst="roundRect">
            <a:avLst/>
          </a:prstGeom>
          <a:solidFill>
            <a:srgbClr val="E5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468880" y="4160520"/>
            <a:ext cx="3534441" cy="201168"/>
          </a:xfrm>
          <a:prstGeom prst="round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4761" y="4105656"/>
            <a:ext cx="502920" cy="2743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50" b="1" i="0">
                <a:solidFill>
                  <a:srgbClr val="1C1F23"/>
                </a:solidFill>
                <a:latin typeface="Aptos"/>
              </a:rPr>
              <a:t>66%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114800"/>
            <a:ext cx="914400" cy="2560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740" b="1">
                <a:solidFill>
                  <a:srgbClr val="585D65"/>
                </a:solidFill>
                <a:latin typeface="Aptos"/>
              </a:rPr>
              <a:t>BE: R$ 23,5 mil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873752"/>
            <a:ext cx="1417320" cy="2286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869" b="1" i="0">
                <a:solidFill>
                  <a:srgbClr val="1C1F23"/>
                </a:solidFill>
                <a:latin typeface="Aptos"/>
              </a:rPr>
              <a:t>Noite Alta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68880" y="4892040"/>
            <a:ext cx="4251960" cy="201168"/>
          </a:xfrm>
          <a:prstGeom prst="roundRect">
            <a:avLst/>
          </a:prstGeom>
          <a:solidFill>
            <a:srgbClr val="E5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2468880" y="4892040"/>
            <a:ext cx="1062990" cy="201168"/>
          </a:xfrm>
          <a:prstGeom prst="roundRect">
            <a:avLst/>
          </a:prstGeom>
          <a:solidFill>
            <a:srgbClr val="9A7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23310" y="4837176"/>
            <a:ext cx="502920" cy="2743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50" b="1" i="0">
                <a:solidFill>
                  <a:srgbClr val="9A7A54"/>
                </a:solidFill>
                <a:latin typeface="Aptos"/>
              </a:rPr>
              <a:t>20%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846320"/>
            <a:ext cx="914400" cy="2560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740" b="1">
                <a:solidFill>
                  <a:srgbClr val="585D65"/>
                </a:solidFill>
                <a:latin typeface="Aptos"/>
              </a:rPr>
              <a:t>BE: R$ 56 mil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468880" y="5422392"/>
            <a:ext cx="4251960" cy="0"/>
          </a:xfrm>
          <a:prstGeom prst="line">
            <a:avLst/>
          </a:prstGeom>
          <a:ln w="10160">
            <a:solidFill>
              <a:srgbClr val="E5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468880" y="5385816"/>
            <a:ext cx="0" cy="82296"/>
          </a:xfrm>
          <a:prstGeom prst="line">
            <a:avLst/>
          </a:prstGeom>
          <a:ln w="7620">
            <a:solidFill>
              <a:srgbClr val="989E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304288" y="5504688"/>
            <a:ext cx="329184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650" b="0" i="0">
                <a:solidFill>
                  <a:srgbClr val="989EA6"/>
                </a:solidFill>
                <a:latin typeface="Aptos"/>
              </a:rPr>
              <a:t>0%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531870" y="5385816"/>
            <a:ext cx="0" cy="82296"/>
          </a:xfrm>
          <a:prstGeom prst="line">
            <a:avLst/>
          </a:prstGeom>
          <a:ln w="7620">
            <a:solidFill>
              <a:srgbClr val="989E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67278" y="5504688"/>
            <a:ext cx="329184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650" b="0" i="0">
                <a:solidFill>
                  <a:srgbClr val="989EA6"/>
                </a:solidFill>
                <a:latin typeface="Aptos"/>
              </a:rPr>
              <a:t>20%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594860" y="5385816"/>
            <a:ext cx="0" cy="82296"/>
          </a:xfrm>
          <a:prstGeom prst="line">
            <a:avLst/>
          </a:prstGeom>
          <a:ln w="7620">
            <a:solidFill>
              <a:srgbClr val="989E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430268" y="5504688"/>
            <a:ext cx="329184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650" b="0" i="0">
                <a:solidFill>
                  <a:srgbClr val="989EA6"/>
                </a:solidFill>
                <a:latin typeface="Aptos"/>
              </a:rPr>
              <a:t>40%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657850" y="5385816"/>
            <a:ext cx="0" cy="82296"/>
          </a:xfrm>
          <a:prstGeom prst="line">
            <a:avLst/>
          </a:prstGeom>
          <a:ln w="7620">
            <a:solidFill>
              <a:srgbClr val="989E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93258" y="5504688"/>
            <a:ext cx="329184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650" b="0" i="0">
                <a:solidFill>
                  <a:srgbClr val="989EA6"/>
                </a:solidFill>
                <a:latin typeface="Aptos"/>
              </a:rPr>
              <a:t>60%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20840" y="5385816"/>
            <a:ext cx="0" cy="82296"/>
          </a:xfrm>
          <a:prstGeom prst="line">
            <a:avLst/>
          </a:prstGeom>
          <a:ln w="7620">
            <a:solidFill>
              <a:srgbClr val="989E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556248" y="5504688"/>
            <a:ext cx="329184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650" b="0" i="0">
                <a:solidFill>
                  <a:srgbClr val="989EA6"/>
                </a:solidFill>
                <a:latin typeface="Aptos"/>
              </a:rPr>
              <a:t>80%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94192" y="1892809"/>
            <a:ext cx="3200400" cy="2772974"/>
          </a:xfrm>
          <a:prstGeom prst="roundRect">
            <a:avLst/>
          </a:prstGeom>
          <a:solidFill>
            <a:srgbClr val="F6F7F9"/>
          </a:solidFill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/>
              </a:solidFill>
            </a:endParaRPr>
          </a:p>
        </p:txBody>
      </p:sp>
      <p:sp>
        <p:nvSpPr>
          <p:cNvPr id="43" name="Oval 42"/>
          <p:cNvSpPr/>
          <p:nvPr/>
        </p:nvSpPr>
        <p:spPr>
          <a:xfrm>
            <a:off x="8696725" y="2241999"/>
            <a:ext cx="256032" cy="256032"/>
          </a:xfrm>
          <a:prstGeom prst="ellipse">
            <a:avLst/>
          </a:prstGeom>
          <a:solidFill>
            <a:srgbClr val="C0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52560" y="2267712"/>
            <a:ext cx="2011680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i="0" dirty="0" err="1">
                <a:solidFill>
                  <a:srgbClr val="1C1F23"/>
                </a:solidFill>
                <a:latin typeface="Aptos"/>
              </a:rPr>
              <a:t>Hoje</a:t>
            </a:r>
            <a:r>
              <a:rPr sz="850" i="0" dirty="0">
                <a:solidFill>
                  <a:srgbClr val="1C1F23"/>
                </a:solidFill>
                <a:latin typeface="Aptos"/>
              </a:rPr>
              <a:t>, </a:t>
            </a:r>
            <a:r>
              <a:rPr sz="850" i="0" dirty="0" err="1">
                <a:solidFill>
                  <a:srgbClr val="1C1F23"/>
                </a:solidFill>
                <a:latin typeface="Aptos"/>
              </a:rPr>
              <a:t>cada</a:t>
            </a:r>
            <a:r>
              <a:rPr sz="850" i="0" dirty="0">
                <a:solidFill>
                  <a:srgbClr val="1C1F23"/>
                </a:solidFill>
                <a:latin typeface="Aptos"/>
              </a:rPr>
              <a:t> banco </a:t>
            </a:r>
            <a:r>
              <a:rPr sz="850" i="0" dirty="0" err="1">
                <a:solidFill>
                  <a:srgbClr val="1C1F23"/>
                </a:solidFill>
                <a:latin typeface="Aptos"/>
              </a:rPr>
              <a:t>custa</a:t>
            </a:r>
            <a:r>
              <a:rPr sz="850" i="0" dirty="0">
                <a:solidFill>
                  <a:srgbClr val="1C1F23"/>
                </a:solidFill>
                <a:latin typeface="Aptos"/>
              </a:rPr>
              <a:t> R$ 70 mil/</a:t>
            </a:r>
            <a:r>
              <a:rPr sz="850" i="0" dirty="0" err="1">
                <a:solidFill>
                  <a:srgbClr val="1C1F23"/>
                </a:solidFill>
                <a:latin typeface="Aptos"/>
              </a:rPr>
              <a:t>ano</a:t>
            </a:r>
            <a:r>
              <a:rPr sz="850" i="0" dirty="0">
                <a:solidFill>
                  <a:srgbClr val="1C1F23"/>
                </a:solidFill>
                <a:latin typeface="Aptos"/>
              </a:rPr>
              <a:t>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68512" y="4926819"/>
            <a:ext cx="2606040" cy="694944"/>
          </a:xfrm>
          <a:prstGeom prst="roundRect">
            <a:avLst/>
          </a:prstGeom>
          <a:solidFill>
            <a:srgbClr val="E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3" name="TextBox 52"/>
          <p:cNvSpPr txBox="1"/>
          <p:nvPr/>
        </p:nvSpPr>
        <p:spPr>
          <a:xfrm>
            <a:off x="8852973" y="5042799"/>
            <a:ext cx="123444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50" b="1" i="0" dirty="0" err="1">
                <a:solidFill>
                  <a:srgbClr val="337E58"/>
                </a:solidFill>
                <a:latin typeface="Aptos"/>
              </a:rPr>
              <a:t>Estação</a:t>
            </a:r>
            <a:r>
              <a:rPr sz="750" b="1" i="0" dirty="0">
                <a:solidFill>
                  <a:srgbClr val="337E58"/>
                </a:solidFill>
                <a:latin typeface="Aptos"/>
              </a:rPr>
              <a:t> Central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52973" y="5184648"/>
            <a:ext cx="2084831" cy="30175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30" b="1" i="0" dirty="0" err="1">
                <a:solidFill>
                  <a:srgbClr val="1C1F23"/>
                </a:solidFill>
                <a:latin typeface="Aptos"/>
              </a:rPr>
              <a:t>armários</a:t>
            </a:r>
            <a:r>
              <a:rPr sz="830" b="1" i="0" dirty="0">
                <a:solidFill>
                  <a:srgbClr val="1C1F23"/>
                </a:solidFill>
                <a:latin typeface="Aptos"/>
              </a:rPr>
              <a:t> </a:t>
            </a:r>
            <a:r>
              <a:rPr sz="830" b="1" i="0" dirty="0" err="1">
                <a:solidFill>
                  <a:srgbClr val="1C1F23"/>
                </a:solidFill>
                <a:latin typeface="Aptos"/>
              </a:rPr>
              <a:t>precisam</a:t>
            </a:r>
            <a:r>
              <a:rPr sz="830" b="1" i="0" dirty="0">
                <a:solidFill>
                  <a:srgbClr val="1C1F23"/>
                </a:solidFill>
                <a:latin typeface="Aptos"/>
              </a:rPr>
              <a:t> </a:t>
            </a:r>
            <a:r>
              <a:rPr sz="830" b="1" i="0" dirty="0" err="1">
                <a:solidFill>
                  <a:srgbClr val="1C1F23"/>
                </a:solidFill>
                <a:latin typeface="Aptos"/>
              </a:rPr>
              <a:t>ficar</a:t>
            </a:r>
            <a:r>
              <a:rPr sz="830" b="1" i="0" dirty="0">
                <a:solidFill>
                  <a:srgbClr val="1C1F23"/>
                </a:solidFill>
                <a:latin typeface="Aptos"/>
              </a:rPr>
              <a:t> ~66% </a:t>
            </a:r>
            <a:r>
              <a:rPr sz="830" b="1" i="0" dirty="0" err="1">
                <a:solidFill>
                  <a:srgbClr val="1C1F23"/>
                </a:solidFill>
                <a:latin typeface="Aptos"/>
              </a:rPr>
              <a:t>mais</a:t>
            </a:r>
            <a:r>
              <a:rPr sz="830" b="1" i="0" dirty="0">
                <a:solidFill>
                  <a:srgbClr val="1C1F23"/>
                </a:solidFill>
                <a:latin typeface="Aptos"/>
              </a:rPr>
              <a:t> </a:t>
            </a:r>
            <a:r>
              <a:rPr sz="830" b="1" i="0" dirty="0" err="1">
                <a:solidFill>
                  <a:srgbClr val="1C1F23"/>
                </a:solidFill>
                <a:latin typeface="Aptos"/>
              </a:rPr>
              <a:t>baratos</a:t>
            </a:r>
            <a:r>
              <a:rPr sz="830" b="1" i="0" dirty="0">
                <a:solidFill>
                  <a:srgbClr val="1C1F23"/>
                </a:solidFill>
                <a:latin typeface="Aptos"/>
              </a:rPr>
              <a:t> para </a:t>
            </a:r>
            <a:r>
              <a:rPr sz="830" b="1" i="0" dirty="0" err="1">
                <a:solidFill>
                  <a:srgbClr val="1C1F23"/>
                </a:solidFill>
                <a:latin typeface="Aptos"/>
              </a:rPr>
              <a:t>empatar</a:t>
            </a:r>
            <a:r>
              <a:rPr sz="830" b="1" i="0" dirty="0">
                <a:solidFill>
                  <a:srgbClr val="1C1F23"/>
                </a:solidFill>
                <a:latin typeface="Aptos"/>
              </a:rPr>
              <a:t>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78440" y="6537960"/>
            <a:ext cx="1307592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650" b="0" i="0">
                <a:solidFill>
                  <a:srgbClr val="989EA6"/>
                </a:solidFill>
                <a:latin typeface="Aptos"/>
              </a:rPr>
              <a:t>BagHub | 2026.2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659368" y="3401568"/>
            <a:ext cx="262432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851392" y="3502152"/>
            <a:ext cx="91440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1" i="0" dirty="0" err="1">
                <a:solidFill>
                  <a:srgbClr val="28525E"/>
                </a:solidFill>
                <a:latin typeface="Aptos"/>
              </a:rPr>
              <a:t>Fórmulas</a:t>
            </a:r>
            <a:endParaRPr sz="850" b="1" i="0" dirty="0">
              <a:solidFill>
                <a:srgbClr val="28525E"/>
              </a:solidFill>
              <a:latin typeface="Apto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851392" y="3714808"/>
            <a:ext cx="214884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50" b="1" i="0" dirty="0">
                <a:solidFill>
                  <a:srgbClr val="1C1F23"/>
                </a:solidFill>
                <a:latin typeface="Cambria Math"/>
              </a:rPr>
              <a:t>BE banco = [(cₚ − cₐ) × P] ÷ 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51392" y="3931920"/>
            <a:ext cx="214884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50" b="1" i="0" dirty="0" err="1">
                <a:solidFill>
                  <a:srgbClr val="1C1F23"/>
                </a:solidFill>
                <a:latin typeface="Cambria Math"/>
              </a:rPr>
              <a:t>Redução</a:t>
            </a:r>
            <a:r>
              <a:rPr sz="750" b="1" i="0" dirty="0">
                <a:solidFill>
                  <a:srgbClr val="1C1F23"/>
                </a:solidFill>
                <a:latin typeface="Cambria Math"/>
              </a:rPr>
              <a:t> = 1 − (BE banco ÷ 70.000)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51392" y="4151376"/>
            <a:ext cx="2148840" cy="1737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90" b="0" i="1" dirty="0">
                <a:solidFill>
                  <a:srgbClr val="989EA6"/>
                </a:solidFill>
                <a:latin typeface="Aptos"/>
              </a:rPr>
              <a:t>cₚ/cₐ = </a:t>
            </a:r>
            <a:r>
              <a:rPr sz="590" b="0" i="1" dirty="0" err="1">
                <a:solidFill>
                  <a:srgbClr val="989EA6"/>
                </a:solidFill>
                <a:latin typeface="Aptos"/>
              </a:rPr>
              <a:t>custo</a:t>
            </a:r>
            <a:r>
              <a:rPr sz="590" b="0" i="1" dirty="0">
                <a:solidFill>
                  <a:srgbClr val="989EA6"/>
                </a:solidFill>
                <a:latin typeface="Aptos"/>
              </a:rPr>
              <a:t> op. </a:t>
            </a:r>
            <a:r>
              <a:rPr sz="590" b="0" i="1" dirty="0" err="1">
                <a:solidFill>
                  <a:srgbClr val="989EA6"/>
                </a:solidFill>
                <a:latin typeface="Aptos"/>
              </a:rPr>
              <a:t>por</a:t>
            </a:r>
            <a:r>
              <a:rPr sz="590" b="0" i="1" dirty="0">
                <a:solidFill>
                  <a:srgbClr val="989EA6"/>
                </a:solidFill>
                <a:latin typeface="Aptos"/>
              </a:rPr>
              <a:t> </a:t>
            </a:r>
            <a:r>
              <a:rPr sz="590" b="0" i="1" dirty="0" err="1">
                <a:solidFill>
                  <a:srgbClr val="989EA6"/>
                </a:solidFill>
                <a:latin typeface="Aptos"/>
              </a:rPr>
              <a:t>posição</a:t>
            </a:r>
            <a:r>
              <a:rPr sz="590" b="0" i="1" dirty="0">
                <a:solidFill>
                  <a:srgbClr val="989EA6"/>
                </a:solidFill>
                <a:latin typeface="Aptos"/>
              </a:rPr>
              <a:t>  |  P = </a:t>
            </a:r>
            <a:r>
              <a:rPr sz="590" b="0" i="1" dirty="0" err="1">
                <a:solidFill>
                  <a:srgbClr val="989EA6"/>
                </a:solidFill>
                <a:latin typeface="Aptos"/>
              </a:rPr>
              <a:t>posições</a:t>
            </a:r>
            <a:r>
              <a:rPr sz="590" b="0" i="1" dirty="0">
                <a:solidFill>
                  <a:srgbClr val="989EA6"/>
                </a:solidFill>
                <a:latin typeface="Aptos"/>
              </a:rPr>
              <a:t>  |  N = ⌈P/40⌉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114800" cy="14157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1" i="0" dirty="0">
                <a:solidFill>
                  <a:srgbClr val="C0252B"/>
                </a:solidFill>
                <a:latin typeface="Aptos"/>
              </a:rPr>
              <a:t> DECISÃO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9875520" cy="43891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300" b="1" i="0">
                <a:solidFill>
                  <a:srgbClr val="1C1F23"/>
                </a:solidFill>
                <a:latin typeface="Aptos"/>
              </a:rPr>
              <a:t>Portfólio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01752"/>
            <a:ext cx="475488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800" b="1" i="0">
                <a:solidFill>
                  <a:srgbClr val="989EA6"/>
                </a:solidFill>
                <a:latin typeface="Aptos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24128"/>
            <a:ext cx="11183112" cy="0"/>
          </a:xfrm>
          <a:prstGeom prst="line">
            <a:avLst/>
          </a:prstGeom>
          <a:ln w="12700">
            <a:solidFill>
              <a:srgbClr val="E5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517904"/>
            <a:ext cx="192024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50" b="1" i="0">
                <a:solidFill>
                  <a:srgbClr val="C0252B"/>
                </a:solidFill>
                <a:latin typeface="Aptos"/>
              </a:rPr>
              <a:t>SEQUENCIAMENTO SUGERIDO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87552" y="2075688"/>
            <a:ext cx="10076688" cy="0"/>
          </a:xfrm>
          <a:prstGeom prst="line">
            <a:avLst/>
          </a:prstGeom>
          <a:ln w="38100">
            <a:solidFill>
              <a:srgbClr val="E5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719072" y="1920240"/>
            <a:ext cx="310896" cy="310896"/>
          </a:xfrm>
          <a:prstGeom prst="ellipse">
            <a:avLst/>
          </a:prstGeom>
          <a:solidFill>
            <a:srgbClr val="C0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19072" y="1988061"/>
            <a:ext cx="310896" cy="15696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423160"/>
            <a:ext cx="2487168" cy="3364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621792" y="2423160"/>
            <a:ext cx="64008" cy="3364992"/>
          </a:xfrm>
          <a:prstGeom prst="rect">
            <a:avLst/>
          </a:prstGeom>
          <a:solidFill>
            <a:srgbClr val="C0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642616"/>
            <a:ext cx="2029968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1" i="0" dirty="0" err="1">
                <a:solidFill>
                  <a:srgbClr val="1C1F23"/>
                </a:solidFill>
                <a:latin typeface="Aptos"/>
              </a:rPr>
              <a:t>Estação</a:t>
            </a:r>
            <a:r>
              <a:rPr sz="1200" b="1" i="0" dirty="0">
                <a:solidFill>
                  <a:srgbClr val="1C1F23"/>
                </a:solidFill>
                <a:latin typeface="Aptos"/>
              </a:rPr>
              <a:t> Central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39112" y="2944368"/>
            <a:ext cx="841248" cy="274320"/>
          </a:xfrm>
          <a:prstGeom prst="roundRect">
            <a:avLst/>
          </a:prstGeom>
          <a:solidFill>
            <a:srgbClr val="FB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84831" y="2953512"/>
            <a:ext cx="749808" cy="25603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670" b="1" i="0">
                <a:solidFill>
                  <a:srgbClr val="C0252B"/>
                </a:solidFill>
                <a:latin typeface="Aptos"/>
              </a:rPr>
              <a:t>LANÇAR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008376"/>
            <a:ext cx="1261872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1" i="0" dirty="0" err="1">
                <a:solidFill>
                  <a:srgbClr val="C0252B"/>
                </a:solidFill>
                <a:latin typeface="Aptos"/>
              </a:rPr>
              <a:t>Âncora</a:t>
            </a:r>
            <a:r>
              <a:rPr sz="850" b="1" i="0" dirty="0">
                <a:solidFill>
                  <a:srgbClr val="C0252B"/>
                </a:solidFill>
                <a:latin typeface="Aptos"/>
              </a:rPr>
              <a:t> de </a:t>
            </a:r>
            <a:r>
              <a:rPr sz="850" b="1" i="0" dirty="0" err="1">
                <a:solidFill>
                  <a:srgbClr val="C0252B"/>
                </a:solidFill>
                <a:latin typeface="Aptos"/>
              </a:rPr>
              <a:t>lançamento</a:t>
            </a:r>
            <a:endParaRPr sz="850" b="1" i="0" dirty="0">
              <a:solidFill>
                <a:srgbClr val="C0252B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4672" y="3456432"/>
            <a:ext cx="100584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" y="3456432"/>
            <a:ext cx="45720" cy="694944"/>
          </a:xfrm>
          <a:prstGeom prst="rect">
            <a:avLst/>
          </a:prstGeom>
          <a:solidFill>
            <a:srgbClr val="C0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3547872"/>
            <a:ext cx="8229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650" b="1" i="0">
                <a:solidFill>
                  <a:srgbClr val="585D65"/>
                </a:solidFill>
                <a:latin typeface="Aptos"/>
              </a:rPr>
              <a:t>RESULTADO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739896"/>
            <a:ext cx="8229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1" i="0">
                <a:solidFill>
                  <a:srgbClr val="1C1F23"/>
                </a:solidFill>
                <a:latin typeface="Aptos"/>
              </a:rPr>
              <a:t>R$ 27,84 mi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20240" y="3456432"/>
            <a:ext cx="100584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920240" y="3456432"/>
            <a:ext cx="45720" cy="694944"/>
          </a:xfrm>
          <a:prstGeom prst="rect">
            <a:avLst/>
          </a:prstGeom>
          <a:solidFill>
            <a:srgbClr val="C0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48256" y="3547872"/>
            <a:ext cx="8229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650" b="1" i="0">
                <a:solidFill>
                  <a:srgbClr val="585D65"/>
                </a:solidFill>
                <a:latin typeface="Aptos"/>
              </a:rPr>
              <a:t>R$/POSIÇÃO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48256" y="3739896"/>
            <a:ext cx="8229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1" i="0">
                <a:solidFill>
                  <a:srgbClr val="1C1F23"/>
                </a:solidFill>
                <a:latin typeface="Aptos"/>
              </a:rPr>
              <a:t>R$ 11,6 mil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" y="4315968"/>
            <a:ext cx="2121408" cy="292608"/>
          </a:xfrm>
          <a:prstGeom prst="round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92" y="4325112"/>
            <a:ext cx="2029967" cy="2743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720" b="1" i="0">
                <a:solidFill>
                  <a:srgbClr val="1C1F23"/>
                </a:solidFill>
                <a:latin typeface="Aptos"/>
              </a:rPr>
              <a:t>Complexidade: Moderada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303520"/>
            <a:ext cx="2066543" cy="27699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840" b="0" i="0" dirty="0" err="1">
                <a:solidFill>
                  <a:srgbClr val="585D65"/>
                </a:solidFill>
                <a:latin typeface="Aptos"/>
              </a:rPr>
              <a:t>Maior</a:t>
            </a:r>
            <a:r>
              <a:rPr sz="840" b="0" i="0" dirty="0">
                <a:solidFill>
                  <a:srgbClr val="585D65"/>
                </a:solidFill>
                <a:latin typeface="Aptos"/>
              </a:rPr>
              <a:t> </a:t>
            </a:r>
            <a:r>
              <a:rPr sz="840" b="0" i="0" dirty="0" err="1">
                <a:solidFill>
                  <a:srgbClr val="585D65"/>
                </a:solidFill>
                <a:latin typeface="Aptos"/>
              </a:rPr>
              <a:t>caixa</a:t>
            </a:r>
            <a:r>
              <a:rPr sz="840" b="0" i="0" dirty="0">
                <a:solidFill>
                  <a:srgbClr val="585D65"/>
                </a:solidFill>
                <a:latin typeface="Aptos"/>
              </a:rPr>
              <a:t> </a:t>
            </a:r>
            <a:r>
              <a:rPr sz="840" b="0" i="0" dirty="0" err="1">
                <a:solidFill>
                  <a:srgbClr val="585D65"/>
                </a:solidFill>
                <a:latin typeface="Aptos"/>
              </a:rPr>
              <a:t>absoluto</a:t>
            </a:r>
            <a:r>
              <a:rPr sz="840" b="0" i="0" dirty="0">
                <a:solidFill>
                  <a:srgbClr val="585D65"/>
                </a:solidFill>
                <a:latin typeface="Aptos"/>
              </a:rPr>
              <a:t> </a:t>
            </a:r>
            <a:endParaRPr lang="pt-BR" sz="840" b="0" i="0" dirty="0">
              <a:solidFill>
                <a:srgbClr val="585D65"/>
              </a:solidFill>
              <a:latin typeface="Aptos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840" b="0" i="0" dirty="0" err="1">
                <a:solidFill>
                  <a:srgbClr val="585D65"/>
                </a:solidFill>
                <a:latin typeface="Aptos"/>
              </a:rPr>
              <a:t>Melhor</a:t>
            </a:r>
            <a:r>
              <a:rPr sz="840" b="0" i="0" dirty="0">
                <a:solidFill>
                  <a:srgbClr val="585D65"/>
                </a:solidFill>
                <a:latin typeface="Aptos"/>
              </a:rPr>
              <a:t> </a:t>
            </a:r>
            <a:r>
              <a:rPr sz="840" b="0" i="0" dirty="0" err="1">
                <a:solidFill>
                  <a:srgbClr val="585D65"/>
                </a:solidFill>
                <a:latin typeface="Aptos"/>
              </a:rPr>
              <a:t>ponto</a:t>
            </a:r>
            <a:r>
              <a:rPr sz="840" b="0" i="0" dirty="0">
                <a:solidFill>
                  <a:srgbClr val="585D65"/>
                </a:solidFill>
                <a:latin typeface="Aptos"/>
              </a:rPr>
              <a:t> para </a:t>
            </a:r>
            <a:r>
              <a:rPr sz="840" b="0" i="0" dirty="0" err="1">
                <a:solidFill>
                  <a:srgbClr val="585D65"/>
                </a:solidFill>
                <a:latin typeface="Aptos"/>
              </a:rPr>
              <a:t>provar</a:t>
            </a:r>
            <a:r>
              <a:rPr sz="840" b="0" i="0" dirty="0">
                <a:solidFill>
                  <a:srgbClr val="585D65"/>
                </a:solidFill>
                <a:latin typeface="Aptos"/>
              </a:rPr>
              <a:t> </a:t>
            </a:r>
            <a:r>
              <a:rPr sz="840" b="0" i="0" dirty="0" err="1">
                <a:solidFill>
                  <a:srgbClr val="585D65"/>
                </a:solidFill>
                <a:latin typeface="Aptos"/>
              </a:rPr>
              <a:t>escala</a:t>
            </a:r>
            <a:endParaRPr sz="840" b="0" i="0" dirty="0">
              <a:solidFill>
                <a:srgbClr val="585D65"/>
              </a:solidFill>
              <a:latin typeface="Apto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4507992" y="1920240"/>
            <a:ext cx="310896" cy="310896"/>
          </a:xfrm>
          <a:prstGeom prst="ellipse">
            <a:avLst/>
          </a:prstGeom>
          <a:solidFill>
            <a:srgbClr val="285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17136" y="1990169"/>
            <a:ext cx="310896" cy="15696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10712" y="2423160"/>
            <a:ext cx="2487168" cy="3364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410712" y="2423160"/>
            <a:ext cx="64008" cy="3364992"/>
          </a:xfrm>
          <a:prstGeom prst="rect">
            <a:avLst/>
          </a:prstGeom>
          <a:solidFill>
            <a:srgbClr val="285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93592" y="2642616"/>
            <a:ext cx="2029968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1" i="0">
                <a:solidFill>
                  <a:srgbClr val="1C1F23"/>
                </a:solidFill>
                <a:latin typeface="Aptos"/>
              </a:rPr>
              <a:t>Centro Histórico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28032" y="2944368"/>
            <a:ext cx="841248" cy="274320"/>
          </a:xfrm>
          <a:prstGeom prst="roundRect">
            <a:avLst/>
          </a:prstGeom>
          <a:solidFill>
            <a:srgbClr val="E7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73752" y="2953512"/>
            <a:ext cx="749808" cy="25603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670" b="1" i="0">
                <a:solidFill>
                  <a:srgbClr val="28525E"/>
                </a:solidFill>
                <a:latin typeface="Aptos"/>
              </a:rPr>
              <a:t>ESCALAR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93592" y="3008376"/>
            <a:ext cx="1261872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1" i="0">
                <a:solidFill>
                  <a:srgbClr val="28525E"/>
                </a:solidFill>
                <a:latin typeface="Aptos"/>
              </a:rPr>
              <a:t>Escala eficiente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93592" y="3456432"/>
            <a:ext cx="100584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593592" y="3456432"/>
            <a:ext cx="45720" cy="694944"/>
          </a:xfrm>
          <a:prstGeom prst="rect">
            <a:avLst/>
          </a:prstGeom>
          <a:solidFill>
            <a:srgbClr val="285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21608" y="3547872"/>
            <a:ext cx="8229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650" b="1" i="0">
                <a:solidFill>
                  <a:srgbClr val="585D65"/>
                </a:solidFill>
                <a:latin typeface="Aptos"/>
              </a:rPr>
              <a:t>RESULTADO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21608" y="3739896"/>
            <a:ext cx="8229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1" i="0">
                <a:solidFill>
                  <a:srgbClr val="1C1F23"/>
                </a:solidFill>
                <a:latin typeface="Aptos"/>
              </a:rPr>
              <a:t>R$ 24,50 mi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09160" y="3456432"/>
            <a:ext cx="100584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709160" y="3456432"/>
            <a:ext cx="45720" cy="694944"/>
          </a:xfrm>
          <a:prstGeom prst="rect">
            <a:avLst/>
          </a:prstGeom>
          <a:solidFill>
            <a:srgbClr val="285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837176" y="3547872"/>
            <a:ext cx="8229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650" b="1" i="0">
                <a:solidFill>
                  <a:srgbClr val="585D65"/>
                </a:solidFill>
                <a:latin typeface="Aptos"/>
              </a:rPr>
              <a:t>R$/POSIÇÃO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37176" y="3739896"/>
            <a:ext cx="8229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1" i="0">
                <a:solidFill>
                  <a:srgbClr val="1C1F23"/>
                </a:solidFill>
                <a:latin typeface="Aptos"/>
              </a:rPr>
              <a:t>R$ 24,5 mil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593592" y="4315968"/>
            <a:ext cx="2121408" cy="292608"/>
          </a:xfrm>
          <a:prstGeom prst="round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39312" y="4325112"/>
            <a:ext cx="2029967" cy="2743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720" b="1" i="0">
                <a:solidFill>
                  <a:srgbClr val="1C1F23"/>
                </a:solidFill>
                <a:latin typeface="Aptos"/>
              </a:rPr>
              <a:t>Complexidade: Baixa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75888" y="5303520"/>
            <a:ext cx="2066543" cy="27699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840" b="0" i="0" dirty="0" err="1">
                <a:solidFill>
                  <a:srgbClr val="585D65"/>
                </a:solidFill>
                <a:latin typeface="Aptos"/>
              </a:rPr>
              <a:t>Maior</a:t>
            </a:r>
            <a:r>
              <a:rPr sz="840" b="0" i="0" dirty="0">
                <a:solidFill>
                  <a:srgbClr val="585D65"/>
                </a:solidFill>
                <a:latin typeface="Aptos"/>
              </a:rPr>
              <a:t> </a:t>
            </a:r>
            <a:r>
              <a:rPr sz="840" b="0" i="0" dirty="0" err="1">
                <a:solidFill>
                  <a:srgbClr val="585D65"/>
                </a:solidFill>
                <a:latin typeface="Aptos"/>
              </a:rPr>
              <a:t>resultado</a:t>
            </a:r>
            <a:r>
              <a:rPr sz="840" b="0" i="0" dirty="0">
                <a:solidFill>
                  <a:srgbClr val="585D65"/>
                </a:solidFill>
                <a:latin typeface="Aptos"/>
              </a:rPr>
              <a:t> </a:t>
            </a:r>
            <a:r>
              <a:rPr sz="840" b="0" i="0" dirty="0" err="1">
                <a:solidFill>
                  <a:srgbClr val="585D65"/>
                </a:solidFill>
                <a:latin typeface="Aptos"/>
              </a:rPr>
              <a:t>por</a:t>
            </a:r>
            <a:r>
              <a:rPr sz="840" b="0" i="0" dirty="0">
                <a:solidFill>
                  <a:srgbClr val="585D65"/>
                </a:solidFill>
                <a:latin typeface="Aptos"/>
              </a:rPr>
              <a:t> </a:t>
            </a:r>
            <a:r>
              <a:rPr sz="840" b="0" i="0" dirty="0" err="1">
                <a:solidFill>
                  <a:srgbClr val="585D65"/>
                </a:solidFill>
                <a:latin typeface="Aptos"/>
              </a:rPr>
              <a:t>posição</a:t>
            </a:r>
            <a:r>
              <a:rPr sz="840" b="0" i="0" dirty="0">
                <a:solidFill>
                  <a:srgbClr val="585D65"/>
                </a:solidFill>
                <a:latin typeface="Aptos"/>
              </a:rPr>
              <a:t> </a:t>
            </a:r>
            <a:endParaRPr lang="pt-BR" sz="840" b="0" i="0" dirty="0">
              <a:solidFill>
                <a:srgbClr val="585D65"/>
              </a:solidFill>
              <a:latin typeface="Aptos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840" dirty="0">
                <a:solidFill>
                  <a:srgbClr val="585D65"/>
                </a:solidFill>
                <a:latin typeface="Aptos"/>
              </a:rPr>
              <a:t>M</a:t>
            </a:r>
            <a:r>
              <a:rPr sz="840" b="0" i="0" dirty="0" err="1">
                <a:solidFill>
                  <a:srgbClr val="585D65"/>
                </a:solidFill>
                <a:latin typeface="Aptos"/>
              </a:rPr>
              <a:t>enor</a:t>
            </a:r>
            <a:r>
              <a:rPr sz="840" b="0" i="0" dirty="0">
                <a:solidFill>
                  <a:srgbClr val="585D65"/>
                </a:solidFill>
                <a:latin typeface="Aptos"/>
              </a:rPr>
              <a:t> </a:t>
            </a:r>
            <a:r>
              <a:rPr sz="840" b="0" i="0" dirty="0" err="1">
                <a:solidFill>
                  <a:srgbClr val="585D65"/>
                </a:solidFill>
                <a:latin typeface="Aptos"/>
              </a:rPr>
              <a:t>complexidade</a:t>
            </a:r>
            <a:r>
              <a:rPr sz="840" b="0" i="0" dirty="0">
                <a:solidFill>
                  <a:srgbClr val="585D65"/>
                </a:solidFill>
                <a:latin typeface="Aptos"/>
              </a:rPr>
              <a:t> </a:t>
            </a:r>
          </a:p>
        </p:txBody>
      </p:sp>
      <p:sp>
        <p:nvSpPr>
          <p:cNvPr id="47" name="Oval 46"/>
          <p:cNvSpPr/>
          <p:nvPr/>
        </p:nvSpPr>
        <p:spPr>
          <a:xfrm>
            <a:off x="7296912" y="1920240"/>
            <a:ext cx="310896" cy="310896"/>
          </a:xfrm>
          <a:prstGeom prst="ellipse">
            <a:avLst/>
          </a:prstGeom>
          <a:solidFill>
            <a:srgbClr val="9A7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287767" y="1997205"/>
            <a:ext cx="310896" cy="15696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99632" y="2423160"/>
            <a:ext cx="2487168" cy="3364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99632" y="2423160"/>
            <a:ext cx="64008" cy="3364992"/>
          </a:xfrm>
          <a:prstGeom prst="rect">
            <a:avLst/>
          </a:prstGeom>
          <a:solidFill>
            <a:srgbClr val="9A7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82512" y="2642616"/>
            <a:ext cx="2029968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1" i="0">
                <a:solidFill>
                  <a:srgbClr val="1C1F23"/>
                </a:solidFill>
                <a:latin typeface="Aptos"/>
              </a:rPr>
              <a:t>Noite Alta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616952" y="2944368"/>
            <a:ext cx="841248" cy="274320"/>
          </a:xfrm>
          <a:prstGeom prst="round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662672" y="2953512"/>
            <a:ext cx="749808" cy="25603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670" b="1" i="0">
                <a:solidFill>
                  <a:srgbClr val="9A7A54"/>
                </a:solidFill>
                <a:latin typeface="Aptos"/>
              </a:rPr>
              <a:t>TESTAR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82512" y="3008376"/>
            <a:ext cx="1261872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1" i="0">
                <a:solidFill>
                  <a:srgbClr val="9A7A54"/>
                </a:solidFill>
                <a:latin typeface="Aptos"/>
              </a:rPr>
              <a:t>Expansão seletiva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82512" y="3456432"/>
            <a:ext cx="100584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382512" y="3456432"/>
            <a:ext cx="45720" cy="694944"/>
          </a:xfrm>
          <a:prstGeom prst="rect">
            <a:avLst/>
          </a:prstGeom>
          <a:solidFill>
            <a:srgbClr val="9A7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10528" y="3547872"/>
            <a:ext cx="8229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650" b="1" i="0">
                <a:solidFill>
                  <a:srgbClr val="585D65"/>
                </a:solidFill>
                <a:latin typeface="Aptos"/>
              </a:rPr>
              <a:t>RESULTADO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10528" y="3739896"/>
            <a:ext cx="8229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1" i="0">
                <a:solidFill>
                  <a:srgbClr val="1C1F23"/>
                </a:solidFill>
                <a:latin typeface="Aptos"/>
              </a:rPr>
              <a:t>R$ 19,20 mi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498079" y="3456432"/>
            <a:ext cx="100584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498079" y="3456432"/>
            <a:ext cx="45720" cy="694944"/>
          </a:xfrm>
          <a:prstGeom prst="rect">
            <a:avLst/>
          </a:prstGeom>
          <a:solidFill>
            <a:srgbClr val="9A7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626096" y="3547872"/>
            <a:ext cx="8229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650" b="1" i="0">
                <a:solidFill>
                  <a:srgbClr val="585D65"/>
                </a:solidFill>
                <a:latin typeface="Aptos"/>
              </a:rPr>
              <a:t>R$/POSIÇÃO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26096" y="3739896"/>
            <a:ext cx="8229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1" i="0">
                <a:solidFill>
                  <a:srgbClr val="1C1F23"/>
                </a:solidFill>
                <a:latin typeface="Aptos"/>
              </a:rPr>
              <a:t>R$ 10,7 mil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382512" y="4315968"/>
            <a:ext cx="2121408" cy="29260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428232" y="4397639"/>
            <a:ext cx="2029967" cy="129266"/>
          </a:xfrm>
          <a:prstGeom prst="rect">
            <a:avLst/>
          </a:prstGeom>
          <a:solidFill>
            <a:schemeClr val="bg1"/>
          </a:solidFill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720" b="1" i="0" dirty="0" err="1">
                <a:latin typeface="Aptos"/>
              </a:rPr>
              <a:t>Complexidade</a:t>
            </a:r>
            <a:r>
              <a:rPr sz="720" b="1" i="0" dirty="0">
                <a:latin typeface="Aptos"/>
              </a:rPr>
              <a:t>: Alta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19088" y="5238886"/>
            <a:ext cx="2066543" cy="40626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840" b="0" i="0" dirty="0">
                <a:solidFill>
                  <a:srgbClr val="585D65"/>
                </a:solidFill>
                <a:latin typeface="Aptos"/>
              </a:rPr>
              <a:t>Volume </a:t>
            </a:r>
            <a:r>
              <a:rPr lang="pt-BR" sz="840" dirty="0">
                <a:solidFill>
                  <a:srgbClr val="585D65"/>
                </a:solidFill>
                <a:latin typeface="Aptos"/>
              </a:rPr>
              <a:t>denso e relevante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840" b="0" i="0" dirty="0">
                <a:solidFill>
                  <a:srgbClr val="585D65"/>
                </a:solidFill>
                <a:latin typeface="Aptos"/>
              </a:rPr>
              <a:t>Maiores investimentos em segurança e suporte</a:t>
            </a:r>
            <a:endParaRPr sz="840" b="0" i="0" dirty="0">
              <a:solidFill>
                <a:srgbClr val="585D65"/>
              </a:solidFill>
              <a:latin typeface="Aptos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10085832" y="1920240"/>
            <a:ext cx="310896" cy="310896"/>
          </a:xfrm>
          <a:prstGeom prst="ellipse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085832" y="1988061"/>
            <a:ext cx="310896" cy="15696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988552" y="2423160"/>
            <a:ext cx="2487168" cy="3364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988552" y="2423160"/>
            <a:ext cx="64008" cy="3364992"/>
          </a:xfrm>
          <a:prstGeom prst="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171432" y="2642616"/>
            <a:ext cx="2029968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1" i="0">
                <a:solidFill>
                  <a:srgbClr val="1C1F23"/>
                </a:solidFill>
                <a:latin typeface="Aptos"/>
              </a:rPr>
              <a:t>Arena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405872" y="2944368"/>
            <a:ext cx="914400" cy="274320"/>
          </a:xfrm>
          <a:prstGeom prst="round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451592" y="2953512"/>
            <a:ext cx="822960" cy="25603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670" b="1" i="0">
                <a:solidFill>
                  <a:srgbClr val="1C1F23"/>
                </a:solidFill>
                <a:latin typeface="Aptos"/>
              </a:rPr>
              <a:t>OPORTUNÍSTICO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71432" y="3008376"/>
            <a:ext cx="1261872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1" i="0">
                <a:solidFill>
                  <a:srgbClr val="1C1F23"/>
                </a:solidFill>
                <a:latin typeface="Aptos"/>
              </a:rPr>
              <a:t>Oportunidade de evento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171432" y="3456432"/>
            <a:ext cx="100584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171432" y="3456432"/>
            <a:ext cx="45720" cy="694944"/>
          </a:xfrm>
          <a:prstGeom prst="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299448" y="3547872"/>
            <a:ext cx="8229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650" b="1" i="0">
                <a:solidFill>
                  <a:srgbClr val="585D65"/>
                </a:solidFill>
                <a:latin typeface="Aptos"/>
              </a:rPr>
              <a:t>RESULTADO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99448" y="3739896"/>
            <a:ext cx="8229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1" i="0">
                <a:solidFill>
                  <a:srgbClr val="1C1F23"/>
                </a:solidFill>
                <a:latin typeface="Aptos"/>
              </a:rPr>
              <a:t>R$ 14,94 mi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287000" y="3456432"/>
            <a:ext cx="100584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0287000" y="3456432"/>
            <a:ext cx="45720" cy="694944"/>
          </a:xfrm>
          <a:prstGeom prst="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0415016" y="3547872"/>
            <a:ext cx="8229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650" b="1" i="0">
                <a:solidFill>
                  <a:srgbClr val="585D65"/>
                </a:solidFill>
                <a:latin typeface="Aptos"/>
              </a:rPr>
              <a:t>R$/POSIÇÃO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415016" y="3739896"/>
            <a:ext cx="8229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1" i="0">
                <a:solidFill>
                  <a:srgbClr val="1C1F23"/>
                </a:solidFill>
                <a:latin typeface="Aptos"/>
              </a:rPr>
              <a:t>R$ 16,6 mil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171432" y="4315968"/>
            <a:ext cx="2121408" cy="292608"/>
          </a:xfrm>
          <a:prstGeom prst="round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217152" y="4325112"/>
            <a:ext cx="2029967" cy="2743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720" b="1" i="0">
                <a:solidFill>
                  <a:srgbClr val="1C1F23"/>
                </a:solidFill>
                <a:latin typeface="Aptos"/>
              </a:rPr>
              <a:t>Complexidade: Moderada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45168" y="5238885"/>
            <a:ext cx="2066543" cy="40626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840" b="0" i="0" dirty="0">
                <a:solidFill>
                  <a:srgbClr val="585D65"/>
                </a:solidFill>
                <a:latin typeface="Aptos"/>
              </a:rPr>
              <a:t>Menor </a:t>
            </a:r>
            <a:r>
              <a:rPr sz="840" b="0" i="0" dirty="0" err="1">
                <a:solidFill>
                  <a:srgbClr val="585D65"/>
                </a:solidFill>
                <a:latin typeface="Aptos"/>
              </a:rPr>
              <a:t>resultado</a:t>
            </a:r>
            <a:r>
              <a:rPr sz="840" b="0" i="0" dirty="0">
                <a:solidFill>
                  <a:srgbClr val="585D65"/>
                </a:solidFill>
                <a:latin typeface="Aptos"/>
              </a:rPr>
              <a:t> total</a:t>
            </a:r>
            <a:endParaRPr lang="pt-BR" sz="840" dirty="0">
              <a:solidFill>
                <a:srgbClr val="585D65"/>
              </a:solidFill>
              <a:latin typeface="Aptos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840" dirty="0">
                <a:solidFill>
                  <a:srgbClr val="585D65"/>
                </a:solidFill>
                <a:latin typeface="Aptos"/>
              </a:rPr>
              <a:t>A</a:t>
            </a:r>
            <a:r>
              <a:rPr sz="840" b="0" i="0" dirty="0" err="1">
                <a:solidFill>
                  <a:srgbClr val="585D65"/>
                </a:solidFill>
                <a:latin typeface="Aptos"/>
              </a:rPr>
              <a:t>tratividade</a:t>
            </a:r>
            <a:r>
              <a:rPr sz="840" b="0" i="0" dirty="0">
                <a:solidFill>
                  <a:srgbClr val="585D65"/>
                </a:solidFill>
                <a:latin typeface="Aptos"/>
              </a:rPr>
              <a:t> </a:t>
            </a:r>
            <a:r>
              <a:rPr sz="840" b="0" i="0" dirty="0" err="1">
                <a:solidFill>
                  <a:srgbClr val="585D65"/>
                </a:solidFill>
                <a:latin typeface="Aptos"/>
              </a:rPr>
              <a:t>depende</a:t>
            </a:r>
            <a:r>
              <a:rPr lang="pt-BR" sz="840" b="0" i="0" dirty="0" err="1">
                <a:solidFill>
                  <a:srgbClr val="585D65"/>
                </a:solidFill>
                <a:latin typeface="Aptos"/>
              </a:rPr>
              <a:t>nte</a:t>
            </a:r>
            <a:r>
              <a:rPr sz="840" b="0" i="0" dirty="0">
                <a:solidFill>
                  <a:srgbClr val="585D65"/>
                </a:solidFill>
                <a:latin typeface="Aptos"/>
              </a:rPr>
              <a:t> de </a:t>
            </a:r>
            <a:r>
              <a:rPr sz="840" b="0" i="0" dirty="0" err="1">
                <a:solidFill>
                  <a:srgbClr val="585D65"/>
                </a:solidFill>
                <a:latin typeface="Aptos"/>
              </a:rPr>
              <a:t>picos</a:t>
            </a:r>
            <a:r>
              <a:rPr sz="840" b="0" i="0" dirty="0">
                <a:solidFill>
                  <a:srgbClr val="585D65"/>
                </a:solidFill>
                <a:latin typeface="Aptos"/>
              </a:rPr>
              <a:t> de </a:t>
            </a:r>
            <a:r>
              <a:rPr sz="840" b="0" i="0" dirty="0" err="1">
                <a:solidFill>
                  <a:srgbClr val="585D65"/>
                </a:solidFill>
                <a:latin typeface="Aptos"/>
              </a:rPr>
              <a:t>eventos</a:t>
            </a:r>
            <a:r>
              <a:rPr sz="840" b="0" i="0" dirty="0">
                <a:solidFill>
                  <a:srgbClr val="585D65"/>
                </a:solidFill>
                <a:latin typeface="Aptos"/>
              </a:rPr>
              <a:t> e </a:t>
            </a:r>
            <a:r>
              <a:rPr sz="840" b="0" i="0" dirty="0" err="1">
                <a:solidFill>
                  <a:srgbClr val="585D65"/>
                </a:solidFill>
                <a:latin typeface="Aptos"/>
              </a:rPr>
              <a:t>calendário</a:t>
            </a:r>
            <a:endParaRPr sz="840" b="0" i="0" dirty="0">
              <a:solidFill>
                <a:srgbClr val="585D65"/>
              </a:solidFill>
              <a:latin typeface="Aptos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859536" y="6053328"/>
            <a:ext cx="1115568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ptos"/>
              </a:rPr>
              <a:t>Lógica de expansão: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378440" y="6537960"/>
            <a:ext cx="1307592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650" b="0" i="0">
                <a:solidFill>
                  <a:srgbClr val="989EA6"/>
                </a:solidFill>
                <a:latin typeface="Aptos"/>
              </a:rPr>
              <a:t>BagHub | 2026.2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04672" y="4718304"/>
            <a:ext cx="2121408" cy="429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804672" y="4718304"/>
            <a:ext cx="45720" cy="429768"/>
          </a:xfrm>
          <a:prstGeom prst="rect">
            <a:avLst/>
          </a:prstGeom>
          <a:solidFill>
            <a:srgbClr val="C0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41832" y="4759874"/>
            <a:ext cx="713232" cy="22775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680" b="1" i="0" dirty="0">
                <a:solidFill>
                  <a:srgbClr val="585D65"/>
                </a:solidFill>
                <a:latin typeface="Aptos"/>
              </a:rPr>
              <a:t>MARGEM</a:t>
            </a:r>
            <a:r>
              <a:rPr lang="pt-BR" sz="680" b="1" i="0" dirty="0">
                <a:solidFill>
                  <a:srgbClr val="585D65"/>
                </a:solidFill>
                <a:latin typeface="Aptos"/>
              </a:rPr>
              <a:t> DE LUCRO</a:t>
            </a:r>
            <a:endParaRPr sz="680" b="1" i="0" dirty="0">
              <a:solidFill>
                <a:srgbClr val="585D65"/>
              </a:solidFill>
              <a:latin typeface="Aptos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901952" y="4754880"/>
            <a:ext cx="859536" cy="2286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1050" b="1" i="0" dirty="0">
                <a:solidFill>
                  <a:srgbClr val="C0252B"/>
                </a:solidFill>
                <a:latin typeface="Aptos"/>
              </a:rPr>
              <a:t>77,3%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593592" y="4718304"/>
            <a:ext cx="2121408" cy="429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3593592" y="4718304"/>
            <a:ext cx="45720" cy="429768"/>
          </a:xfrm>
          <a:prstGeom prst="rect">
            <a:avLst/>
          </a:prstGeom>
          <a:solidFill>
            <a:srgbClr val="285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3730752" y="4759875"/>
            <a:ext cx="713232" cy="22775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lang="pt-BR" sz="680" b="1" i="0" dirty="0">
                <a:solidFill>
                  <a:srgbClr val="585D65"/>
                </a:solidFill>
                <a:latin typeface="Aptos"/>
              </a:rPr>
              <a:t>MARGEM DE LUCRO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690872" y="4754880"/>
            <a:ext cx="859536" cy="2286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1050" b="1" i="0">
                <a:solidFill>
                  <a:srgbClr val="28525E"/>
                </a:solidFill>
                <a:latin typeface="Aptos"/>
              </a:rPr>
              <a:t>90,7%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382512" y="4718304"/>
            <a:ext cx="2121408" cy="429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6382512" y="4718304"/>
            <a:ext cx="45720" cy="429768"/>
          </a:xfrm>
          <a:prstGeom prst="rect">
            <a:avLst/>
          </a:prstGeom>
          <a:solidFill>
            <a:srgbClr val="9A7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510528" y="4754880"/>
            <a:ext cx="713232" cy="33239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r>
              <a:rPr lang="pt-BR" sz="680" b="1" i="0" dirty="0">
                <a:solidFill>
                  <a:srgbClr val="585D65"/>
                </a:solidFill>
                <a:latin typeface="Aptos"/>
              </a:rPr>
              <a:t>MARGEM DE LUCRO</a:t>
            </a:r>
          </a:p>
          <a:p>
            <a:pPr algn="l"/>
            <a:endParaRPr sz="680" b="1" i="0" dirty="0">
              <a:solidFill>
                <a:srgbClr val="585D65"/>
              </a:solidFill>
              <a:latin typeface="Aptos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7479792" y="4754880"/>
            <a:ext cx="859536" cy="2286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1050" b="1" i="0">
                <a:solidFill>
                  <a:srgbClr val="9A7A54"/>
                </a:solidFill>
                <a:latin typeface="Aptos"/>
              </a:rPr>
              <a:t>64,0%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171432" y="4718304"/>
            <a:ext cx="2121408" cy="429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9171432" y="4718304"/>
            <a:ext cx="45720" cy="429768"/>
          </a:xfrm>
          <a:prstGeom prst="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9285693" y="4754880"/>
            <a:ext cx="713232" cy="33239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r>
              <a:rPr lang="pt-BR" sz="680" b="1" i="0" dirty="0">
                <a:solidFill>
                  <a:srgbClr val="585D65"/>
                </a:solidFill>
                <a:latin typeface="Aptos"/>
              </a:rPr>
              <a:t>MARGEM DE LUCRO</a:t>
            </a:r>
          </a:p>
          <a:p>
            <a:pPr algn="l"/>
            <a:endParaRPr sz="680" b="1" i="0" dirty="0">
              <a:solidFill>
                <a:srgbClr val="585D65"/>
              </a:solidFill>
              <a:latin typeface="Aptos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10268711" y="4754880"/>
            <a:ext cx="859536" cy="2286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1050" b="1" i="0">
                <a:solidFill>
                  <a:srgbClr val="1C1F23"/>
                </a:solidFill>
                <a:latin typeface="Aptos"/>
              </a:rPr>
              <a:t>83,0%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/>
      <p:bldP spid="14" grpId="0" animBg="1"/>
      <p:bldP spid="15" grpId="0"/>
      <p:bldP spid="16" grpId="0"/>
      <p:bldP spid="17" grpId="0" animBg="1"/>
      <p:bldP spid="18" grpId="0" animBg="1"/>
      <p:bldP spid="19" grpId="0"/>
      <p:bldP spid="20" grpId="0"/>
      <p:bldP spid="21" grpId="0" animBg="1"/>
      <p:bldP spid="22" grpId="0" animBg="1"/>
      <p:bldP spid="23" grpId="0"/>
      <p:bldP spid="24" grpId="0"/>
      <p:bldP spid="25" grpId="0" animBg="1"/>
      <p:bldP spid="26" grpId="0"/>
      <p:bldP spid="27" grpId="0"/>
      <p:bldP spid="30" grpId="0" animBg="1"/>
      <p:bldP spid="31" grpId="0" animBg="1"/>
      <p:bldP spid="32" grpId="0"/>
      <p:bldP spid="33" grpId="0" animBg="1"/>
      <p:bldP spid="34" grpId="0"/>
      <p:bldP spid="35" grpId="0"/>
      <p:bldP spid="36" grpId="0" animBg="1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/>
      <p:bldP spid="46" grpId="0"/>
      <p:bldP spid="49" grpId="0" animBg="1"/>
      <p:bldP spid="50" grpId="0" animBg="1"/>
      <p:bldP spid="51" grpId="0"/>
      <p:bldP spid="52" grpId="0" animBg="1"/>
      <p:bldP spid="53" grpId="0"/>
      <p:bldP spid="54" grpId="0"/>
      <p:bldP spid="55" grpId="0" animBg="1"/>
      <p:bldP spid="56" grpId="0" animBg="1"/>
      <p:bldP spid="57" grpId="0"/>
      <p:bldP spid="58" grpId="0"/>
      <p:bldP spid="59" grpId="0" animBg="1"/>
      <p:bldP spid="60" grpId="0" animBg="1"/>
      <p:bldP spid="61" grpId="0"/>
      <p:bldP spid="62" grpId="0"/>
      <p:bldP spid="63" grpId="0" animBg="1"/>
      <p:bldP spid="64" grpId="0" animBg="1"/>
      <p:bldP spid="65" grpId="0"/>
      <p:bldP spid="68" grpId="0" animBg="1"/>
      <p:bldP spid="69" grpId="0" animBg="1"/>
      <p:bldP spid="70" grpId="0"/>
      <p:bldP spid="71" grpId="0" animBg="1"/>
      <p:bldP spid="72" grpId="0"/>
      <p:bldP spid="73" grpId="0"/>
      <p:bldP spid="74" grpId="0" animBg="1"/>
      <p:bldP spid="75" grpId="0" animBg="1"/>
      <p:bldP spid="76" grpId="0"/>
      <p:bldP spid="77" grpId="0"/>
      <p:bldP spid="78" grpId="0" animBg="1"/>
      <p:bldP spid="79" grpId="0" animBg="1"/>
      <p:bldP spid="80" grpId="0"/>
      <p:bldP spid="81" grpId="0"/>
      <p:bldP spid="82" grpId="0" animBg="1"/>
      <p:bldP spid="83" grpId="0"/>
      <p:bldP spid="84" grpId="0"/>
      <p:bldP spid="90" grpId="0" animBg="1"/>
      <p:bldP spid="91" grpId="0" animBg="1"/>
      <p:bldP spid="92" grpId="0"/>
      <p:bldP spid="93" grpId="0"/>
      <p:bldP spid="94" grpId="0" animBg="1"/>
      <p:bldP spid="95" grpId="0" animBg="1"/>
      <p:bldP spid="96" grpId="0"/>
      <p:bldP spid="97" grpId="0"/>
      <p:bldP spid="98" grpId="0" animBg="1"/>
      <p:bldP spid="99" grpId="0" animBg="1"/>
      <p:bldP spid="100" grpId="0"/>
      <p:bldP spid="101" grpId="0"/>
      <p:bldP spid="102" grpId="0" animBg="1"/>
      <p:bldP spid="103" grpId="0" animBg="1"/>
      <p:bldP spid="104" grpId="0"/>
      <p:bldP spid="10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114800" cy="14157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1" i="0" dirty="0">
                <a:solidFill>
                  <a:srgbClr val="C0252B"/>
                </a:solidFill>
                <a:latin typeface="Aptos"/>
              </a:rPr>
              <a:t>PLANO DE 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9875520" cy="3724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300" b="1" i="0" dirty="0" err="1">
                <a:solidFill>
                  <a:srgbClr val="1C1F23"/>
                </a:solidFill>
                <a:latin typeface="Aptos"/>
              </a:rPr>
              <a:t>Riscos</a:t>
            </a:r>
            <a:r>
              <a:rPr lang="pt-BR" sz="2300" b="1" i="0" dirty="0">
                <a:solidFill>
                  <a:srgbClr val="1C1F23"/>
                </a:solidFill>
                <a:latin typeface="Aptos"/>
              </a:rPr>
              <a:t> -     Estação Central + Pontos Parceiros</a:t>
            </a:r>
            <a:endParaRPr sz="2300" b="1" i="0" dirty="0">
              <a:solidFill>
                <a:srgbClr val="1C1F23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01400" y="301752"/>
            <a:ext cx="475488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800" b="1" i="0">
                <a:solidFill>
                  <a:srgbClr val="989EA6"/>
                </a:solidFill>
                <a:latin typeface="Aptos"/>
              </a:rPr>
              <a:t>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24128"/>
            <a:ext cx="11183112" cy="0"/>
          </a:xfrm>
          <a:prstGeom prst="line">
            <a:avLst/>
          </a:prstGeom>
          <a:ln w="12700">
            <a:solidFill>
              <a:srgbClr val="E5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66928" y="1627632"/>
            <a:ext cx="777240" cy="493776"/>
          </a:xfrm>
          <a:prstGeom prst="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1673352"/>
            <a:ext cx="685800" cy="4023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Prior.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4168" y="1627632"/>
            <a:ext cx="2057400" cy="493776"/>
          </a:xfrm>
          <a:prstGeom prst="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89888" y="1673352"/>
            <a:ext cx="1965960" cy="4023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Risco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01568" y="1627632"/>
            <a:ext cx="3246120" cy="493776"/>
          </a:xfrm>
          <a:prstGeom prst="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47287" y="1673352"/>
            <a:ext cx="3154679" cy="4023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Por que importa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47688" y="1627632"/>
            <a:ext cx="2926080" cy="493776"/>
          </a:xfrm>
          <a:prstGeom prst="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93407" y="1673352"/>
            <a:ext cx="2834640" cy="4023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Mitigação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73767" y="1627632"/>
            <a:ext cx="2057400" cy="493776"/>
          </a:xfrm>
          <a:prstGeom prst="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19488" y="1673352"/>
            <a:ext cx="1965960" cy="4023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Gatilho / KPI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121408"/>
            <a:ext cx="77724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85800" y="2350008"/>
            <a:ext cx="539496" cy="310896"/>
          </a:xfrm>
          <a:prstGeom prst="roundRect">
            <a:avLst/>
          </a:prstGeom>
          <a:solidFill>
            <a:srgbClr val="FB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2376" y="2359152"/>
            <a:ext cx="466344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730" b="1" i="0">
                <a:solidFill>
                  <a:srgbClr val="C0252B"/>
                </a:solidFill>
                <a:latin typeface="Aptos"/>
              </a:rPr>
              <a:t>Alta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44168" y="2121408"/>
            <a:ext cx="205740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26464" y="2194560"/>
            <a:ext cx="1892807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790" b="1" i="0" dirty="0" err="1">
                <a:solidFill>
                  <a:srgbClr val="1C1F23"/>
                </a:solidFill>
                <a:latin typeface="Aptos"/>
              </a:rPr>
              <a:t>Qualidade</a:t>
            </a:r>
            <a:r>
              <a:rPr sz="790" b="1" i="0" dirty="0">
                <a:solidFill>
                  <a:srgbClr val="1C1F23"/>
                </a:solidFill>
                <a:latin typeface="Aptos"/>
              </a:rPr>
              <a:t> e </a:t>
            </a:r>
            <a:r>
              <a:rPr sz="790" b="1" i="0" dirty="0" err="1">
                <a:solidFill>
                  <a:srgbClr val="1C1F23"/>
                </a:solidFill>
                <a:latin typeface="Aptos"/>
              </a:rPr>
              <a:t>cadeia</a:t>
            </a:r>
            <a:r>
              <a:rPr sz="790" b="1" i="0" dirty="0">
                <a:solidFill>
                  <a:srgbClr val="1C1F23"/>
                </a:solidFill>
                <a:latin typeface="Aptos"/>
              </a:rPr>
              <a:t> de </a:t>
            </a:r>
            <a:r>
              <a:rPr sz="790" b="1" i="0" dirty="0" err="1">
                <a:solidFill>
                  <a:srgbClr val="1C1F23"/>
                </a:solidFill>
                <a:latin typeface="Aptos"/>
              </a:rPr>
              <a:t>custódia</a:t>
            </a:r>
            <a:endParaRPr sz="790" b="1" i="0" dirty="0">
              <a:solidFill>
                <a:srgbClr val="1C1F23"/>
              </a:solidFill>
              <a:latin typeface="Apto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401568" y="2121408"/>
            <a:ext cx="32461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83863" y="2396016"/>
            <a:ext cx="3081527" cy="25545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770" b="0" i="0" dirty="0">
                <a:solidFill>
                  <a:srgbClr val="1C1F23"/>
                </a:solidFill>
                <a:latin typeface="Aptos"/>
              </a:rPr>
              <a:t>A </a:t>
            </a:r>
            <a:r>
              <a:rPr sz="770" b="0" i="0" dirty="0" err="1">
                <a:solidFill>
                  <a:srgbClr val="1C1F23"/>
                </a:solidFill>
                <a:latin typeface="Aptos"/>
              </a:rPr>
              <a:t>experiência</a:t>
            </a:r>
            <a:r>
              <a:rPr sz="770" b="0" i="0" dirty="0">
                <a:solidFill>
                  <a:srgbClr val="1C1F23"/>
                </a:solidFill>
                <a:latin typeface="Aptos"/>
              </a:rPr>
              <a:t> </a:t>
            </a:r>
            <a:r>
              <a:rPr sz="770" b="0" i="0" dirty="0" err="1">
                <a:solidFill>
                  <a:srgbClr val="1C1F23"/>
                </a:solidFill>
                <a:latin typeface="Aptos"/>
              </a:rPr>
              <a:t>depende</a:t>
            </a:r>
            <a:r>
              <a:rPr sz="770" b="0" i="0" dirty="0">
                <a:solidFill>
                  <a:srgbClr val="1C1F23"/>
                </a:solidFill>
                <a:latin typeface="Aptos"/>
              </a:rPr>
              <a:t> do </a:t>
            </a:r>
            <a:r>
              <a:rPr sz="770" b="0" i="0" dirty="0" err="1">
                <a:solidFill>
                  <a:srgbClr val="1C1F23"/>
                </a:solidFill>
                <a:latin typeface="Aptos"/>
              </a:rPr>
              <a:t>parceiro</a:t>
            </a:r>
            <a:r>
              <a:rPr sz="770" b="0" i="0" dirty="0">
                <a:solidFill>
                  <a:srgbClr val="1C1F23"/>
                </a:solidFill>
                <a:latin typeface="Aptos"/>
              </a:rPr>
              <a:t>;</a:t>
            </a:r>
            <a:r>
              <a:rPr lang="pt-BR" sz="770" b="0" i="0" dirty="0">
                <a:solidFill>
                  <a:srgbClr val="1C1F23"/>
                </a:solidFill>
                <a:latin typeface="Aptos"/>
              </a:rPr>
              <a:t> serviço terceirizado com funcionários e estabelecimentos regionais</a:t>
            </a:r>
            <a:endParaRPr sz="770" b="0" i="0" dirty="0">
              <a:solidFill>
                <a:srgbClr val="1C1F23"/>
              </a:solidFill>
              <a:latin typeface="Apto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647688" y="2121408"/>
            <a:ext cx="29260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29983" y="2194560"/>
            <a:ext cx="2761488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790" b="0" i="0">
                <a:solidFill>
                  <a:srgbClr val="1C1F23"/>
                </a:solidFill>
                <a:latin typeface="Aptos"/>
              </a:rPr>
              <a:t>SLA, auditoria, seguro e rastreabilidade do item.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73767" y="2121408"/>
            <a:ext cx="205740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56063" y="2194560"/>
            <a:ext cx="1892807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790" b="0" i="0">
                <a:solidFill>
                  <a:srgbClr val="1C1F23"/>
                </a:solidFill>
                <a:latin typeface="Aptos"/>
              </a:rPr>
              <a:t>Incidentes / 1.000 transações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926080"/>
            <a:ext cx="777240" cy="804672"/>
          </a:xfrm>
          <a:prstGeom prst="rect">
            <a:avLst/>
          </a:prstGeom>
          <a:solidFill>
            <a:srgbClr val="F6F7F9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85800" y="3154680"/>
            <a:ext cx="539496" cy="310896"/>
          </a:xfrm>
          <a:prstGeom prst="roundRect">
            <a:avLst/>
          </a:prstGeom>
          <a:solidFill>
            <a:srgbClr val="FB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2376" y="3163824"/>
            <a:ext cx="466344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730" b="1" i="0">
                <a:solidFill>
                  <a:srgbClr val="C0252B"/>
                </a:solidFill>
                <a:latin typeface="Aptos"/>
              </a:rPr>
              <a:t>Alta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44168" y="2926080"/>
            <a:ext cx="2057400" cy="804672"/>
          </a:xfrm>
          <a:prstGeom prst="rect">
            <a:avLst/>
          </a:prstGeom>
          <a:solidFill>
            <a:srgbClr val="F6F7F9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426464" y="2999232"/>
            <a:ext cx="1892807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790" b="1" i="0">
                <a:solidFill>
                  <a:srgbClr val="1C1F23"/>
                </a:solidFill>
                <a:latin typeface="Aptos"/>
              </a:rPr>
              <a:t>Capacidade nos picos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01568" y="2926080"/>
            <a:ext cx="3246120" cy="804672"/>
          </a:xfrm>
          <a:prstGeom prst="rect">
            <a:avLst/>
          </a:prstGeom>
          <a:solidFill>
            <a:srgbClr val="F6F7F9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83863" y="3259935"/>
            <a:ext cx="3081527" cy="13696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770" b="0" i="0" dirty="0">
                <a:solidFill>
                  <a:srgbClr val="1C1F23"/>
                </a:solidFill>
                <a:latin typeface="Aptos"/>
              </a:rPr>
              <a:t>A </a:t>
            </a:r>
            <a:r>
              <a:rPr sz="770" b="0" i="0" dirty="0" err="1">
                <a:solidFill>
                  <a:srgbClr val="1C1F23"/>
                </a:solidFill>
                <a:latin typeface="Aptos"/>
              </a:rPr>
              <a:t>média</a:t>
            </a:r>
            <a:r>
              <a:rPr sz="770" b="0" i="0" dirty="0">
                <a:solidFill>
                  <a:srgbClr val="1C1F23"/>
                </a:solidFill>
                <a:latin typeface="Aptos"/>
              </a:rPr>
              <a:t> </a:t>
            </a:r>
            <a:r>
              <a:rPr sz="770" b="0" i="0" dirty="0" err="1">
                <a:solidFill>
                  <a:srgbClr val="1C1F23"/>
                </a:solidFill>
                <a:latin typeface="Aptos"/>
              </a:rPr>
              <a:t>semanal</a:t>
            </a:r>
            <a:r>
              <a:rPr sz="770" b="0" i="0" dirty="0">
                <a:solidFill>
                  <a:srgbClr val="1C1F23"/>
                </a:solidFill>
                <a:latin typeface="Aptos"/>
              </a:rPr>
              <a:t> </a:t>
            </a:r>
            <a:r>
              <a:rPr sz="770" b="0" i="0" dirty="0" err="1">
                <a:solidFill>
                  <a:srgbClr val="1C1F23"/>
                </a:solidFill>
                <a:latin typeface="Aptos"/>
              </a:rPr>
              <a:t>pode</a:t>
            </a:r>
            <a:r>
              <a:rPr sz="770" b="0" i="0" dirty="0">
                <a:solidFill>
                  <a:srgbClr val="1C1F23"/>
                </a:solidFill>
                <a:latin typeface="Aptos"/>
              </a:rPr>
              <a:t> </a:t>
            </a:r>
            <a:r>
              <a:rPr sz="770" b="0" i="0" dirty="0" err="1">
                <a:solidFill>
                  <a:srgbClr val="1C1F23"/>
                </a:solidFill>
                <a:latin typeface="Aptos"/>
              </a:rPr>
              <a:t>esconder</a:t>
            </a:r>
            <a:r>
              <a:rPr sz="770" b="0" i="0" dirty="0">
                <a:solidFill>
                  <a:srgbClr val="1C1F23"/>
                </a:solidFill>
                <a:latin typeface="Aptos"/>
              </a:rPr>
              <a:t> </a:t>
            </a:r>
            <a:r>
              <a:rPr sz="770" b="0" i="0" dirty="0" err="1">
                <a:solidFill>
                  <a:srgbClr val="1C1F23"/>
                </a:solidFill>
                <a:latin typeface="Aptos"/>
              </a:rPr>
              <a:t>ruptura</a:t>
            </a:r>
            <a:r>
              <a:rPr sz="770" b="0" i="0" dirty="0">
                <a:solidFill>
                  <a:srgbClr val="1C1F23"/>
                </a:solidFill>
                <a:latin typeface="Aptos"/>
              </a:rPr>
              <a:t> </a:t>
            </a:r>
            <a:r>
              <a:rPr sz="770" b="0" i="0" dirty="0" err="1">
                <a:solidFill>
                  <a:srgbClr val="1C1F23"/>
                </a:solidFill>
                <a:latin typeface="Aptos"/>
              </a:rPr>
              <a:t>nos</a:t>
            </a:r>
            <a:r>
              <a:rPr sz="770" b="0" i="0" dirty="0">
                <a:solidFill>
                  <a:srgbClr val="1C1F23"/>
                </a:solidFill>
                <a:latin typeface="Aptos"/>
              </a:rPr>
              <a:t> </a:t>
            </a:r>
            <a:r>
              <a:rPr sz="770" b="0" i="0" dirty="0" err="1">
                <a:solidFill>
                  <a:srgbClr val="1C1F23"/>
                </a:solidFill>
                <a:latin typeface="Aptos"/>
              </a:rPr>
              <a:t>horários</a:t>
            </a:r>
            <a:r>
              <a:rPr sz="770" b="0" i="0" dirty="0">
                <a:solidFill>
                  <a:srgbClr val="1C1F23"/>
                </a:solidFill>
                <a:latin typeface="Aptos"/>
              </a:rPr>
              <a:t> </a:t>
            </a:r>
            <a:r>
              <a:rPr sz="770" b="0" i="0" dirty="0" err="1">
                <a:solidFill>
                  <a:srgbClr val="1C1F23"/>
                </a:solidFill>
                <a:latin typeface="Aptos"/>
              </a:rPr>
              <a:t>críticos</a:t>
            </a:r>
            <a:r>
              <a:rPr lang="pt-BR" sz="770" b="0" i="0" dirty="0">
                <a:solidFill>
                  <a:srgbClr val="1C1F23"/>
                </a:solidFill>
                <a:latin typeface="Aptos"/>
              </a:rPr>
              <a:t>.</a:t>
            </a:r>
            <a:endParaRPr sz="770" b="0" i="0" dirty="0">
              <a:solidFill>
                <a:srgbClr val="1C1F23"/>
              </a:solidFill>
              <a:latin typeface="Apto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647688" y="2926080"/>
            <a:ext cx="2926080" cy="804672"/>
          </a:xfrm>
          <a:prstGeom prst="rect">
            <a:avLst/>
          </a:prstGeom>
          <a:solidFill>
            <a:srgbClr val="F6F7F9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29983" y="2999232"/>
            <a:ext cx="2761488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790" b="0" i="0" dirty="0" err="1">
                <a:solidFill>
                  <a:srgbClr val="1C1F23"/>
                </a:solidFill>
                <a:latin typeface="Aptos"/>
              </a:rPr>
              <a:t>Reserva</a:t>
            </a:r>
            <a:r>
              <a:rPr sz="790" b="0" i="0" dirty="0">
                <a:solidFill>
                  <a:srgbClr val="1C1F23"/>
                </a:solidFill>
                <a:latin typeface="Aptos"/>
              </a:rPr>
              <a:t> de </a:t>
            </a:r>
            <a:r>
              <a:rPr sz="790" b="0" i="0" dirty="0" err="1">
                <a:solidFill>
                  <a:srgbClr val="1C1F23"/>
                </a:solidFill>
                <a:latin typeface="Aptos"/>
              </a:rPr>
              <a:t>capacidade</a:t>
            </a:r>
            <a:r>
              <a:rPr sz="790" b="0" i="0" dirty="0">
                <a:solidFill>
                  <a:srgbClr val="1C1F23"/>
                </a:solidFill>
                <a:latin typeface="Aptos"/>
              </a:rPr>
              <a:t> e </a:t>
            </a:r>
            <a:r>
              <a:rPr sz="790" b="0" i="0" dirty="0" err="1">
                <a:solidFill>
                  <a:srgbClr val="1C1F23"/>
                </a:solidFill>
                <a:latin typeface="Aptos"/>
              </a:rPr>
              <a:t>parceiros</a:t>
            </a:r>
            <a:r>
              <a:rPr sz="790" b="0" i="0" dirty="0">
                <a:solidFill>
                  <a:srgbClr val="1C1F23"/>
                </a:solidFill>
                <a:latin typeface="Aptos"/>
              </a:rPr>
              <a:t> de </a:t>
            </a:r>
            <a:r>
              <a:rPr sz="790" b="0" i="0" dirty="0" err="1">
                <a:solidFill>
                  <a:srgbClr val="1C1F23"/>
                </a:solidFill>
                <a:latin typeface="Aptos"/>
              </a:rPr>
              <a:t>contingência</a:t>
            </a:r>
            <a:r>
              <a:rPr sz="790" b="0" i="0" dirty="0">
                <a:solidFill>
                  <a:srgbClr val="1C1F23"/>
                </a:solidFill>
                <a:latin typeface="Aptos"/>
              </a:rPr>
              <a:t>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73767" y="2926080"/>
            <a:ext cx="2057400" cy="804672"/>
          </a:xfrm>
          <a:prstGeom prst="rect">
            <a:avLst/>
          </a:prstGeom>
          <a:solidFill>
            <a:srgbClr val="F6F7F9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56063" y="2999232"/>
            <a:ext cx="1892807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790" b="0" i="0" dirty="0">
                <a:solidFill>
                  <a:srgbClr val="1C1F23"/>
                </a:solidFill>
                <a:latin typeface="Aptos"/>
              </a:rPr>
              <a:t>Taxa de </a:t>
            </a:r>
            <a:r>
              <a:rPr sz="790" b="0" i="0" dirty="0" err="1">
                <a:solidFill>
                  <a:srgbClr val="1C1F23"/>
                </a:solidFill>
                <a:latin typeface="Aptos"/>
              </a:rPr>
              <a:t>recusa</a:t>
            </a:r>
            <a:r>
              <a:rPr sz="790" b="0" i="0" dirty="0">
                <a:solidFill>
                  <a:srgbClr val="1C1F23"/>
                </a:solidFill>
                <a:latin typeface="Aptos"/>
              </a:rPr>
              <a:t> </a:t>
            </a:r>
            <a:r>
              <a:rPr sz="790" b="0" i="0" dirty="0" err="1">
                <a:solidFill>
                  <a:srgbClr val="1C1F23"/>
                </a:solidFill>
                <a:latin typeface="Aptos"/>
              </a:rPr>
              <a:t>nos</a:t>
            </a:r>
            <a:r>
              <a:rPr sz="790" b="0" i="0" dirty="0">
                <a:solidFill>
                  <a:srgbClr val="1C1F23"/>
                </a:solidFill>
                <a:latin typeface="Aptos"/>
              </a:rPr>
              <a:t> </a:t>
            </a:r>
            <a:r>
              <a:rPr sz="790" b="0" i="0" dirty="0" err="1">
                <a:solidFill>
                  <a:srgbClr val="1C1F23"/>
                </a:solidFill>
                <a:latin typeface="Aptos"/>
              </a:rPr>
              <a:t>picos</a:t>
            </a:r>
            <a:endParaRPr sz="790" b="0" i="0" dirty="0">
              <a:solidFill>
                <a:srgbClr val="1C1F23"/>
              </a:solidFill>
              <a:latin typeface="Aptos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66928" y="3730752"/>
            <a:ext cx="77724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85800" y="3959352"/>
            <a:ext cx="539496" cy="310896"/>
          </a:xfrm>
          <a:prstGeom prst="roundRect">
            <a:avLst/>
          </a:prstGeom>
          <a:solidFill>
            <a:srgbClr val="FA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22376" y="3968496"/>
            <a:ext cx="466344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730" b="1" i="0">
                <a:solidFill>
                  <a:srgbClr val="B97E28"/>
                </a:solidFill>
                <a:latin typeface="Aptos"/>
              </a:rPr>
              <a:t>Média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44168" y="3730752"/>
            <a:ext cx="205740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426464" y="3803904"/>
            <a:ext cx="1892807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790" b="1" i="0">
                <a:solidFill>
                  <a:srgbClr val="1C1F23"/>
                </a:solidFill>
                <a:latin typeface="Aptos"/>
              </a:rPr>
              <a:t>Overhead de coordenação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01568" y="3730752"/>
            <a:ext cx="32461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483863" y="4064607"/>
            <a:ext cx="3081527" cy="13696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770" b="0" i="0" dirty="0">
                <a:solidFill>
                  <a:srgbClr val="1C1F23"/>
                </a:solidFill>
                <a:latin typeface="Aptos"/>
              </a:rPr>
              <a:t>Custos de </a:t>
            </a:r>
            <a:r>
              <a:rPr sz="770" b="0" i="0" dirty="0" err="1">
                <a:solidFill>
                  <a:srgbClr val="1C1F23"/>
                </a:solidFill>
                <a:latin typeface="Aptos"/>
              </a:rPr>
              <a:t>gestão</a:t>
            </a:r>
            <a:r>
              <a:rPr sz="770" b="0" i="0" dirty="0">
                <a:solidFill>
                  <a:srgbClr val="1C1F23"/>
                </a:solidFill>
                <a:latin typeface="Aptos"/>
              </a:rPr>
              <a:t> </a:t>
            </a:r>
            <a:r>
              <a:rPr sz="770" b="0" i="0" dirty="0" err="1">
                <a:solidFill>
                  <a:srgbClr val="1C1F23"/>
                </a:solidFill>
                <a:latin typeface="Aptos"/>
              </a:rPr>
              <a:t>não</a:t>
            </a:r>
            <a:r>
              <a:rPr sz="770" b="0" i="0" dirty="0">
                <a:solidFill>
                  <a:srgbClr val="1C1F23"/>
                </a:solidFill>
                <a:latin typeface="Aptos"/>
              </a:rPr>
              <a:t> </a:t>
            </a:r>
            <a:r>
              <a:rPr lang="pt-BR" sz="770" b="0" i="0" dirty="0">
                <a:solidFill>
                  <a:srgbClr val="1C1F23"/>
                </a:solidFill>
                <a:latin typeface="Aptos"/>
              </a:rPr>
              <a:t>estão considerados </a:t>
            </a:r>
            <a:r>
              <a:rPr sz="770" b="0" i="0" dirty="0">
                <a:solidFill>
                  <a:srgbClr val="1C1F23"/>
                </a:solidFill>
                <a:latin typeface="Aptos"/>
              </a:rPr>
              <a:t>e </a:t>
            </a:r>
            <a:r>
              <a:rPr sz="770" b="0" i="0" dirty="0" err="1">
                <a:solidFill>
                  <a:srgbClr val="1C1F23"/>
                </a:solidFill>
                <a:latin typeface="Aptos"/>
              </a:rPr>
              <a:t>podem</a:t>
            </a:r>
            <a:r>
              <a:rPr sz="770" b="0" i="0" dirty="0">
                <a:solidFill>
                  <a:srgbClr val="1C1F23"/>
                </a:solidFill>
                <a:latin typeface="Aptos"/>
              </a:rPr>
              <a:t> </a:t>
            </a:r>
            <a:r>
              <a:rPr sz="770" b="0" i="0" dirty="0" err="1">
                <a:solidFill>
                  <a:srgbClr val="1C1F23"/>
                </a:solidFill>
                <a:latin typeface="Aptos"/>
              </a:rPr>
              <a:t>reduzir</a:t>
            </a:r>
            <a:r>
              <a:rPr sz="770" b="0" i="0" dirty="0">
                <a:solidFill>
                  <a:srgbClr val="1C1F23"/>
                </a:solidFill>
                <a:latin typeface="Aptos"/>
              </a:rPr>
              <a:t> a </a:t>
            </a:r>
            <a:r>
              <a:rPr sz="770" b="0" i="0" dirty="0" err="1">
                <a:solidFill>
                  <a:srgbClr val="1C1F23"/>
                </a:solidFill>
                <a:latin typeface="Aptos"/>
              </a:rPr>
              <a:t>vantagem</a:t>
            </a:r>
            <a:r>
              <a:rPr sz="770" b="0" i="0" dirty="0">
                <a:solidFill>
                  <a:srgbClr val="1C1F23"/>
                </a:solidFill>
                <a:latin typeface="Aptos"/>
              </a:rPr>
              <a:t>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47688" y="3730752"/>
            <a:ext cx="29260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29983" y="3803904"/>
            <a:ext cx="2761488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790" b="0" i="0">
                <a:solidFill>
                  <a:srgbClr val="1C1F23"/>
                </a:solidFill>
                <a:latin typeface="Aptos"/>
              </a:rPr>
              <a:t>Medir custo real de suporte, treinamento e auditoria.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73767" y="3730752"/>
            <a:ext cx="205740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656063" y="3803904"/>
            <a:ext cx="1892807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790" b="0" i="0">
                <a:solidFill>
                  <a:srgbClr val="1C1F23"/>
                </a:solidFill>
                <a:latin typeface="Aptos"/>
              </a:rPr>
              <a:t>&lt; R$ 1,15 mil/posição/ano*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4535424"/>
            <a:ext cx="777240" cy="804672"/>
          </a:xfrm>
          <a:prstGeom prst="rect">
            <a:avLst/>
          </a:prstGeom>
          <a:solidFill>
            <a:srgbClr val="F6F7F9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85800" y="4764024"/>
            <a:ext cx="539496" cy="310896"/>
          </a:xfrm>
          <a:prstGeom prst="roundRect">
            <a:avLst/>
          </a:prstGeom>
          <a:solidFill>
            <a:srgbClr val="FA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22376" y="4773168"/>
            <a:ext cx="466344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730" b="1" i="0">
                <a:solidFill>
                  <a:srgbClr val="B97E28"/>
                </a:solidFill>
                <a:latin typeface="Aptos"/>
              </a:rPr>
              <a:t>Média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344168" y="4535424"/>
            <a:ext cx="2057400" cy="804672"/>
          </a:xfrm>
          <a:prstGeom prst="rect">
            <a:avLst/>
          </a:prstGeom>
          <a:solidFill>
            <a:srgbClr val="F6F7F9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426464" y="4608576"/>
            <a:ext cx="1892807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790" b="1" i="0" dirty="0" err="1">
                <a:solidFill>
                  <a:srgbClr val="1C1F23"/>
                </a:solidFill>
                <a:latin typeface="Aptos"/>
              </a:rPr>
              <a:t>Dependência</a:t>
            </a:r>
            <a:r>
              <a:rPr sz="790" b="1" i="0" dirty="0">
                <a:solidFill>
                  <a:srgbClr val="1C1F23"/>
                </a:solidFill>
                <a:latin typeface="Aptos"/>
              </a:rPr>
              <a:t> do terminal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01568" y="4535424"/>
            <a:ext cx="3246120" cy="804672"/>
          </a:xfrm>
          <a:prstGeom prst="rect">
            <a:avLst/>
          </a:prstGeom>
          <a:solidFill>
            <a:srgbClr val="F6F7F9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483863" y="4608576"/>
            <a:ext cx="3081527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770" b="0" i="0" dirty="0">
                <a:solidFill>
                  <a:srgbClr val="1C1F23"/>
                </a:solidFill>
                <a:latin typeface="Aptos"/>
              </a:rPr>
              <a:t>Na </a:t>
            </a:r>
            <a:r>
              <a:rPr sz="770" b="0" i="0" dirty="0" err="1">
                <a:solidFill>
                  <a:srgbClr val="1C1F23"/>
                </a:solidFill>
                <a:latin typeface="Aptos"/>
              </a:rPr>
              <a:t>Estação</a:t>
            </a:r>
            <a:r>
              <a:rPr sz="770" b="0" i="0" dirty="0">
                <a:solidFill>
                  <a:srgbClr val="1C1F23"/>
                </a:solidFill>
                <a:latin typeface="Aptos"/>
              </a:rPr>
              <a:t>, </a:t>
            </a:r>
            <a:r>
              <a:rPr sz="770" b="0" i="0" dirty="0" err="1">
                <a:solidFill>
                  <a:srgbClr val="1C1F23"/>
                </a:solidFill>
                <a:latin typeface="Aptos"/>
              </a:rPr>
              <a:t>parte</a:t>
            </a:r>
            <a:r>
              <a:rPr sz="770" b="0" i="0" dirty="0">
                <a:solidFill>
                  <a:srgbClr val="1C1F23"/>
                </a:solidFill>
                <a:latin typeface="Aptos"/>
              </a:rPr>
              <a:t> da </a:t>
            </a:r>
            <a:r>
              <a:rPr sz="770" b="0" i="0" dirty="0" err="1">
                <a:solidFill>
                  <a:srgbClr val="1C1F23"/>
                </a:solidFill>
                <a:latin typeface="Aptos"/>
              </a:rPr>
              <a:t>tese</a:t>
            </a:r>
            <a:r>
              <a:rPr sz="770" b="0" i="0" dirty="0">
                <a:solidFill>
                  <a:srgbClr val="1C1F23"/>
                </a:solidFill>
                <a:latin typeface="Aptos"/>
              </a:rPr>
              <a:t> </a:t>
            </a:r>
            <a:r>
              <a:rPr sz="770" b="0" i="0" dirty="0" err="1">
                <a:solidFill>
                  <a:srgbClr val="1C1F23"/>
                </a:solidFill>
                <a:latin typeface="Aptos"/>
              </a:rPr>
              <a:t>depende</a:t>
            </a:r>
            <a:r>
              <a:rPr sz="770" b="0" i="0" dirty="0">
                <a:solidFill>
                  <a:srgbClr val="1C1F23"/>
                </a:solidFill>
                <a:latin typeface="Aptos"/>
              </a:rPr>
              <a:t> do </a:t>
            </a:r>
            <a:r>
              <a:rPr sz="770" b="0" i="0" dirty="0" err="1">
                <a:solidFill>
                  <a:srgbClr val="1C1F23"/>
                </a:solidFill>
                <a:latin typeface="Aptos"/>
              </a:rPr>
              <a:t>acesso</a:t>
            </a:r>
            <a:r>
              <a:rPr sz="770" b="0" i="0" dirty="0">
                <a:solidFill>
                  <a:srgbClr val="1C1F23"/>
                </a:solidFill>
                <a:latin typeface="Aptos"/>
              </a:rPr>
              <a:t> </a:t>
            </a:r>
            <a:r>
              <a:rPr sz="770" b="0" i="0" dirty="0" err="1">
                <a:solidFill>
                  <a:srgbClr val="1C1F23"/>
                </a:solidFill>
                <a:latin typeface="Aptos"/>
              </a:rPr>
              <a:t>ao</a:t>
            </a:r>
            <a:r>
              <a:rPr sz="770" b="0" i="0" dirty="0">
                <a:solidFill>
                  <a:srgbClr val="1C1F23"/>
                </a:solidFill>
                <a:latin typeface="Aptos"/>
              </a:rPr>
              <a:t> principal </a:t>
            </a:r>
            <a:r>
              <a:rPr sz="770" b="0" i="0" dirty="0" err="1">
                <a:solidFill>
                  <a:srgbClr val="1C1F23"/>
                </a:solidFill>
                <a:latin typeface="Aptos"/>
              </a:rPr>
              <a:t>nó</a:t>
            </a:r>
            <a:r>
              <a:rPr sz="770" b="0" i="0" dirty="0">
                <a:solidFill>
                  <a:srgbClr val="1C1F23"/>
                </a:solidFill>
                <a:latin typeface="Aptos"/>
              </a:rPr>
              <a:t> de </a:t>
            </a:r>
            <a:r>
              <a:rPr sz="770" b="0" i="0" dirty="0" err="1">
                <a:solidFill>
                  <a:srgbClr val="1C1F23"/>
                </a:solidFill>
                <a:latin typeface="Aptos"/>
              </a:rPr>
              <a:t>demanda</a:t>
            </a:r>
            <a:r>
              <a:rPr sz="770" b="0" i="0" dirty="0">
                <a:solidFill>
                  <a:srgbClr val="1C1F23"/>
                </a:solidFill>
                <a:latin typeface="Aptos"/>
              </a:rPr>
              <a:t>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47688" y="4535424"/>
            <a:ext cx="2926080" cy="804672"/>
          </a:xfrm>
          <a:prstGeom prst="rect">
            <a:avLst/>
          </a:prstGeom>
          <a:solidFill>
            <a:srgbClr val="F6F7F9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729983" y="4608576"/>
            <a:ext cx="2761488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790" b="0" i="0">
                <a:solidFill>
                  <a:srgbClr val="1C1F23"/>
                </a:solidFill>
                <a:latin typeface="Aptos"/>
              </a:rPr>
              <a:t>Contrato de longo prazo + pontos alternativos no entorno.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73767" y="4535424"/>
            <a:ext cx="2057400" cy="804672"/>
          </a:xfrm>
          <a:prstGeom prst="rect">
            <a:avLst/>
          </a:prstGeom>
          <a:solidFill>
            <a:srgbClr val="F6F7F9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656063" y="4608576"/>
            <a:ext cx="1892807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790" b="0" i="0">
                <a:solidFill>
                  <a:srgbClr val="1C1F23"/>
                </a:solidFill>
                <a:latin typeface="Aptos"/>
              </a:rPr>
              <a:t>Renovação / estabilidade contratual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5340096"/>
            <a:ext cx="77724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685800" y="5568696"/>
            <a:ext cx="539496" cy="310896"/>
          </a:xfrm>
          <a:prstGeom prst="roundRect">
            <a:avLst/>
          </a:prstGeom>
          <a:solidFill>
            <a:srgbClr val="FA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22376" y="5577840"/>
            <a:ext cx="466344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730" b="1" i="0">
                <a:solidFill>
                  <a:srgbClr val="B97E28"/>
                </a:solidFill>
                <a:latin typeface="Aptos"/>
              </a:rPr>
              <a:t>Média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344168" y="5340096"/>
            <a:ext cx="205740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426464" y="5413248"/>
            <a:ext cx="1892807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790" b="1" i="0" dirty="0" err="1">
                <a:solidFill>
                  <a:srgbClr val="1C1F23"/>
                </a:solidFill>
                <a:latin typeface="Aptos"/>
              </a:rPr>
              <a:t>Horários</a:t>
            </a:r>
            <a:r>
              <a:rPr sz="790" b="1" i="0" dirty="0">
                <a:solidFill>
                  <a:srgbClr val="1C1F23"/>
                </a:solidFill>
                <a:latin typeface="Aptos"/>
              </a:rPr>
              <a:t> dos </a:t>
            </a:r>
            <a:r>
              <a:rPr sz="790" b="1" i="0" dirty="0" err="1">
                <a:solidFill>
                  <a:srgbClr val="1C1F23"/>
                </a:solidFill>
                <a:latin typeface="Aptos"/>
              </a:rPr>
              <a:t>parceiros</a:t>
            </a:r>
            <a:endParaRPr sz="790" b="1" i="0" dirty="0">
              <a:solidFill>
                <a:srgbClr val="1C1F23"/>
              </a:solidFill>
              <a:latin typeface="Aptos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3401568" y="5340096"/>
            <a:ext cx="32461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483863" y="5413248"/>
            <a:ext cx="3081527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770" b="0" i="0" dirty="0" err="1">
                <a:solidFill>
                  <a:srgbClr val="1C1F23"/>
                </a:solidFill>
                <a:latin typeface="Aptos"/>
              </a:rPr>
              <a:t>Horários</a:t>
            </a:r>
            <a:r>
              <a:rPr sz="770" b="0" i="0" dirty="0">
                <a:solidFill>
                  <a:srgbClr val="1C1F23"/>
                </a:solidFill>
                <a:latin typeface="Aptos"/>
              </a:rPr>
              <a:t> </a:t>
            </a:r>
            <a:r>
              <a:rPr sz="770" b="0" i="0" dirty="0" err="1">
                <a:solidFill>
                  <a:srgbClr val="1C1F23"/>
                </a:solidFill>
                <a:latin typeface="Aptos"/>
              </a:rPr>
              <a:t>variáveis</a:t>
            </a:r>
            <a:r>
              <a:rPr sz="770" b="0" i="0" dirty="0">
                <a:solidFill>
                  <a:srgbClr val="1C1F23"/>
                </a:solidFill>
                <a:latin typeface="Aptos"/>
              </a:rPr>
              <a:t> </a:t>
            </a:r>
            <a:r>
              <a:rPr sz="770" b="0" i="0" dirty="0" err="1">
                <a:solidFill>
                  <a:srgbClr val="1C1F23"/>
                </a:solidFill>
                <a:latin typeface="Aptos"/>
              </a:rPr>
              <a:t>podem</a:t>
            </a:r>
            <a:r>
              <a:rPr sz="770" b="0" i="0" dirty="0">
                <a:solidFill>
                  <a:srgbClr val="1C1F23"/>
                </a:solidFill>
                <a:latin typeface="Aptos"/>
              </a:rPr>
              <a:t> </a:t>
            </a:r>
            <a:r>
              <a:rPr sz="770" b="0" i="0" dirty="0" err="1">
                <a:solidFill>
                  <a:srgbClr val="1C1F23"/>
                </a:solidFill>
                <a:latin typeface="Aptos"/>
              </a:rPr>
              <a:t>não</a:t>
            </a:r>
            <a:r>
              <a:rPr sz="770" b="0" i="0" dirty="0">
                <a:solidFill>
                  <a:srgbClr val="1C1F23"/>
                </a:solidFill>
                <a:latin typeface="Aptos"/>
              </a:rPr>
              <a:t> </a:t>
            </a:r>
            <a:r>
              <a:rPr sz="770" b="0" i="0" dirty="0" err="1">
                <a:solidFill>
                  <a:srgbClr val="1C1F23"/>
                </a:solidFill>
                <a:latin typeface="Aptos"/>
              </a:rPr>
              <a:t>cobrir</a:t>
            </a:r>
            <a:r>
              <a:rPr sz="770" b="0" i="0" dirty="0">
                <a:solidFill>
                  <a:srgbClr val="1C1F23"/>
                </a:solidFill>
                <a:latin typeface="Aptos"/>
              </a:rPr>
              <a:t> a </a:t>
            </a:r>
            <a:r>
              <a:rPr sz="770" b="0" i="0" dirty="0" err="1">
                <a:solidFill>
                  <a:srgbClr val="1C1F23"/>
                </a:solidFill>
                <a:latin typeface="Aptos"/>
              </a:rPr>
              <a:t>demanda</a:t>
            </a:r>
            <a:r>
              <a:rPr sz="770" b="0" i="0" dirty="0">
                <a:solidFill>
                  <a:srgbClr val="1C1F23"/>
                </a:solidFill>
                <a:latin typeface="Aptos"/>
              </a:rPr>
              <a:t> real de </a:t>
            </a:r>
            <a:r>
              <a:rPr sz="770" b="0" i="0" dirty="0" err="1">
                <a:solidFill>
                  <a:srgbClr val="1C1F23"/>
                </a:solidFill>
                <a:latin typeface="Aptos"/>
              </a:rPr>
              <a:t>retirada</a:t>
            </a:r>
            <a:r>
              <a:rPr sz="770" b="0" i="0" dirty="0">
                <a:solidFill>
                  <a:srgbClr val="1C1F23"/>
                </a:solidFill>
                <a:latin typeface="Aptos"/>
              </a:rPr>
              <a:t>/</a:t>
            </a:r>
            <a:r>
              <a:rPr sz="770" b="0" i="0" dirty="0" err="1">
                <a:solidFill>
                  <a:srgbClr val="1C1F23"/>
                </a:solidFill>
                <a:latin typeface="Aptos"/>
              </a:rPr>
              <a:t>devolução</a:t>
            </a:r>
            <a:r>
              <a:rPr sz="770" b="0" i="0" dirty="0">
                <a:solidFill>
                  <a:srgbClr val="1C1F23"/>
                </a:solidFill>
                <a:latin typeface="Aptos"/>
              </a:rPr>
              <a:t>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47688" y="5340096"/>
            <a:ext cx="29260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729983" y="5413248"/>
            <a:ext cx="2761488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790" b="0" i="0">
                <a:solidFill>
                  <a:srgbClr val="1C1F23"/>
                </a:solidFill>
                <a:latin typeface="Aptos"/>
              </a:rPr>
              <a:t>Mix de parceiros com janelas complementares.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3767" y="5340096"/>
            <a:ext cx="205740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656063" y="5413248"/>
            <a:ext cx="1892807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790" b="0" i="0">
                <a:solidFill>
                  <a:srgbClr val="1C1F23"/>
                </a:solidFill>
                <a:latin typeface="Aptos"/>
              </a:rPr>
              <a:t>Cobertura das faixas críticas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378440" y="6537960"/>
            <a:ext cx="1307592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650" b="0" i="0">
                <a:solidFill>
                  <a:srgbClr val="989EA6"/>
                </a:solidFill>
                <a:latin typeface="Aptos"/>
              </a:rPr>
              <a:t>BagHub | 2026.2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114800" cy="14157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1" i="0" dirty="0">
                <a:solidFill>
                  <a:srgbClr val="C0252B"/>
                </a:solidFill>
                <a:latin typeface="Aptos"/>
              </a:rPr>
              <a:t>PLANO DE 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9875520" cy="43891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300" b="1" i="0">
                <a:solidFill>
                  <a:srgbClr val="1C1F23"/>
                </a:solidFill>
                <a:latin typeface="Aptos"/>
              </a:rPr>
              <a:t>Piloto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01752"/>
            <a:ext cx="475488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800" b="1" i="0">
                <a:solidFill>
                  <a:srgbClr val="989EA6"/>
                </a:solidFill>
                <a:latin typeface="Aptos"/>
              </a:rPr>
              <a:t>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24128"/>
            <a:ext cx="11183112" cy="0"/>
          </a:xfrm>
          <a:prstGeom prst="line">
            <a:avLst/>
          </a:prstGeom>
          <a:ln w="12700">
            <a:solidFill>
              <a:srgbClr val="E5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94360" y="1554480"/>
            <a:ext cx="1097280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1" i="0">
                <a:solidFill>
                  <a:srgbClr val="1C1F23"/>
                </a:solidFill>
                <a:latin typeface="Aptos"/>
              </a:rPr>
              <a:t>Preparar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23744"/>
            <a:ext cx="1600200" cy="53035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0" i="0">
                <a:solidFill>
                  <a:srgbClr val="585D65"/>
                </a:solidFill>
                <a:latin typeface="Aptos"/>
              </a:rPr>
              <a:t>Contratos, SLA, seguro,
integração e treinamento.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87168" y="2377440"/>
            <a:ext cx="576072" cy="0"/>
          </a:xfrm>
          <a:prstGeom prst="line">
            <a:avLst/>
          </a:prstGeom>
          <a:ln w="25400">
            <a:solidFill>
              <a:srgbClr val="C02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008376" y="2267712"/>
            <a:ext cx="219456" cy="219456"/>
          </a:xfrm>
          <a:prstGeom prst="ellipse">
            <a:avLst/>
          </a:prstGeom>
          <a:solidFill>
            <a:srgbClr val="C0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3319272" y="2130552"/>
            <a:ext cx="123444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1" i="0">
                <a:solidFill>
                  <a:srgbClr val="1C1F23"/>
                </a:solidFill>
                <a:latin typeface="Aptos"/>
              </a:rPr>
              <a:t>Testar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2523744"/>
            <a:ext cx="1600200" cy="53035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0" i="0" dirty="0" err="1">
                <a:solidFill>
                  <a:srgbClr val="585D65"/>
                </a:solidFill>
                <a:latin typeface="Aptos"/>
              </a:rPr>
              <a:t>Demanda</a:t>
            </a:r>
            <a:r>
              <a:rPr sz="850" b="0" i="0" dirty="0">
                <a:solidFill>
                  <a:srgbClr val="585D65"/>
                </a:solidFill>
                <a:latin typeface="Aptos"/>
              </a:rPr>
              <a:t> </a:t>
            </a:r>
            <a:r>
              <a:rPr sz="850" b="0" i="0" dirty="0" err="1">
                <a:solidFill>
                  <a:srgbClr val="585D65"/>
                </a:solidFill>
                <a:latin typeface="Aptos"/>
              </a:rPr>
              <a:t>por</a:t>
            </a:r>
            <a:r>
              <a:rPr sz="850" b="0" i="0" dirty="0">
                <a:solidFill>
                  <a:srgbClr val="585D65"/>
                </a:solidFill>
                <a:latin typeface="Aptos"/>
              </a:rPr>
              <a:t> hora, </a:t>
            </a:r>
            <a:r>
              <a:rPr sz="850" b="0" i="0" dirty="0" err="1">
                <a:solidFill>
                  <a:srgbClr val="585D65"/>
                </a:solidFill>
                <a:latin typeface="Aptos"/>
              </a:rPr>
              <a:t>falhas</a:t>
            </a:r>
            <a:r>
              <a:rPr sz="850" b="0" i="0" dirty="0">
                <a:solidFill>
                  <a:srgbClr val="585D65"/>
                </a:solidFill>
                <a:latin typeface="Aptos"/>
              </a:rPr>
              <a:t>,
</a:t>
            </a:r>
            <a:r>
              <a:rPr sz="850" b="0" i="0" dirty="0" err="1">
                <a:solidFill>
                  <a:srgbClr val="585D65"/>
                </a:solidFill>
                <a:latin typeface="Aptos"/>
              </a:rPr>
              <a:t>utilização</a:t>
            </a:r>
            <a:r>
              <a:rPr sz="850" b="0" i="0" dirty="0">
                <a:solidFill>
                  <a:srgbClr val="585D65"/>
                </a:solidFill>
                <a:latin typeface="Aptos"/>
              </a:rPr>
              <a:t> e </a:t>
            </a:r>
            <a:r>
              <a:rPr sz="850" b="0" i="0" dirty="0" err="1">
                <a:solidFill>
                  <a:srgbClr val="585D65"/>
                </a:solidFill>
                <a:latin typeface="Aptos"/>
              </a:rPr>
              <a:t>custo</a:t>
            </a:r>
            <a:r>
              <a:rPr sz="850" b="0" i="0" dirty="0">
                <a:solidFill>
                  <a:srgbClr val="585D65"/>
                </a:solidFill>
                <a:latin typeface="Aptos"/>
              </a:rPr>
              <a:t> real.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10328" y="2377440"/>
            <a:ext cx="576072" cy="0"/>
          </a:xfrm>
          <a:prstGeom prst="line">
            <a:avLst/>
          </a:prstGeom>
          <a:ln w="25400">
            <a:solidFill>
              <a:srgbClr val="C02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431536" y="2267712"/>
            <a:ext cx="219456" cy="219456"/>
          </a:xfrm>
          <a:prstGeom prst="ellipse">
            <a:avLst/>
          </a:prstGeom>
          <a:solidFill>
            <a:srgbClr val="C0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42432" y="2130552"/>
            <a:ext cx="123444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1" i="0">
                <a:solidFill>
                  <a:srgbClr val="1C1F23"/>
                </a:solidFill>
                <a:latin typeface="Aptos"/>
              </a:rPr>
              <a:t>Otimizar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42432" y="2523744"/>
            <a:ext cx="1600200" cy="53035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0" i="0" dirty="0" err="1">
                <a:solidFill>
                  <a:srgbClr val="585D65"/>
                </a:solidFill>
                <a:latin typeface="Aptos"/>
              </a:rPr>
              <a:t>Rebalancear</a:t>
            </a:r>
            <a:r>
              <a:rPr sz="850" b="0" i="0" dirty="0">
                <a:solidFill>
                  <a:srgbClr val="585D65"/>
                </a:solidFill>
                <a:latin typeface="Aptos"/>
              </a:rPr>
              <a:t> </a:t>
            </a:r>
            <a:r>
              <a:rPr sz="850" b="0" i="0" dirty="0" err="1">
                <a:solidFill>
                  <a:srgbClr val="585D65"/>
                </a:solidFill>
                <a:latin typeface="Aptos"/>
              </a:rPr>
              <a:t>parceiros</a:t>
            </a:r>
            <a:r>
              <a:rPr sz="850" b="0" i="0" dirty="0">
                <a:solidFill>
                  <a:srgbClr val="585D65"/>
                </a:solidFill>
                <a:latin typeface="Aptos"/>
              </a:rPr>
              <a:t>,
</a:t>
            </a:r>
            <a:r>
              <a:rPr sz="850" b="0" i="0" dirty="0" err="1">
                <a:solidFill>
                  <a:srgbClr val="585D65"/>
                </a:solidFill>
                <a:latin typeface="Aptos"/>
              </a:rPr>
              <a:t>capacidade</a:t>
            </a:r>
            <a:r>
              <a:rPr sz="850" b="0" i="0" dirty="0">
                <a:solidFill>
                  <a:srgbClr val="585D65"/>
                </a:solidFill>
                <a:latin typeface="Aptos"/>
              </a:rPr>
              <a:t> e </a:t>
            </a:r>
            <a:r>
              <a:rPr sz="850" b="0" i="0" dirty="0" err="1">
                <a:solidFill>
                  <a:srgbClr val="585D65"/>
                </a:solidFill>
                <a:latin typeface="Aptos"/>
              </a:rPr>
              <a:t>horários</a:t>
            </a:r>
            <a:r>
              <a:rPr sz="850" b="0" i="0" dirty="0">
                <a:solidFill>
                  <a:srgbClr val="585D65"/>
                </a:solidFill>
                <a:latin typeface="Aptos"/>
              </a:rPr>
              <a:t>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33488" y="2377440"/>
            <a:ext cx="576072" cy="0"/>
          </a:xfrm>
          <a:prstGeom prst="line">
            <a:avLst/>
          </a:prstGeom>
          <a:ln w="25400">
            <a:solidFill>
              <a:srgbClr val="C02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854696" y="2267712"/>
            <a:ext cx="219456" cy="219456"/>
          </a:xfrm>
          <a:prstGeom prst="ellipse">
            <a:avLst/>
          </a:prstGeom>
          <a:solidFill>
            <a:srgbClr val="C0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56448" y="2130552"/>
            <a:ext cx="1234440" cy="21852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lang="pt-BR" sz="1300" b="1" dirty="0">
                <a:solidFill>
                  <a:srgbClr val="1C1F23"/>
                </a:solidFill>
                <a:latin typeface="Aptos"/>
              </a:rPr>
              <a:t>Expandir</a:t>
            </a:r>
            <a:endParaRPr sz="1300" b="1" i="0" dirty="0">
              <a:solidFill>
                <a:srgbClr val="1C1F23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56448" y="2523744"/>
            <a:ext cx="1691640" cy="28007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0" i="0" dirty="0" err="1">
                <a:solidFill>
                  <a:srgbClr val="585D65"/>
                </a:solidFill>
                <a:latin typeface="Aptos"/>
              </a:rPr>
              <a:t>Escalar</a:t>
            </a:r>
            <a:r>
              <a:rPr sz="850" b="0" i="0" dirty="0">
                <a:solidFill>
                  <a:srgbClr val="585D65"/>
                </a:solidFill>
                <a:latin typeface="Aptos"/>
              </a:rPr>
              <a:t> para </a:t>
            </a:r>
            <a:r>
              <a:rPr lang="pt-BR" sz="850" b="0" i="0" dirty="0">
                <a:solidFill>
                  <a:srgbClr val="585D65"/>
                </a:solidFill>
                <a:latin typeface="Aptos"/>
              </a:rPr>
              <a:t>o próximo bairro, de acordo com as prioridades.</a:t>
            </a:r>
            <a:endParaRPr sz="850" b="0" i="0" dirty="0">
              <a:solidFill>
                <a:srgbClr val="585D65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962388" y="2144658"/>
            <a:ext cx="1417320" cy="585216"/>
          </a:xfrm>
          <a:prstGeom prst="roundRect">
            <a:avLst/>
          </a:prstGeom>
          <a:solidFill>
            <a:srgbClr val="E7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98964" y="2130552"/>
            <a:ext cx="1325880" cy="5669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750" b="1" i="0" dirty="0" err="1">
                <a:solidFill>
                  <a:srgbClr val="28525E"/>
                </a:solidFill>
                <a:latin typeface="Aptos"/>
              </a:rPr>
              <a:t>Próxima</a:t>
            </a:r>
            <a:r>
              <a:rPr sz="750" b="1" i="0" dirty="0">
                <a:solidFill>
                  <a:srgbClr val="28525E"/>
                </a:solidFill>
                <a:latin typeface="Aptos"/>
              </a:rPr>
              <a:t> </a:t>
            </a:r>
            <a:r>
              <a:rPr sz="750" b="1" i="0" dirty="0" err="1">
                <a:solidFill>
                  <a:srgbClr val="28525E"/>
                </a:solidFill>
                <a:latin typeface="Aptos"/>
              </a:rPr>
              <a:t>onda</a:t>
            </a:r>
            <a:r>
              <a:rPr sz="750" b="1" i="0" dirty="0">
                <a:solidFill>
                  <a:srgbClr val="28525E"/>
                </a:solidFill>
                <a:latin typeface="Aptos"/>
              </a:rPr>
              <a:t>: Centro </a:t>
            </a:r>
            <a:r>
              <a:rPr sz="750" b="1" i="0" dirty="0" err="1">
                <a:solidFill>
                  <a:srgbClr val="28525E"/>
                </a:solidFill>
                <a:latin typeface="Aptos"/>
              </a:rPr>
              <a:t>Histórico</a:t>
            </a:r>
            <a:endParaRPr sz="750" b="1" i="0" dirty="0">
              <a:solidFill>
                <a:srgbClr val="28525E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94360" y="3950208"/>
            <a:ext cx="10972800" cy="2084831"/>
          </a:xfrm>
          <a:prstGeom prst="roundRect">
            <a:avLst/>
          </a:prstGeom>
          <a:solidFill>
            <a:srgbClr val="F6F7F9"/>
          </a:solidFill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4224528"/>
            <a:ext cx="14173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 i="0" dirty="0">
                <a:solidFill>
                  <a:srgbClr val="1C1F23"/>
                </a:solidFill>
                <a:latin typeface="Aptos"/>
              </a:rPr>
              <a:t>Decision gates</a:t>
            </a:r>
          </a:p>
        </p:txBody>
      </p:sp>
      <p:sp>
        <p:nvSpPr>
          <p:cNvPr id="30" name="Oval 29"/>
          <p:cNvSpPr/>
          <p:nvPr/>
        </p:nvSpPr>
        <p:spPr>
          <a:xfrm>
            <a:off x="868680" y="4585364"/>
            <a:ext cx="274320" cy="274320"/>
          </a:xfrm>
          <a:prstGeom prst="ellipse">
            <a:avLst/>
          </a:prstGeom>
          <a:solidFill>
            <a:srgbClr val="C0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4663440"/>
            <a:ext cx="27432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52728" y="4599432"/>
            <a:ext cx="14173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1" i="0">
                <a:solidFill>
                  <a:srgbClr val="1C1F23"/>
                </a:solidFill>
                <a:latin typeface="Aptos"/>
              </a:rPr>
              <a:t>Economics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010912"/>
            <a:ext cx="2267712" cy="6400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70" b="0" i="0">
                <a:solidFill>
                  <a:srgbClr val="585D65"/>
                </a:solidFill>
                <a:latin typeface="Aptos"/>
              </a:rPr>
              <a:t>Overhead não modelado &lt; ~R$1,15 mil/posição/ano na Estação.</a:t>
            </a:r>
          </a:p>
        </p:txBody>
      </p:sp>
      <p:sp>
        <p:nvSpPr>
          <p:cNvPr id="34" name="Oval 33"/>
          <p:cNvSpPr/>
          <p:nvPr/>
        </p:nvSpPr>
        <p:spPr>
          <a:xfrm>
            <a:off x="3529584" y="4599432"/>
            <a:ext cx="274320" cy="274320"/>
          </a:xfrm>
          <a:prstGeom prst="ellipse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29584" y="4663440"/>
            <a:ext cx="27432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13632" y="4599432"/>
            <a:ext cx="14173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1" i="0">
                <a:solidFill>
                  <a:srgbClr val="1C1F23"/>
                </a:solidFill>
                <a:latin typeface="Aptos"/>
              </a:rPr>
              <a:t>Serviço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9584" y="5010912"/>
            <a:ext cx="2267712" cy="6400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70" b="0" i="0" dirty="0">
                <a:solidFill>
                  <a:srgbClr val="585D65"/>
                </a:solidFill>
                <a:latin typeface="Aptos"/>
              </a:rPr>
              <a:t>SLA e </a:t>
            </a:r>
            <a:r>
              <a:rPr sz="770" b="0" i="0" dirty="0" err="1">
                <a:solidFill>
                  <a:srgbClr val="585D65"/>
                </a:solidFill>
                <a:latin typeface="Aptos"/>
              </a:rPr>
              <a:t>incidentes</a:t>
            </a:r>
            <a:r>
              <a:rPr sz="770" b="0" i="0" dirty="0">
                <a:solidFill>
                  <a:srgbClr val="585D65"/>
                </a:solidFill>
                <a:latin typeface="Aptos"/>
              </a:rPr>
              <a:t> </a:t>
            </a:r>
            <a:r>
              <a:rPr sz="770" b="0" i="0" dirty="0" err="1">
                <a:solidFill>
                  <a:srgbClr val="585D65"/>
                </a:solidFill>
                <a:latin typeface="Aptos"/>
              </a:rPr>
              <a:t>dentro</a:t>
            </a:r>
            <a:r>
              <a:rPr sz="770" b="0" i="0" dirty="0">
                <a:solidFill>
                  <a:srgbClr val="585D65"/>
                </a:solidFill>
                <a:latin typeface="Aptos"/>
              </a:rPr>
              <a:t> do </a:t>
            </a:r>
            <a:r>
              <a:rPr sz="770" b="0" i="0" dirty="0" err="1">
                <a:solidFill>
                  <a:srgbClr val="585D65"/>
                </a:solidFill>
                <a:latin typeface="Aptos"/>
              </a:rPr>
              <a:t>padrão</a:t>
            </a:r>
            <a:r>
              <a:rPr sz="770" b="0" i="0" dirty="0">
                <a:solidFill>
                  <a:srgbClr val="585D65"/>
                </a:solidFill>
                <a:latin typeface="Aptos"/>
              </a:rPr>
              <a:t> </a:t>
            </a:r>
            <a:r>
              <a:rPr sz="770" b="0" i="0" dirty="0" err="1">
                <a:solidFill>
                  <a:srgbClr val="585D65"/>
                </a:solidFill>
                <a:latin typeface="Aptos"/>
              </a:rPr>
              <a:t>definido</a:t>
            </a:r>
            <a:r>
              <a:rPr sz="770" b="0" i="0" dirty="0">
                <a:solidFill>
                  <a:srgbClr val="585D65"/>
                </a:solidFill>
                <a:latin typeface="Aptos"/>
              </a:rPr>
              <a:t> antes do </a:t>
            </a:r>
            <a:r>
              <a:rPr sz="770" b="0" i="0" dirty="0" err="1">
                <a:solidFill>
                  <a:srgbClr val="585D65"/>
                </a:solidFill>
                <a:latin typeface="Aptos"/>
              </a:rPr>
              <a:t>lançamento</a:t>
            </a:r>
            <a:r>
              <a:rPr sz="770" b="0" i="0" dirty="0">
                <a:solidFill>
                  <a:srgbClr val="585D65"/>
                </a:solidFill>
                <a:latin typeface="Aptos"/>
              </a:rPr>
              <a:t>.</a:t>
            </a:r>
          </a:p>
        </p:txBody>
      </p:sp>
      <p:sp>
        <p:nvSpPr>
          <p:cNvPr id="38" name="Oval 37"/>
          <p:cNvSpPr/>
          <p:nvPr/>
        </p:nvSpPr>
        <p:spPr>
          <a:xfrm>
            <a:off x="6190488" y="4592398"/>
            <a:ext cx="274320" cy="274320"/>
          </a:xfrm>
          <a:prstGeom prst="ellipse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90488" y="4663440"/>
            <a:ext cx="27432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50" b="1" i="0" dirty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74536" y="4599432"/>
            <a:ext cx="14173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1" i="0" dirty="0" err="1">
                <a:solidFill>
                  <a:srgbClr val="1C1F23"/>
                </a:solidFill>
                <a:latin typeface="Aptos"/>
              </a:rPr>
              <a:t>Capacidade</a:t>
            </a:r>
            <a:endParaRPr sz="850" b="1" i="0" dirty="0">
              <a:solidFill>
                <a:srgbClr val="1C1F23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190488" y="5010912"/>
            <a:ext cx="2267712" cy="6400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70" b="0" i="0">
                <a:solidFill>
                  <a:srgbClr val="585D65"/>
                </a:solidFill>
                <a:latin typeface="Aptos"/>
              </a:rPr>
              <a:t>Picos atendidos sem ruptura recorrente ou filas relevantes.</a:t>
            </a:r>
          </a:p>
        </p:txBody>
      </p:sp>
      <p:sp>
        <p:nvSpPr>
          <p:cNvPr id="42" name="Oval 41"/>
          <p:cNvSpPr/>
          <p:nvPr/>
        </p:nvSpPr>
        <p:spPr>
          <a:xfrm>
            <a:off x="8851392" y="4599432"/>
            <a:ext cx="274320" cy="274320"/>
          </a:xfrm>
          <a:prstGeom prst="ellipse">
            <a:avLst/>
          </a:prstGeom>
          <a:solidFill>
            <a:srgbClr val="C0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851392" y="4663440"/>
            <a:ext cx="27432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4599432"/>
            <a:ext cx="14173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1" i="0">
                <a:solidFill>
                  <a:srgbClr val="1C1F23"/>
                </a:solidFill>
                <a:latin typeface="Aptos"/>
              </a:rPr>
              <a:t>Arquitetura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51392" y="5010912"/>
            <a:ext cx="2267712" cy="6400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70" b="0" i="0" dirty="0" err="1">
                <a:solidFill>
                  <a:srgbClr val="585D65"/>
                </a:solidFill>
                <a:latin typeface="Aptos"/>
              </a:rPr>
              <a:t>Revisar</a:t>
            </a:r>
            <a:r>
              <a:rPr sz="770" b="0" i="0" dirty="0">
                <a:solidFill>
                  <a:srgbClr val="585D65"/>
                </a:solidFill>
                <a:latin typeface="Aptos"/>
              </a:rPr>
              <a:t> lockers se banco se </a:t>
            </a:r>
            <a:r>
              <a:rPr sz="770" b="0" i="0" dirty="0" err="1">
                <a:solidFill>
                  <a:srgbClr val="585D65"/>
                </a:solidFill>
                <a:latin typeface="Aptos"/>
              </a:rPr>
              <a:t>aproximar</a:t>
            </a:r>
            <a:r>
              <a:rPr sz="770" b="0" i="0" dirty="0">
                <a:solidFill>
                  <a:srgbClr val="585D65"/>
                </a:solidFill>
                <a:latin typeface="Aptos"/>
              </a:rPr>
              <a:t> de ~R$24 mil/</a:t>
            </a:r>
            <a:r>
              <a:rPr sz="770" b="0" i="0" dirty="0" err="1">
                <a:solidFill>
                  <a:srgbClr val="585D65"/>
                </a:solidFill>
                <a:latin typeface="Aptos"/>
              </a:rPr>
              <a:t>ano</a:t>
            </a:r>
            <a:r>
              <a:rPr sz="770" b="0" i="0" dirty="0">
                <a:solidFill>
                  <a:srgbClr val="585D65"/>
                </a:solidFill>
                <a:latin typeface="Aptos"/>
              </a:rPr>
              <a:t> </a:t>
            </a:r>
            <a:r>
              <a:rPr sz="770" b="0" i="0" dirty="0" err="1">
                <a:solidFill>
                  <a:srgbClr val="585D65"/>
                </a:solidFill>
                <a:latin typeface="Aptos"/>
              </a:rPr>
              <a:t>na</a:t>
            </a:r>
            <a:r>
              <a:rPr sz="770" b="0" i="0" dirty="0">
                <a:solidFill>
                  <a:srgbClr val="585D65"/>
                </a:solidFill>
                <a:latin typeface="Aptos"/>
              </a:rPr>
              <a:t> </a:t>
            </a:r>
            <a:r>
              <a:rPr sz="770" b="0" i="0" dirty="0" err="1">
                <a:solidFill>
                  <a:srgbClr val="585D65"/>
                </a:solidFill>
                <a:latin typeface="Aptos"/>
              </a:rPr>
              <a:t>Estação</a:t>
            </a:r>
            <a:r>
              <a:rPr sz="770" b="0" i="0" dirty="0">
                <a:solidFill>
                  <a:srgbClr val="585D65"/>
                </a:solidFill>
                <a:latin typeface="Aptos"/>
              </a:rPr>
              <a:t>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78440" y="6537960"/>
            <a:ext cx="1307592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650" b="0" i="0">
                <a:solidFill>
                  <a:srgbClr val="989EA6"/>
                </a:solidFill>
                <a:latin typeface="Aptos"/>
              </a:rPr>
              <a:t>BagHub | 2026.2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 animBg="1"/>
      <p:bldP spid="14" grpId="0"/>
      <p:bldP spid="15" grpId="0"/>
      <p:bldP spid="17" grpId="0" animBg="1"/>
      <p:bldP spid="19" grpId="0"/>
      <p:bldP spid="20" grpId="0"/>
      <p:bldP spid="22" grpId="0" animBg="1"/>
      <p:bldP spid="24" grpId="0"/>
      <p:bldP spid="25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2" grpId="0"/>
      <p:bldP spid="33" grpId="0"/>
      <p:bldP spid="34" grpId="0" animBg="1"/>
      <p:bldP spid="35" grpId="0"/>
      <p:bldP spid="36" grpId="0"/>
      <p:bldP spid="37" grpId="0"/>
      <p:bldP spid="38" grpId="0" animBg="1"/>
      <p:bldP spid="39" grpId="0"/>
      <p:bldP spid="40" grpId="0"/>
      <p:bldP spid="41" grpId="0"/>
      <p:bldP spid="42" grpId="0" animBg="1"/>
      <p:bldP spid="43" grpId="0"/>
      <p:bldP spid="44" grpId="0"/>
      <p:bldP spid="4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1054</Words>
  <Application>Microsoft Office PowerPoint</Application>
  <PresentationFormat>Widescreen</PresentationFormat>
  <Paragraphs>285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Cambria Math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Enrico Mello</cp:lastModifiedBy>
  <cp:revision>8</cp:revision>
  <dcterms:created xsi:type="dcterms:W3CDTF">2013-01-27T09:14:16Z</dcterms:created>
  <dcterms:modified xsi:type="dcterms:W3CDTF">2026-09-17T00:43:06Z</dcterms:modified>
  <cp:category/>
</cp:coreProperties>
</file>