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a3bab8c23a49cc" /><Relationship Type="http://schemas.openxmlformats.org/officeDocument/2006/relationships/extended-properties" Target="/docProps/app.xml" Id="Rf6fca768134a4dfa" /><Relationship Type="http://schemas.openxmlformats.org/officeDocument/2006/relationships/officeDocument" Target="/ppt/presentation.xml" Id="R6986a776f99148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765cfa7b884c01"/>
  </p:sldMasterIdLst>
  <p:notesMasterIdLst>
    <p:notesMasterId xmlns:r="http://schemas.openxmlformats.org/officeDocument/2006/relationships" r:id="Rca2553e51f4a499e"/>
  </p:notesMasterIdLst>
  <p:sldIdLst>
    <p:sldId xmlns:r="http://schemas.openxmlformats.org/officeDocument/2006/relationships" id="256" r:id="Rcf7731862f0f4960"/>
    <p:sldId xmlns:r="http://schemas.openxmlformats.org/officeDocument/2006/relationships" id="257" r:id="R5cb56c592c394369"/>
    <p:sldId xmlns:r="http://schemas.openxmlformats.org/officeDocument/2006/relationships" id="258" r:id="R82ba03fd80b04cf4"/>
    <p:sldId xmlns:r="http://schemas.openxmlformats.org/officeDocument/2006/relationships" id="259" r:id="R05a52e6752364e61"/>
    <p:sldId xmlns:r="http://schemas.openxmlformats.org/officeDocument/2006/relationships" id="260" r:id="R94f8559d465f4baa"/>
    <p:sldId xmlns:r="http://schemas.openxmlformats.org/officeDocument/2006/relationships" id="261" r:id="R8304f1883e61444f"/>
    <p:sldId xmlns:r="http://schemas.openxmlformats.org/officeDocument/2006/relationships" id="262" r:id="R491ea3420f544f61"/>
    <p:sldId xmlns:r="http://schemas.openxmlformats.org/officeDocument/2006/relationships" id="263" r:id="R72d934f2ff984f26"/>
    <p:sldId xmlns:r="http://schemas.openxmlformats.org/officeDocument/2006/relationships" id="264" r:id="Reb480d13164b4d63"/>
    <p:sldId xmlns:r="http://schemas.openxmlformats.org/officeDocument/2006/relationships" id="265" r:id="R565d87ea94164c42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76DFC1A0-836D-9EC7-8198-4F23EF42E5C3}" name="Gabriel Morcelli" initials="GM" userId="e912dbdd48d29ba7" providerId="Windows Live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b227c3f13d4b31" /><Relationship Type="http://schemas.openxmlformats.org/officeDocument/2006/relationships/slideMaster" Target="/ppt/slideMasters/slideMaster1.xml" Id="R59765cfa7b884c01" /><Relationship Type="http://schemas.openxmlformats.org/officeDocument/2006/relationships/notesMaster" Target="/ppt/notesMasters/notesMaster1.xml" Id="Rca2553e51f4a499e" /><Relationship Type="http://schemas.openxmlformats.org/officeDocument/2006/relationships/presProps" Target="/ppt/presProps.xml" Id="R7e17090b8db14a11" /><Relationship Type="http://schemas.openxmlformats.org/officeDocument/2006/relationships/viewProps" Target="/ppt/viewProps.xml" Id="R7ccf7b482a8d4d84" /><Relationship Type="http://schemas.openxmlformats.org/officeDocument/2006/relationships/tableStyles" Target="/ppt/tableStyles.xml" Id="Rbac7b388148a4738" /><Relationship Type="http://schemas.microsoft.com/office/2018/10/relationships/authors" Target="/ppt/authors.xml" Id="Rbe5e711bd6e24d50" /><Relationship Type="http://schemas.openxmlformats.org/officeDocument/2006/relationships/slide" Target="/ppt/slides/slide1.xml" Id="Rcf7731862f0f4960" /><Relationship Type="http://schemas.openxmlformats.org/officeDocument/2006/relationships/slide" Target="/ppt/slides/slide2.xml" Id="R5cb56c592c394369" /><Relationship Type="http://schemas.openxmlformats.org/officeDocument/2006/relationships/slide" Target="/ppt/slides/slide3.xml" Id="R82ba03fd80b04cf4" /><Relationship Type="http://schemas.openxmlformats.org/officeDocument/2006/relationships/slide" Target="/ppt/slides/slide4.xml" Id="R05a52e6752364e61" /><Relationship Type="http://schemas.openxmlformats.org/officeDocument/2006/relationships/slide" Target="/ppt/slides/slide5.xml" Id="R94f8559d465f4baa" /><Relationship Type="http://schemas.openxmlformats.org/officeDocument/2006/relationships/slide" Target="/ppt/slides/slide6.xml" Id="R8304f1883e61444f" /><Relationship Type="http://schemas.openxmlformats.org/officeDocument/2006/relationships/slide" Target="/ppt/slides/slide7.xml" Id="R491ea3420f544f61" /><Relationship Type="http://schemas.openxmlformats.org/officeDocument/2006/relationships/slide" Target="/ppt/slides/slide8.xml" Id="R72d934f2ff984f26" /><Relationship Type="http://schemas.openxmlformats.org/officeDocument/2006/relationships/slide" Target="/ppt/slides/slide9.xml" Id="Reb480d13164b4d63" /><Relationship Type="http://schemas.openxmlformats.org/officeDocument/2006/relationships/slide" Target="/ppt/slides/slide10.xml" Id="R565d87ea94164c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96bf2c00ec49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19f7e830be4571" /><Relationship Type="http://schemas.openxmlformats.org/officeDocument/2006/relationships/notesMaster" Target="/ppt/notesMasters/notesMaster1.xml" Id="R743cc14a40c54e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a3ed6b0ef348c7" /><Relationship Type="http://schemas.openxmlformats.org/officeDocument/2006/relationships/notesMaster" Target="/ppt/notesMasters/notesMaster1.xml" Id="Refaa629cb13748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d56930d9774bb5" /><Relationship Type="http://schemas.openxmlformats.org/officeDocument/2006/relationships/notesMaster" Target="/ppt/notesMasters/notesMaster1.xml" Id="R39049bcb396747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65b7c5f3a44d6a" /><Relationship Type="http://schemas.openxmlformats.org/officeDocument/2006/relationships/notesMaster" Target="/ppt/notesMasters/notesMaster1.xml" Id="R797f640345ae4c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e8274f15b0409e" /><Relationship Type="http://schemas.openxmlformats.org/officeDocument/2006/relationships/notesMaster" Target="/ppt/notesMasters/notesMaster1.xml" Id="Rfa708220875e49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151cef25d8426b" /><Relationship Type="http://schemas.openxmlformats.org/officeDocument/2006/relationships/notesMaster" Target="/ppt/notesMasters/notesMaster1.xml" Id="R9b0f9bb2d06348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1333c7db024364" /><Relationship Type="http://schemas.openxmlformats.org/officeDocument/2006/relationships/notesMaster" Target="/ppt/notesMasters/notesMaster1.xml" Id="R4486b38514c946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7d40f0b7014e3e" /><Relationship Type="http://schemas.openxmlformats.org/officeDocument/2006/relationships/notesMaster" Target="/ppt/notesMasters/notesMaster1.xml" Id="R44bfe6fbabe149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04a905fe524a3b" /><Relationship Type="http://schemas.openxmlformats.org/officeDocument/2006/relationships/notesMaster" Target="/ppt/notesMasters/notesMaster1.xml" Id="R1ade863196ac40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29e65577444a9c" /><Relationship Type="http://schemas.openxmlformats.org/officeDocument/2006/relationships/notesMaster" Target="/ppt/notesMasters/notesMaster1.xml" Id="R1c3cb1347e6048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BagHub_Excel_Score.xlsx, Score!E9:L9 e E12:J20; Rentabilidade!A1:J69. Premissas de demanda, capacidade e utilização: CCU_PS_2026_2_Desafio_BagHub(1).pdf, Anexos C e 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BagHub_Excel_Score.xlsx, Score!E9:L9; Rentabilidade!D25:F35, G16:J22 e B61:D69. Utilização de 54%: PDF do case, Anexo 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BagHub_Excel_Score.xlsx, Score!A1:L9. Pesos: 35%, 25%, 15%, 15% e 10%. Resultado operacional usa normalização contínua; margem usa faixas definidas no Ano 1; utilização segue o ranking do Anexo C do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BagHub_Excel_Score.xlsx, Rentabilidade!D25:F35, A44:E49 e B61:B69. Diferença de resultado: 27,84 - 24,50 = R$ 3,34 mi. Diferença de margem: 90,7% - 77,3% = 13,4 p.p.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BagHub_Excel_Score.xlsx, Rentabilidade!G16:J22 e Score!A3:L8. As taxas de utilização vêm do PDF do case, Anexo C; a complexidade vem do Anexo 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Excel, Rentabilidade!A1:J7, A9:F14, A24:F28 e A30:D35; Score!A1:L9. O custo de bancos no Centro Histórico é R$ 1,75 mi. Todos os indicadores exibidos são do Ano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CCU_PS_2026_2_Desafio_BagHub(1).pdf, Anexos B, C e D. A projeção de 18 mil transações por semana também está registrada em BagHub_Excel_Score.xlsx, Rentabilidade!A17:E21.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BagHub_Excel_Score.xlsx, Score!E12:J20. Nos Anos 2 a 5, o score usa margem anual isolada e resultado operacional acumulado.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BagHub_Excel_Score.xlsx, Rentabilidade!B25:F35, B44:E49, B51:F59 e B61:D69. O gráfico superior esquerdo compara o resultado operacional anual dos armários nos Anos 1 e 2. A margem é anual isolada; o resultado dos comparativos acumulados permanece acumulado.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BagHub_Excel_Score.xlsx, Rentabilidade!A3:J7, B51:F59 e G16:J22; CCU_PS_2026_2_Desafio_BagHub(1).pdf, Anexos C, D e 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e33c3c9c134e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9bcf0222d1486b" /><Relationship Type="http://schemas.openxmlformats.org/officeDocument/2006/relationships/slideLayout" Target="/ppt/slideLayouts/slideLayout1.xml" Id="Ra492bb44363343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92bb44363343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eed2fa126430b" /><Relationship Type="http://schemas.openxmlformats.org/officeDocument/2006/relationships/notesSlide" Target="/ppt/notesSlides/notesSlide1.xml" Id="R6d298d699a3c44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2b214d5c04cb9" /><Relationship Type="http://schemas.openxmlformats.org/officeDocument/2006/relationships/image" Target="/ppt/media/image.png" Id="R3559812254624cdc" /><Relationship Type="http://schemas.openxmlformats.org/officeDocument/2006/relationships/image" Target="/ppt/media/image2.png" Id="R930bb703a1894e0e" /><Relationship Type="http://schemas.openxmlformats.org/officeDocument/2006/relationships/image" Target="/ppt/media/image3.png" Id="R292ec440c133414b" /><Relationship Type="http://schemas.openxmlformats.org/officeDocument/2006/relationships/image" Target="/ppt/media/image4.png" Id="R698bad596006440d" /><Relationship Type="http://schemas.openxmlformats.org/officeDocument/2006/relationships/notesSlide" Target="/ppt/notesSlides/notesSlide2.xml" Id="Ra6e22d3473214d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8b20892db4400" /><Relationship Type="http://schemas.openxmlformats.org/officeDocument/2006/relationships/image" Target="/ppt/media/image5.png" Id="Rbcccb330247c4b56" /><Relationship Type="http://schemas.openxmlformats.org/officeDocument/2006/relationships/notesSlide" Target="/ppt/notesSlides/notesSlide3.xml" Id="R2d78becd9bcd4b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6549431d943af" /><Relationship Type="http://schemas.openxmlformats.org/officeDocument/2006/relationships/image" Target="/ppt/media/image6.png" Id="Rd18c61c1795a447b" /><Relationship Type="http://schemas.openxmlformats.org/officeDocument/2006/relationships/chart" Target="/ppt/slides/charts/chart1.xml" Id="Rb4174fcda0f145f3" /><Relationship Type="http://schemas.openxmlformats.org/officeDocument/2006/relationships/chart" Target="/ppt/slides/charts/chart2.xml" Id="R136f1a0222bb4a9b" /><Relationship Type="http://schemas.openxmlformats.org/officeDocument/2006/relationships/notesSlide" Target="/ppt/notesSlides/notesSlide4.xml" Id="Rf78059169f5c40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450d1426e4cd2" /><Relationship Type="http://schemas.openxmlformats.org/officeDocument/2006/relationships/image" Target="/ppt/media/image7.png" Id="R161cb9fa702d4e85" /><Relationship Type="http://schemas.openxmlformats.org/officeDocument/2006/relationships/notesSlide" Target="/ppt/notesSlides/notesSlide5.xml" Id="R8c4f6714c0c247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c4768796b4dfe" /><Relationship Type="http://schemas.openxmlformats.org/officeDocument/2006/relationships/image" Target="/ppt/media/image6.png" Id="R90a707e934ed40e6" /><Relationship Type="http://schemas.openxmlformats.org/officeDocument/2006/relationships/notesSlide" Target="/ppt/notesSlides/notesSlide6.xml" Id="R68ca317aa75d4d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b1831d4754039" /><Relationship Type="http://schemas.openxmlformats.org/officeDocument/2006/relationships/image" Target="/ppt/media/image.png" Id="R388995e0cf684f86" /><Relationship Type="http://schemas.openxmlformats.org/officeDocument/2006/relationships/notesSlide" Target="/ppt/notesSlides/notesSlide7.xml" Id="R266612ec087340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807a6c31e42d0" /><Relationship Type="http://schemas.openxmlformats.org/officeDocument/2006/relationships/image" Target="/ppt/media/image.png" Id="Ra51a804234974535" /><Relationship Type="http://schemas.openxmlformats.org/officeDocument/2006/relationships/notesSlide" Target="/ppt/notesSlides/notesSlide8.xml" Id="Rad53ab1cbd684e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dae557e464101" /><Relationship Type="http://schemas.openxmlformats.org/officeDocument/2006/relationships/chart" Target="/ppt/slides/charts/chart3.xml" Id="R6a76da09a2984f52" /><Relationship Type="http://schemas.openxmlformats.org/officeDocument/2006/relationships/chart" Target="/ppt/slides/charts/chart4.xml" Id="Rce54f512f2fa4e66" /><Relationship Type="http://schemas.openxmlformats.org/officeDocument/2006/relationships/chart" Target="/ppt/slides/charts/chart5.xml" Id="Rb234e18957bb4d19" /><Relationship Type="http://schemas.openxmlformats.org/officeDocument/2006/relationships/notesSlide" Target="/ppt/notesSlides/notesSlide9.xml" Id="Ra8dcf4fba93e43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362724d1f4ca0" /><Relationship Type="http://schemas.openxmlformats.org/officeDocument/2006/relationships/image" Target="/ppt/media/image8.png" Id="Rc372eb0736b34fc3" /><Relationship Type="http://schemas.openxmlformats.org/officeDocument/2006/relationships/notesSlide" Target="/ppt/notesSlides/notesSlide10.xml" Id="Re8eca5f60e1c415d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Armários</c:v>
          </c:tx>
          <c:spPr>
            <a:solidFill xmlns:a="http://schemas.openxmlformats.org/drawingml/2006/main">
              <a:srgbClr val="D8DEE6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82D8E8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750" b="1">
                    <a:solidFill>
                      <a:srgbClr val="17324D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Estação Central</c:v>
                </c:pt>
                <c:pt idx="1">
                  <c:v>Centro Histórico</c:v>
                </c:pt>
                <c:pt idx="2">
                  <c:v>Arena</c:v>
                </c:pt>
                <c:pt idx="3">
                  <c:v>Noite Alta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25.08</c:v>
                </c:pt>
                <c:pt idx="1">
                  <c:v>23.15</c:v>
                </c:pt>
                <c:pt idx="2">
                  <c:v>13.87</c:v>
                </c:pt>
                <c:pt idx="3">
                  <c:v>18.57</c:v>
                </c:pt>
              </c:numCache>
            </c:numRef>
          </c:val>
        </c:ser>
        <c:ser>
          <c:idx val="1"/>
          <c:order val="1"/>
          <c:tx>
            <c:v>Pontos parceiros</c:v>
          </c:tx>
          <c:spPr>
            <a:solidFill xmlns:a="http://schemas.openxmlformats.org/drawingml/2006/main">
              <a:srgbClr val="AEB8C4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007EBB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750" b="1">
                    <a:solidFill>
                      <a:srgbClr val="17324D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Data'!$C$2:$C$5</c:f>
              <c:strCache>
                <c:ptCount val="4"/>
                <c:pt idx="0">
                  <c:v>Estação Central</c:v>
                </c:pt>
                <c:pt idx="1">
                  <c:v>Centro Histórico</c:v>
                </c:pt>
                <c:pt idx="2">
                  <c:v>Arena</c:v>
                </c:pt>
                <c:pt idx="3">
                  <c:v>Noite Alta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27.84</c:v>
                </c:pt>
                <c:pt idx="1">
                  <c:v>24.5</c:v>
                </c:pt>
                <c:pt idx="2">
                  <c:v>14.94</c:v>
                </c:pt>
                <c:pt idx="3">
                  <c:v>19.2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6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2"/>
          <c:min val="0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1732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Armários</c:v>
          </c:tx>
          <c:spPr>
            <a:solidFill xmlns:a="http://schemas.openxmlformats.org/drawingml/2006/main">
              <a:srgbClr val="D8DEE6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82D8E8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750" b="1">
                    <a:solidFill>
                      <a:srgbClr val="17324D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Estação Central</c:v>
                </c:pt>
                <c:pt idx="1">
                  <c:v>Centro Histórico</c:v>
                </c:pt>
                <c:pt idx="2">
                  <c:v>Arena</c:v>
                </c:pt>
                <c:pt idx="3">
                  <c:v>Noite Alta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69.7</c:v>
                </c:pt>
                <c:pt idx="1">
                  <c:v>85.7</c:v>
                </c:pt>
                <c:pt idx="2">
                  <c:v>77.1</c:v>
                </c:pt>
                <c:pt idx="3">
                  <c:v>61.9</c:v>
                </c:pt>
              </c:numCache>
            </c:numRef>
          </c:val>
        </c:ser>
        <c:ser>
          <c:idx val="1"/>
          <c:order val="1"/>
          <c:tx>
            <c:v>Pontos parceiros</c:v>
          </c:tx>
          <c:spPr>
            <a:solidFill xmlns:a="http://schemas.openxmlformats.org/drawingml/2006/main">
              <a:srgbClr val="AEB8C4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007EBB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750" b="1">
                    <a:solidFill>
                      <a:srgbClr val="17324D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Data'!$C$2:$C$5</c:f>
              <c:strCache>
                <c:ptCount val="4"/>
                <c:pt idx="0">
                  <c:v>Estação Central</c:v>
                </c:pt>
                <c:pt idx="1">
                  <c:v>Centro Histórico</c:v>
                </c:pt>
                <c:pt idx="2">
                  <c:v>Arena</c:v>
                </c:pt>
                <c:pt idx="3">
                  <c:v>Noite Alta</c:v>
                </c:pt>
              </c:strCache>
            </c:strRef>
          </c:cat>
          <c:val>
            <c:numRef>
              <c:f>'Chart Data'!$D$2:$D$5</c:f>
              <c:numCache>
                <c:formatCode>0.0</c:formatCode>
                <c:ptCount val="4"/>
                <c:pt idx="0">
                  <c:v>77.3</c:v>
                </c:pt>
                <c:pt idx="1">
                  <c:v>90.7</c:v>
                </c:pt>
                <c:pt idx="2">
                  <c:v>83</c:v>
                </c:pt>
                <c:pt idx="3">
                  <c:v>64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6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1732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092B67"/>
                </a:solidFill>
                <a:latin typeface="Arial"/>
                <a:ea typeface="Arial"/>
                <a:cs typeface="Arial"/>
              </a:rPr>
              <a:t>Resultado operacional dos armários no Ano 1 e no Ano 2 (R$ mi)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092B67"/>
              </a:solidFill>
              <a:latin typeface="Arial"/>
              <a:ea typeface="Arial"/>
              <a:cs typeface="Arial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Ano 1</c:v>
          </c:tx>
          <c:spPr>
            <a:solidFill xmlns:a="http://schemas.openxmlformats.org/drawingml/2006/main">
              <a:srgbClr val="90E0EF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675" b="1">
                    <a:solidFill>
                      <a:srgbClr val="092B67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Estação</c:v>
                </c:pt>
                <c:pt idx="1">
                  <c:v>Centro</c:v>
                </c:pt>
                <c:pt idx="2">
                  <c:v>Arena</c:v>
                </c:pt>
                <c:pt idx="3">
                  <c:v>Noite Alta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25.08</c:v>
                </c:pt>
                <c:pt idx="1">
                  <c:v>23.15</c:v>
                </c:pt>
                <c:pt idx="2">
                  <c:v>13.87</c:v>
                </c:pt>
                <c:pt idx="3">
                  <c:v>18.57</c:v>
                </c:pt>
              </c:numCache>
            </c:numRef>
          </c:val>
        </c:ser>
        <c:ser>
          <c:idx val="1"/>
          <c:order val="1"/>
          <c:tx>
            <c:v>Ano 2</c:v>
          </c:tx>
          <c:spPr>
            <a:solidFill xmlns:a="http://schemas.openxmlformats.org/drawingml/2006/main">
              <a:srgbClr val="0077B6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675" b="1">
                    <a:solidFill>
                      <a:srgbClr val="092B67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Data'!$C$2:$C$5</c:f>
              <c:strCache>
                <c:ptCount val="4"/>
                <c:pt idx="0">
                  <c:v>Estação</c:v>
                </c:pt>
                <c:pt idx="1">
                  <c:v>Centro</c:v>
                </c:pt>
                <c:pt idx="2">
                  <c:v>Arena</c:v>
                </c:pt>
                <c:pt idx="3">
                  <c:v>Noite Alta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29.28</c:v>
                </c:pt>
                <c:pt idx="1">
                  <c:v>24.9</c:v>
                </c:pt>
                <c:pt idx="2">
                  <c:v>15.48</c:v>
                </c:pt>
                <c:pt idx="3">
                  <c:v>21.72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CE6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F8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E"/>
              </a:solidFill>
              <a:prstDash val="solid"/>
            </a:ln>
          </c:spPr>
        </c:majorGridlines>
        <c:numFmt formatCode="0.0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F8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75">
              <a:solidFill>
                <a:srgbClr val="536F8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CE6EE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092B67"/>
                </a:solidFill>
                <a:latin typeface="Arial"/>
                <a:ea typeface="Arial"/>
                <a:cs typeface="Arial"/>
              </a:rPr>
              <a:t>Variação da margem vs. Ano 1 (p.p.)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092B67"/>
              </a:solidFill>
              <a:latin typeface="Arial"/>
              <a:ea typeface="Arial"/>
              <a:cs typeface="Arial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Armários</c:v>
          </c:tx>
          <c:spPr>
            <a:solidFill xmlns:a="http://schemas.openxmlformats.org/drawingml/2006/main">
              <a:srgbClr val="00B4D8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675" b="1">
                    <a:solidFill>
                      <a:srgbClr val="092B67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Estação</c:v>
                </c:pt>
                <c:pt idx="1">
                  <c:v>Centro</c:v>
                </c:pt>
                <c:pt idx="2">
                  <c:v>Arena</c:v>
                </c:pt>
                <c:pt idx="3">
                  <c:v>Noite Alta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11.7</c:v>
                </c:pt>
                <c:pt idx="1">
                  <c:v>6.5</c:v>
                </c:pt>
                <c:pt idx="2">
                  <c:v>8.9</c:v>
                </c:pt>
                <c:pt idx="3">
                  <c:v>10.5</c:v>
                </c:pt>
              </c:numCache>
            </c:numRef>
          </c:val>
        </c:ser>
        <c:ser>
          <c:idx val="1"/>
          <c:order val="1"/>
          <c:tx>
            <c:v>Pontos parceiros</c:v>
          </c:tx>
          <c:spPr>
            <a:solidFill xmlns:a="http://schemas.openxmlformats.org/drawingml/2006/main">
              <a:srgbClr val="03045E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675" b="1">
                    <a:solidFill>
                      <a:srgbClr val="092B67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Data'!$C$2:$C$5</c:f>
              <c:strCache>
                <c:ptCount val="4"/>
                <c:pt idx="0">
                  <c:v>Estação</c:v>
                </c:pt>
                <c:pt idx="1">
                  <c:v>Centro</c:v>
                </c:pt>
                <c:pt idx="2">
                  <c:v>Arena</c:v>
                </c:pt>
                <c:pt idx="3">
                  <c:v>Noite Alta</c:v>
                </c:pt>
              </c:strCache>
            </c:strRef>
          </c:cat>
          <c:val>
            <c:numRef>
              <c:f>'Chart Data'!$D$2:$D$5</c:f>
              <c:numCache>
                <c:formatCode>0.0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CE6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F8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1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E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75">
              <a:solidFill>
                <a:srgbClr val="536F8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CE6EE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092B67"/>
                </a:solidFill>
                <a:latin typeface="Arial"/>
                <a:ea typeface="Arial"/>
                <a:cs typeface="Arial"/>
              </a:rPr>
              <a:t>Resultado operacional anual no Ano 2 por modelo (R$ mi)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092B67"/>
              </a:solidFill>
              <a:latin typeface="Arial"/>
              <a:ea typeface="Arial"/>
              <a:cs typeface="Arial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Armários</c:v>
          </c:tx>
          <c:spPr>
            <a:solidFill xmlns:a="http://schemas.openxmlformats.org/drawingml/2006/main">
              <a:srgbClr val="00B4D8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675" b="1">
                    <a:solidFill>
                      <a:srgbClr val="092B67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Estação</c:v>
                </c:pt>
                <c:pt idx="1">
                  <c:v>Centro</c:v>
                </c:pt>
                <c:pt idx="2">
                  <c:v>Arena</c:v>
                </c:pt>
                <c:pt idx="3">
                  <c:v>Noite Alta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29.28</c:v>
                </c:pt>
                <c:pt idx="1">
                  <c:v>24.9</c:v>
                </c:pt>
                <c:pt idx="2">
                  <c:v>15.48</c:v>
                </c:pt>
                <c:pt idx="3">
                  <c:v>21.72</c:v>
                </c:pt>
              </c:numCache>
            </c:numRef>
          </c:val>
        </c:ser>
        <c:ser>
          <c:idx val="1"/>
          <c:order val="1"/>
          <c:tx>
            <c:v>Pontos parceiros</c:v>
          </c:tx>
          <c:spPr>
            <a:solidFill xmlns:a="http://schemas.openxmlformats.org/drawingml/2006/main">
              <a:srgbClr val="03045E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675" b="1">
                    <a:solidFill>
                      <a:srgbClr val="092B67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Data'!$C$2:$C$5</c:f>
              <c:strCache>
                <c:ptCount val="4"/>
                <c:pt idx="0">
                  <c:v>Estação</c:v>
                </c:pt>
                <c:pt idx="1">
                  <c:v>Centro</c:v>
                </c:pt>
                <c:pt idx="2">
                  <c:v>Arena</c:v>
                </c:pt>
                <c:pt idx="3">
                  <c:v>Noite Alta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27.84</c:v>
                </c:pt>
                <c:pt idx="1">
                  <c:v>24.5</c:v>
                </c:pt>
                <c:pt idx="2">
                  <c:v>14.94</c:v>
                </c:pt>
                <c:pt idx="3">
                  <c:v>19.2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CE6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F8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E"/>
              </a:solidFill>
              <a:prstDash val="solid"/>
            </a:ln>
          </c:spPr>
        </c:majorGridlines>
        <c:numFmt formatCode="0.0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75">
              <a:solidFill>
                <a:srgbClr val="536F8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CE6EE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3045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FB23C98-41DE-4491-AC96-C1AD4875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8DDE1D2-DA51-4EB8-A704-7DDF7032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3E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7F7076A-502A-4AAD-95C1-6CB6CF24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4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2F20C9D-7ABB-4D5C-BA13-9056816D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4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D347F10-D2C3-4576-910E-36E1CB0A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4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23AD301-A0DE-4C9A-8D40-876EEC58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BAGHUB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7860392-DB92-4142-8D44-6326FED0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Centro Histórico com parceiros</a:t>
            </a:r>
          </a:p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maximiza a rentabilidade do lançamento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CA303531-9B61-490E-B9E2-D14BAEE2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Processo seletivo 2026.2</a:t>
            </a:r>
          </a:p>
        </p:txBody>
      </p:sp>
    </p:spTree>
    <p:extLst>
      <p:ext uri="{BB962C8B-B14F-4D97-AF65-F5344CB8AC3E}">
        <p14:creationId xmlns:p14="http://schemas.microsoft.com/office/powerpoint/2010/main" val="1642639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D28DA23-D98F-0034-2DB1-E83A41B3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4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696E573-51AA-5222-DD24-86E127F6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77B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7B6"/>
                </a:solidFill>
                <a:latin typeface="Arial"/>
                <a:ea typeface="Arial"/>
                <a:cs typeface="Arial"/>
              </a:rPr>
              <a:t>RECOMENDAÇÃO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5C0CC4E-3C5D-802E-1E98-5FAAADB1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3045E"/>
                </a:solidFill>
                <a:latin typeface="Arial"/>
                <a:ea typeface="Arial"/>
                <a:cs typeface="Arial"/>
              </a:rPr>
              <a:t>Centro + parceiros combina liderança no score e baixo risco de entrada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D8D5770-1414-FC8E-5DD7-B4EDC287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58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B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5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9812254624cdc"/>
          <a:stretch xmlns:a="http://schemas.openxmlformats.org/drawingml/2006/main"/>
        </p:blipFill>
        <p:spPr>
          <a:xfrm xmlns:a="http://schemas.openxmlformats.org/drawingml/2006/main">
            <a:off x="10915650" y="314826"/>
            <a:ext cx="552450" cy="494297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596C9A4-E704-A416-61B7-60943190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BB6BC37-CA91-2A00-8EB8-CF8330F6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5718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57189"/>
                </a:solidFill>
                <a:latin typeface="Arial"/>
                <a:ea typeface="Arial"/>
                <a:cs typeface="Arial"/>
              </a:rPr>
              <a:t>BagHub | Estratégia de lançamento em Porto Claro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6CA7579-CE2F-9BD8-DE04-2463849C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33147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3DE34B58-2E27-664B-865C-33A782F8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371600"/>
            <a:ext cx="1190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ADB8D10-5059-B325-0B29-F216F77B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428750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3045E"/>
                </a:solidFill>
                <a:latin typeface="Arial"/>
                <a:ea typeface="Arial"/>
                <a:cs typeface="Arial"/>
              </a:rPr>
              <a:t>ANO 1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ADD77A0-9110-6A50-43EB-C27A0EC1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Contexto do lançamento</a:t>
            </a:r>
            <a:endParaRPr sz="1350" b="1">
              <a:solidFill>
                <a:schemeClr val="bg1">
                  <a:lumMod val="9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25DDD61-5E7F-EAA4-10C4-7F5ABCAC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8130"/>
            <a:ext cx="2781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  <a:t>A operação gera caixa e </a:t>
            </a:r>
            <a:r>
              <a:rPr sz="1200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  <a:t>aprendizado antes</a:t>
            </a:r>
            <a:r>
              <a:rPr sz="1200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  <a:t> de uma expansão mais intensiva em capital.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sz="12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Retângulo 30">
            <a:extLst xmlns:a="http://schemas.openxmlformats.org/drawingml/2006/main">
              <a:ext uri="{FF2B5EF4-FFF2-40B4-BE49-F238E27FC236}">
                <a16:creationId xmlns:a16="http://schemas.microsoft.com/office/drawing/2014/main" id="{5C1E6D30-C1C1-4537-81BE-D40C90A7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5260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7145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5E"/>
                </a:solidFill>
                <a:latin typeface="Arial"/>
                <a:ea typeface="Arial"/>
                <a:cs typeface="Arial"/>
              </a:rPr>
              <a:t>Indicadores que sustentam a recomendação</a:t>
            </a:r>
          </a:p>
        </p:txBody>
      </p:sp>
      <p:sp>
        <p:nvSpPr>
          <p:cNvPr id="32" name="Retângulo: Cantos Arredondados 31">
            <a:extLst xmlns:a="http://schemas.openxmlformats.org/drawingml/2006/main">
              <a:ext uri="{FF2B5EF4-FFF2-40B4-BE49-F238E27FC236}">
                <a16:creationId xmlns:a16="http://schemas.microsoft.com/office/drawing/2014/main" id="{9C1CA1D3-5AD3-471F-978D-6B1BDDF7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728" y="2414530"/>
            <a:ext cx="2398367" cy="2490610"/>
          </a:xfrm>
          <a:prstGeom xmlns:a="http://schemas.openxmlformats.org/drawingml/2006/main" prst="roundRect">
            <a:avLst>
              <a:gd name="adj" fmla="val 5674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</a:ln>
        </p:spPr>
      </p:sp>
      <p:sp>
        <p:nvSpPr>
          <p:cNvPr id="33" name="Retângulo 32">
            <a:extLst xmlns:a="http://schemas.openxmlformats.org/drawingml/2006/main">
              <a:ext uri="{FF2B5EF4-FFF2-40B4-BE49-F238E27FC236}">
                <a16:creationId xmlns:a16="http://schemas.microsoft.com/office/drawing/2014/main" id="{2A807C9D-E7BE-4B01-BF8A-EFFD5ABA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3145" y="3164481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07EB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EBB"/>
                </a:solidFill>
                <a:latin typeface="Arial"/>
                <a:ea typeface="Arial"/>
                <a:cs typeface="Arial"/>
              </a:rPr>
              <a:t>4,66</a:t>
            </a:r>
          </a:p>
        </p:txBody>
      </p:sp>
      <p:sp>
        <p:nvSpPr>
          <p:cNvPr id="34" name="Retângulo 33">
            <a:extLst xmlns:a="http://schemas.openxmlformats.org/drawingml/2006/main">
              <a:ext uri="{FF2B5EF4-FFF2-40B4-BE49-F238E27FC236}">
                <a16:creationId xmlns:a16="http://schemas.microsoft.com/office/drawing/2014/main" id="{B8E621FE-44F8-4B9D-BE3E-F1640214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6436" y="3476625"/>
            <a:ext cx="2401103" cy="520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rmAutofit fontScale="995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324D"/>
                </a:solidFill>
                <a:latin typeface="Arial"/>
                <a:ea typeface="Arial"/>
                <a:cs typeface="Arial"/>
              </a:rPr>
              <a:t>Maior score entre as 8 alternativas</a:t>
            </a:r>
          </a:p>
        </p:txBody>
      </p:sp>
      <p:sp>
        <p:nvSpPr>
          <p:cNvPr id="35" name="Retângulo: Cantos Arredondados 34">
            <a:extLst xmlns:a="http://schemas.openxmlformats.org/drawingml/2006/main">
              <a:ext uri="{FF2B5EF4-FFF2-40B4-BE49-F238E27FC236}">
                <a16:creationId xmlns:a16="http://schemas.microsoft.com/office/drawing/2014/main" id="{76F916CD-EC42-4E81-9AAB-02548B97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7741" y="2414531"/>
            <a:ext cx="2393482" cy="2485358"/>
          </a:xfrm>
          <a:prstGeom xmlns:a="http://schemas.openxmlformats.org/drawingml/2006/main" prst="roundRect">
            <a:avLst>
              <a:gd name="adj" fmla="val 5674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</a:ln>
        </p:spPr>
      </p:sp>
      <p:sp>
        <p:nvSpPr>
          <p:cNvPr id="36" name="Retângulo 35">
            <a:extLst xmlns:a="http://schemas.openxmlformats.org/drawingml/2006/main">
              <a:ext uri="{FF2B5EF4-FFF2-40B4-BE49-F238E27FC236}">
                <a16:creationId xmlns:a16="http://schemas.microsoft.com/office/drawing/2014/main" id="{55F0B772-65D5-4D17-9A06-F72ECB52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783" y="3954022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7145E"/>
                </a:solidFill>
                <a:latin typeface="Arial"/>
                <a:ea typeface="Arial"/>
                <a:cs typeface="Arial"/>
              </a:defRPr>
            </a:pPr>
            <a:r>
              <a:rPr sz="2300" b="1">
                <a:solidFill>
                  <a:srgbClr val="07145E"/>
                </a:solidFill>
                <a:latin typeface="Arial"/>
                <a:ea typeface="Arial"/>
                <a:cs typeface="Arial"/>
              </a:rPr>
              <a:t>90,7%</a:t>
            </a:r>
            <a:endParaRPr sz="2300"/>
          </a:p>
        </p:txBody>
      </p:sp>
      <p:sp>
        <p:nvSpPr>
          <p:cNvPr id="37" name="Retângulo 36">
            <a:extLst xmlns:a="http://schemas.openxmlformats.org/drawingml/2006/main">
              <a:ext uri="{FF2B5EF4-FFF2-40B4-BE49-F238E27FC236}">
                <a16:creationId xmlns:a16="http://schemas.microsoft.com/office/drawing/2014/main" id="{E851410B-D4EA-4C41-A2F1-C790A00D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7929" y="4220264"/>
            <a:ext cx="1152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17324D"/>
                </a:solidFill>
                <a:latin typeface="Arial"/>
                <a:ea typeface="Arial"/>
                <a:cs typeface="Arial"/>
              </a:rPr>
              <a:t>Maior margem</a:t>
            </a:r>
          </a:p>
          <a:p xmlns:a="http://schemas.openxmlformats.org/drawingml/2006/main">
            <a:pPr algn="ctr">
              <a:buNone/>
              <a:defRPr sz="105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17324D"/>
                </a:solidFill>
                <a:latin typeface="Arial"/>
                <a:ea typeface="Arial"/>
                <a:cs typeface="Arial"/>
              </a:rPr>
              <a:t>operacional</a:t>
            </a:r>
          </a:p>
        </p:txBody>
      </p:sp>
      <p:sp>
        <p:nvSpPr>
          <p:cNvPr id="40" name="Retângulo 39">
            <a:extLst xmlns:a="http://schemas.openxmlformats.org/drawingml/2006/main">
              <a:ext uri="{FF2B5EF4-FFF2-40B4-BE49-F238E27FC236}">
                <a16:creationId xmlns:a16="http://schemas.microsoft.com/office/drawing/2014/main" id="{AD760B81-A022-4F65-AE66-A0880346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8772" y="3449083"/>
            <a:ext cx="2391922" cy="639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17324D"/>
                </a:solidFill>
                <a:latin typeface="Arial"/>
                <a:ea typeface="Arial"/>
                <a:cs typeface="Arial"/>
              </a:rPr>
              <a:t>Resultado operacional</a:t>
            </a:r>
          </a:p>
          <a:p xmlns:a="http://schemas.openxmlformats.org/drawingml/2006/main">
            <a:pPr algn="ctr">
              <a:buNone/>
              <a:defRPr sz="105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17324D"/>
                </a:solidFill>
                <a:latin typeface="Arial"/>
                <a:ea typeface="Arial"/>
                <a:cs typeface="Arial"/>
              </a:rPr>
              <a:t>no Ano 1</a:t>
            </a:r>
          </a:p>
        </p:txBody>
      </p:sp>
      <p:sp>
        <p:nvSpPr>
          <p:cNvPr id="41" name="Retângulo: Cantos Arredondados 40">
            <a:extLst xmlns:a="http://schemas.openxmlformats.org/drawingml/2006/main">
              <a:ext uri="{FF2B5EF4-FFF2-40B4-BE49-F238E27FC236}">
                <a16:creationId xmlns:a16="http://schemas.microsoft.com/office/drawing/2014/main" id="{077AA0AD-9100-4C6B-B2CC-C9B08787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341" y="2414530"/>
            <a:ext cx="2389186" cy="2490610"/>
          </a:xfrm>
          <a:prstGeom xmlns:a="http://schemas.openxmlformats.org/drawingml/2006/main" prst="roundRect">
            <a:avLst>
              <a:gd name="adj" fmla="val 5674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</a:ln>
        </p:spPr>
      </p:sp>
      <p:sp>
        <p:nvSpPr>
          <p:cNvPr id="42" name="Retângulo 41">
            <a:extLst xmlns:a="http://schemas.openxmlformats.org/drawingml/2006/main">
              <a:ext uri="{FF2B5EF4-FFF2-40B4-BE49-F238E27FC236}">
                <a16:creationId xmlns:a16="http://schemas.microsoft.com/office/drawing/2014/main" id="{B9978433-08E8-482B-A625-96F6C609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927" y="3164480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7145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145E"/>
                </a:solidFill>
                <a:latin typeface="Arial"/>
                <a:ea typeface="Arial"/>
                <a:cs typeface="Arial"/>
              </a:rPr>
              <a:t>54%</a:t>
            </a:r>
          </a:p>
        </p:txBody>
      </p:sp>
      <p:sp>
        <p:nvSpPr>
          <p:cNvPr id="43" name="Retângulo 42">
            <a:extLst xmlns:a="http://schemas.openxmlformats.org/drawingml/2006/main">
              <a:ext uri="{FF2B5EF4-FFF2-40B4-BE49-F238E27FC236}">
                <a16:creationId xmlns:a16="http://schemas.microsoft.com/office/drawing/2014/main" id="{26DA2059-4934-496B-9842-F4CBDE72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856" y="3375637"/>
            <a:ext cx="2245031" cy="713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324D"/>
                </a:solidFill>
                <a:latin typeface="Arial"/>
                <a:ea typeface="Arial"/>
                <a:cs typeface="Arial"/>
              </a:rPr>
              <a:t>Maior utilização da capacidade</a:t>
            </a:r>
          </a:p>
        </p:txBody>
      </p:sp>
      <p:sp>
        <p:nvSpPr>
          <p:cNvPr id="45" name="Retângulo 44">
            <a:extLst xmlns:a="http://schemas.openxmlformats.org/drawingml/2006/main">
              <a:ext uri="{FF2B5EF4-FFF2-40B4-BE49-F238E27FC236}">
                <a16:creationId xmlns:a16="http://schemas.microsoft.com/office/drawing/2014/main" id="{0CC4BCBE-DE80-4ECB-928F-45D5DF18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432" y="3954022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7145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145E"/>
                </a:solidFill>
                <a:latin typeface="Arial"/>
                <a:ea typeface="Arial"/>
                <a:cs typeface="Arial"/>
              </a:rPr>
              <a:t>Baixa</a:t>
            </a:r>
          </a:p>
        </p:txBody>
      </p:sp>
      <p:sp>
        <p:nvSpPr>
          <p:cNvPr id="46" name="Retângulo 45">
            <a:extLst xmlns:a="http://schemas.openxmlformats.org/drawingml/2006/main">
              <a:ext uri="{FF2B5EF4-FFF2-40B4-BE49-F238E27FC236}">
                <a16:creationId xmlns:a16="http://schemas.microsoft.com/office/drawing/2014/main" id="{C59F21A6-28DC-459D-A3C2-082F133F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6193" y="4247805"/>
            <a:ext cx="2401103" cy="658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324D"/>
                </a:solidFill>
                <a:latin typeface="Arial"/>
                <a:ea typeface="Arial"/>
                <a:cs typeface="Arial"/>
              </a:rPr>
              <a:t>Complexidade operacional</a:t>
            </a:r>
          </a:p>
        </p:txBody>
      </p:sp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7E8A80D2-FA49-DD0F-8BFC-DBE7593A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378" y="3150157"/>
            <a:ext cx="134245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230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24,5 mi</a:t>
            </a:r>
          </a:p>
        </p:txBody>
      </p:sp>
      <p:sp>
        <p:nvSpPr>
          <p:cNvPr id="18" name="Retângulo 17">
            <a:extLst xmlns:a="http://schemas.openxmlformats.org/drawingml/2006/main">
              <a:ext uri="{FF2B5EF4-FFF2-40B4-BE49-F238E27FC236}">
                <a16:creationId xmlns:a16="http://schemas.microsoft.com/office/drawing/2014/main" id="{1A49C6F5-BE82-8947-3BB1-A2EF116D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445" y="3971667"/>
            <a:ext cx="2079163" cy="172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tângulo 18">
            <a:extLst xmlns:a="http://schemas.openxmlformats.org/drawingml/2006/main">
              <a:ext uri="{FF2B5EF4-FFF2-40B4-BE49-F238E27FC236}">
                <a16:creationId xmlns:a16="http://schemas.microsoft.com/office/drawing/2014/main" id="{010E199E-18C1-B2E8-8441-0DF99A04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444" y="3172943"/>
            <a:ext cx="2079163" cy="172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CaixaDeTexto 19">
            <a:extLst xmlns:a="http://schemas.openxmlformats.org/drawingml/2006/main">
              <a:ext uri="{FF2B5EF4-FFF2-40B4-BE49-F238E27FC236}">
                <a16:creationId xmlns:a16="http://schemas.microsoft.com/office/drawing/2014/main" id="{3D2F9A18-4191-C591-8A80-6D2DEAC8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676" y="2872217"/>
            <a:ext cx="219239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002060"/>
                </a:solidFill>
                <a:latin typeface="Aptos ExtraBold"/>
                <a:ea typeface="Aptos ExtraBold"/>
                <a:cs typeface="Aptos ExtraBold"/>
              </a:rPr>
              <a:t>DESEMPENHO FINANCEIRO</a:t>
            </a:r>
            <a:endParaRPr sz="1200">
              <a:latin typeface="Aptos ExtraBold"/>
              <a:ea typeface="Aptos ExtraBold"/>
              <a:cs typeface="Aptos ExtraBold"/>
            </a:endParaRPr>
          </a:p>
        </p:txBody>
      </p:sp>
      <p:pic>
        <p:nvPicPr>
          <p:cNvPr id="80" name="Imagem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bb703a1894e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9865" y="2459515"/>
            <a:ext cx="369067" cy="414970"/>
          </a:xfrm>
          <a:prstGeom xmlns:a="http://schemas.openxmlformats.org/drawingml/2006/main" prst="rect">
            <a:avLst/>
          </a:prstGeom>
        </p:spPr>
      </p:pic>
      <p:sp>
        <p:nvSpPr>
          <p:cNvPr id="5" name="Retângulo 4">
            <a:extLst xmlns:a="http://schemas.openxmlformats.org/drawingml/2006/main">
              <a:ext uri="{FF2B5EF4-FFF2-40B4-BE49-F238E27FC236}">
                <a16:creationId xmlns:a16="http://schemas.microsoft.com/office/drawing/2014/main" id="{89861DF9-361E-7ADF-8A37-5764FDAB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756" y="3163761"/>
            <a:ext cx="2079163" cy="172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aixaDeTexto 8">
            <a:extLst xmlns:a="http://schemas.openxmlformats.org/drawingml/2006/main">
              <a:ext uri="{FF2B5EF4-FFF2-40B4-BE49-F238E27FC236}">
                <a16:creationId xmlns:a16="http://schemas.microsoft.com/office/drawing/2014/main" id="{EE89E6DF-1A9E-BDCA-8581-C9EA6024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534" y="2875996"/>
            <a:ext cx="199464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002060"/>
                </a:solidFill>
                <a:latin typeface="Aptos ExtraBold"/>
                <a:ea typeface="Aptos ExtraBold"/>
                <a:cs typeface="Aptos ExtraBold"/>
              </a:rPr>
              <a:t>ATRATIVIDADE</a:t>
            </a:r>
          </a:p>
        </p:txBody>
      </p:sp>
      <p:pic>
        <p:nvPicPr>
          <p:cNvPr id="83" name="Imagem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ec440c13341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08443" y="2413612"/>
            <a:ext cx="525137" cy="460874"/>
          </a:xfrm>
          <a:prstGeom xmlns:a="http://schemas.openxmlformats.org/drawingml/2006/main" prst="rect">
            <a:avLst/>
          </a:prstGeom>
        </p:spPr>
      </p:pic>
      <p:sp>
        <p:nvSpPr>
          <p:cNvPr id="13" name="Retângulo 12">
            <a:extLst xmlns:a="http://schemas.openxmlformats.org/drawingml/2006/main">
              <a:ext uri="{FF2B5EF4-FFF2-40B4-BE49-F238E27FC236}">
                <a16:creationId xmlns:a16="http://schemas.microsoft.com/office/drawing/2014/main" id="{6E481D11-FC06-D6E2-F9F8-A3191F3D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685" y="3182124"/>
            <a:ext cx="2079163" cy="172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tângulo 13">
            <a:extLst xmlns:a="http://schemas.openxmlformats.org/drawingml/2006/main">
              <a:ext uri="{FF2B5EF4-FFF2-40B4-BE49-F238E27FC236}">
                <a16:creationId xmlns:a16="http://schemas.microsoft.com/office/drawing/2014/main" id="{6D21E11E-82DC-B1FC-8603-95CF5402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684" y="3990027"/>
            <a:ext cx="2079163" cy="172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CaixaDeTexto 14">
            <a:extLst xmlns:a="http://schemas.openxmlformats.org/drawingml/2006/main">
              <a:ext uri="{FF2B5EF4-FFF2-40B4-BE49-F238E27FC236}">
                <a16:creationId xmlns:a16="http://schemas.microsoft.com/office/drawing/2014/main" id="{A9603945-1E48-268B-EF5C-DD594613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597" y="2878157"/>
            <a:ext cx="269535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002060"/>
                </a:solidFill>
                <a:latin typeface="Aptos ExtraBold"/>
                <a:ea typeface="Aptos ExtraBold"/>
                <a:cs typeface="Aptos ExtraBold"/>
              </a:rPr>
              <a:t>VIABILIDADE OPERACIONAL</a:t>
            </a:r>
          </a:p>
        </p:txBody>
      </p:sp>
      <p:pic>
        <p:nvPicPr>
          <p:cNvPr id="87" name="Imagem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bad59600644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22106" y="2459515"/>
            <a:ext cx="515957" cy="414970"/>
          </a:xfrm>
          <a:prstGeom xmlns:a="http://schemas.openxmlformats.org/drawingml/2006/main" prst="rect">
            <a:avLst/>
          </a:prstGeom>
        </p:spPr>
      </p:pic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32E0590-6358-B98F-CB35-D7624B02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45" y="2249199"/>
            <a:ext cx="2540000" cy="18158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  <a:t>O Centro Histórico sacrifica</a:t>
            </a:r>
            <a:r>
              <a:rPr sz="1400" b="1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  <a:t> apenas parte do resultado absoluto para capturar a maior margem, operar com 1000 posições e iniciar sem o investimento inicial dos bancos de armários</a:t>
            </a: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6D56FDE-AC4B-B134-CA52-92B9D2DE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94" y="853734"/>
            <a:ext cx="8882616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Recomendação: lançar no Centro Histórico com pontos parceiros</a:t>
            </a:r>
          </a:p>
        </p:txBody>
      </p:sp>
    </p:spTree>
    <p:extLst>
      <p:ext uri="{BB962C8B-B14F-4D97-AF65-F5344CB8AC3E}">
        <p14:creationId xmlns:p14="http://schemas.microsoft.com/office/powerpoint/2010/main" val="37684394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AA2DE0FC-EE16-46C8-A987-B43C2589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4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FA285FA-7CE2-49B5-9AB6-0A750323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77B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7B6"/>
                </a:solidFill>
                <a:latin typeface="Arial"/>
                <a:ea typeface="Arial"/>
                <a:cs typeface="Arial"/>
              </a:rPr>
              <a:t>SCORE DE DECISÃO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7BFD1AF-CB1B-4A62-B638-00379DE7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3045E"/>
                </a:solidFill>
                <a:latin typeface="Arial"/>
                <a:ea typeface="Arial"/>
                <a:cs typeface="Arial"/>
              </a:rPr>
              <a:t>Centro + parceiros lidera o score do Ano 1 com 4,66 de nota se tornando a melhor escolha para o investimento inicial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2D6E360-598A-4E70-A3DA-EC22E021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58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B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1" name="Picture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cb330247c4b56"/>
          <a:stretch xmlns:a="http://schemas.openxmlformats.org/drawingml/2006/main"/>
        </p:blipFill>
        <p:spPr>
          <a:xfrm xmlns:a="http://schemas.openxmlformats.org/drawingml/2006/main">
            <a:off x="10915650" y="299062"/>
            <a:ext cx="552450" cy="525826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83D9855-4DD5-4411-A929-76745BC4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28EAC07-60D6-46A2-A92E-6BBCF56B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5718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57189"/>
                </a:solidFill>
                <a:latin typeface="Arial"/>
                <a:ea typeface="Arial"/>
                <a:cs typeface="Arial"/>
              </a:rPr>
              <a:t>BagHub | Estratégia de lançamento em Porto Claro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8B0D106-8B7E-46E7-BE1E-14AA1F79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98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71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7189"/>
                </a:solidFill>
                <a:latin typeface="Arial"/>
                <a:ea typeface="Arial"/>
                <a:cs typeface="Arial"/>
              </a:rPr>
              <a:t>Score ponderado do Ano 1 (escala de 1 a 5)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0AA89C6-CB5A-49B7-901E-2FE011A0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3045E"/>
                </a:solidFill>
                <a:latin typeface="Arial"/>
                <a:ea typeface="Arial"/>
                <a:cs typeface="Arial"/>
              </a:rPr>
              <a:t>Centro Histórico · parceiros</a:t>
            </a:r>
            <a:endParaRPr sz="1000" b="1">
              <a:solidFill>
                <a:srgbClr val="0304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A1094FF6-CA0C-473E-A827-F4D177F0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61912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D97C5EFD-1088-43E1-9AC4-E68C57E7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5770245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28E3052-626F-4A17-AFD7-7DB0D159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716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77B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7B6"/>
                </a:solidFill>
                <a:latin typeface="Arial"/>
                <a:ea typeface="Arial"/>
                <a:cs typeface="Arial"/>
              </a:rPr>
              <a:t>4,66</a:t>
            </a:r>
            <a:endParaRPr/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D90F65ED-6A85-42B2-B51B-06F516F4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752600"/>
            <a:ext cx="990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CAF0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382321A-F572-4810-9B26-DC67DF2A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8097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636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23E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23E8A"/>
                </a:solidFill>
                <a:latin typeface="Arial"/>
                <a:ea typeface="Arial"/>
                <a:cs typeface="Arial"/>
              </a:rPr>
              <a:t>ESCOLHA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7490AB1-821E-442F-94DF-82CE3FC5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Centro Histórico · </a:t>
            </a: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armários</a:t>
            </a:r>
            <a:endParaRPr sz="1000" b="0">
              <a:solidFill>
                <a:srgbClr val="102A4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77439375-9483-408E-AAA2-246C3EEC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95525"/>
            <a:ext cx="61912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CEC7C801-D35A-410B-9A5B-5C10B7B5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95525"/>
            <a:ext cx="5652611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0173FA2-190F-4639-9974-C19437CC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5742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3045E"/>
                </a:solidFill>
                <a:latin typeface="Arial"/>
                <a:ea typeface="Arial"/>
                <a:cs typeface="Arial"/>
              </a:rPr>
              <a:t>4,57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39574F33-1590-4133-B395-E0D839B8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Estação</a:t>
            </a: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Central · </a:t>
            </a: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parceiros</a:t>
            </a:r>
            <a:endParaRPr sz="1000" b="0">
              <a:solidFill>
                <a:srgbClr val="102A4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2045CF13-D4F9-479E-943A-2B71DA88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81300"/>
            <a:ext cx="61912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6F7C8BD8-E3EE-45DB-B63F-43F57648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81300"/>
            <a:ext cx="4767263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1AAC30E-CE14-4BB0-8565-306E53C1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432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3045E"/>
                </a:solidFill>
                <a:latin typeface="Arial"/>
                <a:ea typeface="Arial"/>
                <a:cs typeface="Arial"/>
              </a:rPr>
              <a:t>3,85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AE94621-B4BF-4151-9F69-13289641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Estação</a:t>
            </a: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Central · </a:t>
            </a: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armários</a:t>
            </a:r>
            <a:endParaRPr sz="1000" b="0">
              <a:solidFill>
                <a:srgbClr val="102A4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590EEBD4-584D-4B27-9B00-76A80551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67075"/>
            <a:ext cx="61912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ectangle: Rounded Corners 24">
            <a:extLst xmlns:a="http://schemas.openxmlformats.org/drawingml/2006/main">
              <a:ext uri="{FF2B5EF4-FFF2-40B4-BE49-F238E27FC236}">
                <a16:creationId xmlns:a16="http://schemas.microsoft.com/office/drawing/2014/main" id="{D6516B42-C2D4-437C-B962-9D297A5A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67075"/>
            <a:ext cx="4089321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1D7D896-6B79-4EEF-972E-24398F12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289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3045E"/>
                </a:solidFill>
                <a:latin typeface="Arial"/>
                <a:ea typeface="Arial"/>
                <a:cs typeface="Arial"/>
              </a:rPr>
              <a:t>3,30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8DBAD0DA-9023-4BC1-B7D4-62906405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Arena · </a:t>
            </a: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parceiros</a:t>
            </a:r>
            <a:endParaRPr sz="1000" b="0">
              <a:solidFill>
                <a:srgbClr val="102A4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98187CFA-5B0E-49F1-AB69-4B5BF89B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52850"/>
            <a:ext cx="61912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: Rounded Corners 28">
            <a:extLst xmlns:a="http://schemas.openxmlformats.org/drawingml/2006/main">
              <a:ext uri="{FF2B5EF4-FFF2-40B4-BE49-F238E27FC236}">
                <a16:creationId xmlns:a16="http://schemas.microsoft.com/office/drawing/2014/main" id="{B1D89BEB-9845-44DA-961D-69EB2681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52850"/>
            <a:ext cx="3315414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C2E94B3-D923-4E24-A8DD-FC8205EE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7147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3045E"/>
                </a:solidFill>
                <a:latin typeface="Arial"/>
                <a:ea typeface="Arial"/>
                <a:cs typeface="Arial"/>
              </a:rPr>
              <a:t>2,68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692BE34-7050-44B1-B94F-F625B1A7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Arena · </a:t>
            </a: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armários</a:t>
            </a:r>
            <a:endParaRPr sz="1000" b="0">
              <a:solidFill>
                <a:srgbClr val="102A4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37B2CF10-33FC-4411-9A94-7FAF5173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38625"/>
            <a:ext cx="61912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Rectangle: Rounded Corners 32">
            <a:extLst xmlns:a="http://schemas.openxmlformats.org/drawingml/2006/main">
              <a:ext uri="{FF2B5EF4-FFF2-40B4-BE49-F238E27FC236}">
                <a16:creationId xmlns:a16="http://schemas.microsoft.com/office/drawing/2014/main" id="{2A6CF6CF-292F-4AAA-851C-3557A339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38625"/>
            <a:ext cx="2786063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2DCBCBB0-6DC7-4309-8C57-7A58C584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0052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3045E"/>
                </a:solidFill>
                <a:latin typeface="Arial"/>
                <a:ea typeface="Arial"/>
                <a:cs typeface="Arial"/>
              </a:rPr>
              <a:t>2,25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CBAD9F0F-A0A3-41F3-A4A8-49AF3F6B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Noite Alta · </a:t>
            </a: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parceiros</a:t>
            </a:r>
            <a:endParaRPr sz="1000" b="0">
              <a:solidFill>
                <a:srgbClr val="102A4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Rectangle: Rounded Corners 35">
            <a:extLst xmlns:a="http://schemas.openxmlformats.org/drawingml/2006/main">
              <a:ext uri="{FF2B5EF4-FFF2-40B4-BE49-F238E27FC236}">
                <a16:creationId xmlns:a16="http://schemas.microsoft.com/office/drawing/2014/main" id="{DA58E369-25B8-44CA-8769-2547A25D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61912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Rectangle: Rounded Corners 36">
            <a:extLst xmlns:a="http://schemas.openxmlformats.org/drawingml/2006/main">
              <a:ext uri="{FF2B5EF4-FFF2-40B4-BE49-F238E27FC236}">
                <a16:creationId xmlns:a16="http://schemas.microsoft.com/office/drawing/2014/main" id="{D8F2AD0F-EFDF-46D5-A42C-90F95FF0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2207181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EFD62B5E-89A5-4376-BB84-CB07F07B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863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3045E"/>
                </a:solidFill>
                <a:latin typeface="Arial"/>
                <a:ea typeface="Arial"/>
                <a:cs typeface="Arial"/>
              </a:rPr>
              <a:t>1,78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13513AF4-C962-4BA1-B20C-089CC822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Noite Alta · </a:t>
            </a: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armários</a:t>
            </a:r>
            <a:endParaRPr sz="1000" b="0">
              <a:solidFill>
                <a:srgbClr val="102A4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Rectangle: Rounded Corners 39">
            <a:extLst xmlns:a="http://schemas.openxmlformats.org/drawingml/2006/main">
              <a:ext uri="{FF2B5EF4-FFF2-40B4-BE49-F238E27FC236}">
                <a16:creationId xmlns:a16="http://schemas.microsoft.com/office/drawing/2014/main" id="{E44E16B9-9BCE-4689-87EE-0C1E8D1D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10175"/>
            <a:ext cx="61912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Rectangle: Rounded Corners 40">
            <a:extLst xmlns:a="http://schemas.openxmlformats.org/drawingml/2006/main">
              <a:ext uri="{FF2B5EF4-FFF2-40B4-BE49-F238E27FC236}">
                <a16:creationId xmlns:a16="http://schemas.microsoft.com/office/drawing/2014/main" id="{FBFE7412-A696-4F54-8F7A-088BB1EA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10175"/>
            <a:ext cx="2151459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17B2AA27-441C-4387-BB12-DD382F55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720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3045E"/>
                </a:solidFill>
                <a:latin typeface="Arial"/>
                <a:ea typeface="Arial"/>
                <a:cs typeface="Arial"/>
              </a:rPr>
              <a:t>1,74</a:t>
            </a:r>
          </a:p>
        </p:txBody>
      </p:sp>
      <p:sp>
        <p:nvSpPr>
          <p:cNvPr id="43" name="Rectangle: Rounded Corners 42">
            <a:extLst xmlns:a="http://schemas.openxmlformats.org/drawingml/2006/main">
              <a:ext uri="{FF2B5EF4-FFF2-40B4-BE49-F238E27FC236}">
                <a16:creationId xmlns:a16="http://schemas.microsoft.com/office/drawing/2014/main" id="{EE660725-74A4-4D16-9B7C-4ACB8BBB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668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304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0B7ABCAF-DCDD-43D9-9DB2-EB567524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16" y="5858564"/>
            <a:ext cx="1034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Pesos: margem 35% · resultado 25% · utilização 15% · complexidade 15% · regularidade 10%</a:t>
            </a:r>
          </a:p>
        </p:txBody>
      </p:sp>
    </p:spTree>
    <p:extLst>
      <p:ext uri="{BB962C8B-B14F-4D97-AF65-F5344CB8AC3E}">
        <p14:creationId xmlns:p14="http://schemas.microsoft.com/office/powerpoint/2010/main" val="20312507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2A059A4-96A7-4DAE-8063-DF0A6254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4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14A1A2-6CB7-4395-9719-E760B620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77B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7B6"/>
                </a:solidFill>
                <a:latin typeface="Arial"/>
                <a:ea typeface="Arial"/>
                <a:cs typeface="Arial"/>
              </a:rPr>
              <a:t>COMPARAÇÃO FINANCEIRA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6B030D5-FAD8-41F3-B593-1CFB97D6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688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3045E"/>
                </a:solidFill>
                <a:latin typeface="Arial"/>
                <a:ea typeface="Arial"/>
                <a:cs typeface="Arial"/>
              </a:rPr>
              <a:t>Centro lidera a margem no Ano 1, apesar de abrir mão de R$ 3,34 mi em resultado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57EB9BB-648F-4B28-B29D-25EEB347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58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B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c61c1795a447b"/>
          <a:stretch xmlns:a="http://schemas.openxmlformats.org/drawingml/2006/main"/>
        </p:blipFill>
        <p:spPr>
          <a:xfrm xmlns:a="http://schemas.openxmlformats.org/drawingml/2006/main">
            <a:off x="10915650" y="289160"/>
            <a:ext cx="552450" cy="54563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0A459E2-D259-436D-9E46-7A2DCC75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BFC24FF-8E91-49B4-B981-9D442E35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5718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57189"/>
                </a:solidFill>
                <a:latin typeface="Arial"/>
                <a:ea typeface="Arial"/>
                <a:cs typeface="Arial"/>
              </a:rPr>
              <a:t>BagHub | Estratégia de lançamento em Porto Claro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5D5926D-1755-43C2-B3E2-E58157A4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98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71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7189"/>
                </a:solidFill>
                <a:latin typeface="Arial"/>
                <a:ea typeface="Arial"/>
                <a:cs typeface="Arial"/>
              </a:rPr>
              <a:t>Resultado operacional do Ano 1 (R$ mi)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7C41570-F099-408F-8529-3C1EA542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097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98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71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7189"/>
                </a:solidFill>
                <a:latin typeface="Arial"/>
                <a:ea typeface="Arial"/>
                <a:cs typeface="Arial"/>
              </a:rPr>
              <a:t>Margem operacional do Ano 1 (%)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642DB7F4-B4CD-4DD3-8010-C3351EF8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591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9525">
            <a:solidFill>
              <a:srgbClr val="00B4D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FF445E2-5948-4A52-BB88-F4495F70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1024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rmAutofit fontScale="9189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  <a:t>Leitura: Estação + parceiros lidera o resultado (R$ 27,84 mi), enquanto Centro + parceiros lidera a margem (90,7%) — critério prioritário do lançamento.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514350" y="1695450"/>
          <a:ext xmlns:a="http://schemas.openxmlformats.org/drawingml/2006/main" cx="5429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174fcda0f145f3"/>
          </a:graphicData>
        </a:graphic>
      </p:graphicFrame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229350" y="1695450"/>
          <a:ext xmlns:a="http://schemas.openxmlformats.org/drawingml/2006/main" cx="5429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6f1a0222bb4a9b"/>
          </a:graphicData>
        </a:graphic>
      </p:graphicFrame>
    </p:spTree>
    <p:extLst>
      <p:ext uri="{BB962C8B-B14F-4D97-AF65-F5344CB8AC3E}">
        <p14:creationId xmlns:p14="http://schemas.microsoft.com/office/powerpoint/2010/main" val="1584490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3ECF59F-BBF0-6393-D911-31ADBB68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413" y="5157042"/>
            <a:ext cx="11250746" cy="108608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98D25D6-24E7-4F8A-B3B9-12FAC651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4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F67B4AF-20AD-4792-8C06-5562D16A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77B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7B6"/>
                </a:solidFill>
                <a:latin typeface="Arial"/>
                <a:ea typeface="Arial"/>
                <a:cs typeface="Arial"/>
              </a:rPr>
              <a:t>ESCOLHA DO BAIRRO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61BB53F-2DB2-4977-B8ED-80B0E454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3045E"/>
                </a:solidFill>
                <a:latin typeface="Arial"/>
                <a:ea typeface="Arial"/>
                <a:cs typeface="Arial"/>
              </a:rPr>
              <a:t>Centro Histórico reúne a maior utilização e a menor complexidade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6672E83-7652-4A9C-B6E5-BC0ED048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58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B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4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cb9fa702d4e85"/>
          <a:stretch xmlns:a="http://schemas.openxmlformats.org/drawingml/2006/main"/>
        </p:blipFill>
        <p:spPr>
          <a:xfrm xmlns:a="http://schemas.openxmlformats.org/drawingml/2006/main">
            <a:off x="10915650" y="383580"/>
            <a:ext cx="552450" cy="356791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C78F40E-80FE-4AAE-AF0F-13756961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33E6953-D6EC-47DE-9A1F-20C1CF16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5718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57189"/>
                </a:solidFill>
                <a:latin typeface="Arial"/>
                <a:ea typeface="Arial"/>
                <a:cs typeface="Arial"/>
              </a:rPr>
              <a:t>BagHub | Estratégia de lançamento em Porto Claro</a:t>
            </a:r>
          </a:p>
        </p:txBody>
      </p:sp>
      <p:graphicFrame>
        <p:nvGraphicFramePr>
          <p:cNvPr id="27" name="Table 22"/>
          <p:cNvGraphicFramePr/>
          <p:nvPr/>
        </p:nvGraphicFramePr>
        <p:xfrm>
          <a:off xmlns:a="http://schemas.openxmlformats.org/drawingml/2006/main" x="457200" y="1524000"/>
          <a:ext xmlns:a="http://schemas.openxmlformats.org/drawingml/2006/main" cx="112585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619250"/>
                <a:gridCol w="1238250"/>
                <a:gridCol w="1238250"/>
                <a:gridCol w="1524000"/>
                <a:gridCol w="3638550"/>
              </a:tblGrid>
              <a:tr h="571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Bairro</a:t>
                      </a:r>
                    </a:p>
                  </a:txBody>
                  <a:tcPr marL="91440" marR="91440" marT="45720" marB="45720">
                    <a:lnL w="0">
                      <a:noFill/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0">
                      <a:noFill/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Transações / semana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0">
                      <a:noFill/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Posições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0">
                      <a:noFill/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Utilização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0">
                      <a:noFill/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Complexidade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0">
                      <a:noFill/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Leitura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7145E"/>
                          </a:solidFill>
                          <a:latin typeface="Arial"/>
                          <a:ea typeface="Arial"/>
                          <a:cs typeface="Arial"/>
                        </a:rPr>
                        <a:t>Centro Histórico</a:t>
                      </a:r>
                    </a:p>
                  </a:txBody>
                  <a:tcPr marL="91440" marR="91440" marT="45720" marB="45720">
                    <a:lnL w="0">
                      <a:noFill/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7145E"/>
                          </a:solidFill>
                          <a:latin typeface="Arial"/>
                          <a:ea typeface="Arial"/>
                          <a:cs typeface="Arial"/>
                        </a:rPr>
                        <a:t>18.000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7145E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7145E"/>
                          </a:solidFill>
                          <a:latin typeface="Arial"/>
                          <a:ea typeface="Arial"/>
                          <a:cs typeface="Arial"/>
                        </a:rPr>
                        <a:t>54%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7145E"/>
                          </a:solidFill>
                          <a:latin typeface="Arial"/>
                          <a:ea typeface="Arial"/>
                          <a:cs typeface="Arial"/>
                        </a:rPr>
                        <a:t>Baixa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7145E"/>
                          </a:solidFill>
                          <a:latin typeface="Arial"/>
                          <a:ea typeface="Arial"/>
                          <a:cs typeface="Arial"/>
                        </a:rPr>
                        <a:t>Melhor eficiência da alternativa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0">
                      <a:noFill/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  <a:solidFill>
                      <a:srgbClr val="DCEA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Estação Central</a:t>
                      </a:r>
                    </a:p>
                  </a:txBody>
                  <a:tcPr marL="91440" marR="91440" marT="45720" marB="45720">
                    <a:lnL w="0">
                      <a:noFill/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24.000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2.400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42%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Moderada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Maior escala e demanda regular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0">
                      <a:noFill/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Arena</a:t>
                      </a:r>
                    </a:p>
                  </a:txBody>
                  <a:tcPr marL="91440" marR="91440" marT="45720" marB="45720">
                    <a:lnL w="0">
                      <a:noFill/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12.000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900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31%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Moderada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Picos em eventos e ociosidade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0">
                      <a:noFill/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Noite Alta</a:t>
                      </a:r>
                    </a:p>
                  </a:txBody>
                  <a:tcPr marL="91440" marR="91440" marT="45720" marB="45720">
                    <a:lnL w="0">
                      <a:noFill/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0">
                      <a:noFill/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20.000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0">
                      <a:noFill/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1.800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0">
                      <a:noFill/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33%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0">
                      <a:noFill/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Alta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0">
                      <a:noFill/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 u="none">
                          <a:solidFill>
                            <a:srgbClr val="17324D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</a:rPr>
                        <a:t>Boa escala, porém complexidade alta com taxa de utilização baixa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0">
                      <a:noFill/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0">
                      <a:noFill/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007E88B-1214-4A28-9430-FF556E73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16" y="5353509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Por que o Centro Histórico avança?</a:t>
            </a:r>
            <a:endParaRPr sz="14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414BD9C-A18C-4590-9A58-58A2E98F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52132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rmAutofit fontScale="8823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</a:t>
            </a: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demanda turística</a:t>
            </a: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se distribui </a:t>
            </a: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ao longo do dia</a:t>
            </a:r>
            <a:endParaRPr sz="1200" b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BDED91B6-BC6E-4C66-9B7D-43CA8759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46436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93F5267-454B-4016-899F-F3B39342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91729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rmAutofit fontScale="8823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</a:t>
            </a: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baixa complexidade</a:t>
            </a: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reduz a </a:t>
            </a: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exposição operacional</a:t>
            </a: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do lançamento</a:t>
            </a:r>
            <a:endParaRPr sz="1200" b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8523EB32-C59F-4E8A-8D7C-9ECC0EEE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96724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C959C26-C791-4837-97D1-98CFC4AF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21931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rmAutofit fontScale="8823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 </a:t>
            </a: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1.000 posições</a:t>
            </a: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o bairro alcança </a:t>
            </a: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54% de utilização</a:t>
            </a:r>
            <a:endParaRPr sz="1200" b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6B17DB6E-C12D-45C7-A4A5-3B70FE5C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9744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7862274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65F520A-4696-4ED9-842E-0F7FB3B4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4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576FF96-966C-45D3-A408-3CCD9776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77B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7B6"/>
                </a:solidFill>
                <a:latin typeface="Arial"/>
                <a:ea typeface="Arial"/>
                <a:cs typeface="Arial"/>
              </a:rPr>
              <a:t>ESCOLHA DO MODELO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961368B-6739-43BF-A678-682CA1F7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No Centro, p</a:t>
            </a:r>
            <a:r>
              <a:rPr sz="2250" b="1">
                <a:solidFill>
                  <a:srgbClr val="03045E"/>
                </a:solidFill>
                <a:latin typeface="Arial"/>
                <a:ea typeface="Arial"/>
                <a:cs typeface="Arial"/>
              </a:rPr>
              <a:t>arceiros elevam margem e resultado já no primeiro ano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8C2CDA9-AC6E-4C03-B3D9-11847D3B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58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B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4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707e934ed40e6"/>
          <a:stretch xmlns:a="http://schemas.openxmlformats.org/drawingml/2006/main"/>
        </p:blipFill>
        <p:spPr>
          <a:xfrm xmlns:a="http://schemas.openxmlformats.org/drawingml/2006/main">
            <a:off x="10915650" y="289160"/>
            <a:ext cx="552450" cy="54563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C58FE20-E0D1-4E37-A099-E2C966D1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B6AF837-FF4D-4941-90B9-9EB1787D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5718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57189"/>
                </a:solidFill>
                <a:latin typeface="Arial"/>
                <a:ea typeface="Arial"/>
                <a:cs typeface="Arial"/>
              </a:rPr>
              <a:t>BagHub | Estratégia de lançamento em Porto Claro</a:t>
            </a:r>
          </a:p>
        </p:txBody>
      </p:sp>
      <p:graphicFrame>
        <p:nvGraphicFramePr>
          <p:cNvPr id="27" name="Table 18"/>
          <p:cNvGraphicFramePr/>
          <p:nvPr/>
        </p:nvGraphicFramePr>
        <p:xfrm>
          <a:off xmlns:a="http://schemas.openxmlformats.org/drawingml/2006/main" x="5479542" y="1517885"/>
          <a:ext xmlns:a="http://schemas.openxmlformats.org/drawingml/2006/main" cx="6334506" cy="315277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7813"/>
                <a:gridCol w="1300836"/>
                <a:gridCol w="1413952"/>
                <a:gridCol w="1611905"/>
              </a:tblGrid>
              <a:tr h="740820"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Indicador — Centro Histórico</a:t>
                      </a:r>
                    </a:p>
                  </a:txBody>
                  <a:tcPr marL="91440" marR="91440" marT="45720" marB="45720">
                    <a:lnL w="0">
                      <a:noFill/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0">
                      <a:noFill/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Armários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0">
                      <a:noFill/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Pontos parceiros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0">
                      <a:noFill/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Vantagem do escolhido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</a:tcPr>
                </a:tc>
              </a:tr>
              <a:tr h="602989"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Custo no Ano 1</a:t>
                      </a:r>
                    </a:p>
                  </a:txBody>
                  <a:tcPr marL="91440" marR="91440" marT="45720" marB="45720">
                    <a:lnL w="0">
                      <a:noFill/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R$ 3,85 mi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R$ 2,50 mi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R$ 1,35 mi menor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0">
                      <a:noFill/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</a:tcPr>
                </a:tc>
              </a:tr>
              <a:tr h="602989"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Resultado operacional</a:t>
                      </a:r>
                    </a:p>
                  </a:txBody>
                  <a:tcPr marL="91440" marR="91440" marT="45720" marB="45720">
                    <a:lnL w="0">
                      <a:noFill/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R$ 23,15 mi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R$ 24,50 mi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R$ 1,35 mi maior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0">
                      <a:noFill/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</a:tcPr>
                </a:tc>
              </a:tr>
              <a:tr h="602989"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Margem operacional</a:t>
                      </a:r>
                    </a:p>
                  </a:txBody>
                  <a:tcPr marL="91440" marR="91440" marT="45720" marB="45720">
                    <a:lnL w="0">
                      <a:noFill/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85,7%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90,7%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+5,0 p.p.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0">
                      <a:noFill/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7144">
                      <a:solidFill>
                        <a:srgbClr val="C8D0D8"/>
                      </a:solidFill>
                      <a:prstDash val="solid"/>
                    </a:lnB>
                  </a:tcPr>
                </a:tc>
              </a:tr>
              <a:tr h="602989"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Score</a:t>
                      </a:r>
                    </a:p>
                  </a:txBody>
                  <a:tcPr marL="91440" marR="91440" marT="45720" marB="45720">
                    <a:lnL w="0">
                      <a:noFill/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0">
                      <a:noFill/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4,56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0">
                      <a:noFill/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4,66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7144">
                      <a:solidFill>
                        <a:srgbClr val="C8D0D8"/>
                      </a:solidFill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0">
                      <a:noFill/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+0,1</a:t>
                      </a:r>
                    </a:p>
                  </a:txBody>
                  <a:tcPr marL="91440" marR="91440" marT="45720" marB="45720">
                    <a:lnL w="7144" cmpd="sng">
                      <a:solidFill>
                        <a:srgbClr val="C8D0D8"/>
                      </a:solidFill>
                      <a:prstDash val="solid"/>
                    </a:lnL>
                    <a:lnR w="0">
                      <a:noFill/>
                      <a:prstDash val="solid"/>
                    </a:lnR>
                    <a:lnT w="7144" cmpd="sng">
                      <a:solidFill>
                        <a:srgbClr val="C8D0D8"/>
                      </a:solidFill>
                      <a:prstDash val="solid"/>
                    </a:lnT>
                    <a:lnB w="0">
                      <a:noFill/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54589D7F-7680-4535-8D3B-1C21BD10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" y="5406390"/>
            <a:ext cx="105346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D38F4E3-9F67-4F27-AFB1-F1A8F4A0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60" y="561594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93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90E0E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90E0EF"/>
                </a:solidFill>
                <a:latin typeface="Arial"/>
                <a:ea typeface="Arial"/>
                <a:cs typeface="Arial"/>
              </a:rPr>
              <a:t>Por que parceiros agora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5B0CBCF-58AD-47B1-9310-4F32D07B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012" y="5557413"/>
            <a:ext cx="769000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O modelo evita R$ 1,75 mi em bancos no Centro e entrega o melhor desempenho financeiro no Ano 1. O custo dos armários só se torna mais favorável nos anos seguintes.</a:t>
            </a:r>
            <a:endParaRPr sz="1200"/>
          </a:p>
        </p:txBody>
      </p:sp>
      <p:sp>
        <p:nvSpPr>
          <p:cNvPr id="15" name="Retângulo: Cantos Arredondados 14">
            <a:extLst xmlns:a="http://schemas.openxmlformats.org/drawingml/2006/main">
              <a:ext uri="{FF2B5EF4-FFF2-40B4-BE49-F238E27FC236}">
                <a16:creationId xmlns:a16="http://schemas.microsoft.com/office/drawing/2014/main" id="{7D55FFAD-0632-4EF9-9667-0795A497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" y="1516380"/>
            <a:ext cx="4065270" cy="3695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07145E"/>
          </a:solidFill>
          <a:ln xmlns:a="http://schemas.openxmlformats.org/drawingml/2006/main" w="0">
            <a:noFill/>
          </a:ln>
        </p:spPr>
      </p:sp>
      <p:sp>
        <p:nvSpPr>
          <p:cNvPr id="16" name="Retângulo 15">
            <a:extLst xmlns:a="http://schemas.openxmlformats.org/drawingml/2006/main">
              <a:ext uri="{FF2B5EF4-FFF2-40B4-BE49-F238E27FC236}">
                <a16:creationId xmlns:a16="http://schemas.microsoft.com/office/drawing/2014/main" id="{F549C469-C9F0-49BC-A1B6-69A4206F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" y="1642110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Como o score é formado</a:t>
            </a:r>
          </a:p>
        </p:txBody>
      </p:sp>
      <p:sp>
        <p:nvSpPr>
          <p:cNvPr id="17" name="Retângulo 16">
            <a:extLst xmlns:a="http://schemas.openxmlformats.org/drawingml/2006/main">
              <a:ext uri="{FF2B5EF4-FFF2-40B4-BE49-F238E27FC236}">
                <a16:creationId xmlns:a16="http://schemas.microsoft.com/office/drawing/2014/main" id="{BF05DD26-0615-484D-AF8E-F16546FD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" y="2273300"/>
            <a:ext cx="338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FFFFF"/>
                </a:solidFill>
              </a:rPr>
              <a:t>O score </a:t>
            </a:r>
            <a:r>
              <a:rPr sz="1050">
                <a:solidFill>
                  <a:srgbClr val="FFFFFF"/>
                </a:solidFill>
              </a:rPr>
              <a:t>foi</a:t>
            </a:r>
            <a:r>
              <a:rPr sz="1050">
                <a:solidFill>
                  <a:srgbClr val="FFFFFF"/>
                </a:solidFill>
              </a:rPr>
              <a:t> </a:t>
            </a:r>
            <a:r>
              <a:rPr sz="1050">
                <a:solidFill>
                  <a:srgbClr val="FFFFFF"/>
                </a:solidFill>
              </a:rPr>
              <a:t>desenvolvido</a:t>
            </a:r>
            <a:r>
              <a:rPr sz="1050">
                <a:solidFill>
                  <a:srgbClr val="FFFFFF"/>
                </a:solidFill>
              </a:rPr>
              <a:t> para </a:t>
            </a:r>
            <a:r>
              <a:rPr sz="1050">
                <a:solidFill>
                  <a:srgbClr val="FFFFFF"/>
                </a:solidFill>
              </a:rPr>
              <a:t>comparar</a:t>
            </a:r>
            <a:r>
              <a:rPr sz="1050">
                <a:solidFill>
                  <a:srgbClr val="FFFFFF"/>
                </a:solidFill>
              </a:rPr>
              <a:t>, de forma </a:t>
            </a:r>
            <a:r>
              <a:rPr sz="1050">
                <a:solidFill>
                  <a:srgbClr val="FFFFFF"/>
                </a:solidFill>
              </a:rPr>
              <a:t>objetiva</a:t>
            </a:r>
            <a:r>
              <a:rPr sz="1050">
                <a:solidFill>
                  <a:srgbClr val="FFFFFF"/>
                </a:solidFill>
              </a:rPr>
              <a:t>, as </a:t>
            </a:r>
            <a:r>
              <a:rPr sz="1050">
                <a:solidFill>
                  <a:srgbClr val="FFFFFF"/>
                </a:solidFill>
              </a:rPr>
              <a:t>oito</a:t>
            </a:r>
            <a:r>
              <a:rPr sz="1050">
                <a:solidFill>
                  <a:srgbClr val="FFFFFF"/>
                </a:solidFill>
              </a:rPr>
              <a:t> </a:t>
            </a:r>
            <a:r>
              <a:rPr sz="1050">
                <a:solidFill>
                  <a:srgbClr val="FFFFFF"/>
                </a:solidFill>
              </a:rPr>
              <a:t>combinações</a:t>
            </a:r>
            <a:r>
              <a:rPr sz="1050">
                <a:solidFill>
                  <a:srgbClr val="FFFFFF"/>
                </a:solidFill>
              </a:rPr>
              <a:t> de bairros e </a:t>
            </a:r>
            <a:r>
              <a:rPr sz="1050">
                <a:solidFill>
                  <a:srgbClr val="FFFFFF"/>
                </a:solidFill>
              </a:rPr>
              <a:t>modelos</a:t>
            </a:r>
            <a:r>
              <a:rPr sz="1050">
                <a:solidFill>
                  <a:srgbClr val="FFFFFF"/>
                </a:solidFill>
              </a:rPr>
              <a:t> de </a:t>
            </a:r>
            <a:r>
              <a:rPr sz="1050">
                <a:solidFill>
                  <a:srgbClr val="FFFFFF"/>
                </a:solidFill>
              </a:rPr>
              <a:t>operação</a:t>
            </a:r>
            <a:r>
              <a:rPr sz="1050">
                <a:solidFill>
                  <a:srgbClr val="FFFFFF"/>
                </a:solidFill>
              </a:rPr>
              <a:t>. </a:t>
            </a:r>
            <a:r>
              <a:rPr sz="1050">
                <a:solidFill>
                  <a:srgbClr val="FFFFFF"/>
                </a:solidFill>
              </a:rPr>
              <a:t>Cada alternativa recebeu uma nota de 0 a 5 em cada critério, com pesos diferentes.</a:t>
            </a:r>
            <a:r>
              <a:rPr sz="1050">
                <a:solidFill>
                  <a:srgbClr val="FFFFFF"/>
                </a:solidFill>
              </a:rPr>
              <a:t> Como a </a:t>
            </a:r>
            <a:r>
              <a:rPr sz="1050">
                <a:solidFill>
                  <a:srgbClr val="FFFFFF"/>
                </a:solidFill>
              </a:rPr>
              <a:t>prioridade</a:t>
            </a:r>
            <a:r>
              <a:rPr sz="1050">
                <a:solidFill>
                  <a:srgbClr val="FFFFFF"/>
                </a:solidFill>
              </a:rPr>
              <a:t> do </a:t>
            </a:r>
            <a:r>
              <a:rPr sz="1050">
                <a:solidFill>
                  <a:srgbClr val="FFFFFF"/>
                </a:solidFill>
              </a:rPr>
              <a:t>lançamento</a:t>
            </a:r>
            <a:r>
              <a:rPr sz="1050">
                <a:solidFill>
                  <a:srgbClr val="FFFFFF"/>
                </a:solidFill>
              </a:rPr>
              <a:t> é o </a:t>
            </a:r>
            <a:r>
              <a:rPr sz="1050">
                <a:solidFill>
                  <a:srgbClr val="FFFFFF"/>
                </a:solidFill>
              </a:rPr>
              <a:t>desempenho</a:t>
            </a:r>
            <a:r>
              <a:rPr sz="1050">
                <a:solidFill>
                  <a:srgbClr val="FFFFFF"/>
                </a:solidFill>
              </a:rPr>
              <a:t> </a:t>
            </a:r>
            <a:r>
              <a:rPr sz="1050">
                <a:solidFill>
                  <a:srgbClr val="FFFFFF"/>
                </a:solidFill>
              </a:rPr>
              <a:t>financeiro</a:t>
            </a:r>
            <a:r>
              <a:rPr sz="1050">
                <a:solidFill>
                  <a:srgbClr val="FFFFFF"/>
                </a:solidFill>
              </a:rPr>
              <a:t>, </a:t>
            </a:r>
            <a:r>
              <a:rPr sz="1050">
                <a:solidFill>
                  <a:srgbClr val="FFFFFF"/>
                </a:solidFill>
              </a:rPr>
              <a:t>marge</a:t>
            </a:r>
            <a:r>
              <a:rPr sz="1000">
                <a:solidFill>
                  <a:srgbClr val="FFFFFF"/>
                </a:solidFill>
              </a:rPr>
              <a:t>m</a:t>
            </a:r>
            <a:r>
              <a:rPr sz="1000">
                <a:solidFill>
                  <a:srgbClr val="FFFFFF"/>
                </a:solidFill>
              </a:rPr>
              <a:t> e </a:t>
            </a:r>
            <a:r>
              <a:rPr sz="1000">
                <a:solidFill>
                  <a:srgbClr val="FFFFFF"/>
                </a:solidFill>
              </a:rPr>
              <a:t>resultado</a:t>
            </a:r>
            <a:r>
              <a:rPr sz="1000">
                <a:solidFill>
                  <a:srgbClr val="FFFFFF"/>
                </a:solidFill>
              </a:rPr>
              <a:t> </a:t>
            </a:r>
            <a:r>
              <a:rPr sz="1000">
                <a:solidFill>
                  <a:srgbClr val="FFFFFF"/>
                </a:solidFill>
              </a:rPr>
              <a:t>operacional</a:t>
            </a:r>
            <a:r>
              <a:rPr sz="1000">
                <a:solidFill>
                  <a:srgbClr val="FFFFFF"/>
                </a:solidFill>
              </a:rPr>
              <a:t> </a:t>
            </a:r>
            <a:r>
              <a:rPr sz="1000">
                <a:solidFill>
                  <a:srgbClr val="FFFFFF"/>
                </a:solidFill>
              </a:rPr>
              <a:t>concentram</a:t>
            </a:r>
            <a:r>
              <a:rPr sz="1000">
                <a:solidFill>
                  <a:srgbClr val="FFFFFF"/>
                </a:solidFill>
              </a:rPr>
              <a:t> 60% do peso total.</a:t>
            </a:r>
            <a:endParaRPr sz="1000"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E383821-1C28-F39A-C701-88C375F8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368" y="3228635"/>
            <a:ext cx="3686603" cy="20621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Font typeface="Arial"/>
              <a:buChar char="•"/>
            </a:pPr>
            <a:r>
              <a:rPr sz="10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Margem operacional — 35%:</a:t>
            </a:r>
            <a:r>
              <a:rPr sz="1000">
                <a:solidFill>
                  <a:schemeClr val="bg1"/>
                </a:solidFill>
                <a:latin typeface="Arial"/>
                <a:ea typeface="Arial"/>
                <a:cs typeface="Arial"/>
              </a:rPr>
              <a:t> principal indicador de eficiência e prioridade financeira do lançamento. 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0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Resultado operacional — 25%:</a:t>
            </a:r>
            <a:r>
              <a:rPr sz="1000">
                <a:solidFill>
                  <a:schemeClr val="bg1"/>
                </a:solidFill>
                <a:latin typeface="Arial"/>
                <a:ea typeface="Arial"/>
                <a:cs typeface="Arial"/>
              </a:rPr>
              <a:t> representa o lucro gerado por cada alternativa. 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0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Utilização da capacidade — 15%:</a:t>
            </a:r>
            <a:r>
              <a:rPr sz="1000">
                <a:solidFill>
                  <a:schemeClr val="bg1"/>
                </a:solidFill>
                <a:latin typeface="Arial"/>
                <a:ea typeface="Arial"/>
                <a:cs typeface="Arial"/>
              </a:rPr>
              <a:t> mede o aproveitamento da estrutura disponível. 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0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Complexidade operacional — 15%:</a:t>
            </a:r>
            <a:r>
              <a:rPr sz="1000">
                <a:solidFill>
                  <a:schemeClr val="bg1"/>
                </a:solidFill>
                <a:latin typeface="Arial"/>
                <a:ea typeface="Arial"/>
                <a:cs typeface="Arial"/>
              </a:rPr>
              <a:t> considera o esforço e os riscos necessários para operar. 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0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Regularidade da demanda — 10%:</a:t>
            </a:r>
            <a:r>
              <a:rPr sz="1000">
                <a:solidFill>
                  <a:schemeClr val="bg1"/>
                </a:solidFill>
                <a:latin typeface="Arial"/>
                <a:ea typeface="Arial"/>
                <a:cs typeface="Arial"/>
              </a:rPr>
              <a:t> avalia a estabilidade da procura, mas tem menor peso que a rentabilidade.</a:t>
            </a:r>
          </a:p>
          <a:p xmlns:a="http://schemas.openxmlformats.org/drawingml/2006/main">
            <a:pPr algn="l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90636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41E250CA-E2CC-4D8C-92E8-3301391F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4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0E3A49-B1F7-46E5-850A-D6B01942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77B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7B6"/>
                </a:solidFill>
                <a:latin typeface="Arial"/>
                <a:ea typeface="Arial"/>
                <a:cs typeface="Arial"/>
              </a:rPr>
              <a:t>RISCOS DO MODELO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F7726B-443C-4D74-9E50-48C721C2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355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8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3045E"/>
                </a:solidFill>
                <a:latin typeface="Arial"/>
                <a:ea typeface="Arial"/>
                <a:cs typeface="Arial"/>
              </a:rPr>
              <a:t>Os riscos de parceiros são controláveis com seleção, SLA e rastreabilidade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1F69448-DACB-4306-8A20-97A7D044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58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B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6" name="Picture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995e0cf684f86"/>
          <a:stretch xmlns:a="http://schemas.openxmlformats.org/drawingml/2006/main"/>
        </p:blipFill>
        <p:spPr>
          <a:xfrm xmlns:a="http://schemas.openxmlformats.org/drawingml/2006/main">
            <a:off x="10915650" y="314826"/>
            <a:ext cx="552450" cy="494297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26A47D7-3A87-455C-A386-EED39200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ABFD4EA-E051-4160-9271-CFB45927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5718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57189"/>
                </a:solidFill>
                <a:latin typeface="Arial"/>
                <a:ea typeface="Arial"/>
                <a:cs typeface="Arial"/>
              </a:rPr>
              <a:t>BagHub | Estratégia de lançamento em Porto Claro</a:t>
            </a:r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F321110-F755-460D-9D9D-8A3DE5A1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572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ADE8F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131F55E3-1821-4A9F-A24D-99D96F00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1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04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8710D49-427E-4A96-A8AD-3EC5EBD2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6C6D3D6-15A2-4FB1-A5AE-D6EFC864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99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3045E"/>
                </a:solidFill>
                <a:latin typeface="Arial"/>
                <a:ea typeface="Arial"/>
                <a:cs typeface="Arial"/>
              </a:rPr>
              <a:t>Horário limitado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AC844DA-A009-40FC-B032-B8002A64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 cobertura dos parceiros pode não atender todos os momentos de demanda.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ED6580D0-C051-46DA-BE80-9489BB45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3355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CAF0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F14D6E5-1512-49A8-8A2B-7A3608E2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9070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23E8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23E8A"/>
                </a:solidFill>
                <a:latin typeface="Arial"/>
                <a:ea typeface="Arial"/>
                <a:cs typeface="Arial"/>
              </a:rPr>
              <a:t>MITIGAÇÃO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27D4C02-07A1-4D8F-A612-2DF4F503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811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23E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23E8A"/>
                </a:solidFill>
                <a:latin typeface="Arial"/>
                <a:ea typeface="Arial"/>
                <a:cs typeface="Arial"/>
              </a:rPr>
              <a:t>Selecionar pontos com horário amplo e complementar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A6EDD7E3-DBD0-42C1-BE93-AB8017D4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10572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E8F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F697850E-5518-497E-A5AC-8EF614A0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86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04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C2D4AE2-9A94-45A7-8EA8-6982C19C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04271537-D817-4717-85C0-DC5BC2C2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03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99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3045E"/>
                </a:solidFill>
                <a:latin typeface="Arial"/>
                <a:ea typeface="Arial"/>
                <a:cs typeface="Arial"/>
              </a:rPr>
              <a:t>Experiência inconsistente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453FD2C-5068-4813-8733-8D1F0B40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610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 atendimento depende de equipes e rotinas de terceiros</a:t>
            </a:r>
            <a:r>
              <a:rPr sz="9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FC6DC3CF-0E78-4941-8EF8-21E690A9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CAF0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05244EA-6E91-4C03-91AA-BA23CFEC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5750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23E8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23E8A"/>
                </a:solidFill>
                <a:latin typeface="Arial"/>
                <a:ea typeface="Arial"/>
                <a:cs typeface="Arial"/>
              </a:rPr>
              <a:t>MITIGAÇÃO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C82F176-F5B2-4F7D-A122-33293373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479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23E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23E8A"/>
                </a:solidFill>
                <a:latin typeface="Arial"/>
                <a:ea typeface="Arial"/>
                <a:cs typeface="Arial"/>
              </a:rPr>
              <a:t>Treinar, auditar e definir SLA de serviço</a:t>
            </a:r>
          </a:p>
        </p:txBody>
      </p:sp>
      <p:sp>
        <p:nvSpPr>
          <p:cNvPr id="24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0813138F-38AA-44D4-88B1-8E563E0A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10572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ADE8F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5CB915A0-12E9-4D43-A790-64978F5E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04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95DEC6CD-D163-43F0-ABAC-8379E5D0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2981608-64F5-48B6-B4C1-9E4F2596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671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99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3045E"/>
                </a:solidFill>
                <a:latin typeface="Arial"/>
                <a:ea typeface="Arial"/>
                <a:cs typeface="Arial"/>
              </a:rPr>
              <a:t>Segurança dos itens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8F0BF356-33D0-4CFC-9683-BD7CC26D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5290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Falhas de custódia podem afetar confiança e reputação.</a:t>
            </a:r>
            <a:endParaRPr sz="1000"/>
          </a:p>
        </p:txBody>
      </p:sp>
      <p:sp>
        <p:nvSpPr>
          <p:cNvPr id="29" name="Rectangle: Rounded Corners 28">
            <a:extLst xmlns:a="http://schemas.openxmlformats.org/drawingml/2006/main">
              <a:ext uri="{FF2B5EF4-FFF2-40B4-BE49-F238E27FC236}">
                <a16:creationId xmlns:a16="http://schemas.microsoft.com/office/drawing/2014/main" id="{CA656A2C-1866-4F39-8592-3832C9F3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6715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CAF0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4288DE1B-E70D-4819-A604-5471DF08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2430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23E8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23E8A"/>
                </a:solidFill>
                <a:latin typeface="Arial"/>
                <a:ea typeface="Arial"/>
                <a:cs typeface="Arial"/>
              </a:rPr>
              <a:t>MITIGAÇÃO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A0A00296-9B17-456A-A39F-FEE1B5D9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147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23E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23E8A"/>
                </a:solidFill>
                <a:latin typeface="Arial"/>
                <a:ea typeface="Arial"/>
                <a:cs typeface="Arial"/>
              </a:rPr>
              <a:t>Rastrear entrega/retirada e reservar área segura</a:t>
            </a:r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3E744DD3-2C98-4944-AA29-09EEDBF1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572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E8F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07BFDC22-A8D5-4901-86F1-CCCA2195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04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3C03A5B3-41C1-412B-81FC-FAE1A1E5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7259249E-69BB-4D7F-874F-9E2057A4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339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99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3045E"/>
                </a:solidFill>
                <a:latin typeface="Arial"/>
                <a:ea typeface="Arial"/>
                <a:cs typeface="Arial"/>
              </a:rPr>
              <a:t>Demanda projetada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F9A16B3F-4C99-4AF4-AC89-471EDB74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1970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As 18 mil transações semanais ainda precisam de validação real.</a:t>
            </a:r>
          </a:p>
        </p:txBody>
      </p:sp>
      <p:sp>
        <p:nvSpPr>
          <p:cNvPr id="37" name="Rectangle: Rounded Corners 36">
            <a:extLst xmlns:a="http://schemas.openxmlformats.org/drawingml/2006/main">
              <a:ext uri="{FF2B5EF4-FFF2-40B4-BE49-F238E27FC236}">
                <a16:creationId xmlns:a16="http://schemas.microsoft.com/office/drawing/2014/main" id="{90409F90-D9D0-468B-996B-C8989A2E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3395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CAF0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6F8D145E-6CB6-49BC-9ED7-AA462057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99110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23E8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23E8A"/>
                </a:solidFill>
                <a:latin typeface="Arial"/>
                <a:ea typeface="Arial"/>
                <a:cs typeface="Arial"/>
              </a:rPr>
              <a:t>MITIGAÇÃO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6826B5E2-26AC-4A8C-A544-9497E01F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815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23E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23E8A"/>
                </a:solidFill>
                <a:latin typeface="Arial"/>
                <a:ea typeface="Arial"/>
                <a:cs typeface="Arial"/>
              </a:rPr>
              <a:t>Começar com piloto e ampliar por evidência</a:t>
            </a:r>
          </a:p>
        </p:txBody>
      </p:sp>
    </p:spTree>
    <p:extLst>
      <p:ext uri="{BB962C8B-B14F-4D97-AF65-F5344CB8AC3E}">
        <p14:creationId xmlns:p14="http://schemas.microsoft.com/office/powerpoint/2010/main" val="1677148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C88CA916-843F-8DA9-1F65-F9637CBD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4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E4F3BAC-A046-9049-E8DF-6B7EBD02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58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B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CaixaDeTexto 5">
            <a:extLst xmlns:a="http://schemas.openxmlformats.org/drawingml/2006/main">
              <a:ext uri="{FF2B5EF4-FFF2-40B4-BE49-F238E27FC236}">
                <a16:creationId xmlns:a16="http://schemas.microsoft.com/office/drawing/2014/main" id="{42520CF1-49A6-64A4-4B15-F776375D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46" y="296333"/>
            <a:ext cx="2937933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SCORE PARA EXPANSÃO</a:t>
            </a:r>
          </a:p>
        </p:txBody>
      </p:sp>
      <p:sp>
        <p:nvSpPr>
          <p:cNvPr id="7" name="CaixaDeTexto 6">
            <a:extLst xmlns:a="http://schemas.openxmlformats.org/drawingml/2006/main">
              <a:ext uri="{FF2B5EF4-FFF2-40B4-BE49-F238E27FC236}">
                <a16:creationId xmlns:a16="http://schemas.microsoft.com/office/drawing/2014/main" id="{488B9939-6C9F-DB66-BE85-D33C0DB7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66" y="541866"/>
            <a:ext cx="11150601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Estação Central + armários se destaca após o primeiro ano de operação</a:t>
            </a:r>
          </a:p>
        </p:txBody>
      </p:sp>
      <p:sp>
        <p:nvSpPr>
          <p:cNvPr id="11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73FFF9A-5D5D-575D-EE1E-2B85F808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Centro Histórico · </a:t>
            </a: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armários</a:t>
            </a:r>
            <a:endParaRPr sz="1000" b="0">
              <a:solidFill>
                <a:srgbClr val="102A4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FB68E76-17DE-2DA8-BA05-BE6A7DFC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Estação</a:t>
            </a: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Central · </a:t>
            </a: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parceiros</a:t>
            </a:r>
            <a:endParaRPr sz="1000" b="0">
              <a:solidFill>
                <a:srgbClr val="102A4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B5B96F4-2B59-E32F-BB82-13E859EA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chemeClr val="accent5">
                    <a:lumMod val="49000"/>
                  </a:schemeClr>
                </a:solidFill>
                <a:latin typeface="Arial"/>
                <a:ea typeface="Arial"/>
                <a:cs typeface="Arial"/>
              </a:rPr>
              <a:t>Estação Central · armários</a:t>
            </a:r>
            <a:endParaRPr sz="1000" b="1">
              <a:solidFill>
                <a:schemeClr val="accent5">
                  <a:lumMod val="49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8A7D8142-17C9-EAF4-B98F-F32F433B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Arena · </a:t>
            </a: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parceiros</a:t>
            </a:r>
            <a:endParaRPr sz="1000" b="0">
              <a:solidFill>
                <a:srgbClr val="102A4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E2700A77-3F84-6074-B160-55E7FCD4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Arena · </a:t>
            </a: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armários</a:t>
            </a:r>
            <a:endParaRPr sz="1000" b="0">
              <a:solidFill>
                <a:srgbClr val="102A4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7EBE80A7-F343-95BF-7F8B-FB3C0059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Noite Alta · </a:t>
            </a: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parceiros</a:t>
            </a:r>
            <a:endParaRPr sz="1000" b="0">
              <a:solidFill>
                <a:srgbClr val="102A4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6C681270-B7C0-A781-490D-65F32E2B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Noite Alta · armários</a:t>
            </a:r>
            <a:endParaRPr sz="1000" b="0">
              <a:solidFill>
                <a:srgbClr val="102A4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CaixaDeTexto 23">
            <a:extLst xmlns:a="http://schemas.openxmlformats.org/drawingml/2006/main">
              <a:ext uri="{FF2B5EF4-FFF2-40B4-BE49-F238E27FC236}">
                <a16:creationId xmlns:a16="http://schemas.microsoft.com/office/drawing/2014/main" id="{03D043A8-8CB5-E54F-DFC0-6F3B030A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79" y="1806786"/>
            <a:ext cx="2892213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Arial"/>
                <a:ea typeface="Arial"/>
                <a:cs typeface="Arial"/>
              </a:rPr>
              <a:t>Centro Histórico - Parceiros</a:t>
            </a:r>
            <a:endParaRPr sz="1000">
              <a:latin typeface="Arial"/>
              <a:ea typeface="Arial"/>
              <a:cs typeface="Arial"/>
            </a:endParaRPr>
          </a:p>
        </p:txBody>
      </p:sp>
      <p:sp>
        <p:nvSpPr>
          <p:cNvPr id="26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A3BBB25-B2A6-0F78-E93D-551F68A7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7189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557189"/>
                </a:solidFill>
                <a:latin typeface="Arial"/>
                <a:ea typeface="Arial"/>
                <a:cs typeface="Arial"/>
              </a:rPr>
              <a:t>Score </a:t>
            </a:r>
            <a:r>
              <a:rPr sz="1100" b="1">
                <a:solidFill>
                  <a:srgbClr val="557189"/>
                </a:solidFill>
                <a:latin typeface="Arial"/>
                <a:ea typeface="Arial"/>
                <a:cs typeface="Arial"/>
              </a:rPr>
              <a:t>ponderado</a:t>
            </a:r>
            <a:r>
              <a:rPr sz="1100" b="1">
                <a:solidFill>
                  <a:srgbClr val="557189"/>
                </a:solidFill>
                <a:latin typeface="Arial"/>
                <a:ea typeface="Arial"/>
                <a:cs typeface="Arial"/>
              </a:rPr>
              <a:t> do Ano 2 (</a:t>
            </a:r>
            <a:r>
              <a:rPr sz="1100" b="1">
                <a:solidFill>
                  <a:srgbClr val="557189"/>
                </a:solidFill>
                <a:latin typeface="Arial"/>
                <a:ea typeface="Arial"/>
                <a:cs typeface="Arial"/>
              </a:rPr>
              <a:t>escala</a:t>
            </a:r>
            <a:r>
              <a:rPr sz="1100" b="1">
                <a:solidFill>
                  <a:srgbClr val="557189"/>
                </a:solidFill>
                <a:latin typeface="Arial"/>
                <a:ea typeface="Arial"/>
                <a:cs typeface="Arial"/>
              </a:rPr>
              <a:t> de 1 a 5)</a:t>
            </a:r>
            <a:endParaRPr sz="1100" b="1">
              <a:solidFill>
                <a:srgbClr val="5571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4C84B7E1-1B6D-B9E2-B36E-3F8F5602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61912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8A04E0E5-46F4-19E9-E1B8-B2F910DE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5770245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26893F6-EC32-FC08-6E6B-EF18D696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716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77B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7B6"/>
                </a:solidFill>
                <a:latin typeface="Arial"/>
                <a:ea typeface="Arial"/>
                <a:cs typeface="Arial"/>
              </a:rPr>
              <a:t>4,65</a:t>
            </a:r>
          </a:p>
        </p:txBody>
      </p:sp>
      <p:sp>
        <p:nvSpPr>
          <p:cNvPr id="34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28235861-447C-06BD-F586-F15002D4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95525"/>
            <a:ext cx="61912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38515EED-A468-5257-2264-691EDA0B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95525"/>
            <a:ext cx="5652611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chemeClr val="tx1">
              <a:lumMod val="50000"/>
              <a:lumOff val="50000"/>
            </a:scheme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7A47C97-ED40-C09B-DF2F-DCF42A22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5742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3045E"/>
                </a:solidFill>
                <a:latin typeface="Arial"/>
                <a:ea typeface="Arial"/>
                <a:cs typeface="Arial"/>
              </a:rPr>
              <a:t>4,61</a:t>
            </a:r>
          </a:p>
        </p:txBody>
      </p:sp>
      <p:sp>
        <p:nvSpPr>
          <p:cNvPr id="44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576FE24-0F6F-CFFF-FD32-FD7CDA55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432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3045E"/>
                </a:solidFill>
                <a:latin typeface="Arial"/>
                <a:ea typeface="Arial"/>
                <a:cs typeface="Arial"/>
              </a:rPr>
              <a:t>3,85</a:t>
            </a:r>
          </a:p>
        </p:txBody>
      </p:sp>
      <p:sp>
        <p:nvSpPr>
          <p:cNvPr id="46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DCBFB06F-82D8-C8F4-1AA2-DC7252D0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67075"/>
            <a:ext cx="61912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Rectangle: Rounded Corners 24">
            <a:extLst xmlns:a="http://schemas.openxmlformats.org/drawingml/2006/main">
              <a:ext uri="{FF2B5EF4-FFF2-40B4-BE49-F238E27FC236}">
                <a16:creationId xmlns:a16="http://schemas.microsoft.com/office/drawing/2014/main" id="{09F2C90B-425E-D7F3-BEBD-23DFF5CB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67075"/>
            <a:ext cx="4942761" cy="19113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C7EAA6F9-94EF-C902-7C14-EBD3D851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289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3045E"/>
                </a:solidFill>
                <a:latin typeface="Arial"/>
                <a:ea typeface="Arial"/>
                <a:cs typeface="Arial"/>
              </a:rPr>
              <a:t>4,15</a:t>
            </a:r>
          </a:p>
        </p:txBody>
      </p:sp>
      <p:sp>
        <p:nvSpPr>
          <p:cNvPr id="52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1B38963B-0F37-3680-A0C7-58BE9C9D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52850"/>
            <a:ext cx="61912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Rectangle: Rounded Corners 28">
            <a:extLst xmlns:a="http://schemas.openxmlformats.org/drawingml/2006/main">
              <a:ext uri="{FF2B5EF4-FFF2-40B4-BE49-F238E27FC236}">
                <a16:creationId xmlns:a16="http://schemas.microsoft.com/office/drawing/2014/main" id="{F5181B26-F7A9-C721-3586-3B0A676C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2210"/>
            <a:ext cx="3599894" cy="2317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BE6D38D0-64FA-AB57-8A0F-13DB5C6D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7147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3045E"/>
                </a:solidFill>
                <a:latin typeface="Arial"/>
                <a:ea typeface="Arial"/>
                <a:cs typeface="Arial"/>
              </a:rPr>
              <a:t>2,62</a:t>
            </a:r>
          </a:p>
        </p:txBody>
      </p:sp>
      <p:sp>
        <p:nvSpPr>
          <p:cNvPr id="58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C304A9C0-C861-92A4-8696-39F65BE0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38625"/>
            <a:ext cx="61912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Rectangle: Rounded Corners 32">
            <a:extLst xmlns:a="http://schemas.openxmlformats.org/drawingml/2006/main">
              <a:ext uri="{FF2B5EF4-FFF2-40B4-BE49-F238E27FC236}">
                <a16:creationId xmlns:a16="http://schemas.microsoft.com/office/drawing/2014/main" id="{B26E0D28-6B67-B2F6-703A-B31609D2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97985"/>
            <a:ext cx="4147503" cy="19113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chemeClr val="tx1">
              <a:lumMod val="50000"/>
              <a:lumOff val="50000"/>
            </a:scheme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857EF02B-3F2C-29B6-0A28-345D9E02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0052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3045E"/>
                </a:solidFill>
                <a:latin typeface="Arial"/>
                <a:ea typeface="Arial"/>
                <a:cs typeface="Arial"/>
              </a:rPr>
              <a:t>2,95</a:t>
            </a:r>
          </a:p>
        </p:txBody>
      </p:sp>
      <p:sp>
        <p:nvSpPr>
          <p:cNvPr id="64" name="Rectangle: Rounded Corners 35">
            <a:extLst xmlns:a="http://schemas.openxmlformats.org/drawingml/2006/main">
              <a:ext uri="{FF2B5EF4-FFF2-40B4-BE49-F238E27FC236}">
                <a16:creationId xmlns:a16="http://schemas.microsoft.com/office/drawing/2014/main" id="{B4D5CCE4-70F2-832A-4BAC-71291214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61912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" name="Rectangle: Rounded Corners 36">
            <a:extLst xmlns:a="http://schemas.openxmlformats.org/drawingml/2006/main">
              <a:ext uri="{FF2B5EF4-FFF2-40B4-BE49-F238E27FC236}">
                <a16:creationId xmlns:a16="http://schemas.microsoft.com/office/drawing/2014/main" id="{AC6A787E-E730-4E19-1644-BE37EA8C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83760"/>
            <a:ext cx="2511981" cy="24193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ABA45D63-F024-DD01-36D8-983210C6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863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3045E"/>
                </a:solidFill>
                <a:latin typeface="Arial"/>
                <a:ea typeface="Arial"/>
                <a:cs typeface="Arial"/>
              </a:rPr>
              <a:t>1,74</a:t>
            </a:r>
          </a:p>
        </p:txBody>
      </p:sp>
      <p:sp>
        <p:nvSpPr>
          <p:cNvPr id="70" name="Rectangle: Rounded Corners 39">
            <a:extLst xmlns:a="http://schemas.openxmlformats.org/drawingml/2006/main">
              <a:ext uri="{FF2B5EF4-FFF2-40B4-BE49-F238E27FC236}">
                <a16:creationId xmlns:a16="http://schemas.microsoft.com/office/drawing/2014/main" id="{44D0CDBB-CF0D-4495-58E8-FF59C452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10175"/>
            <a:ext cx="61912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" name="Rectangle: Rounded Corners 40">
            <a:extLst xmlns:a="http://schemas.openxmlformats.org/drawingml/2006/main">
              <a:ext uri="{FF2B5EF4-FFF2-40B4-BE49-F238E27FC236}">
                <a16:creationId xmlns:a16="http://schemas.microsoft.com/office/drawing/2014/main" id="{57B7AEF7-65E5-7ABA-F7E5-E935C003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89855"/>
            <a:ext cx="3086179" cy="2825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chemeClr val="tx1">
              <a:lumMod val="50000"/>
              <a:lumOff val="50000"/>
            </a:scheme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99200BB8-67EF-7E25-0CB2-3023F24A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720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3045E"/>
                </a:solidFill>
                <a:latin typeface="Arial"/>
                <a:ea typeface="Arial"/>
                <a:cs typeface="Arial"/>
              </a:rPr>
              <a:t>2,17</a:t>
            </a:r>
          </a:p>
        </p:txBody>
      </p:sp>
      <p:sp>
        <p:nvSpPr>
          <p:cNvPr id="84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05FFA2A1-43C4-6701-8B58-25F0185C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91460"/>
            <a:ext cx="61912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6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045A22FD-A585-8648-3E80-9F2D20B2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1620"/>
            <a:ext cx="4767263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8" name="Rectangle: Rounded Corners 42">
            <a:extLst xmlns:a="http://schemas.openxmlformats.org/drawingml/2006/main">
              <a:ext uri="{FF2B5EF4-FFF2-40B4-BE49-F238E27FC236}">
                <a16:creationId xmlns:a16="http://schemas.microsoft.com/office/drawing/2014/main" id="{C6DC0852-7332-9F3A-E1CA-2473DA94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90" y="5761936"/>
            <a:ext cx="10657840" cy="8940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304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9" name="CaixaDeTexto 88">
            <a:extLst xmlns:a="http://schemas.openxmlformats.org/drawingml/2006/main">
              <a:ext uri="{FF2B5EF4-FFF2-40B4-BE49-F238E27FC236}">
                <a16:creationId xmlns:a16="http://schemas.microsoft.com/office/drawing/2014/main" id="{534BD1FC-8526-87E4-13EA-F7C9E8F5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653" y="5891107"/>
            <a:ext cx="1041569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Leitura: no Ano 2, armários superam parceiros na Estação, Arena e Noite Alta. No Centro, parceiros ainda lideram. O score combina margem anual isolada e resultado acumulado até o Ano 2.</a:t>
            </a:r>
          </a:p>
        </p:txBody>
      </p:sp>
      <p:sp>
        <p:nvSpPr>
          <p:cNvPr id="90" name="Variação Ano 2 1">
            <a:extLst xmlns:a="http://schemas.openxmlformats.org/drawingml/2006/main">
              <a:ext uri="{FF2B5EF4-FFF2-40B4-BE49-F238E27FC236}">
                <a16:creationId xmlns:a16="http://schemas.microsoft.com/office/drawing/2014/main" id="{BF9E2F1D-AD52-449F-8B16-5EB2EF98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7686" y="1762792"/>
            <a:ext cx="672275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FF0000"/>
                </a:solidFill>
                <a:latin typeface="Arial"/>
                <a:ea typeface="Arial"/>
                <a:cs typeface="Arial"/>
              </a:rPr>
              <a:t>-0,01</a:t>
            </a:r>
          </a:p>
        </p:txBody>
      </p:sp>
      <p:sp>
        <p:nvSpPr>
          <p:cNvPr id="91" name="Variação Ano 2 2">
            <a:extLst xmlns:a="http://schemas.openxmlformats.org/drawingml/2006/main">
              <a:ext uri="{FF2B5EF4-FFF2-40B4-BE49-F238E27FC236}">
                <a16:creationId xmlns:a16="http://schemas.microsoft.com/office/drawing/2014/main" id="{05CD57BA-C92D-485F-9829-9844DD65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7686" y="2260568"/>
            <a:ext cx="672275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92D05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92D050"/>
                </a:solidFill>
                <a:latin typeface="Arial"/>
                <a:ea typeface="Arial"/>
                <a:cs typeface="Arial"/>
              </a:rPr>
              <a:t>+0,05</a:t>
            </a:r>
          </a:p>
        </p:txBody>
      </p:sp>
      <p:sp>
        <p:nvSpPr>
          <p:cNvPr id="92" name="Variação Ano 2 3">
            <a:extLst xmlns:a="http://schemas.openxmlformats.org/drawingml/2006/main">
              <a:ext uri="{FF2B5EF4-FFF2-40B4-BE49-F238E27FC236}">
                <a16:creationId xmlns:a16="http://schemas.microsoft.com/office/drawing/2014/main" id="{73410B71-2E19-43D5-BBCB-5757C7A2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7686" y="2758440"/>
            <a:ext cx="672275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FF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3" name="Variação Ano 2 4">
            <a:extLst xmlns:a="http://schemas.openxmlformats.org/drawingml/2006/main">
              <a:ext uri="{FF2B5EF4-FFF2-40B4-BE49-F238E27FC236}">
                <a16:creationId xmlns:a16="http://schemas.microsoft.com/office/drawing/2014/main" id="{261B078B-E3CA-4255-A351-2082F579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7686" y="3246120"/>
            <a:ext cx="672275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92D05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92D050"/>
                </a:solidFill>
                <a:latin typeface="Arial"/>
                <a:ea typeface="Arial"/>
                <a:cs typeface="Arial"/>
              </a:rPr>
              <a:t>+0,85</a:t>
            </a:r>
          </a:p>
        </p:txBody>
      </p:sp>
      <p:sp>
        <p:nvSpPr>
          <p:cNvPr id="94" name="Variação Ano 2 5">
            <a:extLst xmlns:a="http://schemas.openxmlformats.org/drawingml/2006/main">
              <a:ext uri="{FF2B5EF4-FFF2-40B4-BE49-F238E27FC236}">
                <a16:creationId xmlns:a16="http://schemas.microsoft.com/office/drawing/2014/main" id="{FC560538-B07E-40B4-8A46-D11B9652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7686" y="3733800"/>
            <a:ext cx="672275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FF0000"/>
                </a:solidFill>
                <a:latin typeface="Arial"/>
                <a:ea typeface="Arial"/>
                <a:cs typeface="Arial"/>
              </a:rPr>
              <a:t>-0,06</a:t>
            </a:r>
          </a:p>
        </p:txBody>
      </p:sp>
      <p:sp>
        <p:nvSpPr>
          <p:cNvPr id="95" name="Variação Ano 2 6">
            <a:extLst xmlns:a="http://schemas.openxmlformats.org/drawingml/2006/main">
              <a:ext uri="{FF2B5EF4-FFF2-40B4-BE49-F238E27FC236}">
                <a16:creationId xmlns:a16="http://schemas.microsoft.com/office/drawing/2014/main" id="{E034B5C0-B7DF-43CC-826E-44955ED5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7686" y="4201192"/>
            <a:ext cx="672275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92D05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92D050"/>
                </a:solidFill>
                <a:latin typeface="Arial"/>
                <a:ea typeface="Arial"/>
                <a:cs typeface="Arial"/>
              </a:rPr>
              <a:t>+0,70</a:t>
            </a:r>
          </a:p>
        </p:txBody>
      </p:sp>
      <p:sp>
        <p:nvSpPr>
          <p:cNvPr id="96" name="Variação Ano 2 7">
            <a:extLst xmlns:a="http://schemas.openxmlformats.org/drawingml/2006/main">
              <a:ext uri="{FF2B5EF4-FFF2-40B4-BE49-F238E27FC236}">
                <a16:creationId xmlns:a16="http://schemas.microsoft.com/office/drawing/2014/main" id="{CD9F737A-72BE-4F1D-BB03-7B0A2D2F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7686" y="4688872"/>
            <a:ext cx="672275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FF0000"/>
                </a:solidFill>
                <a:latin typeface="Arial"/>
                <a:ea typeface="Arial"/>
                <a:cs typeface="Arial"/>
              </a:rPr>
              <a:t>-0,04</a:t>
            </a:r>
          </a:p>
        </p:txBody>
      </p:sp>
      <p:sp>
        <p:nvSpPr>
          <p:cNvPr id="97" name="Variação Ano 2 8">
            <a:extLst xmlns:a="http://schemas.openxmlformats.org/drawingml/2006/main">
              <a:ext uri="{FF2B5EF4-FFF2-40B4-BE49-F238E27FC236}">
                <a16:creationId xmlns:a16="http://schemas.microsoft.com/office/drawing/2014/main" id="{79D2C85D-8F82-429B-8F78-9D9981BE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7686" y="5176552"/>
            <a:ext cx="672275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92D05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92D050"/>
                </a:solidFill>
                <a:latin typeface="Arial"/>
                <a:ea typeface="Arial"/>
                <a:cs typeface="Arial"/>
              </a:rPr>
              <a:t>+0,43</a:t>
            </a:r>
          </a:p>
        </p:txBody>
      </p:sp>
      <p:pic>
        <p:nvPicPr>
          <p:cNvPr id="147" name="Imagem 1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1a804234974535"/>
          <a:stretch xmlns:a="http://schemas.openxmlformats.org/drawingml/2006/main"/>
        </p:blipFill>
        <p:spPr>
          <a:xfrm xmlns:a="http://schemas.openxmlformats.org/drawingml/2006/main">
            <a:off x="11001375" y="292768"/>
            <a:ext cx="495300" cy="443163"/>
          </a:xfrm>
          <a:prstGeom xmlns:a="http://schemas.openxmlformats.org/drawingml/2006/main" prst="rect">
            <a:avLst/>
          </a:prstGeom>
        </p:spPr>
      </p:pic>
      <p:sp>
        <p:nvSpPr>
          <p:cNvPr id="99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5F1151F-8D7B-4346-8408-68EB9F6E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920695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942C30D-68E0-47DF-9339-13B93D6F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4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688E247-5708-48C2-86B8-8D25B8CF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77B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7B6"/>
                </a:solidFill>
                <a:latin typeface="Arial"/>
                <a:ea typeface="Arial"/>
                <a:cs typeface="Arial"/>
              </a:rPr>
              <a:t>DESEMPENHO NO ANO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C69A388-10DD-4C85-8C4D-FC5A209F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rmAutofit fontScale="90972" lnSpcReduction="2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t>Estação Central + armários: margem sobe 11,7 p.p. e resultado anual aumenta R$ 4,2 mi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148E9E7-F4CC-4280-A06F-DE7C75BD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58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B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D6DC5BD-F26D-4FA0-8B3A-7AC92307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5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DA98D15-F446-4C7B-B1FE-34915BDC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5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5718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57189"/>
                </a:solidFill>
                <a:latin typeface="Arial"/>
                <a:ea typeface="Arial"/>
                <a:cs typeface="Arial"/>
              </a:rPr>
              <a:t>BagHub | Estratégia de lançamento em Porto Claro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523875" y="1333500"/>
          <a:ext xmlns:a="http://schemas.openxmlformats.org/drawingml/2006/main" cx="533400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76da09a2984f52"/>
          </a:graphicData>
        </a:graphic>
      </p:graphicFrame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6334125" y="1333500"/>
          <a:ext xmlns:a="http://schemas.openxmlformats.org/drawingml/2006/main" cx="533400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54f512f2fa4e66"/>
          </a:graphicData>
        </a:graphic>
      </p:graphicFrame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522605" y="3758565"/>
          <a:ext xmlns:a="http://schemas.openxmlformats.org/drawingml/2006/main" cx="533400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34e18957bb4d19"/>
          </a:graphicData>
        </a:graphic>
      </p:graphicFrame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D8A9CE80-A18C-FC01-58A3-0EAEE074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266" y="3756504"/>
            <a:ext cx="5001640" cy="2521741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2B0084E4-214E-4C48-A9BA-0000099F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9848" y="3699256"/>
            <a:ext cx="0" cy="2517648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Arrow: Chevron 11">
            <a:extLst xmlns:a="http://schemas.openxmlformats.org/drawingml/2006/main">
              <a:ext uri="{FF2B5EF4-FFF2-40B4-BE49-F238E27FC236}">
                <a16:creationId xmlns:a16="http://schemas.microsoft.com/office/drawing/2014/main" id="{799EA1BD-E6F0-82CA-4427-9613B763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924" y="4783074"/>
            <a:ext cx="310894" cy="156972"/>
          </a:xfrm>
          <a:prstGeom xmlns:a="http://schemas.openxmlformats.org/drawingml/2006/main" prst="chevron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768B90D-3368-E4F6-6B0F-BA5D5535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1454" y="4231641"/>
            <a:ext cx="4064000" cy="1384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171450" indent="-171450">
              <a:buFont typeface="Arial"/>
              <a:buChar char="•"/>
            </a:pPr>
            <a:r>
              <a:rPr sz="1200">
                <a:solidFill>
                  <a:schemeClr val="bg1"/>
                </a:solidFill>
                <a:latin typeface="Arial"/>
                <a:ea typeface="Arial"/>
                <a:cs typeface="Arial"/>
              </a:rPr>
              <a:t>O investimento inicial nos bancos não se repete a partir do segundo ano, elevando o resultado e a margem operacional dos armários em todos os bairros.</a:t>
            </a:r>
            <a:endParaRPr/>
          </a:p>
          <a:p xmlns:a="http://schemas.openxmlformats.org/drawingml/2006/main">
            <a:pPr marL="171450" indent="-171450">
              <a:buFont typeface="Arial,Sans-Serif"/>
              <a:buChar char="•"/>
            </a:pPr>
            <a:r>
              <a:rPr sz="1200">
                <a:solidFill>
                  <a:schemeClr val="bg1"/>
                </a:solidFill>
                <a:latin typeface="Arial"/>
                <a:ea typeface="Arial"/>
                <a:cs typeface="Arial"/>
              </a:rPr>
              <a:t>A Estação Central é a alternativa mais beneficiada, pois exige 60 bancos e concentra o maior investimento inicial.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9B7AC58-C96D-7FCD-5072-A3ED98C1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734" y="3869267"/>
            <a:ext cx="37338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chemeClr val="bg1"/>
                </a:solidFill>
                <a:latin typeface="Arial"/>
                <a:ea typeface="Arial"/>
                <a:cs typeface="Arial"/>
              </a:rPr>
              <a:t>Interpretação</a:t>
            </a:r>
          </a:p>
        </p:txBody>
      </p:sp>
    </p:spTree>
    <p:extLst>
      <p:ext uri="{BB962C8B-B14F-4D97-AF65-F5344CB8AC3E}">
        <p14:creationId xmlns:p14="http://schemas.microsoft.com/office/powerpoint/2010/main" val="14928553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F70DFDF-BE7F-E1DC-4FA1-F5A243A7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43" y="3192366"/>
            <a:ext cx="6779734" cy="2876567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chemeClr val="accent5">
                  <a:lumMod val="49000"/>
                </a:schemeClr>
              </a:solidFill>
            </a:endParaRP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688E247-5708-48C2-86B8-8D25B8CF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79" lnSpcReduction="10000"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900" b="1">
                <a:solidFill>
                  <a:srgbClr val="0077B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7B6"/>
                </a:solidFill>
                <a:latin typeface="Arial"/>
                <a:ea typeface="Arial"/>
                <a:cs typeface="Arial"/>
              </a:rPr>
              <a:t>ROADMAP DE IMPLEMENTAÇÃO E EXPANSÃO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C69A388-10DD-4C85-8C4D-FC5A209F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3045E"/>
                </a:solidFill>
                <a:latin typeface="Arial"/>
                <a:ea typeface="Arial"/>
                <a:cs typeface="Arial"/>
              </a:rPr>
              <a:t>O Centro valida o modelo no Ano 1 antes da expansão para a Estação</a:t>
            </a:r>
          </a:p>
        </p:txBody>
      </p:sp>
      <p:pic>
        <p:nvPicPr>
          <p:cNvPr id="12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2eb0736b34fc3"/>
          <a:stretch xmlns:a="http://schemas.openxmlformats.org/drawingml/2006/main"/>
        </p:blipFill>
        <p:spPr>
          <a:xfrm xmlns:a="http://schemas.openxmlformats.org/drawingml/2006/main">
            <a:off x="10937230" y="285750"/>
            <a:ext cx="509290" cy="55245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D6DC5BD-F26D-4FA0-8B3A-7AC92307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500" lnSpcReduction="20000"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DA98D15-F446-4C7B-B1FE-34915BDC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759" lnSpcReduction="20000"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675" b="0">
                <a:solidFill>
                  <a:srgbClr val="55718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57189"/>
                </a:solidFill>
                <a:latin typeface="Arial"/>
                <a:ea typeface="Arial"/>
                <a:cs typeface="Arial"/>
              </a:rPr>
              <a:t>BagHub | Estratégia de lançamento em Porto Claro</a:t>
            </a:r>
          </a:p>
        </p:txBody>
      </p:sp>
      <p:sp>
        <p:nvSpPr>
          <p:cNvPr id="14" name="Rectangle: Rounded Corners 13">
            <a:extLst xmlns:a="http://schemas.openxmlformats.org/drawingml/2006/main">
              <a:ext uri="{FF2B5EF4-FFF2-40B4-BE49-F238E27FC236}">
                <a16:creationId xmlns:a16="http://schemas.microsoft.com/office/drawing/2014/main" id="{000E4CAB-C121-928A-783D-4B704ECB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1866" y="2845042"/>
            <a:ext cx="3223640" cy="3212621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36">
            <a:extLst xmlns:a="http://schemas.openxmlformats.org/drawingml/2006/main">
              <a:ext uri="{FF2B5EF4-FFF2-40B4-BE49-F238E27FC236}">
                <a16:creationId xmlns:a16="http://schemas.microsoft.com/office/drawing/2014/main" id="{78E53B85-5FEB-2C82-A970-CF677A45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6353" y="3934959"/>
            <a:ext cx="2650067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85750" indent="-285750">
              <a:buFont typeface="Arial"/>
              <a:buChar char="•"/>
            </a:pPr>
            <a:r>
              <a:rPr sz="12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R$ 10,92 mi de custo no ano 1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2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42% de utilização projetada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2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Maior dependência tecnológica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2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60 bancos para instalar e manter</a:t>
            </a:r>
          </a:p>
        </p:txBody>
      </p:sp>
      <p:sp>
        <p:nvSpPr>
          <p:cNvPr id="17" name="Straight Connector 16">
            <a:extLst xmlns:a="http://schemas.openxmlformats.org/drawingml/2006/main">
              <a:ext uri="{FF2B5EF4-FFF2-40B4-BE49-F238E27FC236}">
                <a16:creationId xmlns:a16="http://schemas.microsoft.com/office/drawing/2014/main" id="{92E41D04-793F-49BC-8184-3DC11F8F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088" y="2967736"/>
            <a:ext cx="0" cy="3127248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Arrow: Chevron 17">
            <a:extLst xmlns:a="http://schemas.openxmlformats.org/drawingml/2006/main">
              <a:ext uri="{FF2B5EF4-FFF2-40B4-BE49-F238E27FC236}">
                <a16:creationId xmlns:a16="http://schemas.microsoft.com/office/drawing/2014/main" id="{B4E896C2-5E6D-6B2D-4C65-EB930686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164" y="4224274"/>
            <a:ext cx="310894" cy="156972"/>
          </a:xfrm>
          <a:prstGeom xmlns:a="http://schemas.openxmlformats.org/drawingml/2006/main" prst="chevron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9" name="Arrow: Pentagon 18">
            <a:extLst xmlns:a="http://schemas.openxmlformats.org/drawingml/2006/main">
              <a:ext uri="{FF2B5EF4-FFF2-40B4-BE49-F238E27FC236}">
                <a16:creationId xmlns:a16="http://schemas.microsoft.com/office/drawing/2014/main" id="{48609E1B-B944-DD13-3EC4-E2E2B012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628" y="1572260"/>
            <a:ext cx="2338832" cy="922020"/>
          </a:xfrm>
          <a:prstGeom xmlns:a="http://schemas.openxmlformats.org/drawingml/2006/main" prst="homePlate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Arrow: Chevron 21">
            <a:extLst xmlns:a="http://schemas.openxmlformats.org/drawingml/2006/main">
              <a:ext uri="{FF2B5EF4-FFF2-40B4-BE49-F238E27FC236}">
                <a16:creationId xmlns:a16="http://schemas.microsoft.com/office/drawing/2014/main" id="{BB6A1878-44CC-F4D4-0409-1D44C49A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2328" y="1572260"/>
            <a:ext cx="2485136" cy="922020"/>
          </a:xfrm>
          <a:prstGeom xmlns:a="http://schemas.openxmlformats.org/drawingml/2006/main" prst="chevron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5" name="Arrow: Chevron 24">
            <a:extLst xmlns:a="http://schemas.openxmlformats.org/drawingml/2006/main">
              <a:ext uri="{FF2B5EF4-FFF2-40B4-BE49-F238E27FC236}">
                <a16:creationId xmlns:a16="http://schemas.microsoft.com/office/drawing/2014/main" id="{1298906E-9A37-167A-242E-775500B0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0407" y="1572259"/>
            <a:ext cx="2515616" cy="932180"/>
          </a:xfrm>
          <a:prstGeom xmlns:a="http://schemas.openxmlformats.org/drawingml/2006/main" prst="chevron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8" name="Arrow: Chevron 27">
            <a:extLst xmlns:a="http://schemas.openxmlformats.org/drawingml/2006/main">
              <a:ext uri="{FF2B5EF4-FFF2-40B4-BE49-F238E27FC236}">
                <a16:creationId xmlns:a16="http://schemas.microsoft.com/office/drawing/2014/main" id="{6C39088B-35F6-38D1-FC63-0E73BE21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086" y="1572258"/>
            <a:ext cx="2922016" cy="932180"/>
          </a:xfrm>
          <a:prstGeom xmlns:a="http://schemas.openxmlformats.org/drawingml/2006/main" prst="chevron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 xmlns:a="http://schemas.openxmlformats.org/drawingml/2006/main">
              <a:ext uri="{FF2B5EF4-FFF2-40B4-BE49-F238E27FC236}">
                <a16:creationId xmlns:a16="http://schemas.microsoft.com/office/drawing/2014/main" id="{9FAB7B1F-AFE9-4CA9-AEC7-2700E91B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380" y="3361292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Critérios para avançar à Estação</a:t>
            </a:r>
          </a:p>
        </p:txBody>
      </p:sp>
      <p:sp>
        <p:nvSpPr>
          <p:cNvPr id="95" name="Rectangle 94">
            <a:extLst xmlns:a="http://schemas.openxmlformats.org/drawingml/2006/main">
              <a:ext uri="{FF2B5EF4-FFF2-40B4-BE49-F238E27FC236}">
                <a16:creationId xmlns:a16="http://schemas.microsoft.com/office/drawing/2014/main" id="{0546BD15-DEFD-4EC5-938D-43AA903B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08" y="3849477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0077B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R$ 29,28 mi</a:t>
            </a:r>
          </a:p>
        </p:txBody>
      </p:sp>
      <p:sp>
        <p:nvSpPr>
          <p:cNvPr id="96" name="Rectangle 95">
            <a:extLst xmlns:a="http://schemas.openxmlformats.org/drawingml/2006/main">
              <a:ext uri="{FF2B5EF4-FFF2-40B4-BE49-F238E27FC236}">
                <a16:creationId xmlns:a16="http://schemas.microsoft.com/office/drawing/2014/main" id="{78A1DF4C-F04D-4C6D-AACF-FF6B9AD3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053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rm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5718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Resultado anual recorrente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5718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a partir do Ano 2</a:t>
            </a:r>
          </a:p>
        </p:txBody>
      </p:sp>
      <p:sp>
        <p:nvSpPr>
          <p:cNvPr id="97" name="Rectangle 96">
            <a:extLst xmlns:a="http://schemas.openxmlformats.org/drawingml/2006/main">
              <a:ext uri="{FF2B5EF4-FFF2-40B4-BE49-F238E27FC236}">
                <a16:creationId xmlns:a16="http://schemas.microsoft.com/office/drawing/2014/main" id="{8D5B2D7D-7AD4-44D4-8887-1AFB8E27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581" y="3849477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0304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R$ 142,20 mi</a:t>
            </a:r>
          </a:p>
        </p:txBody>
      </p:sp>
      <p:sp>
        <p:nvSpPr>
          <p:cNvPr id="98" name="Rectangle 97">
            <a:extLst xmlns:a="http://schemas.openxmlformats.org/drawingml/2006/main">
              <a:ext uri="{FF2B5EF4-FFF2-40B4-BE49-F238E27FC236}">
                <a16:creationId xmlns:a16="http://schemas.microsoft.com/office/drawing/2014/main" id="{380EF07F-74F0-4D05-A3C9-66434EF3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389" y="4277758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rm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5718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Resultado acumulado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5718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em cinco anos</a:t>
            </a:r>
          </a:p>
        </p:txBody>
      </p:sp>
      <p:sp>
        <p:nvSpPr>
          <p:cNvPr id="100" name="Rectangle 99">
            <a:extLst xmlns:a="http://schemas.openxmlformats.org/drawingml/2006/main">
              <a:ext uri="{FF2B5EF4-FFF2-40B4-BE49-F238E27FC236}">
                <a16:creationId xmlns:a16="http://schemas.microsoft.com/office/drawing/2014/main" id="{DF9C2C88-5364-444C-BF0B-60BFA473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50" y="5362843"/>
            <a:ext cx="582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1013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Na </a:t>
            </a: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Estação</a:t>
            </a: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, </a:t>
            </a: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parte</a:t>
            </a: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da </a:t>
            </a: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demanda</a:t>
            </a: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surge de forma </a:t>
            </a: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imediata</a:t>
            </a: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. O </a:t>
            </a: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autosserviço</a:t>
            </a: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24 horas </a:t>
            </a: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atende</a:t>
            </a: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esse </a:t>
            </a: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público</a:t>
            </a: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sem</a:t>
            </a: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depender</a:t>
            </a: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de </a:t>
            </a: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planejamento</a:t>
            </a: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prévio</a:t>
            </a: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ou</a:t>
            </a: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do </a:t>
            </a: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horário</a:t>
            </a: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de um </a:t>
            </a: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parceiro</a:t>
            </a:r>
            <a:r>
              <a:rPr sz="11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.</a:t>
            </a:r>
            <a:endParaRPr sz="11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TextBox 32">
            <a:extLst xmlns:a="http://schemas.openxmlformats.org/drawingml/2006/main">
              <a:ext uri="{FF2B5EF4-FFF2-40B4-BE49-F238E27FC236}">
                <a16:creationId xmlns:a16="http://schemas.microsoft.com/office/drawing/2014/main" id="{F5A9A8C9-ED7A-8301-FC85-3E5A1F89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6905" y="3188465"/>
            <a:ext cx="2277533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600">
                <a:solidFill>
                  <a:schemeClr val="bg1"/>
                </a:solidFill>
                <a:latin typeface="Arial"/>
                <a:ea typeface="Arial"/>
                <a:cs typeface="Arial"/>
              </a:rPr>
              <a:t>Riscos antes de escalar</a:t>
            </a:r>
          </a:p>
        </p:txBody>
      </p:sp>
      <p:sp>
        <p:nvSpPr>
          <p:cNvPr id="107" name="Rectangle 106">
            <a:extLst xmlns:a="http://schemas.openxmlformats.org/drawingml/2006/main">
              <a:ext uri="{FF2B5EF4-FFF2-40B4-BE49-F238E27FC236}">
                <a16:creationId xmlns:a16="http://schemas.microsoft.com/office/drawing/2014/main" id="{3006D903-CEF0-40C2-B43A-D5E25FB0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5" y="160464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Preparar e pilotar o Centro</a:t>
            </a:r>
            <a:endParaRPr sz="11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TextBox 43">
            <a:extLst xmlns:a="http://schemas.openxmlformats.org/drawingml/2006/main">
              <a:ext uri="{FF2B5EF4-FFF2-40B4-BE49-F238E27FC236}">
                <a16:creationId xmlns:a16="http://schemas.microsoft.com/office/drawing/2014/main" id="{84C5D53F-9F1C-1084-C94A-8A810515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986" y="1982638"/>
            <a:ext cx="1752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1000">
                <a:solidFill>
                  <a:schemeClr val="bg1"/>
                </a:solidFill>
                <a:latin typeface="Arial"/>
                <a:ea typeface="Arial"/>
                <a:cs typeface="Arial"/>
              </a:rPr>
              <a:t>Selecionar parceiros e testar a operação</a:t>
            </a:r>
          </a:p>
        </p:txBody>
      </p:sp>
      <p:sp>
        <p:nvSpPr>
          <p:cNvPr id="110" name="Rectangle 109">
            <a:extLst xmlns:a="http://schemas.openxmlformats.org/drawingml/2006/main">
              <a:ext uri="{FF2B5EF4-FFF2-40B4-BE49-F238E27FC236}">
                <a16:creationId xmlns:a16="http://schemas.microsoft.com/office/drawing/2014/main" id="{21FF5ADE-D6CB-45DC-A00E-ED32F678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520" y="160464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Validar o Ano 1</a:t>
            </a:r>
            <a:endParaRPr sz="11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Rectangle 110">
            <a:extLst xmlns:a="http://schemas.openxmlformats.org/drawingml/2006/main">
              <a:ext uri="{FF2B5EF4-FFF2-40B4-BE49-F238E27FC236}">
                <a16:creationId xmlns:a16="http://schemas.microsoft.com/office/drawing/2014/main" id="{A4DE4F1A-665A-453D-9B4E-A037B98B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380" y="1979252"/>
            <a:ext cx="1885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863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Medir demanda, utilização, margem e segurança</a:t>
            </a:r>
          </a:p>
        </p:txBody>
      </p:sp>
      <p:sp>
        <p:nvSpPr>
          <p:cNvPr id="113" name="Rectangle 112">
            <a:extLst xmlns:a="http://schemas.openxmlformats.org/drawingml/2006/main">
              <a:ext uri="{FF2B5EF4-FFF2-40B4-BE49-F238E27FC236}">
                <a16:creationId xmlns:a16="http://schemas.microsoft.com/office/drawing/2014/main" id="{F1BB5577-1ADB-4576-B3F5-4606B83A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9324" y="160464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Desenhar e implantar na Estação</a:t>
            </a:r>
            <a:endParaRPr sz="11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Rectangle 113">
            <a:extLst xmlns:a="http://schemas.openxmlformats.org/drawingml/2006/main">
              <a:ext uri="{FF2B5EF4-FFF2-40B4-BE49-F238E27FC236}">
                <a16:creationId xmlns:a16="http://schemas.microsoft.com/office/drawing/2014/main" id="{DB4FA21D-2314-45EF-9492-AFEDB81B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5980" y="1979530"/>
            <a:ext cx="1885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863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Dimensionar 2.400 posições e 60 bancos</a:t>
            </a:r>
          </a:p>
        </p:txBody>
      </p:sp>
      <p:sp>
        <p:nvSpPr>
          <p:cNvPr id="116" name="Rectangle 115">
            <a:extLst xmlns:a="http://schemas.openxmlformats.org/drawingml/2006/main">
              <a:ext uri="{FF2B5EF4-FFF2-40B4-BE49-F238E27FC236}">
                <a16:creationId xmlns:a16="http://schemas.microsoft.com/office/drawing/2014/main" id="{CD291D8C-387D-4AB5-B715-FA389FB2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7740" y="1981200"/>
            <a:ext cx="1885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863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Capturar R$ 29,28 mi por ano recorrente</a:t>
            </a:r>
          </a:p>
        </p:txBody>
      </p:sp>
      <p:sp>
        <p:nvSpPr>
          <p:cNvPr id="117" name="Rectangle 116">
            <a:extLst xmlns:a="http://schemas.openxmlformats.org/drawingml/2006/main">
              <a:ext uri="{FF2B5EF4-FFF2-40B4-BE49-F238E27FC236}">
                <a16:creationId xmlns:a16="http://schemas.microsoft.com/office/drawing/2014/main" id="{5ADD5D25-58A2-4E09-BC7C-29CA0EAD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0464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rmAutofit fontScale="84231" lnSpcReduction="20000"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Escalar armários</a:t>
            </a:r>
          </a:p>
        </p:txBody>
      </p:sp>
      <p:sp>
        <p:nvSpPr>
          <p:cNvPr id="119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4F0B60D5-8E5D-D7AA-C5EE-220EC81B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4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1" name="Rectangle 120">
            <a:extLst xmlns:a="http://schemas.openxmlformats.org/drawingml/2006/main">
              <a:ext uri="{FF2B5EF4-FFF2-40B4-BE49-F238E27FC236}">
                <a16:creationId xmlns:a16="http://schemas.microsoft.com/office/drawing/2014/main" id="{5D85499D-97B9-CC38-8B47-08123808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58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B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8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271795C-973A-4A4F-BE1C-FCBEE191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748" y="4780601"/>
            <a:ext cx="548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023E8A"/>
                </a:solidFill>
                <a:latin typeface="Arial"/>
                <a:ea typeface="Arial"/>
                <a:cs typeface="Arial"/>
              </a:defRPr>
            </a:pPr>
            <a:r>
              <a:rPr sz="1000">
                <a:solidFill>
                  <a:schemeClr val="bg1"/>
                </a:solidFill>
                <a:latin typeface="Arial"/>
                <a:ea typeface="Arial"/>
                <a:cs typeface="Arial"/>
              </a:rPr>
              <a:t>Score da estação - armários tem um aumento de +0,85 do primeiro pro segundo ano de operação</a:t>
            </a:r>
            <a:endParaRPr sz="100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CaixaDeTexto 119">
            <a:extLst xmlns:a="http://schemas.openxmlformats.org/drawingml/2006/main">
              <a:ext uri="{FF2B5EF4-FFF2-40B4-BE49-F238E27FC236}">
                <a16:creationId xmlns:a16="http://schemas.microsoft.com/office/drawing/2014/main" id="{7682F251-E8B5-B5F9-A2C4-0B575479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783" y="3849062"/>
            <a:ext cx="3106865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+11,7 p.p. de margem</a:t>
            </a:r>
          </a:p>
        </p:txBody>
      </p:sp>
      <p:sp>
        <p:nvSpPr>
          <p:cNvPr id="122" name="CaixaDeTexto 121">
            <a:extLst xmlns:a="http://schemas.openxmlformats.org/drawingml/2006/main">
              <a:ext uri="{FF2B5EF4-FFF2-40B4-BE49-F238E27FC236}">
                <a16:creationId xmlns:a16="http://schemas.microsoft.com/office/drawing/2014/main" id="{26EC022C-4C6B-9A3B-E148-B4C2F2D0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824" y="4273177"/>
            <a:ext cx="2233706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chemeClr val="bg1"/>
                </a:solidFill>
                <a:latin typeface="Arial"/>
                <a:ea typeface="Arial"/>
                <a:cs typeface="Arial"/>
              </a:rPr>
              <a:t>Margem operacional isolada de cada ano a partir do segundo ano</a:t>
            </a:r>
          </a:p>
        </p:txBody>
      </p:sp>
    </p:spTree>
    <p:extLst>
      <p:ext uri="{BB962C8B-B14F-4D97-AF65-F5344CB8AC3E}">
        <p14:creationId xmlns:p14="http://schemas.microsoft.com/office/powerpoint/2010/main" val="6577956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2026-09-17T23:17:48.4180000Z</dcterms:created>
  <dcterms:modified xsi:type="dcterms:W3CDTF">2026-09-17T23:17:48.4180000Z</dcterms:modified>
</coreProperties>
</file>